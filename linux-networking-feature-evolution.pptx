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3990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F2937"/>
                </a:solidFill>
              </a:defRPr>
            </a:pPr>
            <a:r>
              <a:t>Linux Networking Feature Evolution — Editable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484632"/>
            <a:ext cx="1399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Development start is approximate; merge/release points follow canonical edition r24 where available.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3317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762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08610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065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7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9485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941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81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799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255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1237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693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5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2114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569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7445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8428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2883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13865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8321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893039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737591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647420" y="941831"/>
            <a:ext cx="5486" cy="6784847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491972" y="786384"/>
            <a:ext cx="347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>
                <a:solidFill>
                  <a:srgbClr val="64748B"/>
                </a:solidFill>
              </a:defRPr>
            </a:pPr>
            <a:r>
              <a:t>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160" y="1024127"/>
            <a:ext cx="14310360" cy="1096833"/>
          </a:xfrm>
          <a:prstGeom prst="round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032" y="1407952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2563EB"/>
                </a:solidFill>
              </a:defRPr>
            </a:pPr>
            <a:r>
              <a:t>PERFORMANCE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" y="102067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DQL / BQL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58033" y="1103881"/>
            <a:ext cx="528066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26029" y="108467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49524" y="1080107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0964" y="102524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115091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TSQ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86100" y="1234127"/>
            <a:ext cx="528066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054096" y="121492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577590" y="1210353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69030" y="115548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" y="128116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sch_fq / TCP pacing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89603" y="1364374"/>
            <a:ext cx="678942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657599" y="134517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31970" y="134059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23410" y="128573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" y="141140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SO_BUSY_POLL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79" y="1494620"/>
            <a:ext cx="452627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08475" y="147541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6531" y="1470845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47971" y="141598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4128" y="154165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SO_TXTIME / EDT / taprio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8876" y="1624866"/>
            <a:ext cx="1357883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76872" y="160566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330183" y="16010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21624" y="154622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4.19–4.20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" y="167190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BIG TCP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26396" y="1755112"/>
            <a:ext cx="1056131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94392" y="173591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045951" y="173133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137391" y="167647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4128" y="180214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BIG TCP extensions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082527" y="1885358"/>
            <a:ext cx="3092958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1050523" y="186615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4138910" y="18615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944600" y="180672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6.3 → 7.3-rc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4128" y="193239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cake_mq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893039" y="2015605"/>
            <a:ext cx="905256" cy="2560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2861035" y="199640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761720" y="199183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53160" y="193696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37160" y="2150758"/>
            <a:ext cx="14310360" cy="1357326"/>
          </a:xfrm>
          <a:prstGeom prst="roundRect">
            <a:avLst/>
          </a:prstGeom>
          <a:solidFill>
            <a:srgbClr val="FFF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032" y="2664829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EA580C"/>
                </a:solidFill>
              </a:defRPr>
            </a:pPr>
            <a:r>
              <a:t>PROGRAMMABILITY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" y="214730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eBPF foundation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17670" y="2230511"/>
            <a:ext cx="1056132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185665" y="221130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237226" y="2206737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28666" y="215187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24128" y="227754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TC BPF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98363" y="2360757"/>
            <a:ext cx="452628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166359" y="234155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614416" y="2336983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705856" y="228211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24128" y="240779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XDP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650992" y="2491004"/>
            <a:ext cx="905255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618988" y="247180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519671" y="2467229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11111" y="241236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4128" y="253803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cgroup / LWT BPF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3620" y="2621250"/>
            <a:ext cx="754379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071616" y="260204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821423" y="2597475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12863" y="254261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4128" y="266828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SOCK_OPS / SOCKMAP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480809" y="2751496"/>
            <a:ext cx="1056132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48805" y="273229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00366" y="2727722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591806" y="267285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4.13–4.14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4128" y="279853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BPF struct_ops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215883" y="2881742"/>
            <a:ext cx="1056132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183879" y="286254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235440" y="2857968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326880" y="280310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4128" y="292877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SK_LOOKUP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743950" y="3011988"/>
            <a:ext cx="980693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711946" y="299278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688067" y="2988214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79507" y="293335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4128" y="305902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TCX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082527" y="3142235"/>
            <a:ext cx="905256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050523" y="312303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951207" y="3118460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2042647" y="306359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4128" y="318927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netkit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233403" y="3272481"/>
            <a:ext cx="905256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399" y="325327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2102084" y="3248707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2193524" y="319384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4128" y="331951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BPF qdisc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2440412" y="3402727"/>
            <a:ext cx="1056131" cy="25603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2408408" y="338352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459967" y="3378953"/>
            <a:ext cx="73152" cy="73152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3551407" y="332408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6.16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37160" y="3537880"/>
            <a:ext cx="14310360" cy="1227080"/>
          </a:xfrm>
          <a:prstGeom prst="roundRect">
            <a:avLst/>
          </a:prstGeom>
          <a:solidFill>
            <a:srgbClr val="EBF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56032" y="3986828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16A34A"/>
                </a:solidFill>
              </a:defRPr>
            </a:pPr>
            <a:r>
              <a:t>MEMORY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4128" y="353442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page_pool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54496" y="3617634"/>
            <a:ext cx="1885950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222492" y="359843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103870" y="3593859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95310" y="353899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4128" y="366466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AF_XDP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857999" y="3747880"/>
            <a:ext cx="1282446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825995" y="372867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103870" y="3724105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95310" y="366924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4128" y="379491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XDP multi-buffer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875520" y="3878126"/>
            <a:ext cx="1056132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843516" y="385892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895076" y="3854352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986516" y="379948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24128" y="392516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AF_XDP multi-buffer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629900" y="4008372"/>
            <a:ext cx="1357883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597896" y="398917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51207" y="3984598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2042647" y="392973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4128" y="405540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Device Memory TCP RX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459717" y="4138619"/>
            <a:ext cx="1357884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427713" y="411941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2781026" y="4114844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2872466" y="405998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" y="418565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io_uring ZCRX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686032" y="4268865"/>
            <a:ext cx="1508759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1654028" y="424966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3158216" y="4245090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3249656" y="419022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4128" y="431590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Device Memory TCP TX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2138659" y="4399111"/>
            <a:ext cx="1207007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2106655" y="437990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3309091" y="4375337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3400531" y="432047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24128" y="444614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RX HW queue leasing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2515850" y="4529357"/>
            <a:ext cx="1357883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2483846" y="451015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3837157" y="4505583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3928597" y="445071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24128" y="457639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large RX buffers / providers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2893039" y="4659603"/>
            <a:ext cx="905256" cy="2560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2861035" y="464040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3761720" y="4635829"/>
            <a:ext cx="73152" cy="7315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3853160" y="458096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7.0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37160" y="4794756"/>
            <a:ext cx="14310360" cy="836341"/>
          </a:xfrm>
          <a:prstGeom prst="roundRect">
            <a:avLst/>
          </a:prstGeom>
          <a:solidFill>
            <a:srgbClr val="F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56032" y="5048335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DC2626"/>
                </a:solidFill>
              </a:defRPr>
            </a:pPr>
            <a:r>
              <a:t>CONTROL PLANE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24128" y="479129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nftables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3086100" y="4874510"/>
            <a:ext cx="1508759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3054096" y="485530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558283" y="4850735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649723" y="479587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24128" y="492154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nexthop objects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612379" y="5004756"/>
            <a:ext cx="1357883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7580375" y="498555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933687" y="4980982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025127" y="492611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24128" y="505179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YNL tooling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10252709" y="5135002"/>
            <a:ext cx="1357883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220705" y="511580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1574017" y="5111228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1665457" y="505636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4128" y="518203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per-netns RTNL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11384280" y="5265249"/>
            <a:ext cx="1357883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1352276" y="524604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2705587" y="5241474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2797027" y="518661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024128" y="531228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further RTNL breakup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12138659" y="5395495"/>
            <a:ext cx="1056132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2106655" y="537629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158216" y="5371720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3249656" y="531685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6.15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024128" y="544253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RTNL-less FIB rules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2893039" y="5525741"/>
            <a:ext cx="1282446" cy="25603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2861035" y="550653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4138910" y="5501967"/>
            <a:ext cx="73152" cy="7315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13944600" y="544710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7.3-rc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137160" y="5660894"/>
            <a:ext cx="14310360" cy="706095"/>
          </a:xfrm>
          <a:prstGeom prst="roundRect">
            <a:avLst/>
          </a:prstGeom>
          <a:solidFill>
            <a:srgbClr val="F2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56032" y="5849349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7C3AED"/>
                </a:solidFill>
              </a:defRPr>
            </a:pPr>
            <a:r>
              <a:t>OBSERVABILITY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024128" y="565743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kprobe BPF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745736" y="5740647"/>
            <a:ext cx="905256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713732" y="572144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5614416" y="5716873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5705856" y="566200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24128" y="578768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structured drop reason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9875520" y="5870894"/>
            <a:ext cx="1056132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9843516" y="585169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0895076" y="5847119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0986516" y="579225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5.17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24128" y="591792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drop-reason expansion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780776" y="6001140"/>
            <a:ext cx="377189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0748772" y="598193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1121390" y="5977365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1212830" y="592250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5.19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024128" y="604817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queue/NAPI netdev-genl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1384280" y="6131386"/>
            <a:ext cx="980693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1352276" y="611218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2328397" y="6107612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2419837" y="605274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6.8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1024128" y="617842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qdisc-drop tracepoint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2893039" y="6261632"/>
            <a:ext cx="980693" cy="25603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2861035" y="624243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3837157" y="6237858"/>
            <a:ext cx="73152" cy="731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3928597" y="618299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7.1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37160" y="6396785"/>
            <a:ext cx="14310360" cy="1357326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56032" y="6910856"/>
            <a:ext cx="14173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50" b="1">
                <a:solidFill>
                  <a:srgbClr val="0284C7"/>
                </a:solidFill>
              </a:defRPr>
            </a:pPr>
            <a:r>
              <a:t>DRIVER FRAMEWORK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024128" y="639332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switchdev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4594859" y="6476539"/>
            <a:ext cx="90525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562855" y="645733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463540" y="6452764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5554980" y="639790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3.19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24128" y="652357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devlink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5349240" y="6606785"/>
            <a:ext cx="98069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5317236" y="658758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6293357" y="6583010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384797" y="652814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4.6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24128" y="6653821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phylink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5500116" y="6737031"/>
            <a:ext cx="203682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5468112" y="6717829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7500366" y="6713257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7591806" y="6658393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4.14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24128" y="6784067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Net DIM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6857999" y="6867277"/>
            <a:ext cx="98069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6825995" y="6848075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7802117" y="6843503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7893557" y="6788639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4.16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024128" y="6914313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netdevsim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235190" y="6997524"/>
            <a:ext cx="60350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7203186" y="6978321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7802117" y="6973749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893557" y="6918885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4.16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024128" y="7044559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devlink health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7612379" y="7127770"/>
            <a:ext cx="1056132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7580375" y="7108567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8631936" y="7103995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8723376" y="7049131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024128" y="7174806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ethtool netlink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7612379" y="7258016"/>
            <a:ext cx="165963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580375" y="7238814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9235440" y="7234242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9326880" y="7179378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5.6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024128" y="7305052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auxiliary bus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9121140" y="7388262"/>
            <a:ext cx="905256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089136" y="7369060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989820" y="7364488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10081260" y="7309624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5.11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1024128" y="7435298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threaded NAPI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9347453" y="7518509"/>
            <a:ext cx="829818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9315449" y="7499306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0140696" y="7494734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10232136" y="7439870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5.12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1024128" y="7565544"/>
            <a:ext cx="1243584" cy="1920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70">
                <a:solidFill>
                  <a:srgbClr val="1F2937"/>
                </a:solidFill>
              </a:defRPr>
            </a:pPr>
            <a:r>
              <a:t>Rust phylib</a:t>
            </a:r>
          </a:p>
        </p:txBody>
      </p:sp>
      <p:sp>
        <p:nvSpPr>
          <p:cNvPr id="284" name="Rectangle 283"/>
          <p:cNvSpPr/>
          <p:nvPr/>
        </p:nvSpPr>
        <p:spPr>
          <a:xfrm>
            <a:off x="11384280" y="7648755"/>
            <a:ext cx="980693" cy="25603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1352276" y="7629552"/>
            <a:ext cx="64008" cy="64008"/>
          </a:xfrm>
          <a:prstGeom prst="ellipse">
            <a:avLst/>
          </a:prstGeom>
          <a:solidFill>
            <a:srgbClr val="FAFAF9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2328397" y="7624980"/>
            <a:ext cx="73152" cy="73152"/>
          </a:xfrm>
          <a:prstGeom prst="ellipse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12419837" y="7570116"/>
            <a:ext cx="43891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80">
                <a:solidFill>
                  <a:srgbClr val="64748B"/>
                </a:solidFill>
              </a:defRPr>
            </a:pPr>
            <a:r>
              <a:t>6.8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56032" y="7845552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1">
                <a:solidFill>
                  <a:srgbClr val="1F2937"/>
                </a:solidFill>
              </a:defRPr>
            </a:pPr>
            <a:r>
              <a:t>Legend</a:t>
            </a:r>
          </a:p>
        </p:txBody>
      </p:sp>
      <p:sp>
        <p:nvSpPr>
          <p:cNvPr id="289" name="Oval 288"/>
          <p:cNvSpPr/>
          <p:nvPr/>
        </p:nvSpPr>
        <p:spPr>
          <a:xfrm>
            <a:off x="960120" y="7863840"/>
            <a:ext cx="73152" cy="73152"/>
          </a:xfrm>
          <a:prstGeom prst="ellipse">
            <a:avLst/>
          </a:prstGeom>
          <a:solidFill>
            <a:srgbClr val="FAFAF9"/>
          </a:solidFill>
          <a:ln w="127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069848" y="7836408"/>
            <a:ext cx="14630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64748B"/>
                </a:solidFill>
              </a:defRPr>
            </a:pPr>
            <a:r>
              <a:t>development start (approx.)</a:t>
            </a:r>
          </a:p>
        </p:txBody>
      </p:sp>
      <p:sp>
        <p:nvSpPr>
          <p:cNvPr id="291" name="Oval 290"/>
          <p:cNvSpPr/>
          <p:nvPr/>
        </p:nvSpPr>
        <p:spPr>
          <a:xfrm>
            <a:off x="2542032" y="7863840"/>
            <a:ext cx="73152" cy="73152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2651760" y="7836408"/>
            <a:ext cx="13716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50">
                <a:solidFill>
                  <a:srgbClr val="64748B"/>
                </a:solidFill>
              </a:defRPr>
            </a:pPr>
            <a:r>
              <a:t>merged / first canonical milestone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1247120" y="7836408"/>
            <a:ext cx="30632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650">
                <a:solidFill>
                  <a:srgbClr val="64748B"/>
                </a:solidFill>
              </a:defRPr>
            </a:pPr>
            <a:r>
              <a:t>All bands, labels, markers and lines are editable PowerPoint objects.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2746861" y="1014983"/>
            <a:ext cx="0" cy="6739128"/>
          </a:xfrm>
          <a:prstGeom prst="line">
            <a:avLst/>
          </a:prstGeom>
          <a:ln w="10160">
            <a:solidFill>
              <a:srgbClr val="64748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2573125" y="758952"/>
            <a:ext cx="3474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475569"/>
                </a:solidFill>
              </a:defRPr>
            </a:pPr>
            <a:r>
              <a:t>3.0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5557843" y="1014983"/>
            <a:ext cx="0" cy="6739128"/>
          </a:xfrm>
          <a:prstGeom prst="line">
            <a:avLst/>
          </a:prstGeom>
          <a:ln w="10160">
            <a:solidFill>
              <a:srgbClr val="64748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5384107" y="758952"/>
            <a:ext cx="3474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475569"/>
                </a:solidFill>
              </a:defRPr>
            </a:pPr>
            <a:r>
              <a:t>4.0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8492748" y="1014983"/>
            <a:ext cx="0" cy="6739128"/>
          </a:xfrm>
          <a:prstGeom prst="line">
            <a:avLst/>
          </a:prstGeom>
          <a:ln w="10160">
            <a:solidFill>
              <a:srgbClr val="64748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8319012" y="758952"/>
            <a:ext cx="3474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475569"/>
                </a:solidFill>
              </a:defRPr>
            </a:pPr>
            <a:r>
              <a:t>5.0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11196330" y="1014983"/>
            <a:ext cx="0" cy="6739128"/>
          </a:xfrm>
          <a:prstGeom prst="line">
            <a:avLst/>
          </a:prstGeom>
          <a:ln w="10160">
            <a:solidFill>
              <a:srgbClr val="64748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TextBox 300"/>
          <p:cNvSpPr txBox="1"/>
          <p:nvPr/>
        </p:nvSpPr>
        <p:spPr>
          <a:xfrm>
            <a:off x="11022594" y="758952"/>
            <a:ext cx="3474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475569"/>
                </a:solidFill>
              </a:defRPr>
            </a:pPr>
            <a:r>
              <a:t>6.0</a:t>
            </a:r>
          </a:p>
        </p:txBody>
      </p:sp>
      <p:cxnSp>
        <p:nvCxnSpPr>
          <p:cNvPr id="302" name="Connector 301"/>
          <p:cNvCxnSpPr/>
          <p:nvPr/>
        </p:nvCxnSpPr>
        <p:spPr>
          <a:xfrm>
            <a:off x="13856539" y="1014983"/>
            <a:ext cx="0" cy="6739128"/>
          </a:xfrm>
          <a:prstGeom prst="line">
            <a:avLst/>
          </a:prstGeom>
          <a:ln w="10160">
            <a:solidFill>
              <a:srgbClr val="64748B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13682803" y="758952"/>
            <a:ext cx="347472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475569"/>
                </a:solidFill>
              </a:defRPr>
            </a:pPr>
            <a:r>
              <a:t>7.0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594609" y="102524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3.0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118104" y="102067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3122676" y="1155489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3646170" y="1150917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3.5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726179" y="128573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3.6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400550" y="128116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3.11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877055" y="141598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3.7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4325111" y="1411409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3.10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045452" y="154622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4.10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8398763" y="154165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4.20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062972" y="1676474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5.11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1114531" y="1671902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5.19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1119103" y="180672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5.19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14207490" y="180214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7.2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12929615" y="193696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6.12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3830300" y="193239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6.19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254245" y="215187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3.10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5305806" y="214730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3.17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234939" y="2282119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3.17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5682996" y="2277547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4.0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687568" y="241236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4.0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6588251" y="240779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4.7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6140196" y="254261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4.3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6890003" y="2538039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4.9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6517385" y="267285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568946" y="266828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4.14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8252458" y="2803104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4.18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9304019" y="2798532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5.5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8780526" y="293335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756646" y="292877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5.9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11119103" y="306359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5.19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2019786" y="3059024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6.5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1269979" y="319384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6.0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170663" y="318927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6.6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476988" y="3324089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6.9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3528546" y="3319517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6291072" y="353899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4.5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8172450" y="353442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4.18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894575" y="366924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4.9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8172450" y="366466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4.18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9912096" y="379948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5.10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10963655" y="379491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5.18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10666476" y="392973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5.15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2019786" y="392516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6.5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11496292" y="405998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12849605" y="405540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6.12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11722607" y="419022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6.3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226796" y="418565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6.14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12175235" y="432047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6.6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3377671" y="431590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6.16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12552426" y="445071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6.9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13905736" y="444614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7.0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12929615" y="458096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6.12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13830300" y="457639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6.19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122676" y="479587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626863" y="479129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3.12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7648954" y="492611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4.14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9002267" y="492154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5.3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10289285" y="505636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5.13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11642596" y="5051792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6.2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1420855" y="518661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2774167" y="518203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6.11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2175235" y="531685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6.6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13226796" y="531228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6.14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12929615" y="544710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6.12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14207490" y="544253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7.2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4782312" y="566200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3.13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5682996" y="5657437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9912096" y="579225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5.10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0963655" y="578768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5.18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0817352" y="592250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5.16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1189969" y="591792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5.19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1420855" y="605274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2396977" y="604817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6.8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2929615" y="618299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6.12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3905736" y="617842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7.0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4631435" y="639790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532120" y="639332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3.19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385816" y="652814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3.18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6361937" y="652357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4.5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536692" y="665839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3.19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568946" y="6653821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4.14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6894575" y="678863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4.9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7870696" y="6784067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4.16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7271766" y="6918885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4.12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7870696" y="691431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4.16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7648954" y="704913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4.14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700515" y="704455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7648954" y="717937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4.14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9304019" y="717480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5.5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9157715" y="7309623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5.4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0058400" y="7305052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5.11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9384029" y="7439870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5.6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10209276" y="7435298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5.12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1420855" y="7570116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6.1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12396977" y="7565544"/>
            <a:ext cx="31089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20">
                <a:solidFill>
                  <a:srgbClr val="475569"/>
                </a:solidFill>
              </a:defRPr>
            </a:pPr>
            <a:r>
              <a:t>6.8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4114800" y="7818120"/>
            <a:ext cx="4297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20">
                <a:solidFill>
                  <a:srgbClr val="475569"/>
                </a:solidFill>
              </a:defRPr>
            </a:pPr>
            <a:r>
              <a:t>Marker labels: start = approximate kernel version / end = first canonical merge milestone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335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937"/>
                </a:solidFill>
              </a:defRPr>
            </a:pPr>
            <a:r>
              <a:t>Editing notes /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1. Each feature is composed of editable text boxes, line rectangles, and start/merge markers.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039112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2. The filled endpoint is the first canonical merge/release milestone used in r24; a feature can continue evolving after that 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43784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3. The open start point is deliberately approximate. It represents visible development/RFC/series activity, not an audited provenance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48456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4. BIG TCP extensions are shown as a separate continuation because r24 records IPv4 BIG TCP (6.3), HBH-less IPv6 BIG TCP (7.0), and tunnel support (7.3-rc).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453128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5. netmem and memory providers are not assigned a fabricated canonical merge point because r24 keeps their provenance boundary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57800"/>
            <a:ext cx="12801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F2937"/>
                </a:solidFill>
              </a:defRPr>
            </a:pPr>
            <a:r>
              <a:t>6. Cross-cutting domains (TRANSPORT / VIRTUAL-OVERLAY / SECURITY) are not separate vertical groups here because the requested vertical grouping is by architecture Axis.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4465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Grid simplification: only X.0 GA dates (3.0, 4.0, 5.0, 6.0, 7.0) are shown as dotted vertical lines. Each open start marker is now labeled with the approximate Linux version at that point; each filled end marker retains its canonical merge/release version label.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