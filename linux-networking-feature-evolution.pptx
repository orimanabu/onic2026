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399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Linux Networking Feature Evolution — Editable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84632"/>
            <a:ext cx="1399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Development start is approximate; merge/release points follow canonical edition r24 where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3172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7627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08610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065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79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1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4859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941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362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817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7999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1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2379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6931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59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1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114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569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2990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7445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8428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2883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38659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83211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93039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737591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647420" y="941831"/>
            <a:ext cx="5486" cy="6784847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91972" y="786384"/>
            <a:ext cx="3474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</a:defRPr>
            </a:pPr>
            <a:r>
              <a:t>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" y="1024127"/>
            <a:ext cx="14310360" cy="1096833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1407952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t>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1020671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DQL / BQL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58033" y="1103881"/>
            <a:ext cx="528066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26029" y="1084679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49524" y="1080107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40964" y="1025243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3.3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1150917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TSQ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86100" y="1234127"/>
            <a:ext cx="528066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054096" y="1214925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77590" y="121035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69030" y="1155489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3.6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" y="1281163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sch_fq / TCP pacing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89603" y="1364374"/>
            <a:ext cx="678942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657599" y="1345171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31970" y="134059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23410" y="1285735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3.12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" y="1411409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SO_BUSY_POLL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79" y="1494620"/>
            <a:ext cx="452627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08475" y="1475417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56531" y="1470845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7971" y="1415981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3.11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" y="1541656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SO_TXTIME / EDT / taprio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08876" y="1624866"/>
            <a:ext cx="1357883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976872" y="1605664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30183" y="160109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21624" y="154622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4.19–4.20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" y="1671902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BIG TCP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26396" y="1755112"/>
            <a:ext cx="1056131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994392" y="1735910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45951" y="173133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137391" y="1676474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" y="1802148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BIG TCP extensions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082527" y="1885358"/>
            <a:ext cx="3092958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050523" y="1866156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4138910" y="186158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944600" y="180672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6.3 → 7.3-rc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8" y="1932394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cake_mq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893039" y="2015605"/>
            <a:ext cx="905256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2861035" y="1996402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761720" y="199183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853160" y="1936966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7.0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7160" y="2150758"/>
            <a:ext cx="14310360" cy="1357326"/>
          </a:xfrm>
          <a:prstGeom prst="roundRect">
            <a:avLst/>
          </a:prstGeom>
          <a:solidFill>
            <a:srgbClr val="FF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032" y="2664829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EA580C"/>
                </a:solidFill>
              </a:defRPr>
            </a:pPr>
            <a:r>
              <a:t>PROGRAMMABILITY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" y="2147301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eBPF foundation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17670" y="2230511"/>
            <a:ext cx="1056132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85665" y="2211309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237226" y="2206737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28666" y="2151873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3.18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128" y="2277547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TC BPF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98363" y="2360757"/>
            <a:ext cx="452628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166359" y="2341555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614416" y="2336983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05856" y="2282119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4128" y="2407793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XDP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50992" y="2491004"/>
            <a:ext cx="905255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618988" y="2471801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519671" y="2467229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11111" y="2412365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4128" y="2538039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cgroup / LWT BPF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3620" y="2621250"/>
            <a:ext cx="754379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071616" y="2602047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821423" y="2597475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12863" y="2542611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4128" y="2668286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SOCK_OPS / SOCKMAP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80809" y="2751496"/>
            <a:ext cx="1056132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448805" y="2732294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00366" y="2727722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91806" y="267285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4.13–4.14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4128" y="2798532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BPF struct_ops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15883" y="2881742"/>
            <a:ext cx="1056132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183879" y="2862540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235440" y="2857968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326880" y="2803104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4128" y="2928778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SK_LOOKUP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43950" y="3011988"/>
            <a:ext cx="980693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711946" y="2992786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688067" y="2988214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79507" y="293335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4128" y="3059024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TCX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082527" y="3142235"/>
            <a:ext cx="905256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050523" y="3123032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951207" y="3118460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042647" y="3063596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4128" y="3189271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netkit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233403" y="3272481"/>
            <a:ext cx="905256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201399" y="3253279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2102084" y="3248707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193524" y="3193843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4128" y="3319517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BPF qdisc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2440412" y="3402727"/>
            <a:ext cx="1056131" cy="2560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2408408" y="3383525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3459967" y="3378953"/>
            <a:ext cx="73152" cy="731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3551407" y="3324089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6.16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37160" y="3537880"/>
            <a:ext cx="14310360" cy="1227080"/>
          </a:xfrm>
          <a:prstGeom prst="roundRect">
            <a:avLst/>
          </a:prstGeom>
          <a:solidFill>
            <a:srgbClr val="EBF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56032" y="3986828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16A34A"/>
                </a:solidFill>
              </a:defRPr>
            </a:pPr>
            <a:r>
              <a:t>MEMORY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" y="3534423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page_pool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54496" y="3617634"/>
            <a:ext cx="1885950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222492" y="3598431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103870" y="3593859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195310" y="3538995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4128" y="3664669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AF_XDP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857999" y="3747880"/>
            <a:ext cx="1282446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825995" y="3728677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103870" y="3724105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195310" y="3669241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4128" y="3794916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XDP multi-buffer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875520" y="3878126"/>
            <a:ext cx="1056132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843516" y="3858924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895076" y="3854352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986516" y="379948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5.18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24128" y="3925162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AF_XDP multi-buffer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629900" y="4008372"/>
            <a:ext cx="1357883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597896" y="3989170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1951207" y="3984598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2042647" y="3929734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24128" y="4055408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Device Memory TCP RX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459717" y="4138619"/>
            <a:ext cx="1357884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1427713" y="4119416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2781026" y="4114844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2872466" y="405998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" y="4185654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io_uring ZCRX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686032" y="4268865"/>
            <a:ext cx="1508759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1654028" y="4249662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158216" y="4245090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3249656" y="4190226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6.15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4128" y="4315901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Device Memory TCP TX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2138659" y="4399111"/>
            <a:ext cx="1207007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2106655" y="4379909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309091" y="4375337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3400531" y="4320473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6.16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24128" y="4446147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RX HW queue leasing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2515850" y="4529357"/>
            <a:ext cx="1357883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2483846" y="4510155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3837157" y="4505583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3928597" y="4450719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7.1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24128" y="4576393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large RX buffers / providers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2893039" y="4659603"/>
            <a:ext cx="905256" cy="2560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2861035" y="4640401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3761720" y="4635829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3853160" y="4580965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7.0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37160" y="4794756"/>
            <a:ext cx="14310360" cy="836341"/>
          </a:xfrm>
          <a:prstGeom prst="roundRect">
            <a:avLst/>
          </a:prstGeom>
          <a:solidFill>
            <a:srgbClr val="F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56032" y="5048335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DC2626"/>
                </a:solidFill>
              </a:defRPr>
            </a:pPr>
            <a:r>
              <a:t>CONTROL PLANE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24128" y="4791299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nftables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086100" y="4874510"/>
            <a:ext cx="1508759" cy="2560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054096" y="4855307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558283" y="4850735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649723" y="4795871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3.13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24128" y="4921546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nexthop objects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612379" y="5004756"/>
            <a:ext cx="1357883" cy="2560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580375" y="4985554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933687" y="4980982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025127" y="492611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24128" y="5051792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YNL tooling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252709" y="5135002"/>
            <a:ext cx="1357883" cy="2560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220705" y="5115800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1574017" y="5111228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1665457" y="5056364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4128" y="5182038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per-netns RTNL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1384280" y="5265249"/>
            <a:ext cx="1357883" cy="2560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352276" y="5246046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2705587" y="5241474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2797027" y="518661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6.13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24128" y="5312284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further RTNL breakup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2138659" y="5395495"/>
            <a:ext cx="1056132" cy="2560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2106655" y="5376292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158216" y="5371720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3249656" y="5316856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6.15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24128" y="5442531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RTNL-less FIB rules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2893039" y="5525741"/>
            <a:ext cx="1282446" cy="2560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2861035" y="5506539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4138910" y="5501967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3944600" y="5447103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7.3-rc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137160" y="5660894"/>
            <a:ext cx="14310360" cy="706095"/>
          </a:xfrm>
          <a:prstGeom prst="roundRect">
            <a:avLst/>
          </a:prstGeom>
          <a:solidFill>
            <a:srgbClr val="F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56032" y="5849349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t>OBSERVABILITY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24128" y="5657437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kprobe BPF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745736" y="5740647"/>
            <a:ext cx="905256" cy="2560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713732" y="5721445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5614416" y="5716873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5705856" y="5662009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24128" y="5787683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structured drop reason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875520" y="5870894"/>
            <a:ext cx="1056132" cy="2560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43516" y="5851691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895076" y="5847119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986516" y="5792255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5.17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24128" y="5917929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drop-reason expansion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0780776" y="6001140"/>
            <a:ext cx="377189" cy="2560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748772" y="5981937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121390" y="5977365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1212830" y="5922501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5.19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24128" y="6048176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queue/NAPI netdev-genl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1384280" y="6131386"/>
            <a:ext cx="980693" cy="2560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352276" y="6112184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2328397" y="610761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2419837" y="605274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6.8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024128" y="6178422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qdisc-drop tracepoint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2893039" y="6261632"/>
            <a:ext cx="980693" cy="2560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2861035" y="6242430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3837157" y="6237858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3928597" y="6182994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7.1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137160" y="6396785"/>
            <a:ext cx="14310360" cy="1357326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56032" y="6910856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0284C7"/>
                </a:solidFill>
              </a:defRPr>
            </a:pPr>
            <a:r>
              <a:t>DRIVER FRAMEWORK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24128" y="6393328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switchdev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594859" y="6476539"/>
            <a:ext cx="905256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4562855" y="6457336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463540" y="6452764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554980" y="639790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3.19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024128" y="6523574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devlink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349240" y="6606785"/>
            <a:ext cx="980693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5317236" y="6587582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6293357" y="6583010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384797" y="6528146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4.6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24128" y="6653821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phylink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500116" y="6737031"/>
            <a:ext cx="2036826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468112" y="6717829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500366" y="6713257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7591806" y="6658393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4.14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24128" y="6784067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Net DIM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6857999" y="6867277"/>
            <a:ext cx="980693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6825995" y="6848075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802117" y="6843503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7893557" y="6788639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4.16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24128" y="6914313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netdevsim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7235190" y="6997524"/>
            <a:ext cx="603503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7203186" y="6978321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7802117" y="6973749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7893557" y="6918885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4.16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024128" y="7044559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devlink health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612379" y="7127770"/>
            <a:ext cx="1056132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580375" y="7108567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631936" y="7103995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8723376" y="7049131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5.1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024128" y="7174806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ethtool netlink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7612379" y="7258016"/>
            <a:ext cx="1659636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580375" y="7238814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9235440" y="7234242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9326880" y="717937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5.6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024128" y="7305052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auxiliary bus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9121140" y="7388262"/>
            <a:ext cx="905256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089136" y="7369060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989820" y="7364488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0081260" y="7309624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5.11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024128" y="7435298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threaded NAPI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9347453" y="7518509"/>
            <a:ext cx="829818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9315449" y="7499306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0140696" y="7494734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232136" y="743987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5.12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24128" y="7565544"/>
            <a:ext cx="1243584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1F2937"/>
                </a:solidFill>
              </a:defRPr>
            </a:pPr>
            <a:r>
              <a:t>Rust phylib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1384280" y="7648755"/>
            <a:ext cx="980693" cy="256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352276" y="7629552"/>
            <a:ext cx="64008" cy="6400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2328397" y="7624980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2419837" y="7570116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">
                <a:solidFill>
                  <a:srgbClr val="64748B"/>
                </a:solidFill>
              </a:defRPr>
            </a:pPr>
            <a:r>
              <a:t>6.8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56032" y="78455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1F2937"/>
                </a:solidFill>
              </a:defRPr>
            </a:pPr>
            <a:r>
              <a:t>Legend</a:t>
            </a:r>
          </a:p>
        </p:txBody>
      </p:sp>
      <p:sp>
        <p:nvSpPr>
          <p:cNvPr id="289" name="Oval 288"/>
          <p:cNvSpPr/>
          <p:nvPr/>
        </p:nvSpPr>
        <p:spPr>
          <a:xfrm>
            <a:off x="960120" y="7863840"/>
            <a:ext cx="73152" cy="73152"/>
          </a:xfrm>
          <a:prstGeom prst="ellipse">
            <a:avLst/>
          </a:prstGeom>
          <a:solidFill>
            <a:srgbClr val="FAFAF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069848" y="783640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64748B"/>
                </a:solidFill>
              </a:defRPr>
            </a:pPr>
            <a:r>
              <a:t>development start (approx.)</a:t>
            </a:r>
          </a:p>
        </p:txBody>
      </p:sp>
      <p:sp>
        <p:nvSpPr>
          <p:cNvPr id="291" name="Oval 290"/>
          <p:cNvSpPr/>
          <p:nvPr/>
        </p:nvSpPr>
        <p:spPr>
          <a:xfrm>
            <a:off x="2542032" y="7863840"/>
            <a:ext cx="73152" cy="73152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2651760" y="783640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64748B"/>
                </a:solidFill>
              </a:defRPr>
            </a:pPr>
            <a:r>
              <a:t>merged / first canonical milestone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1247120" y="7836408"/>
            <a:ext cx="3063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64748B"/>
                </a:solidFill>
              </a:defRPr>
            </a:pPr>
            <a:r>
              <a:t>All bands, labels, markers and lines are editable PowerPoint objects.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335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Editing notes /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280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1. Each feature is composed of editable text boxes, line rectangles, and start/merge markers.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39112"/>
            <a:ext cx="1280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2. The filled endpoint is the first canonical merge/release milestone used in r24; a feature can continue evolving after that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43784"/>
            <a:ext cx="1280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3. The open start point is deliberately approximate. It represents visible development/RFC/series activity, not an audited provenance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48456"/>
            <a:ext cx="1280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4. BIG TCP extensions are shown as a separate continuation because r24 records IPv4 BIG TCP (6.3), HBH-less IPv6 BIG TCP (7.0), and tunnel support (7.3-rc).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53128"/>
            <a:ext cx="1280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5. netmem and memory providers are not assigned a fabricated canonical merge point because r24 keeps their provenance boundary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57800"/>
            <a:ext cx="1280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6. Cross-cutting domains (TRANSPORT / VIRTUAL-OVERLAY / SECURITY) are not separate vertical groups here because the requested vertical grouping is by architecture Axis.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