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</a:t>
            </a:r>
          </a:p>
          <a:p>
            <a:r>
              <a:t>- Every band, label, marker and line is a native, named PowerPoint object (row:&lt;feature&gt;:name / :start / :development / :release:&lt;ver&gt; / :label).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 (SO_TXTIME / EDT / taprio: 4.19 and 4.20; SOCK_OPS / SOCKMAP: 4.13 and 4.14).</a:t>
            </a:r>
          </a:p>
          <a:p>
            <a:r>
              <a:t>- BIG TCP extensions record IPv4 BIG TCP (6.3), IPv6 BIG TCP without HBH (7.0) and tunnel BIG TCP (7.3-rc) as successive milestones, not a development period.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XDP, cgroup / LWT BPF, SOCK_OPS / SOCKMAP; TC BPF → TCX → netkit (shared bpf_mprog attachment); BPF struct_ops → BPF qdisc; page_pool → Device Memory TCP RX → TX; page_pool → io_uring ZCRX → large RX buffers; AF_XDP and XDP multi-buffer → AF_XDP multi-buffer; per-netns RTNL → further RTNL breakup → RTNL-less FIB rules; structured drop reason → drop-reason expansion; switchdev → devlink → devlink health.</a:t>
            </a:r>
          </a:p>
          <a:p>
            <a:r>
              <a:t>- Across bands: eBPF foundation → kprobe BPF; XDP → page_pool (XDP was one of the pressures behind it, not its only origin), XDP → XDP multi-buffer, XDP → AF_XDP; YNL tooling → queue/NAPI netdev-genl (the netdev family is YNL-specified).</a:t>
            </a:r>
          </a:p>
          <a:p>
            <a:r>
              <a:t>- Deliberately not linked: the queueing layers (BQL, TSQ, CoDel, fq; parallel, not derived), RX HW queue leasing (interacts with AF_XDP / io_uring), and queue/NAPI netdev-genl → queue leasing / ZCRX (conceptual only).</a:t>
            </a:r>
          </a:p>
          <a:p>
            <a:r>
              <a:t>- Development starts revised from memory (not audited): nftables ~2008 (shown as off-chart), XDP ~early 2016.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36830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201168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From programmable datapath to explicit memory and control contracts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621792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91056"/>
            <a:ext cx="14173200" cy="911351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514600"/>
            <a:ext cx="14173200" cy="1225296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742182"/>
            <a:ext cx="14173200" cy="1020699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817745"/>
            <a:ext cx="14173200" cy="692658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565267"/>
            <a:ext cx="14173200" cy="583311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203442"/>
            <a:ext cx="14173200" cy="1130046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96112"/>
            <a:ext cx="2777490" cy="6455663"/>
          </a:xfrm>
          <a:prstGeom prst="rect">
            <a:avLst/>
          </a:prstGeom>
          <a:solidFill>
            <a:srgbClr val="E8EEF5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96112"/>
            <a:ext cx="0" cy="64556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261872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417320"/>
            <a:ext cx="0" cy="5934455"/>
          </a:xfrm>
          <a:prstGeom prst="line">
            <a:avLst/>
          </a:prstGeom>
          <a:ln w="6350">
            <a:solidFill>
              <a:schemeClr val="bg1">
                <a:lumMod val="95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417320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545336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lineage:sch_fq / TCP pacing:trunk"/>
          <p:cNvCxnSpPr/>
          <p:nvPr/>
        </p:nvCxnSpPr>
        <p:spPr>
          <a:xfrm>
            <a:off x="4987998" y="2037778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lineage:sch_fq / TCP pacing-&gt;SO_TXTIME / EDT / taprio:across"/>
          <p:cNvCxnSpPr/>
          <p:nvPr/>
        </p:nvCxnSpPr>
        <p:spPr>
          <a:xfrm>
            <a:off x="4987998" y="2101405"/>
            <a:ext cx="227959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lineage:BIG TCP:trunk"/>
          <p:cNvCxnSpPr/>
          <p:nvPr/>
        </p:nvCxnSpPr>
        <p:spPr>
          <a:xfrm>
            <a:off x="11056747" y="2256472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lineage:BIG TCP-&gt;BIG TCP extensions:across"/>
          <p:cNvCxnSpPr/>
          <p:nvPr/>
        </p:nvCxnSpPr>
        <p:spPr>
          <a:xfrm>
            <a:off x="11056747" y="2320099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lineage:eBPF foundation-&gt;TC BPF:junction"/>
          <p:cNvSpPr/>
          <p:nvPr/>
        </p:nvSpPr>
        <p:spPr>
          <a:xfrm>
            <a:off x="5726890" y="2719463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7" name="lineage:eBPF foundation-&gt;XDP:across"/>
          <p:cNvCxnSpPr/>
          <p:nvPr/>
        </p:nvCxnSpPr>
        <p:spPr>
          <a:xfrm>
            <a:off x="5747007" y="3614356"/>
            <a:ext cx="77066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lineage:eBPF foundation-&gt;cgroup / LWT BPF:across"/>
          <p:cNvCxnSpPr/>
          <p:nvPr/>
        </p:nvCxnSpPr>
        <p:spPr>
          <a:xfrm>
            <a:off x="5747007" y="3067621"/>
            <a:ext cx="6873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lineage:eBPF foundation-&gt;SOCK_OPS / SOCKMAP:across"/>
          <p:cNvCxnSpPr/>
          <p:nvPr/>
        </p:nvCxnSpPr>
        <p:spPr>
          <a:xfrm>
            <a:off x="5747007" y="3176968"/>
            <a:ext cx="1034526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lineage:eBPF foundation-&gt;kprobe BPF"/>
          <p:cNvCxnSpPr/>
          <p:nvPr/>
        </p:nvCxnSpPr>
        <p:spPr>
          <a:xfrm>
            <a:off x="5747007" y="2675953"/>
            <a:ext cx="0" cy="3062478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lineage:TC BPF:trunk"/>
          <p:cNvCxnSpPr/>
          <p:nvPr/>
        </p:nvCxnSpPr>
        <p:spPr>
          <a:xfrm>
            <a:off x="6120096" y="278530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lineage:TC BPF-&gt;TCX:across"/>
          <p:cNvCxnSpPr/>
          <p:nvPr/>
        </p:nvCxnSpPr>
        <p:spPr>
          <a:xfrm>
            <a:off x="6120096" y="2848927"/>
            <a:ext cx="4897109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lineage:TCX-&gt;netkit"/>
          <p:cNvCxnSpPr/>
          <p:nvPr/>
        </p:nvCxnSpPr>
        <p:spPr>
          <a:xfrm>
            <a:off x="11924118" y="289464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lineage:BPF struct_ops:trunk"/>
          <p:cNvCxnSpPr/>
          <p:nvPr/>
        </p:nvCxnSpPr>
        <p:spPr>
          <a:xfrm>
            <a:off x="9434168" y="333203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lineage:BPF struct_ops-&gt;BPF qdisc:across"/>
          <p:cNvCxnSpPr/>
          <p:nvPr/>
        </p:nvCxnSpPr>
        <p:spPr>
          <a:xfrm>
            <a:off x="9434168" y="3395662"/>
            <a:ext cx="283290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lineage:page_pool-&gt;Device Memory TCP RX:across"/>
          <p:cNvCxnSpPr/>
          <p:nvPr/>
        </p:nvCxnSpPr>
        <p:spPr>
          <a:xfrm>
            <a:off x="8302070" y="3924490"/>
            <a:ext cx="3062321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lineage:page_pool:trunk"/>
          <p:cNvCxnSpPr/>
          <p:nvPr/>
        </p:nvCxnSpPr>
        <p:spPr>
          <a:xfrm>
            <a:off x="8302070" y="3860863"/>
            <a:ext cx="0" cy="282321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lineage:page_pool-&gt;io_uring ZCRX:across"/>
          <p:cNvCxnSpPr/>
          <p:nvPr/>
        </p:nvCxnSpPr>
        <p:spPr>
          <a:xfrm>
            <a:off x="8302070" y="4143184"/>
            <a:ext cx="327063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lineage:Device Memory TCP RX-&gt;Device Memory TCP TX"/>
          <p:cNvCxnSpPr/>
          <p:nvPr/>
        </p:nvCxnSpPr>
        <p:spPr>
          <a:xfrm>
            <a:off x="12654611" y="397021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lineage:io_uring ZCRX-&gt;large RX buffers (mem. providers)"/>
          <p:cNvCxnSpPr/>
          <p:nvPr/>
        </p:nvCxnSpPr>
        <p:spPr>
          <a:xfrm>
            <a:off x="13012491" y="4188904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lineage:AF_XDP:trunk"/>
          <p:cNvCxnSpPr/>
          <p:nvPr/>
        </p:nvCxnSpPr>
        <p:spPr>
          <a:xfrm>
            <a:off x="8302070" y="4516945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lineage:AF_XDP-&gt;AF_XDP multi-buffer:across"/>
          <p:cNvCxnSpPr/>
          <p:nvPr/>
        </p:nvCxnSpPr>
        <p:spPr>
          <a:xfrm>
            <a:off x="8302070" y="4580572"/>
            <a:ext cx="229851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lineage:XDP multi-buffer-&gt;AF_XDP multi-buffer"/>
          <p:cNvCxnSpPr/>
          <p:nvPr/>
        </p:nvCxnSpPr>
        <p:spPr>
          <a:xfrm>
            <a:off x="10923670" y="4407598"/>
            <a:ext cx="0" cy="16383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lineage:per-netns RTNL-&gt;further RTNL breakup"/>
          <p:cNvCxnSpPr/>
          <p:nvPr/>
        </p:nvCxnSpPr>
        <p:spPr>
          <a:xfrm>
            <a:off x="12772954" y="5155120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lineage:further RTNL breakup-&gt;RTNL-less FIB rules"/>
          <p:cNvCxnSpPr/>
          <p:nvPr/>
        </p:nvCxnSpPr>
        <p:spPr>
          <a:xfrm>
            <a:off x="13012491" y="5264467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lineage:structured drop reason-&gt;drop-reason expansion"/>
          <p:cNvCxnSpPr/>
          <p:nvPr/>
        </p:nvCxnSpPr>
        <p:spPr>
          <a:xfrm>
            <a:off x="10803902" y="5902642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lineage:switchdev-&gt;devlink"/>
          <p:cNvCxnSpPr/>
          <p:nvPr/>
        </p:nvCxnSpPr>
        <p:spPr>
          <a:xfrm>
            <a:off x="5867251" y="6322123"/>
            <a:ext cx="0" cy="5448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lineage:devlink:trunk"/>
          <p:cNvCxnSpPr/>
          <p:nvPr/>
        </p:nvCxnSpPr>
        <p:spPr>
          <a:xfrm>
            <a:off x="6746029" y="6431470"/>
            <a:ext cx="0" cy="63627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lineage:devlink-&gt;devlink health:across"/>
          <p:cNvCxnSpPr/>
          <p:nvPr/>
        </p:nvCxnSpPr>
        <p:spPr>
          <a:xfrm>
            <a:off x="6746029" y="6495097"/>
            <a:ext cx="1077063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lineage:XDP-&gt;page_pool:junction"/>
          <p:cNvSpPr/>
          <p:nvPr/>
        </p:nvSpPr>
        <p:spPr>
          <a:xfrm>
            <a:off x="6992064" y="3795026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1" name="lineage:XDP-&gt;XDP multi-buffer:across"/>
          <p:cNvCxnSpPr/>
          <p:nvPr/>
        </p:nvCxnSpPr>
        <p:spPr>
          <a:xfrm>
            <a:off x="7012181" y="4361878"/>
            <a:ext cx="289402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lineage:XDP:trunk"/>
          <p:cNvCxnSpPr/>
          <p:nvPr/>
        </p:nvCxnSpPr>
        <p:spPr>
          <a:xfrm>
            <a:off x="7012181" y="3660076"/>
            <a:ext cx="0" cy="811149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lineage:XDP-&gt;AF_XDP:across"/>
          <p:cNvCxnSpPr/>
          <p:nvPr/>
        </p:nvCxnSpPr>
        <p:spPr>
          <a:xfrm>
            <a:off x="7012181" y="447122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lineage:YNL tooling-&gt;queue/NAPI netdev-genl"/>
          <p:cNvCxnSpPr/>
          <p:nvPr/>
        </p:nvCxnSpPr>
        <p:spPr>
          <a:xfrm>
            <a:off x="11562911" y="5483161"/>
            <a:ext cx="0" cy="145923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91056"/>
            <a:ext cx="1051560" cy="91135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96" name="row:DQL / BQL:name"/>
          <p:cNvSpPr txBox="1"/>
          <p:nvPr/>
        </p:nvSpPr>
        <p:spPr>
          <a:xfrm>
            <a:off x="1325880" y="15542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97" name="row:DQL / BQL:development"/>
          <p:cNvCxnSpPr/>
          <p:nvPr/>
        </p:nvCxnSpPr>
        <p:spPr>
          <a:xfrm>
            <a:off x="3211944" y="1664017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w:DQL / BQL:start"/>
          <p:cNvSpPr/>
          <p:nvPr/>
        </p:nvSpPr>
        <p:spPr>
          <a:xfrm>
            <a:off x="3179940" y="16320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row:DQL / BQL:release:3.3"/>
          <p:cNvSpPr/>
          <p:nvPr/>
        </p:nvSpPr>
        <p:spPr>
          <a:xfrm>
            <a:off x="3814842" y="16205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0" name="row:DQL / BQL:label"/>
          <p:cNvSpPr txBox="1"/>
          <p:nvPr/>
        </p:nvSpPr>
        <p:spPr>
          <a:xfrm>
            <a:off x="3931428" y="155428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101" name="row:TSQ:name"/>
          <p:cNvSpPr txBox="1"/>
          <p:nvPr/>
        </p:nvSpPr>
        <p:spPr>
          <a:xfrm>
            <a:off x="1325880" y="166363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102" name="row:TSQ:development"/>
          <p:cNvCxnSpPr/>
          <p:nvPr/>
        </p:nvCxnSpPr>
        <p:spPr>
          <a:xfrm>
            <a:off x="3698005" y="1773364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row:TSQ:start"/>
          <p:cNvSpPr/>
          <p:nvPr/>
        </p:nvSpPr>
        <p:spPr>
          <a:xfrm>
            <a:off x="3666001" y="174136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4" name="row:TSQ:release:3.6"/>
          <p:cNvSpPr/>
          <p:nvPr/>
        </p:nvSpPr>
        <p:spPr>
          <a:xfrm>
            <a:off x="4187455" y="1729930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5" name="row:TSQ:label"/>
          <p:cNvSpPr txBox="1"/>
          <p:nvPr/>
        </p:nvSpPr>
        <p:spPr>
          <a:xfrm>
            <a:off x="4304041" y="166363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106" name="row:SO_BUSY_POLL:name"/>
          <p:cNvSpPr txBox="1"/>
          <p:nvPr/>
        </p:nvSpPr>
        <p:spPr>
          <a:xfrm>
            <a:off x="1325880" y="177298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107" name="row:SO_BUSY_POLL:development"/>
          <p:cNvCxnSpPr/>
          <p:nvPr/>
        </p:nvCxnSpPr>
        <p:spPr>
          <a:xfrm>
            <a:off x="4392377" y="1882711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w:SO_BUSY_POLL:start"/>
          <p:cNvSpPr/>
          <p:nvPr/>
        </p:nvSpPr>
        <p:spPr>
          <a:xfrm>
            <a:off x="4360373" y="185070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9" name="row:SO_BUSY_POLL:release:3.11"/>
          <p:cNvSpPr/>
          <p:nvPr/>
        </p:nvSpPr>
        <p:spPr>
          <a:xfrm>
            <a:off x="4826696" y="183927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0" name="row:SO_BUSY_POLL:label"/>
          <p:cNvSpPr txBox="1"/>
          <p:nvPr/>
        </p:nvSpPr>
        <p:spPr>
          <a:xfrm>
            <a:off x="4943282" y="177298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111" name="row:sch_fq / TCP pacing:name"/>
          <p:cNvSpPr txBox="1"/>
          <p:nvPr/>
        </p:nvSpPr>
        <p:spPr>
          <a:xfrm>
            <a:off x="1325880" y="188233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112" name="row:sch_fq / TCP pacing:development"/>
          <p:cNvCxnSpPr/>
          <p:nvPr/>
        </p:nvCxnSpPr>
        <p:spPr>
          <a:xfrm>
            <a:off x="4253503" y="1992058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w:sch_fq / TCP pacing:start"/>
          <p:cNvSpPr/>
          <p:nvPr/>
        </p:nvSpPr>
        <p:spPr>
          <a:xfrm>
            <a:off x="4221499" y="196005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4" name="row:sch_fq / TCP pacing:release:3.12"/>
          <p:cNvSpPr/>
          <p:nvPr/>
        </p:nvSpPr>
        <p:spPr>
          <a:xfrm>
            <a:off x="4944564" y="1948624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5" name="row:sch_fq / TCP pacing:label"/>
          <p:cNvSpPr txBox="1"/>
          <p:nvPr/>
        </p:nvSpPr>
        <p:spPr>
          <a:xfrm>
            <a:off x="5061150" y="188233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116" name="row:SO_TXTIME / EDT / taprio:name"/>
          <p:cNvSpPr txBox="1"/>
          <p:nvPr/>
        </p:nvSpPr>
        <p:spPr>
          <a:xfrm>
            <a:off x="1325880" y="19916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117" name="row:SO_TXTIME / EDT / taprio:development"/>
          <p:cNvCxnSpPr/>
          <p:nvPr/>
        </p:nvCxnSpPr>
        <p:spPr>
          <a:xfrm>
            <a:off x="7308742" y="2101405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w:SO_TXTIME / EDT / taprio:start"/>
          <p:cNvSpPr/>
          <p:nvPr/>
        </p:nvSpPr>
        <p:spPr>
          <a:xfrm>
            <a:off x="7276738" y="20694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9" name="row:SO_TXTIME / EDT / taprio:milestones"/>
          <p:cNvCxnSpPr/>
          <p:nvPr/>
        </p:nvCxnSpPr>
        <p:spPr>
          <a:xfrm>
            <a:off x="8437047" y="2101405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ow:SO_TXTIME / EDT / taprio:release:4.19"/>
          <p:cNvSpPr/>
          <p:nvPr/>
        </p:nvSpPr>
        <p:spPr>
          <a:xfrm>
            <a:off x="8393613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1" name="row:SO_TXTIME / EDT / taprio:release:4.20"/>
          <p:cNvSpPr/>
          <p:nvPr/>
        </p:nvSpPr>
        <p:spPr>
          <a:xfrm>
            <a:off x="8511480" y="205797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row:SO_TXTIME / EDT / taprio:label"/>
          <p:cNvSpPr txBox="1"/>
          <p:nvPr/>
        </p:nvSpPr>
        <p:spPr>
          <a:xfrm>
            <a:off x="8628066" y="199167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123" name="row:BIG TCP:name"/>
          <p:cNvSpPr txBox="1"/>
          <p:nvPr/>
        </p:nvSpPr>
        <p:spPr>
          <a:xfrm>
            <a:off x="1325880" y="210102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124" name="row:BIG TCP:development"/>
          <p:cNvCxnSpPr/>
          <p:nvPr/>
        </p:nvCxnSpPr>
        <p:spPr>
          <a:xfrm>
            <a:off x="10086232" y="2210752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ow:BIG TCP:start"/>
          <p:cNvSpPr/>
          <p:nvPr/>
        </p:nvSpPr>
        <p:spPr>
          <a:xfrm>
            <a:off x="10054228" y="217874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6" name="row:BIG TCP:release:5.19"/>
          <p:cNvSpPr/>
          <p:nvPr/>
        </p:nvSpPr>
        <p:spPr>
          <a:xfrm>
            <a:off x="11013313" y="2167318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7" name="row:BIG TCP:label"/>
          <p:cNvSpPr txBox="1"/>
          <p:nvPr/>
        </p:nvSpPr>
        <p:spPr>
          <a:xfrm>
            <a:off x="11129899" y="210102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128" name="row:BIG TCP extensions:name"/>
          <p:cNvSpPr txBox="1"/>
          <p:nvPr/>
        </p:nvSpPr>
        <p:spPr>
          <a:xfrm>
            <a:off x="1325880" y="221037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129" name="row:BIG TCP extensions:milestones"/>
          <p:cNvCxnSpPr/>
          <p:nvPr/>
        </p:nvCxnSpPr>
        <p:spPr>
          <a:xfrm>
            <a:off x="11562911" y="2320099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w:BIG TCP extensions:release:6.3"/>
          <p:cNvSpPr/>
          <p:nvPr/>
        </p:nvSpPr>
        <p:spPr>
          <a:xfrm>
            <a:off x="11519477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ow:BIG TCP extensions:release:7.0"/>
          <p:cNvSpPr/>
          <p:nvPr/>
        </p:nvSpPr>
        <p:spPr>
          <a:xfrm>
            <a:off x="13581683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row:BIG TCP extensions:release:7.3-rc"/>
          <p:cNvSpPr/>
          <p:nvPr/>
        </p:nvSpPr>
        <p:spPr>
          <a:xfrm>
            <a:off x="13828824" y="227666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3" name="row:BIG TCP extensions:label"/>
          <p:cNvSpPr txBox="1"/>
          <p:nvPr/>
        </p:nvSpPr>
        <p:spPr>
          <a:xfrm>
            <a:off x="9813163" y="2210371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00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134" name="row:cake_mq:name"/>
          <p:cNvSpPr txBox="1"/>
          <p:nvPr/>
        </p:nvSpPr>
        <p:spPr>
          <a:xfrm>
            <a:off x="1325880" y="231971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135" name="row:cake_mq:development"/>
          <p:cNvCxnSpPr/>
          <p:nvPr/>
        </p:nvCxnSpPr>
        <p:spPr>
          <a:xfrm>
            <a:off x="12724847" y="2429446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row:cake_mq:start"/>
          <p:cNvSpPr/>
          <p:nvPr/>
        </p:nvSpPr>
        <p:spPr>
          <a:xfrm>
            <a:off x="12692843" y="239744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7" name="row:cake_mq:release:7.0"/>
          <p:cNvSpPr/>
          <p:nvPr/>
        </p:nvSpPr>
        <p:spPr>
          <a:xfrm>
            <a:off x="13581683" y="2386012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8" name="row:cake_mq:label"/>
          <p:cNvSpPr txBox="1"/>
          <p:nvPr/>
        </p:nvSpPr>
        <p:spPr>
          <a:xfrm>
            <a:off x="13698269" y="231971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514600"/>
            <a:ext cx="1051560" cy="12252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140" name="row:eBPF foundation:name"/>
          <p:cNvSpPr txBox="1"/>
          <p:nvPr/>
        </p:nvSpPr>
        <p:spPr>
          <a:xfrm>
            <a:off x="1325880" y="25205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141" name="row:eBPF foundation:development"/>
          <p:cNvCxnSpPr/>
          <p:nvPr/>
        </p:nvCxnSpPr>
        <p:spPr>
          <a:xfrm>
            <a:off x="4739563" y="2630233"/>
            <a:ext cx="1007444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w:eBPF foundation:start"/>
          <p:cNvSpPr/>
          <p:nvPr/>
        </p:nvSpPr>
        <p:spPr>
          <a:xfrm>
            <a:off x="4707559" y="25982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3" name="row:eBPF foundation:release:3.18"/>
          <p:cNvSpPr/>
          <p:nvPr/>
        </p:nvSpPr>
        <p:spPr>
          <a:xfrm>
            <a:off x="5703573" y="258679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4" name="row:eBPF foundation:label"/>
          <p:cNvSpPr txBox="1"/>
          <p:nvPr/>
        </p:nvSpPr>
        <p:spPr>
          <a:xfrm>
            <a:off x="5820159" y="252050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3.18</a:t>
            </a:r>
          </a:p>
        </p:txBody>
      </p:sp>
      <p:sp>
        <p:nvSpPr>
          <p:cNvPr id="145" name="row:TC BPF:name"/>
          <p:cNvSpPr txBox="1"/>
          <p:nvPr/>
        </p:nvSpPr>
        <p:spPr>
          <a:xfrm>
            <a:off x="1325880" y="262985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146" name="row:TC BPF:development"/>
          <p:cNvCxnSpPr/>
          <p:nvPr/>
        </p:nvCxnSpPr>
        <p:spPr>
          <a:xfrm>
            <a:off x="5642248" y="2739580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ow:TC BPF:start"/>
          <p:cNvSpPr/>
          <p:nvPr/>
        </p:nvSpPr>
        <p:spPr>
          <a:xfrm>
            <a:off x="5610244" y="270757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8" name="row:TC BPF:release:4.1"/>
          <p:cNvSpPr/>
          <p:nvPr/>
        </p:nvSpPr>
        <p:spPr>
          <a:xfrm>
            <a:off x="6076662" y="2696146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9" name="row:TC BPF:label"/>
          <p:cNvSpPr txBox="1"/>
          <p:nvPr/>
        </p:nvSpPr>
        <p:spPr>
          <a:xfrm>
            <a:off x="6193248" y="262985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150" name="row:TCX:name"/>
          <p:cNvSpPr txBox="1"/>
          <p:nvPr/>
        </p:nvSpPr>
        <p:spPr>
          <a:xfrm>
            <a:off x="1325880" y="273919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151" name="row:TCX:development"/>
          <p:cNvCxnSpPr/>
          <p:nvPr/>
        </p:nvCxnSpPr>
        <p:spPr>
          <a:xfrm>
            <a:off x="11058353" y="2848927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row:TCX:start"/>
          <p:cNvSpPr/>
          <p:nvPr/>
        </p:nvSpPr>
        <p:spPr>
          <a:xfrm>
            <a:off x="11026349" y="281692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" name="row:TCX:release:6.6"/>
          <p:cNvSpPr/>
          <p:nvPr/>
        </p:nvSpPr>
        <p:spPr>
          <a:xfrm>
            <a:off x="11880684" y="280549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4" name="row:TCX:label"/>
          <p:cNvSpPr txBox="1"/>
          <p:nvPr/>
        </p:nvSpPr>
        <p:spPr>
          <a:xfrm>
            <a:off x="11997270" y="273919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155" name="row:netkit:name"/>
          <p:cNvSpPr txBox="1"/>
          <p:nvPr/>
        </p:nvSpPr>
        <p:spPr>
          <a:xfrm>
            <a:off x="1325880" y="284854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156" name="row:netkit:development"/>
          <p:cNvCxnSpPr/>
          <p:nvPr/>
        </p:nvCxnSpPr>
        <p:spPr>
          <a:xfrm>
            <a:off x="11197228" y="2958274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ow:netkit:start"/>
          <p:cNvSpPr/>
          <p:nvPr/>
        </p:nvSpPr>
        <p:spPr>
          <a:xfrm>
            <a:off x="11165224" y="292627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8" name="row:netkit:release:6.7"/>
          <p:cNvSpPr/>
          <p:nvPr/>
        </p:nvSpPr>
        <p:spPr>
          <a:xfrm>
            <a:off x="12012335" y="2914840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9" name="row:netkit:label"/>
          <p:cNvSpPr txBox="1"/>
          <p:nvPr/>
        </p:nvSpPr>
        <p:spPr>
          <a:xfrm>
            <a:off x="12128921" y="284854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160" name="row:cgroup / LWT BPF:name"/>
          <p:cNvSpPr txBox="1"/>
          <p:nvPr/>
        </p:nvSpPr>
        <p:spPr>
          <a:xfrm>
            <a:off x="1325880" y="29578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161" name="row:cgroup / LWT BPF:development"/>
          <p:cNvCxnSpPr/>
          <p:nvPr/>
        </p:nvCxnSpPr>
        <p:spPr>
          <a:xfrm>
            <a:off x="6475495" y="306762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ow:cgroup / LWT BPF:start"/>
          <p:cNvSpPr/>
          <p:nvPr/>
        </p:nvSpPr>
        <p:spPr>
          <a:xfrm>
            <a:off x="6443491" y="30356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3" name="row:cgroup / LWT BPF:release:4.10"/>
          <p:cNvSpPr/>
          <p:nvPr/>
        </p:nvSpPr>
        <p:spPr>
          <a:xfrm>
            <a:off x="7233474" y="302418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4" name="row:cgroup / LWT BPF:label"/>
          <p:cNvSpPr txBox="1"/>
          <p:nvPr/>
        </p:nvSpPr>
        <p:spPr>
          <a:xfrm>
            <a:off x="7350060" y="295789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165" name="row:SOCK_OPS / SOCKMAP:name"/>
          <p:cNvSpPr txBox="1"/>
          <p:nvPr/>
        </p:nvSpPr>
        <p:spPr>
          <a:xfrm>
            <a:off x="1325880" y="306724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166" name="row:SOCK_OPS / SOCKMAP:development"/>
          <p:cNvCxnSpPr/>
          <p:nvPr/>
        </p:nvCxnSpPr>
        <p:spPr>
          <a:xfrm>
            <a:off x="6822681" y="3176968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w:SOCK_OPS / SOCKMAP:start"/>
          <p:cNvSpPr/>
          <p:nvPr/>
        </p:nvSpPr>
        <p:spPr>
          <a:xfrm>
            <a:off x="6790677" y="314496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8" name="row:SOCK_OPS / SOCKMAP:milestones"/>
          <p:cNvCxnSpPr/>
          <p:nvPr/>
        </p:nvCxnSpPr>
        <p:spPr>
          <a:xfrm>
            <a:off x="7649521" y="3176968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row:SOCK_OPS / SOCKMAP:release:4.13"/>
          <p:cNvSpPr/>
          <p:nvPr/>
        </p:nvSpPr>
        <p:spPr>
          <a:xfrm>
            <a:off x="7606087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0" name="row:SOCK_OPS / SOCKMAP:release:4.14"/>
          <p:cNvSpPr/>
          <p:nvPr/>
        </p:nvSpPr>
        <p:spPr>
          <a:xfrm>
            <a:off x="7739163" y="3133534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1" name="row:SOCK_OPS / SOCKMAP:label"/>
          <p:cNvSpPr txBox="1"/>
          <p:nvPr/>
        </p:nvSpPr>
        <p:spPr>
          <a:xfrm>
            <a:off x="7855749" y="306724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172" name="row:BPF struct_ops:name"/>
          <p:cNvSpPr txBox="1"/>
          <p:nvPr/>
        </p:nvSpPr>
        <p:spPr>
          <a:xfrm>
            <a:off x="1325880" y="317658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173" name="row:BPF struct_ops:development"/>
          <p:cNvCxnSpPr/>
          <p:nvPr/>
        </p:nvCxnSpPr>
        <p:spPr>
          <a:xfrm>
            <a:off x="8419738" y="3286315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row:BPF struct_ops:start"/>
          <p:cNvSpPr/>
          <p:nvPr/>
        </p:nvSpPr>
        <p:spPr>
          <a:xfrm>
            <a:off x="8387734" y="325431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5" name="row:BPF struct_ops:release:5.6"/>
          <p:cNvSpPr/>
          <p:nvPr/>
        </p:nvSpPr>
        <p:spPr>
          <a:xfrm>
            <a:off x="9390734" y="324288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6" name="row:BPF struct_ops:label"/>
          <p:cNvSpPr txBox="1"/>
          <p:nvPr/>
        </p:nvSpPr>
        <p:spPr>
          <a:xfrm>
            <a:off x="9507320" y="317658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177" name="row:BPF qdisc:name"/>
          <p:cNvSpPr txBox="1"/>
          <p:nvPr/>
        </p:nvSpPr>
        <p:spPr>
          <a:xfrm>
            <a:off x="1325880" y="328593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178" name="row:BPF qdisc:development"/>
          <p:cNvCxnSpPr/>
          <p:nvPr/>
        </p:nvCxnSpPr>
        <p:spPr>
          <a:xfrm>
            <a:off x="12308224" y="3395662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ow:BPF qdisc:start"/>
          <p:cNvSpPr/>
          <p:nvPr/>
        </p:nvSpPr>
        <p:spPr>
          <a:xfrm>
            <a:off x="12276220" y="336365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0" name="row:BPF qdisc:release:6.16"/>
          <p:cNvSpPr/>
          <p:nvPr/>
        </p:nvSpPr>
        <p:spPr>
          <a:xfrm>
            <a:off x="13088826" y="3352228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1" name="row:BPF qdisc:label"/>
          <p:cNvSpPr txBox="1"/>
          <p:nvPr/>
        </p:nvSpPr>
        <p:spPr>
          <a:xfrm>
            <a:off x="13205412" y="328593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182" name="row:SK_LOOKUP:name"/>
          <p:cNvSpPr txBox="1"/>
          <p:nvPr/>
        </p:nvSpPr>
        <p:spPr>
          <a:xfrm>
            <a:off x="1325880" y="33952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183" name="row:SK_LOOKUP:development"/>
          <p:cNvCxnSpPr/>
          <p:nvPr/>
        </p:nvCxnSpPr>
        <p:spPr>
          <a:xfrm>
            <a:off x="8905798" y="3505009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w:SK_LOOKUP:start"/>
          <p:cNvSpPr/>
          <p:nvPr/>
        </p:nvSpPr>
        <p:spPr>
          <a:xfrm>
            <a:off x="8873794" y="34730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5" name="row:SK_LOOKUP:release:5.9"/>
          <p:cNvSpPr/>
          <p:nvPr/>
        </p:nvSpPr>
        <p:spPr>
          <a:xfrm>
            <a:off x="9763347" y="34615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6" name="row:SK_LOOKUP:label"/>
          <p:cNvSpPr txBox="1"/>
          <p:nvPr/>
        </p:nvSpPr>
        <p:spPr>
          <a:xfrm>
            <a:off x="9879933" y="339528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187" name="row:XDP:name"/>
          <p:cNvSpPr txBox="1"/>
          <p:nvPr/>
        </p:nvSpPr>
        <p:spPr>
          <a:xfrm>
            <a:off x="1325880" y="350462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188" name="row:XDP:development"/>
          <p:cNvCxnSpPr/>
          <p:nvPr/>
        </p:nvCxnSpPr>
        <p:spPr>
          <a:xfrm>
            <a:off x="6558819" y="3614356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ow:XDP:start"/>
          <p:cNvSpPr/>
          <p:nvPr/>
        </p:nvSpPr>
        <p:spPr>
          <a:xfrm>
            <a:off x="6526815" y="358235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0" name="row:XDP:release:4.8"/>
          <p:cNvSpPr/>
          <p:nvPr/>
        </p:nvSpPr>
        <p:spPr>
          <a:xfrm>
            <a:off x="6968747" y="3570922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1" name="row:XDP:label"/>
          <p:cNvSpPr txBox="1"/>
          <p:nvPr/>
        </p:nvSpPr>
        <p:spPr>
          <a:xfrm>
            <a:off x="7085333" y="350462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742182"/>
            <a:ext cx="1051560" cy="102069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193" name="row:page_pool:name"/>
          <p:cNvSpPr txBox="1"/>
          <p:nvPr/>
        </p:nvSpPr>
        <p:spPr>
          <a:xfrm>
            <a:off x="1325880" y="370541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194" name="row:page_pool:development"/>
          <p:cNvCxnSpPr/>
          <p:nvPr/>
        </p:nvCxnSpPr>
        <p:spPr>
          <a:xfrm>
            <a:off x="6614369" y="3815143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w:page_pool:start"/>
          <p:cNvSpPr/>
          <p:nvPr/>
        </p:nvSpPr>
        <p:spPr>
          <a:xfrm>
            <a:off x="6582365" y="378313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6" name="row:page_pool:release:4.18"/>
          <p:cNvSpPr/>
          <p:nvPr/>
        </p:nvSpPr>
        <p:spPr>
          <a:xfrm>
            <a:off x="8258636" y="377170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7" name="row:page_pool:label"/>
          <p:cNvSpPr txBox="1"/>
          <p:nvPr/>
        </p:nvSpPr>
        <p:spPr>
          <a:xfrm>
            <a:off x="8375222" y="370541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198" name="row:Device Memory TCP RX:name"/>
          <p:cNvSpPr txBox="1"/>
          <p:nvPr/>
        </p:nvSpPr>
        <p:spPr>
          <a:xfrm>
            <a:off x="1325880" y="381476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199" name="row:Device Memory TCP RX:development"/>
          <p:cNvCxnSpPr/>
          <p:nvPr/>
        </p:nvCxnSpPr>
        <p:spPr>
          <a:xfrm>
            <a:off x="11405539" y="3924490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ow:Device Memory TCP RX:start"/>
          <p:cNvSpPr/>
          <p:nvPr/>
        </p:nvSpPr>
        <p:spPr>
          <a:xfrm>
            <a:off x="11373535" y="389248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1" name="row:Device Memory TCP RX:release:6.12"/>
          <p:cNvSpPr/>
          <p:nvPr/>
        </p:nvSpPr>
        <p:spPr>
          <a:xfrm>
            <a:off x="12611177" y="3881056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2" name="row:Device Memory TCP RX:label"/>
          <p:cNvSpPr txBox="1"/>
          <p:nvPr/>
        </p:nvSpPr>
        <p:spPr>
          <a:xfrm>
            <a:off x="12727763" y="381476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203" name="row:Device Memory TCP TX:name"/>
          <p:cNvSpPr txBox="1"/>
          <p:nvPr/>
        </p:nvSpPr>
        <p:spPr>
          <a:xfrm>
            <a:off x="1325880" y="39241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204" name="row:Device Memory TCP TX:development"/>
          <p:cNvCxnSpPr/>
          <p:nvPr/>
        </p:nvCxnSpPr>
        <p:spPr>
          <a:xfrm>
            <a:off x="12030475" y="4033837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row:Device Memory TCP TX:start"/>
          <p:cNvSpPr/>
          <p:nvPr/>
        </p:nvSpPr>
        <p:spPr>
          <a:xfrm>
            <a:off x="11998471" y="40018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6" name="row:Device Memory TCP TX:release:6.16"/>
          <p:cNvSpPr/>
          <p:nvPr/>
        </p:nvSpPr>
        <p:spPr>
          <a:xfrm>
            <a:off x="13088826" y="39904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7" name="row:Device Memory TCP TX:label"/>
          <p:cNvSpPr txBox="1"/>
          <p:nvPr/>
        </p:nvSpPr>
        <p:spPr>
          <a:xfrm>
            <a:off x="13205412" y="392410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208" name="row:io_uring ZCRX:name"/>
          <p:cNvSpPr txBox="1"/>
          <p:nvPr/>
        </p:nvSpPr>
        <p:spPr>
          <a:xfrm>
            <a:off x="1325880" y="403345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io_uring ZCRX</a:t>
            </a:r>
          </a:p>
        </p:txBody>
      </p:sp>
      <p:cxnSp>
        <p:nvCxnSpPr>
          <p:cNvPr id="209" name="row:io_uring ZCRX:development"/>
          <p:cNvCxnSpPr/>
          <p:nvPr/>
        </p:nvCxnSpPr>
        <p:spPr>
          <a:xfrm>
            <a:off x="11613851" y="4143184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0" name="row:io_uring ZCRX:start"/>
          <p:cNvSpPr/>
          <p:nvPr/>
        </p:nvSpPr>
        <p:spPr>
          <a:xfrm>
            <a:off x="11581847" y="411118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1" name="row:io_uring ZCRX:release:6.15"/>
          <p:cNvSpPr/>
          <p:nvPr/>
        </p:nvSpPr>
        <p:spPr>
          <a:xfrm>
            <a:off x="12969057" y="4099750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2" name="row:io_uring ZCRX:label"/>
          <p:cNvSpPr txBox="1"/>
          <p:nvPr/>
        </p:nvSpPr>
        <p:spPr>
          <a:xfrm>
            <a:off x="13085643" y="403345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13" name="row:large RX buffers (mem. providers):name"/>
          <p:cNvSpPr txBox="1"/>
          <p:nvPr/>
        </p:nvSpPr>
        <p:spPr>
          <a:xfrm>
            <a:off x="1325880" y="414280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214" name="row:large RX buffers (mem. providers):development"/>
          <p:cNvCxnSpPr/>
          <p:nvPr/>
        </p:nvCxnSpPr>
        <p:spPr>
          <a:xfrm>
            <a:off x="12724847" y="425253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row:large RX buffers (mem. providers):start"/>
          <p:cNvSpPr/>
          <p:nvPr/>
        </p:nvSpPr>
        <p:spPr>
          <a:xfrm>
            <a:off x="12692843" y="422052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6" name="row:large RX buffers (mem. providers):release:7.0"/>
          <p:cNvSpPr/>
          <p:nvPr/>
        </p:nvSpPr>
        <p:spPr>
          <a:xfrm>
            <a:off x="13581683" y="420909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7" name="row:large RX buffers (mem. providers):label"/>
          <p:cNvSpPr txBox="1"/>
          <p:nvPr/>
        </p:nvSpPr>
        <p:spPr>
          <a:xfrm>
            <a:off x="13698269" y="414280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218" name="row:XDP multi-buffer:name"/>
          <p:cNvSpPr txBox="1"/>
          <p:nvPr/>
        </p:nvSpPr>
        <p:spPr>
          <a:xfrm>
            <a:off x="1325880" y="425215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219" name="row:XDP multi-buffer:development"/>
          <p:cNvCxnSpPr/>
          <p:nvPr/>
        </p:nvCxnSpPr>
        <p:spPr>
          <a:xfrm>
            <a:off x="9947357" y="4361878"/>
            <a:ext cx="97631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row:XDP multi-buffer:start"/>
          <p:cNvSpPr/>
          <p:nvPr/>
        </p:nvSpPr>
        <p:spPr>
          <a:xfrm>
            <a:off x="9915353" y="432987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1" name="row:XDP multi-buffer:release:5.18"/>
          <p:cNvSpPr/>
          <p:nvPr/>
        </p:nvSpPr>
        <p:spPr>
          <a:xfrm>
            <a:off x="10880236" y="4318444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2" name="row:XDP multi-buffer:label"/>
          <p:cNvSpPr txBox="1"/>
          <p:nvPr/>
        </p:nvSpPr>
        <p:spPr>
          <a:xfrm>
            <a:off x="10996822" y="425215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223" name="row:AF_XDP:name"/>
          <p:cNvSpPr txBox="1"/>
          <p:nvPr/>
        </p:nvSpPr>
        <p:spPr>
          <a:xfrm>
            <a:off x="1325880" y="43614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224" name="row:AF_XDP:development"/>
          <p:cNvCxnSpPr/>
          <p:nvPr/>
        </p:nvCxnSpPr>
        <p:spPr>
          <a:xfrm>
            <a:off x="7169867" y="447122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ow:AF_XDP:start"/>
          <p:cNvSpPr/>
          <p:nvPr/>
        </p:nvSpPr>
        <p:spPr>
          <a:xfrm>
            <a:off x="7137863" y="44392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6" name="row:AF_XDP:release:4.18"/>
          <p:cNvSpPr/>
          <p:nvPr/>
        </p:nvSpPr>
        <p:spPr>
          <a:xfrm>
            <a:off x="8258636" y="442779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7" name="row:AF_XDP:label"/>
          <p:cNvSpPr txBox="1"/>
          <p:nvPr/>
        </p:nvSpPr>
        <p:spPr>
          <a:xfrm>
            <a:off x="8375222" y="436149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228" name="row:AF_XDP multi-buffer:name"/>
          <p:cNvSpPr txBox="1"/>
          <p:nvPr/>
        </p:nvSpPr>
        <p:spPr>
          <a:xfrm>
            <a:off x="1325880" y="447084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229" name="row:AF_XDP multi-buffer:development"/>
          <p:cNvCxnSpPr/>
          <p:nvPr/>
        </p:nvCxnSpPr>
        <p:spPr>
          <a:xfrm>
            <a:off x="10641730" y="4580572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ow:AF_XDP multi-buffer:start"/>
          <p:cNvSpPr/>
          <p:nvPr/>
        </p:nvSpPr>
        <p:spPr>
          <a:xfrm>
            <a:off x="10609726" y="454856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1" name="row:AF_XDP multi-buffer:release:6.6"/>
          <p:cNvSpPr/>
          <p:nvPr/>
        </p:nvSpPr>
        <p:spPr>
          <a:xfrm>
            <a:off x="11880684" y="4537138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2" name="row:AF_XDP multi-buffer:label"/>
          <p:cNvSpPr txBox="1"/>
          <p:nvPr/>
        </p:nvSpPr>
        <p:spPr>
          <a:xfrm>
            <a:off x="11997270" y="447084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233" name="row:RX HW queue leasing:name"/>
          <p:cNvSpPr txBox="1"/>
          <p:nvPr/>
        </p:nvSpPr>
        <p:spPr>
          <a:xfrm>
            <a:off x="1325880" y="458019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234" name="row:RX HW queue leasing:development"/>
          <p:cNvCxnSpPr/>
          <p:nvPr/>
        </p:nvCxnSpPr>
        <p:spPr>
          <a:xfrm>
            <a:off x="12377661" y="4689919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row:RX HW queue leasing:start"/>
          <p:cNvSpPr/>
          <p:nvPr/>
        </p:nvSpPr>
        <p:spPr>
          <a:xfrm>
            <a:off x="12345657" y="465791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6" name="row:RX HW queue leasing:release:7.1"/>
          <p:cNvSpPr/>
          <p:nvPr/>
        </p:nvSpPr>
        <p:spPr>
          <a:xfrm>
            <a:off x="13701451" y="464648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7" name="row:RX HW queue leasing:label"/>
          <p:cNvSpPr txBox="1"/>
          <p:nvPr/>
        </p:nvSpPr>
        <p:spPr>
          <a:xfrm>
            <a:off x="13818037" y="458019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817745"/>
            <a:ext cx="1051560" cy="69265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239" name="row:nftables (dev. from 2008):name"/>
          <p:cNvSpPr txBox="1"/>
          <p:nvPr/>
        </p:nvSpPr>
        <p:spPr>
          <a:xfrm>
            <a:off x="1325880" y="478097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240" name="row:nftables (dev. from 2008):development"/>
          <p:cNvCxnSpPr/>
          <p:nvPr/>
        </p:nvCxnSpPr>
        <p:spPr>
          <a:xfrm>
            <a:off x="3044951" y="4890706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row:nftables (dev. from 2008):start-offchart"/>
          <p:cNvSpPr/>
          <p:nvPr/>
        </p:nvSpPr>
        <p:spPr>
          <a:xfrm rot="16200000">
            <a:off x="2980944" y="4849558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2" name="row:nftables (dev. from 2008):release:3.13"/>
          <p:cNvSpPr/>
          <p:nvPr/>
        </p:nvSpPr>
        <p:spPr>
          <a:xfrm>
            <a:off x="5091423" y="4847272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3" name="row:nftables (dev. from 2008):label"/>
          <p:cNvSpPr txBox="1"/>
          <p:nvPr/>
        </p:nvSpPr>
        <p:spPr>
          <a:xfrm>
            <a:off x="5208009" y="478097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244" name="row:nexthop objects:name"/>
          <p:cNvSpPr txBox="1"/>
          <p:nvPr/>
        </p:nvSpPr>
        <p:spPr>
          <a:xfrm>
            <a:off x="1325880" y="48903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245" name="row:nexthop objects:development"/>
          <p:cNvCxnSpPr/>
          <p:nvPr/>
        </p:nvCxnSpPr>
        <p:spPr>
          <a:xfrm>
            <a:off x="7864240" y="5000053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row:nexthop objects:start"/>
          <p:cNvSpPr/>
          <p:nvPr/>
        </p:nvSpPr>
        <p:spPr>
          <a:xfrm>
            <a:off x="7832236" y="49680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7" name="row:nexthop objects:release:5.3"/>
          <p:cNvSpPr/>
          <p:nvPr/>
        </p:nvSpPr>
        <p:spPr>
          <a:xfrm>
            <a:off x="9017645" y="495661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8" name="row:nexthop objects:label"/>
          <p:cNvSpPr txBox="1"/>
          <p:nvPr/>
        </p:nvSpPr>
        <p:spPr>
          <a:xfrm>
            <a:off x="9134231" y="489032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249" name="row:per-netns RTNL:name"/>
          <p:cNvSpPr txBox="1"/>
          <p:nvPr/>
        </p:nvSpPr>
        <p:spPr>
          <a:xfrm>
            <a:off x="1325880" y="499967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250" name="row:per-netns RTNL:development"/>
          <p:cNvCxnSpPr/>
          <p:nvPr/>
        </p:nvCxnSpPr>
        <p:spPr>
          <a:xfrm>
            <a:off x="11336102" y="5109400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row:per-netns RTNL:start"/>
          <p:cNvSpPr/>
          <p:nvPr/>
        </p:nvSpPr>
        <p:spPr>
          <a:xfrm>
            <a:off x="11304098" y="507739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2" name="row:per-netns RTNL:release:6.13"/>
          <p:cNvSpPr/>
          <p:nvPr/>
        </p:nvSpPr>
        <p:spPr>
          <a:xfrm>
            <a:off x="12729520" y="5065966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3" name="row:per-netns RTNL:label"/>
          <p:cNvSpPr txBox="1"/>
          <p:nvPr/>
        </p:nvSpPr>
        <p:spPr>
          <a:xfrm>
            <a:off x="12846106" y="499967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254" name="row:further RTNL breakup:name"/>
          <p:cNvSpPr txBox="1"/>
          <p:nvPr/>
        </p:nvSpPr>
        <p:spPr>
          <a:xfrm>
            <a:off x="1325880" y="510901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255" name="row:further RTNL breakup:development"/>
          <p:cNvCxnSpPr/>
          <p:nvPr/>
        </p:nvCxnSpPr>
        <p:spPr>
          <a:xfrm>
            <a:off x="12030475" y="521874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row:further RTNL breakup:start"/>
          <p:cNvSpPr/>
          <p:nvPr/>
        </p:nvSpPr>
        <p:spPr>
          <a:xfrm>
            <a:off x="11998471" y="518674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7" name="row:further RTNL breakup:release:6.15"/>
          <p:cNvSpPr/>
          <p:nvPr/>
        </p:nvSpPr>
        <p:spPr>
          <a:xfrm>
            <a:off x="12969057" y="517531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8" name="row:further RTNL breakup:label"/>
          <p:cNvSpPr txBox="1"/>
          <p:nvPr/>
        </p:nvSpPr>
        <p:spPr>
          <a:xfrm>
            <a:off x="13085643" y="510901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259" name="row:RTNL-less FIB rules:name"/>
          <p:cNvSpPr txBox="1"/>
          <p:nvPr/>
        </p:nvSpPr>
        <p:spPr>
          <a:xfrm>
            <a:off x="1325880" y="521836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260" name="row:RTNL-less FIB rules:development"/>
          <p:cNvCxnSpPr/>
          <p:nvPr/>
        </p:nvCxnSpPr>
        <p:spPr>
          <a:xfrm>
            <a:off x="12724847" y="5328094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ow:RTNL-less FIB rules:start"/>
          <p:cNvSpPr/>
          <p:nvPr/>
        </p:nvSpPr>
        <p:spPr>
          <a:xfrm>
            <a:off x="12692843" y="529609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2" name="row:RTNL-less FIB rules:release:7.3-rc"/>
          <p:cNvSpPr/>
          <p:nvPr/>
        </p:nvSpPr>
        <p:spPr>
          <a:xfrm>
            <a:off x="13828824" y="5284660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3" name="row:RTNL-less FIB rules:label"/>
          <p:cNvSpPr txBox="1"/>
          <p:nvPr/>
        </p:nvSpPr>
        <p:spPr>
          <a:xfrm>
            <a:off x="13945410" y="521836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264" name="row:YNL tooling:name"/>
          <p:cNvSpPr txBox="1"/>
          <p:nvPr/>
        </p:nvSpPr>
        <p:spPr>
          <a:xfrm>
            <a:off x="1325880" y="53277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265" name="row:YNL tooling:development"/>
          <p:cNvCxnSpPr/>
          <p:nvPr/>
        </p:nvCxnSpPr>
        <p:spPr>
          <a:xfrm>
            <a:off x="10294543" y="54374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6" name="row:YNL tooling:start"/>
          <p:cNvSpPr/>
          <p:nvPr/>
        </p:nvSpPr>
        <p:spPr>
          <a:xfrm>
            <a:off x="10262539" y="54054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7" name="row:YNL tooling:release:6.3"/>
          <p:cNvSpPr/>
          <p:nvPr/>
        </p:nvSpPr>
        <p:spPr>
          <a:xfrm>
            <a:off x="11519477" y="53940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8" name="row:YNL tooling:label"/>
          <p:cNvSpPr txBox="1"/>
          <p:nvPr/>
        </p:nvSpPr>
        <p:spPr>
          <a:xfrm>
            <a:off x="11636063" y="532771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565267"/>
            <a:ext cx="1051560" cy="58331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270" name="row:queue/NAPI netdev-genl:name"/>
          <p:cNvSpPr txBox="1"/>
          <p:nvPr/>
        </p:nvSpPr>
        <p:spPr>
          <a:xfrm>
            <a:off x="1325880" y="552850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queue/NAPI netdev-genl</a:t>
            </a:r>
          </a:p>
        </p:txBody>
      </p:sp>
      <p:cxnSp>
        <p:nvCxnSpPr>
          <p:cNvPr id="271" name="row:queue/NAPI netdev-genl:development"/>
          <p:cNvCxnSpPr/>
          <p:nvPr/>
        </p:nvCxnSpPr>
        <p:spPr>
          <a:xfrm>
            <a:off x="11336102" y="5638228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row:queue/NAPI netdev-genl:start"/>
          <p:cNvSpPr/>
          <p:nvPr/>
        </p:nvSpPr>
        <p:spPr>
          <a:xfrm>
            <a:off x="11304098" y="560622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3" name="row:queue/NAPI netdev-genl:release:6.8"/>
          <p:cNvSpPr/>
          <p:nvPr/>
        </p:nvSpPr>
        <p:spPr>
          <a:xfrm>
            <a:off x="12132103" y="5594794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4" name="row:queue/NAPI netdev-genl:label"/>
          <p:cNvSpPr txBox="1"/>
          <p:nvPr/>
        </p:nvSpPr>
        <p:spPr>
          <a:xfrm>
            <a:off x="12248689" y="552850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275" name="row:kprobe BPF:name"/>
          <p:cNvSpPr txBox="1"/>
          <p:nvPr/>
        </p:nvSpPr>
        <p:spPr>
          <a:xfrm>
            <a:off x="1325880" y="563784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276" name="row:kprobe BPF:development"/>
          <p:cNvCxnSpPr/>
          <p:nvPr/>
        </p:nvCxnSpPr>
        <p:spPr>
          <a:xfrm>
            <a:off x="5225624" y="5747575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ow:kprobe BPF:start"/>
          <p:cNvSpPr/>
          <p:nvPr/>
        </p:nvSpPr>
        <p:spPr>
          <a:xfrm>
            <a:off x="5193620" y="571557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8" name="row:kprobe BPF:release:4.1"/>
          <p:cNvSpPr/>
          <p:nvPr/>
        </p:nvSpPr>
        <p:spPr>
          <a:xfrm>
            <a:off x="6076662" y="570414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9" name="row:kprobe BPF:label"/>
          <p:cNvSpPr txBox="1"/>
          <p:nvPr/>
        </p:nvSpPr>
        <p:spPr>
          <a:xfrm>
            <a:off x="6193248" y="563784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280" name="row:structured drop reason:name"/>
          <p:cNvSpPr txBox="1"/>
          <p:nvPr/>
        </p:nvSpPr>
        <p:spPr>
          <a:xfrm>
            <a:off x="1325880" y="574719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281" name="row:structured drop reason:development"/>
          <p:cNvCxnSpPr/>
          <p:nvPr/>
        </p:nvCxnSpPr>
        <p:spPr>
          <a:xfrm>
            <a:off x="9947357" y="5856922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row:structured drop reason:start"/>
          <p:cNvSpPr/>
          <p:nvPr/>
        </p:nvSpPr>
        <p:spPr>
          <a:xfrm>
            <a:off x="9915353" y="582491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3" name="row:structured drop reason:release:5.17"/>
          <p:cNvSpPr/>
          <p:nvPr/>
        </p:nvSpPr>
        <p:spPr>
          <a:xfrm>
            <a:off x="10760468" y="5813488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4" name="row:structured drop reason:label"/>
          <p:cNvSpPr txBox="1"/>
          <p:nvPr/>
        </p:nvSpPr>
        <p:spPr>
          <a:xfrm>
            <a:off x="10877054" y="574719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285" name="row:drop-reason expansion:name"/>
          <p:cNvSpPr txBox="1"/>
          <p:nvPr/>
        </p:nvSpPr>
        <p:spPr>
          <a:xfrm>
            <a:off x="1325880" y="58565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286" name="row:drop-reason expansion:development"/>
          <p:cNvCxnSpPr/>
          <p:nvPr/>
        </p:nvCxnSpPr>
        <p:spPr>
          <a:xfrm>
            <a:off x="10780604" y="5966269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row:drop-reason expansion:start"/>
          <p:cNvSpPr/>
          <p:nvPr/>
        </p:nvSpPr>
        <p:spPr>
          <a:xfrm>
            <a:off x="10748600" y="59342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8" name="row:drop-reason expansion:release:5.19"/>
          <p:cNvSpPr/>
          <p:nvPr/>
        </p:nvSpPr>
        <p:spPr>
          <a:xfrm>
            <a:off x="11013313" y="592283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9" name="row:drop-reason expansion:label"/>
          <p:cNvSpPr txBox="1"/>
          <p:nvPr/>
        </p:nvSpPr>
        <p:spPr>
          <a:xfrm>
            <a:off x="11129899" y="585654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290" name="row:qdisc-drop tracepoint:name"/>
          <p:cNvSpPr txBox="1"/>
          <p:nvPr/>
        </p:nvSpPr>
        <p:spPr>
          <a:xfrm>
            <a:off x="1325880" y="596588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291" name="row:qdisc-drop tracepoint:development"/>
          <p:cNvCxnSpPr/>
          <p:nvPr/>
        </p:nvCxnSpPr>
        <p:spPr>
          <a:xfrm>
            <a:off x="12724847" y="6075616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row:qdisc-drop tracepoint:start"/>
          <p:cNvSpPr/>
          <p:nvPr/>
        </p:nvSpPr>
        <p:spPr>
          <a:xfrm>
            <a:off x="12692843" y="604361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3" name="row:qdisc-drop tracepoint:release:7.1"/>
          <p:cNvSpPr/>
          <p:nvPr/>
        </p:nvSpPr>
        <p:spPr>
          <a:xfrm>
            <a:off x="13701451" y="6032182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4" name="row:qdisc-drop tracepoint:label"/>
          <p:cNvSpPr txBox="1"/>
          <p:nvPr/>
        </p:nvSpPr>
        <p:spPr>
          <a:xfrm>
            <a:off x="13818037" y="596588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203442"/>
            <a:ext cx="1051560" cy="113004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296" name="row:switchdev:name"/>
          <p:cNvSpPr txBox="1"/>
          <p:nvPr/>
        </p:nvSpPr>
        <p:spPr>
          <a:xfrm>
            <a:off x="1325880" y="616667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297" name="row:switchdev:development"/>
          <p:cNvCxnSpPr/>
          <p:nvPr/>
        </p:nvCxnSpPr>
        <p:spPr>
          <a:xfrm>
            <a:off x="5086750" y="6276403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w:switchdev:start"/>
          <p:cNvSpPr/>
          <p:nvPr/>
        </p:nvSpPr>
        <p:spPr>
          <a:xfrm>
            <a:off x="5054746" y="624439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9" name="row:switchdev:release:3.19"/>
          <p:cNvSpPr/>
          <p:nvPr/>
        </p:nvSpPr>
        <p:spPr>
          <a:xfrm>
            <a:off x="5823817" y="623296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0" name="row:switchdev:label"/>
          <p:cNvSpPr txBox="1"/>
          <p:nvPr/>
        </p:nvSpPr>
        <p:spPr>
          <a:xfrm>
            <a:off x="5940403" y="6166675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301" name="row:devlink:name"/>
          <p:cNvSpPr txBox="1"/>
          <p:nvPr/>
        </p:nvSpPr>
        <p:spPr>
          <a:xfrm>
            <a:off x="1325880" y="6276022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302" name="row:devlink:development"/>
          <p:cNvCxnSpPr/>
          <p:nvPr/>
        </p:nvCxnSpPr>
        <p:spPr>
          <a:xfrm>
            <a:off x="5781122" y="6385750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ow:devlink:start"/>
          <p:cNvSpPr/>
          <p:nvPr/>
        </p:nvSpPr>
        <p:spPr>
          <a:xfrm>
            <a:off x="5749118" y="6353746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4" name="row:devlink:release:4.6"/>
          <p:cNvSpPr/>
          <p:nvPr/>
        </p:nvSpPr>
        <p:spPr>
          <a:xfrm>
            <a:off x="6702595" y="6342316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5" name="row:devlink:label"/>
          <p:cNvSpPr txBox="1"/>
          <p:nvPr/>
        </p:nvSpPr>
        <p:spPr>
          <a:xfrm>
            <a:off x="6819181" y="6276022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306" name="row:devlink health:name"/>
          <p:cNvSpPr txBox="1"/>
          <p:nvPr/>
        </p:nvSpPr>
        <p:spPr>
          <a:xfrm>
            <a:off x="1325880" y="63853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307" name="row:devlink health:development"/>
          <p:cNvCxnSpPr/>
          <p:nvPr/>
        </p:nvCxnSpPr>
        <p:spPr>
          <a:xfrm>
            <a:off x="7864240" y="6495097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ow:devlink health:start"/>
          <p:cNvSpPr/>
          <p:nvPr/>
        </p:nvSpPr>
        <p:spPr>
          <a:xfrm>
            <a:off x="7832236" y="64630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9" name="row:devlink health:release:5.1"/>
          <p:cNvSpPr/>
          <p:nvPr/>
        </p:nvSpPr>
        <p:spPr>
          <a:xfrm>
            <a:off x="8764800" y="645166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0" name="row:devlink health:label"/>
          <p:cNvSpPr txBox="1"/>
          <p:nvPr/>
        </p:nvSpPr>
        <p:spPr>
          <a:xfrm>
            <a:off x="8881386" y="6385369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311" name="row:phylink:name"/>
          <p:cNvSpPr txBox="1"/>
          <p:nvPr/>
        </p:nvSpPr>
        <p:spPr>
          <a:xfrm>
            <a:off x="1325880" y="6494716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312" name="row:phylink:development"/>
          <p:cNvCxnSpPr/>
          <p:nvPr/>
        </p:nvCxnSpPr>
        <p:spPr>
          <a:xfrm>
            <a:off x="5919997" y="6604444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row:phylink:start"/>
          <p:cNvSpPr/>
          <p:nvPr/>
        </p:nvSpPr>
        <p:spPr>
          <a:xfrm>
            <a:off x="5887993" y="657244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4" name="row:phylink:release:4.14"/>
          <p:cNvSpPr/>
          <p:nvPr/>
        </p:nvSpPr>
        <p:spPr>
          <a:xfrm>
            <a:off x="7739163" y="6561010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5" name="row:phylink:label"/>
          <p:cNvSpPr txBox="1"/>
          <p:nvPr/>
        </p:nvSpPr>
        <p:spPr>
          <a:xfrm>
            <a:off x="7855749" y="6494716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316" name="row:Net DIM:name"/>
          <p:cNvSpPr txBox="1"/>
          <p:nvPr/>
        </p:nvSpPr>
        <p:spPr>
          <a:xfrm>
            <a:off x="1325880" y="660406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317" name="row:Net DIM:development"/>
          <p:cNvCxnSpPr/>
          <p:nvPr/>
        </p:nvCxnSpPr>
        <p:spPr>
          <a:xfrm>
            <a:off x="7169867" y="6713791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ow:Net DIM:start"/>
          <p:cNvSpPr/>
          <p:nvPr/>
        </p:nvSpPr>
        <p:spPr>
          <a:xfrm>
            <a:off x="7137863" y="668178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9" name="row:Net DIM:release:4.16"/>
          <p:cNvSpPr/>
          <p:nvPr/>
        </p:nvSpPr>
        <p:spPr>
          <a:xfrm>
            <a:off x="8005791" y="667035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0" name="row:Net DIM:label"/>
          <p:cNvSpPr txBox="1"/>
          <p:nvPr/>
        </p:nvSpPr>
        <p:spPr>
          <a:xfrm>
            <a:off x="8122377" y="6604063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1" name="row:netdevsim:name"/>
          <p:cNvSpPr txBox="1"/>
          <p:nvPr/>
        </p:nvSpPr>
        <p:spPr>
          <a:xfrm>
            <a:off x="1325880" y="6713410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322" name="row:netdevsim:development"/>
          <p:cNvCxnSpPr/>
          <p:nvPr/>
        </p:nvCxnSpPr>
        <p:spPr>
          <a:xfrm>
            <a:off x="7517053" y="6823138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row:netdevsim:start"/>
          <p:cNvSpPr/>
          <p:nvPr/>
        </p:nvSpPr>
        <p:spPr>
          <a:xfrm>
            <a:off x="7485049" y="6791134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4" name="row:netdevsim:release:4.16"/>
          <p:cNvSpPr/>
          <p:nvPr/>
        </p:nvSpPr>
        <p:spPr>
          <a:xfrm>
            <a:off x="8005791" y="6779704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5" name="row:netdevsim:label"/>
          <p:cNvSpPr txBox="1"/>
          <p:nvPr/>
        </p:nvSpPr>
        <p:spPr>
          <a:xfrm>
            <a:off x="8122377" y="6713410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326" name="row:ethtool netlink:name"/>
          <p:cNvSpPr txBox="1"/>
          <p:nvPr/>
        </p:nvSpPr>
        <p:spPr>
          <a:xfrm>
            <a:off x="1325880" y="6822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327" name="row:ethtool netlink:development"/>
          <p:cNvCxnSpPr/>
          <p:nvPr/>
        </p:nvCxnSpPr>
        <p:spPr>
          <a:xfrm>
            <a:off x="7864240" y="693248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w:ethtool netlink:start"/>
          <p:cNvSpPr/>
          <p:nvPr/>
        </p:nvSpPr>
        <p:spPr>
          <a:xfrm>
            <a:off x="7832236" y="69004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9" name="row:ethtool netlink:release:5.6"/>
          <p:cNvSpPr/>
          <p:nvPr/>
        </p:nvSpPr>
        <p:spPr>
          <a:xfrm>
            <a:off x="9390734" y="68890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0" name="row:ethtool netlink:label"/>
          <p:cNvSpPr txBox="1"/>
          <p:nvPr/>
        </p:nvSpPr>
        <p:spPr>
          <a:xfrm>
            <a:off x="9507320" y="6822757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331" name="row:auxiliary bus:name"/>
          <p:cNvSpPr txBox="1"/>
          <p:nvPr/>
        </p:nvSpPr>
        <p:spPr>
          <a:xfrm>
            <a:off x="1325880" y="6932104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332" name="row:auxiliary bus:development"/>
          <p:cNvCxnSpPr/>
          <p:nvPr/>
        </p:nvCxnSpPr>
        <p:spPr>
          <a:xfrm>
            <a:off x="9252985" y="7041832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w:auxiliary bus:start"/>
          <p:cNvSpPr/>
          <p:nvPr/>
        </p:nvSpPr>
        <p:spPr>
          <a:xfrm>
            <a:off x="9220981" y="7009828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4" name="row:auxiliary bus:release:5.11"/>
          <p:cNvSpPr/>
          <p:nvPr/>
        </p:nvSpPr>
        <p:spPr>
          <a:xfrm>
            <a:off x="10001458" y="6998398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5" name="row:auxiliary bus:label"/>
          <p:cNvSpPr txBox="1"/>
          <p:nvPr/>
        </p:nvSpPr>
        <p:spPr>
          <a:xfrm>
            <a:off x="10118044" y="6932104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336" name="row:threaded NAPI:name"/>
          <p:cNvSpPr txBox="1"/>
          <p:nvPr/>
        </p:nvSpPr>
        <p:spPr>
          <a:xfrm>
            <a:off x="1325880" y="704145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337" name="row:threaded NAPI:development"/>
          <p:cNvCxnSpPr/>
          <p:nvPr/>
        </p:nvCxnSpPr>
        <p:spPr>
          <a:xfrm>
            <a:off x="9461296" y="7151179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ow:threaded NAPI:start"/>
          <p:cNvSpPr/>
          <p:nvPr/>
        </p:nvSpPr>
        <p:spPr>
          <a:xfrm>
            <a:off x="9429292" y="711917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9" name="row:threaded NAPI:release:5.12"/>
          <p:cNvSpPr/>
          <p:nvPr/>
        </p:nvSpPr>
        <p:spPr>
          <a:xfrm>
            <a:off x="10134535" y="710774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0" name="row:threaded NAPI:label"/>
          <p:cNvSpPr txBox="1"/>
          <p:nvPr/>
        </p:nvSpPr>
        <p:spPr>
          <a:xfrm>
            <a:off x="10251121" y="7041451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5.12</a:t>
            </a:r>
          </a:p>
        </p:txBody>
      </p:sp>
      <p:sp>
        <p:nvSpPr>
          <p:cNvPr id="341" name="row:Rust phylib:name"/>
          <p:cNvSpPr txBox="1"/>
          <p:nvPr/>
        </p:nvSpPr>
        <p:spPr>
          <a:xfrm>
            <a:off x="1325880" y="7150798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8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342" name="row:Rust phylib:development"/>
          <p:cNvCxnSpPr/>
          <p:nvPr/>
        </p:nvCxnSpPr>
        <p:spPr>
          <a:xfrm>
            <a:off x="11336102" y="7260526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row:Rust phylib:start"/>
          <p:cNvSpPr/>
          <p:nvPr/>
        </p:nvSpPr>
        <p:spPr>
          <a:xfrm>
            <a:off x="11304098" y="7228522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4" name="row:Rust phylib:release:6.8"/>
          <p:cNvSpPr/>
          <p:nvPr/>
        </p:nvSpPr>
        <p:spPr>
          <a:xfrm>
            <a:off x="12132103" y="7217092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5" name="row:Rust phylib:label"/>
          <p:cNvSpPr txBox="1"/>
          <p:nvPr/>
        </p:nvSpPr>
        <p:spPr>
          <a:xfrm>
            <a:off x="12248689" y="7150798"/>
            <a:ext cx="7315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434072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475220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507224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434072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650">
                <a:solidFill>
                  <a:srgbClr val="475569"/>
                </a:solidFill>
              </a:rPr>
              <a:t>~X.Y  ○  approx. development start → ●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507224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463790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43407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452360"/>
            <a:ext cx="274320" cy="109728"/>
          </a:xfrm>
          <a:prstGeom prst="rect">
            <a:avLst/>
          </a:prstGeom>
          <a:solidFill>
            <a:srgbClr val="334155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434072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443216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434072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443216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507224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434072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466076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43407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616952"/>
            <a:ext cx="681228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in Part VI;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approximate start of visible development (RFC / patch series). Not audited.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616952"/>
            <a:ext cx="6858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architecture axis. Cross-cutting domains (e.g. BBR, MPTCP, kTLS) and netmem / memory providers (provenance still open) have no row.</a:t>
            </a:r>
          </a:p>
        </p:txBody>
      </p:sp>
      <p:sp>
        <p:nvSpPr>
          <p:cNvPr id="366" name="row:DQL / BQL:start-label"/>
          <p:cNvSpPr txBox="1"/>
          <p:nvPr/>
        </p:nvSpPr>
        <p:spPr>
          <a:xfrm>
            <a:off x="3026664" y="1581721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~pre-3.0</a:t>
            </a:r>
          </a:p>
        </p:txBody>
      </p:sp>
      <p:sp>
        <p:nvSpPr>
          <p:cNvPr id="367" name="row:TSQ:start-label"/>
          <p:cNvSpPr txBox="1"/>
          <p:nvPr/>
        </p:nvSpPr>
        <p:spPr>
          <a:xfrm>
            <a:off x="3272809" y="1691068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</a:t>
            </a:r>
          </a:p>
        </p:txBody>
      </p:sp>
      <p:sp>
        <p:nvSpPr>
          <p:cNvPr id="368" name="row:SO_BUSY_POLL:start-label"/>
          <p:cNvSpPr txBox="1"/>
          <p:nvPr/>
        </p:nvSpPr>
        <p:spPr>
          <a:xfrm>
            <a:off x="3967181" y="1800415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~3.7</a:t>
            </a:r>
          </a:p>
        </p:txBody>
      </p:sp>
      <p:sp>
        <p:nvSpPr>
          <p:cNvPr id="369" name="row:sch_fq / TCP pacing:start-label"/>
          <p:cNvSpPr txBox="1"/>
          <p:nvPr/>
        </p:nvSpPr>
        <p:spPr>
          <a:xfrm>
            <a:off x="3828307" y="1909762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~3.6</a:t>
            </a:r>
          </a:p>
        </p:txBody>
      </p:sp>
      <p:sp>
        <p:nvSpPr>
          <p:cNvPr id="370" name="row:SO_TXTIME / EDT / taprio:start-label"/>
          <p:cNvSpPr txBox="1"/>
          <p:nvPr/>
        </p:nvSpPr>
        <p:spPr>
          <a:xfrm>
            <a:off x="6883546" y="2019109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~4.10</a:t>
            </a:r>
          </a:p>
        </p:txBody>
      </p:sp>
      <p:sp>
        <p:nvSpPr>
          <p:cNvPr id="371" name="row:BIG TCP:start-label"/>
          <p:cNvSpPr txBox="1"/>
          <p:nvPr/>
        </p:nvSpPr>
        <p:spPr>
          <a:xfrm>
            <a:off x="9661036" y="2128456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~5.12</a:t>
            </a:r>
          </a:p>
        </p:txBody>
      </p:sp>
      <p:sp>
        <p:nvSpPr>
          <p:cNvPr id="372" name="row:cake_mq:start-label"/>
          <p:cNvSpPr txBox="1"/>
          <p:nvPr/>
        </p:nvSpPr>
        <p:spPr>
          <a:xfrm>
            <a:off x="12299651" y="2347150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73" name="row:eBPF foundation:start-label"/>
          <p:cNvSpPr txBox="1"/>
          <p:nvPr/>
        </p:nvSpPr>
        <p:spPr>
          <a:xfrm>
            <a:off x="4314367" y="2547937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~3.10</a:t>
            </a:r>
          </a:p>
        </p:txBody>
      </p:sp>
      <p:sp>
        <p:nvSpPr>
          <p:cNvPr id="374" name="row:TC BPF:start-label"/>
          <p:cNvSpPr txBox="1"/>
          <p:nvPr/>
        </p:nvSpPr>
        <p:spPr>
          <a:xfrm>
            <a:off x="5217052" y="2657284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~3.17</a:t>
            </a:r>
          </a:p>
        </p:txBody>
      </p:sp>
      <p:sp>
        <p:nvSpPr>
          <p:cNvPr id="375" name="row:TCX:start-label"/>
          <p:cNvSpPr txBox="1"/>
          <p:nvPr/>
        </p:nvSpPr>
        <p:spPr>
          <a:xfrm>
            <a:off x="10633157" y="2766631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~6.0</a:t>
            </a:r>
          </a:p>
        </p:txBody>
      </p:sp>
      <p:sp>
        <p:nvSpPr>
          <p:cNvPr id="376" name="row:netkit:start-label"/>
          <p:cNvSpPr txBox="1"/>
          <p:nvPr/>
        </p:nvSpPr>
        <p:spPr>
          <a:xfrm>
            <a:off x="10772032" y="2875978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</a:t>
            </a:r>
          </a:p>
        </p:txBody>
      </p:sp>
      <p:sp>
        <p:nvSpPr>
          <p:cNvPr id="377" name="row:cgroup / LWT BPF:start-label"/>
          <p:cNvSpPr txBox="1"/>
          <p:nvPr/>
        </p:nvSpPr>
        <p:spPr>
          <a:xfrm>
            <a:off x="6050299" y="2985325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78" name="row:SOCK_OPS / SOCKMAP:start-label"/>
          <p:cNvSpPr txBox="1"/>
          <p:nvPr/>
        </p:nvSpPr>
        <p:spPr>
          <a:xfrm>
            <a:off x="6397485" y="3094672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~4.7</a:t>
            </a:r>
          </a:p>
        </p:txBody>
      </p:sp>
      <p:sp>
        <p:nvSpPr>
          <p:cNvPr id="379" name="row:BPF struct_ops:start-label"/>
          <p:cNvSpPr txBox="1"/>
          <p:nvPr/>
        </p:nvSpPr>
        <p:spPr>
          <a:xfrm>
            <a:off x="7994542" y="3204019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~4.19</a:t>
            </a:r>
          </a:p>
        </p:txBody>
      </p:sp>
      <p:sp>
        <p:nvSpPr>
          <p:cNvPr id="380" name="row:BPF qdisc:start-label"/>
          <p:cNvSpPr txBox="1"/>
          <p:nvPr/>
        </p:nvSpPr>
        <p:spPr>
          <a:xfrm>
            <a:off x="11883028" y="3313366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~6.10</a:t>
            </a:r>
          </a:p>
        </p:txBody>
      </p:sp>
      <p:sp>
        <p:nvSpPr>
          <p:cNvPr id="381" name="row:SK_LOOKUP:start-label"/>
          <p:cNvSpPr txBox="1"/>
          <p:nvPr/>
        </p:nvSpPr>
        <p:spPr>
          <a:xfrm>
            <a:off x="8480602" y="3422713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~5.2</a:t>
            </a:r>
          </a:p>
        </p:txBody>
      </p:sp>
      <p:sp>
        <p:nvSpPr>
          <p:cNvPr id="382" name="row:XDP:start-label"/>
          <p:cNvSpPr txBox="1"/>
          <p:nvPr/>
        </p:nvSpPr>
        <p:spPr>
          <a:xfrm>
            <a:off x="6133623" y="3532060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~4.4</a:t>
            </a:r>
          </a:p>
        </p:txBody>
      </p:sp>
      <p:sp>
        <p:nvSpPr>
          <p:cNvPr id="383" name="row:page_pool:start-label"/>
          <p:cNvSpPr txBox="1"/>
          <p:nvPr/>
        </p:nvSpPr>
        <p:spPr>
          <a:xfrm>
            <a:off x="6189173" y="3732847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~4.5</a:t>
            </a:r>
          </a:p>
        </p:txBody>
      </p:sp>
      <p:sp>
        <p:nvSpPr>
          <p:cNvPr id="384" name="row:Device Memory TCP RX:start-label"/>
          <p:cNvSpPr txBox="1"/>
          <p:nvPr/>
        </p:nvSpPr>
        <p:spPr>
          <a:xfrm>
            <a:off x="10980343" y="3842194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85" name="row:Device Memory TCP TX:start-label"/>
          <p:cNvSpPr txBox="1"/>
          <p:nvPr/>
        </p:nvSpPr>
        <p:spPr>
          <a:xfrm>
            <a:off x="11605279" y="3951541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86" name="row:io_uring ZCRX:start-label"/>
          <p:cNvSpPr txBox="1"/>
          <p:nvPr/>
        </p:nvSpPr>
        <p:spPr>
          <a:xfrm>
            <a:off x="11188655" y="4060888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~6.4</a:t>
            </a:r>
          </a:p>
        </p:txBody>
      </p:sp>
      <p:sp>
        <p:nvSpPr>
          <p:cNvPr id="387" name="row:large RX buffers (mem. providers):start-label"/>
          <p:cNvSpPr txBox="1"/>
          <p:nvPr/>
        </p:nvSpPr>
        <p:spPr>
          <a:xfrm>
            <a:off x="12299651" y="4170235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88" name="row:XDP multi-buffer:start-label"/>
          <p:cNvSpPr txBox="1"/>
          <p:nvPr/>
        </p:nvSpPr>
        <p:spPr>
          <a:xfrm>
            <a:off x="9522161" y="4279582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389" name="row:AF_XDP:start-label"/>
          <p:cNvSpPr txBox="1"/>
          <p:nvPr/>
        </p:nvSpPr>
        <p:spPr>
          <a:xfrm>
            <a:off x="6744671" y="4388929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390" name="row:AF_XDP multi-buffer:start-label"/>
          <p:cNvSpPr txBox="1"/>
          <p:nvPr/>
        </p:nvSpPr>
        <p:spPr>
          <a:xfrm>
            <a:off x="10216534" y="4498276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~5.16</a:t>
            </a:r>
          </a:p>
        </p:txBody>
      </p:sp>
      <p:sp>
        <p:nvSpPr>
          <p:cNvPr id="391" name="row:RX HW queue leasing:start-label"/>
          <p:cNvSpPr txBox="1"/>
          <p:nvPr/>
        </p:nvSpPr>
        <p:spPr>
          <a:xfrm>
            <a:off x="11952465" y="4607623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~6.11</a:t>
            </a:r>
          </a:p>
        </p:txBody>
      </p:sp>
      <p:sp>
        <p:nvSpPr>
          <p:cNvPr id="392" name="row:nexthop objects:start-label"/>
          <p:cNvSpPr txBox="1"/>
          <p:nvPr/>
        </p:nvSpPr>
        <p:spPr>
          <a:xfrm>
            <a:off x="7439044" y="4917757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393" name="row:per-netns RTNL:start-label"/>
          <p:cNvSpPr txBox="1"/>
          <p:nvPr/>
        </p:nvSpPr>
        <p:spPr>
          <a:xfrm>
            <a:off x="10910906" y="5027104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4" name="row:further RTNL breakup:start-label"/>
          <p:cNvSpPr txBox="1"/>
          <p:nvPr/>
        </p:nvSpPr>
        <p:spPr>
          <a:xfrm>
            <a:off x="11605279" y="5136451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~6.8</a:t>
            </a:r>
          </a:p>
        </p:txBody>
      </p:sp>
      <p:sp>
        <p:nvSpPr>
          <p:cNvPr id="395" name="row:RTNL-less FIB rules:start-label"/>
          <p:cNvSpPr txBox="1"/>
          <p:nvPr/>
        </p:nvSpPr>
        <p:spPr>
          <a:xfrm>
            <a:off x="12299651" y="5245798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396" name="row:YNL tooling:start-label"/>
          <p:cNvSpPr txBox="1"/>
          <p:nvPr/>
        </p:nvSpPr>
        <p:spPr>
          <a:xfrm>
            <a:off x="9869347" y="5355145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~5.13</a:t>
            </a:r>
          </a:p>
        </p:txBody>
      </p:sp>
      <p:sp>
        <p:nvSpPr>
          <p:cNvPr id="397" name="row:queue/NAPI netdev-genl:start-label"/>
          <p:cNvSpPr txBox="1"/>
          <p:nvPr/>
        </p:nvSpPr>
        <p:spPr>
          <a:xfrm>
            <a:off x="10910906" y="5555932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sp>
        <p:nvSpPr>
          <p:cNvPr id="398" name="row:kprobe BPF:start-label"/>
          <p:cNvSpPr txBox="1"/>
          <p:nvPr/>
        </p:nvSpPr>
        <p:spPr>
          <a:xfrm>
            <a:off x="4800428" y="5665279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~3.13</a:t>
            </a:r>
          </a:p>
        </p:txBody>
      </p:sp>
      <p:sp>
        <p:nvSpPr>
          <p:cNvPr id="399" name="row:structured drop reason:start-label"/>
          <p:cNvSpPr txBox="1"/>
          <p:nvPr/>
        </p:nvSpPr>
        <p:spPr>
          <a:xfrm>
            <a:off x="9522161" y="5774626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~5.11</a:t>
            </a:r>
          </a:p>
        </p:txBody>
      </p:sp>
      <p:sp>
        <p:nvSpPr>
          <p:cNvPr id="400" name="row:drop-reason expansion:start-label"/>
          <p:cNvSpPr txBox="1"/>
          <p:nvPr/>
        </p:nvSpPr>
        <p:spPr>
          <a:xfrm>
            <a:off x="10355408" y="5883973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~5.17</a:t>
            </a:r>
          </a:p>
        </p:txBody>
      </p:sp>
      <p:sp>
        <p:nvSpPr>
          <p:cNvPr id="401" name="row:qdisc-drop tracepoint:start-label"/>
          <p:cNvSpPr txBox="1"/>
          <p:nvPr/>
        </p:nvSpPr>
        <p:spPr>
          <a:xfrm>
            <a:off x="12299651" y="5993320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~6.13</a:t>
            </a:r>
          </a:p>
        </p:txBody>
      </p:sp>
      <p:sp>
        <p:nvSpPr>
          <p:cNvPr id="402" name="row:switchdev:start-label"/>
          <p:cNvSpPr txBox="1"/>
          <p:nvPr/>
        </p:nvSpPr>
        <p:spPr>
          <a:xfrm>
            <a:off x="4661554" y="6194107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~3.12</a:t>
            </a:r>
          </a:p>
        </p:txBody>
      </p:sp>
      <p:sp>
        <p:nvSpPr>
          <p:cNvPr id="403" name="row:devlink:start-label"/>
          <p:cNvSpPr txBox="1"/>
          <p:nvPr/>
        </p:nvSpPr>
        <p:spPr>
          <a:xfrm>
            <a:off x="5355926" y="6303454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~3.18</a:t>
            </a:r>
          </a:p>
        </p:txBody>
      </p:sp>
      <p:sp>
        <p:nvSpPr>
          <p:cNvPr id="404" name="row:devlink health:start-label"/>
          <p:cNvSpPr txBox="1"/>
          <p:nvPr/>
        </p:nvSpPr>
        <p:spPr>
          <a:xfrm>
            <a:off x="7439044" y="6412801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5" name="row:phylink:start-label"/>
          <p:cNvSpPr txBox="1"/>
          <p:nvPr/>
        </p:nvSpPr>
        <p:spPr>
          <a:xfrm>
            <a:off x="5494801" y="6522148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~3.19</a:t>
            </a:r>
          </a:p>
        </p:txBody>
      </p:sp>
      <p:sp>
        <p:nvSpPr>
          <p:cNvPr id="406" name="row:Net DIM:start-label"/>
          <p:cNvSpPr txBox="1"/>
          <p:nvPr/>
        </p:nvSpPr>
        <p:spPr>
          <a:xfrm>
            <a:off x="6744671" y="6631495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~4.9</a:t>
            </a:r>
          </a:p>
        </p:txBody>
      </p:sp>
      <p:sp>
        <p:nvSpPr>
          <p:cNvPr id="407" name="row:netdevsim:start-label"/>
          <p:cNvSpPr txBox="1"/>
          <p:nvPr/>
        </p:nvSpPr>
        <p:spPr>
          <a:xfrm>
            <a:off x="7091857" y="6740842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~4.12</a:t>
            </a:r>
          </a:p>
        </p:txBody>
      </p:sp>
      <p:sp>
        <p:nvSpPr>
          <p:cNvPr id="408" name="row:ethtool netlink:start-label"/>
          <p:cNvSpPr txBox="1"/>
          <p:nvPr/>
        </p:nvSpPr>
        <p:spPr>
          <a:xfrm>
            <a:off x="7439044" y="6850189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~4.15</a:t>
            </a:r>
          </a:p>
        </p:txBody>
      </p:sp>
      <p:sp>
        <p:nvSpPr>
          <p:cNvPr id="409" name="row:auxiliary bus:start-label"/>
          <p:cNvSpPr txBox="1"/>
          <p:nvPr/>
        </p:nvSpPr>
        <p:spPr>
          <a:xfrm>
            <a:off x="8827789" y="6959536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~5.5</a:t>
            </a:r>
          </a:p>
        </p:txBody>
      </p:sp>
      <p:sp>
        <p:nvSpPr>
          <p:cNvPr id="410" name="row:threaded NAPI:start-label"/>
          <p:cNvSpPr txBox="1"/>
          <p:nvPr/>
        </p:nvSpPr>
        <p:spPr>
          <a:xfrm>
            <a:off x="9036100" y="7068883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~5.7</a:t>
            </a:r>
          </a:p>
        </p:txBody>
      </p:sp>
      <p:sp>
        <p:nvSpPr>
          <p:cNvPr id="411" name="row:Rust phylib:start-label"/>
          <p:cNvSpPr txBox="1"/>
          <p:nvPr/>
        </p:nvSpPr>
        <p:spPr>
          <a:xfrm>
            <a:off x="10910906" y="7178230"/>
            <a:ext cx="347472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t>~6.2</a:t>
            </a:r>
          </a:p>
        </p:txBody>
      </p:sp>
      <p:cxnSp>
        <p:nvCxnSpPr>
          <p:cNvPr id="412" name="era-boundary:2019">
            <a:extLst>
              <a:ext uri="{FF2B5EF4-FFF2-40B4-BE49-F238E27FC236}">
                <a16:creationId xmlns:a16="http://schemas.microsoft.com/office/drawing/2014/main" id="{DF7A39ED-3A49-5311-FF5C-DA7E3429D443}"/>
              </a:ext>
            </a:extLst>
          </p:cNvPr>
          <p:cNvCxnSpPr>
            <a:cxnSpLocks/>
          </p:cNvCxnSpPr>
          <p:nvPr/>
        </p:nvCxnSpPr>
        <p:spPr>
          <a:xfrm flipH="1">
            <a:off x="5909309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era-boundary:2019">
            <a:extLst>
              <a:ext uri="{FF2B5EF4-FFF2-40B4-BE49-F238E27FC236}">
                <a16:creationId xmlns:a16="http://schemas.microsoft.com/office/drawing/2014/main" id="{70AAB47D-69B6-14C3-DB45-C2B750608594}"/>
              </a:ext>
            </a:extLst>
          </p:cNvPr>
          <p:cNvCxnSpPr>
            <a:cxnSpLocks/>
          </p:cNvCxnSpPr>
          <p:nvPr/>
        </p:nvCxnSpPr>
        <p:spPr>
          <a:xfrm flipH="1">
            <a:off x="8643057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era-boundary:2019">
            <a:extLst>
              <a:ext uri="{FF2B5EF4-FFF2-40B4-BE49-F238E27FC236}">
                <a16:creationId xmlns:a16="http://schemas.microsoft.com/office/drawing/2014/main" id="{F87C672E-5B0D-39A1-1528-9A0364835DB0}"/>
              </a:ext>
            </a:extLst>
          </p:cNvPr>
          <p:cNvCxnSpPr>
            <a:cxnSpLocks/>
          </p:cNvCxnSpPr>
          <p:nvPr/>
        </p:nvCxnSpPr>
        <p:spPr>
          <a:xfrm flipH="1">
            <a:off x="11444405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era-boundary:2019">
            <a:extLst>
              <a:ext uri="{FF2B5EF4-FFF2-40B4-BE49-F238E27FC236}">
                <a16:creationId xmlns:a16="http://schemas.microsoft.com/office/drawing/2014/main" id="{04030F15-784C-BE6E-0609-7428D8AC20A9}"/>
              </a:ext>
            </a:extLst>
          </p:cNvPr>
          <p:cNvCxnSpPr>
            <a:cxnSpLocks/>
          </p:cNvCxnSpPr>
          <p:nvPr/>
        </p:nvCxnSpPr>
        <p:spPr>
          <a:xfrm flipH="1">
            <a:off x="3111935" y="962787"/>
            <a:ext cx="258865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96112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96112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resource / control contracts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