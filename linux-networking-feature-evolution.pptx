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3990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F2937"/>
                </a:solidFill>
              </a:defRPr>
            </a:pPr>
            <a:r>
              <a:t>Linux Networking Feature Evolution — Editable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84632"/>
            <a:ext cx="1399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Development start is approximate; merge/release points follow canonical edition r24 where available.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2331720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7627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086100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3065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2012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79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85031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94859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941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2014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03620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817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7999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2551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2017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2379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6931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66759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1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2019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21140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569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75520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2021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29900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7445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2022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384280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2883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2023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138659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83211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2024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893039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737591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647420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49197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7160" y="1024127"/>
            <a:ext cx="14310360" cy="1096833"/>
          </a:xfrm>
          <a:prstGeom prst="round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032" y="1407952"/>
            <a:ext cx="14173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2563EB"/>
                </a:solidFill>
              </a:defRPr>
            </a:pPr>
            <a:r>
              <a:t>PERFORMANCE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" y="1020671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DQL / BQL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58033" y="1103881"/>
            <a:ext cx="528066" cy="2560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526029" y="1084679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049524" y="1080107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40964" y="1025243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3.3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1150917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TSQ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86100" y="1234127"/>
            <a:ext cx="528066" cy="2560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054096" y="1214925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577590" y="1210353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69030" y="1155489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3.6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" y="1281163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sch_fq / TCP pacing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89603" y="1364374"/>
            <a:ext cx="678942" cy="2560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657599" y="1345171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331970" y="1340599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23410" y="1285735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3.12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4128" y="1411409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SO_BUSY_POLL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840479" y="1494620"/>
            <a:ext cx="452627" cy="2560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808475" y="1475417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56531" y="1470845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47971" y="1415981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3.11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4128" y="1541656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SO_TXTIME / EDT / taprio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08876" y="1624866"/>
            <a:ext cx="1357883" cy="2560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976872" y="1605664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330183" y="16010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21624" y="1546228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4.19–4.20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4128" y="1671902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BIG TCP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026396" y="1755112"/>
            <a:ext cx="1056131" cy="2560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94392" y="1735910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045951" y="173133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137391" y="1676474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5.19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4128" y="1802148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BIG TCP extensions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082527" y="1885358"/>
            <a:ext cx="3092958" cy="2560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1050523" y="1866156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4138910" y="186158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3944600" y="1806720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6.3 → 7.3-rc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4128" y="1932394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cake_mq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2893039" y="2015605"/>
            <a:ext cx="905256" cy="2560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2861035" y="1996402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761720" y="199183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3853160" y="1936966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7.0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37160" y="2150758"/>
            <a:ext cx="14310360" cy="1357326"/>
          </a:xfrm>
          <a:prstGeom prst="roundRect">
            <a:avLst/>
          </a:prstGeom>
          <a:solidFill>
            <a:srgbClr val="FFF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56032" y="2664829"/>
            <a:ext cx="14173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EA580C"/>
                </a:solidFill>
              </a:defRPr>
            </a:pPr>
            <a:r>
              <a:t>PROGRAMMABILITY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4128" y="2147301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eBPF foundation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217670" y="2230511"/>
            <a:ext cx="1056132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185665" y="2211309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237226" y="2206737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28666" y="2151873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3.18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24128" y="2277547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TC BPF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198363" y="2360757"/>
            <a:ext cx="452628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166359" y="2341555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614416" y="2336983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705856" y="2282119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24128" y="2407793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XDP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650992" y="2491004"/>
            <a:ext cx="905255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618988" y="2471801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519671" y="2467229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611111" y="2412365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24128" y="2538039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cgroup / LWT BPF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3620" y="2621250"/>
            <a:ext cx="754379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071616" y="2602047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821423" y="2597475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12863" y="2542611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24128" y="2668286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SOCK_OPS / SOCKMAP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480809" y="2751496"/>
            <a:ext cx="1056132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48805" y="2732294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00366" y="2727722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591806" y="2672858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4.13–4.14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4128" y="2798532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BPF struct_ops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215883" y="2881742"/>
            <a:ext cx="1056132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183879" y="2862540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235440" y="2857968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326880" y="2803104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4128" y="2928778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SK_LOOKUP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743950" y="3011988"/>
            <a:ext cx="980693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711946" y="2992786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9688067" y="2988214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779507" y="2933350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4128" y="3059024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TCX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1082527" y="3142235"/>
            <a:ext cx="905256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1050523" y="3123032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951207" y="3118460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2042647" y="3063596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4128" y="3189271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netkit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1233403" y="3272481"/>
            <a:ext cx="905256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399" y="3253279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2102084" y="3248707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2193524" y="3193843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24128" y="3319517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BPF qdisc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2440412" y="3402727"/>
            <a:ext cx="1056131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408408" y="3383525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459967" y="3378953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3551407" y="3324089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6.16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37160" y="3537880"/>
            <a:ext cx="14310360" cy="1227080"/>
          </a:xfrm>
          <a:prstGeom prst="roundRect">
            <a:avLst/>
          </a:prstGeom>
          <a:solidFill>
            <a:srgbClr val="EBF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56032" y="3986828"/>
            <a:ext cx="14173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16A34A"/>
                </a:solidFill>
              </a:defRPr>
            </a:pPr>
            <a:r>
              <a:t>MEMORY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4128" y="3534423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page_pool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254496" y="3617634"/>
            <a:ext cx="1885950" cy="2560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222492" y="3598431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103870" y="3593859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195310" y="3538995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4128" y="3664669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AF_XDP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857999" y="3747880"/>
            <a:ext cx="1282446" cy="2560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6825995" y="3728677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8103870" y="3724105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95310" y="3669241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4128" y="3794916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XDP multi-buffer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875520" y="3878126"/>
            <a:ext cx="1056132" cy="2560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843516" y="3858924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0895076" y="3854352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986516" y="3799488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5.18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24128" y="3925162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AF_XDP multi-buffer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0629900" y="4008372"/>
            <a:ext cx="1357883" cy="2560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597896" y="3989170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1951207" y="3984598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2042647" y="3929734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24128" y="4055408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Device Memory TCP RX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1459717" y="4138619"/>
            <a:ext cx="1357884" cy="2560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1427713" y="4119416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2781026" y="4114844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2872466" y="4059980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6.12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" y="4185654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io_uring ZCRX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1686032" y="4268865"/>
            <a:ext cx="1508759" cy="2560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1654028" y="4249662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3158216" y="4245090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3249656" y="4190226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6.15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4128" y="4315901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Device Memory TCP TX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2138659" y="4399111"/>
            <a:ext cx="1207007" cy="2560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2106655" y="4379909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3309091" y="4375337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3400531" y="4320473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6.16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24128" y="4446147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RX HW queue leasing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2515850" y="4529357"/>
            <a:ext cx="1357883" cy="2560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2483846" y="4510155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3837157" y="4505583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3928597" y="4450719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7.1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024128" y="4576393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large RX buffers / providers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2893039" y="4659603"/>
            <a:ext cx="905256" cy="2560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2861035" y="4640401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3761720" y="4635829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3853160" y="4580965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7.0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37160" y="4794756"/>
            <a:ext cx="14310360" cy="836341"/>
          </a:xfrm>
          <a:prstGeom prst="roundRect">
            <a:avLst/>
          </a:prstGeom>
          <a:solidFill>
            <a:srgbClr val="FF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256032" y="5048335"/>
            <a:ext cx="14173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DC2626"/>
                </a:solidFill>
              </a:defRPr>
            </a:pPr>
            <a:r>
              <a:t>CONTROL PLANE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024128" y="4791299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nftables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3086100" y="4874510"/>
            <a:ext cx="1508759" cy="25603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3054096" y="4855307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4558283" y="4850735"/>
            <a:ext cx="73152" cy="7315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649723" y="4795871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3.13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24128" y="4921546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nexthop objects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7612379" y="5004756"/>
            <a:ext cx="1357883" cy="25603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7580375" y="4985554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8933687" y="4980982"/>
            <a:ext cx="73152" cy="7315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9025127" y="4926118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5.3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24128" y="5051792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YNL tooling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10252709" y="5135002"/>
            <a:ext cx="1357883" cy="25603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0220705" y="5115800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1574017" y="5111228"/>
            <a:ext cx="73152" cy="7315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1665457" y="5056364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4128" y="5182038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per-netns RTNL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11384280" y="5265249"/>
            <a:ext cx="1357883" cy="25603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1352276" y="5246046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2705587" y="5241474"/>
            <a:ext cx="73152" cy="7315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12797027" y="5186610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6.13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024128" y="5312284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further RTNL breakup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12138659" y="5395495"/>
            <a:ext cx="1056132" cy="25603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2106655" y="5376292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158216" y="5371720"/>
            <a:ext cx="73152" cy="7315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13249656" y="5316856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6.15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024128" y="5442531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RTNL-less FIB rules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12893039" y="5525741"/>
            <a:ext cx="1282446" cy="25603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2861035" y="5506539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4138910" y="5501967"/>
            <a:ext cx="73152" cy="7315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13944600" y="5447103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7.3-rc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137160" y="5660894"/>
            <a:ext cx="14310360" cy="706095"/>
          </a:xfrm>
          <a:prstGeom prst="roundRect">
            <a:avLst/>
          </a:prstGeom>
          <a:solidFill>
            <a:srgbClr val="F2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256032" y="5849349"/>
            <a:ext cx="14173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7C3AED"/>
                </a:solidFill>
              </a:defRPr>
            </a:pPr>
            <a:r>
              <a:t>OBSERVABILITY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024128" y="5657437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kprobe BPF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4745736" y="5740647"/>
            <a:ext cx="905256" cy="25603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713732" y="5721445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5614416" y="5716873"/>
            <a:ext cx="73152" cy="7315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5705856" y="5662009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024128" y="5787683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structured drop reason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9875520" y="5870894"/>
            <a:ext cx="1056132" cy="25603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9843516" y="5851691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0895076" y="5847119"/>
            <a:ext cx="73152" cy="7315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10986516" y="5792255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5.17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24128" y="5917929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drop-reason expansion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780776" y="6001140"/>
            <a:ext cx="377189" cy="25603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0748772" y="5981937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1121390" y="5977365"/>
            <a:ext cx="73152" cy="7315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11212830" y="5922501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5.19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024128" y="6048176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queue/NAPI netdev-genl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11384280" y="6131386"/>
            <a:ext cx="980693" cy="25603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1352276" y="6112184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2328397" y="6107612"/>
            <a:ext cx="73152" cy="7315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12419837" y="6052748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6.8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024128" y="6178422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qdisc-drop tracepoint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12893039" y="6261632"/>
            <a:ext cx="980693" cy="25603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2861035" y="6242430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3837157" y="6237858"/>
            <a:ext cx="73152" cy="7315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3928597" y="6182994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7.1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137160" y="6396785"/>
            <a:ext cx="14310360" cy="1357326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256032" y="6910856"/>
            <a:ext cx="14173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0284C7"/>
                </a:solidFill>
              </a:defRPr>
            </a:pPr>
            <a:r>
              <a:t>DRIVER FRAMEWORK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024128" y="6393328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switchdev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4594859" y="6476539"/>
            <a:ext cx="905256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4562855" y="6457336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463540" y="6452764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5554980" y="6397900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3.19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024128" y="6523574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devlink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5349240" y="6606785"/>
            <a:ext cx="980693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5317236" y="6587582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6293357" y="6583010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6384797" y="6528146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4.6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024128" y="6653821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phylink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5500116" y="6737031"/>
            <a:ext cx="2036826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5468112" y="6717829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7500366" y="6713257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7591806" y="6658393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4.14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24128" y="6784067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Net DIM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6857999" y="6867277"/>
            <a:ext cx="980693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6825995" y="6848075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7802117" y="6843503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7893557" y="6788639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4.16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024128" y="6914313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netdevsim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7235190" y="6997524"/>
            <a:ext cx="603503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7203186" y="6978321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7802117" y="6973749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7893557" y="6918885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4.16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024128" y="7044559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devlink health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7612379" y="7127770"/>
            <a:ext cx="1056132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7580375" y="7108567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8631936" y="7103995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8723376" y="7049131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5.1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1024128" y="7174806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ethtool netlink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7612379" y="7258016"/>
            <a:ext cx="1659636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580375" y="7238814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9235440" y="7234242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9326880" y="7179378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5.6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024128" y="7305052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auxiliary bus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9121140" y="7388262"/>
            <a:ext cx="905256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9089136" y="7369060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9989820" y="7364488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10081260" y="7309624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5.11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1024128" y="7435298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threaded NAPI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9347453" y="7518509"/>
            <a:ext cx="829818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9315449" y="7499306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0140696" y="7494734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10232136" y="7439870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5.12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1024128" y="7565544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Rust phylib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11384280" y="7648755"/>
            <a:ext cx="980693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1352276" y="7629552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2328397" y="7624980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12419837" y="7570116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6.8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56032" y="7845552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1F2937"/>
                </a:solidFill>
              </a:defRPr>
            </a:pPr>
            <a:r>
              <a:t>Legend</a:t>
            </a:r>
          </a:p>
        </p:txBody>
      </p:sp>
      <p:sp>
        <p:nvSpPr>
          <p:cNvPr id="289" name="Oval 288"/>
          <p:cNvSpPr/>
          <p:nvPr/>
        </p:nvSpPr>
        <p:spPr>
          <a:xfrm>
            <a:off x="960120" y="7863840"/>
            <a:ext cx="73152" cy="73152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1069848" y="7836408"/>
            <a:ext cx="14630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64748B"/>
                </a:solidFill>
              </a:defRPr>
            </a:pPr>
            <a:r>
              <a:t>development start (approx.)</a:t>
            </a:r>
          </a:p>
        </p:txBody>
      </p:sp>
      <p:sp>
        <p:nvSpPr>
          <p:cNvPr id="291" name="Oval 290"/>
          <p:cNvSpPr/>
          <p:nvPr/>
        </p:nvSpPr>
        <p:spPr>
          <a:xfrm>
            <a:off x="2542032" y="7863840"/>
            <a:ext cx="73152" cy="73152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2651760" y="7836408"/>
            <a:ext cx="1371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64748B"/>
                </a:solidFill>
              </a:defRPr>
            </a:pPr>
            <a:r>
              <a:t>merged / first canonical milestone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11247120" y="7836408"/>
            <a:ext cx="3063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50">
                <a:solidFill>
                  <a:srgbClr val="64748B"/>
                </a:solidFill>
              </a:defRPr>
            </a:pPr>
            <a:r>
              <a:t>All bands, labels, markers and lines are editable PowerPoint objects.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0561320" y="658368"/>
            <a:ext cx="3703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50">
                <a:solidFill>
                  <a:srgbClr val="475569"/>
                </a:solidFill>
              </a:defRPr>
            </a:pPr>
            <a:r>
              <a:t>dotted vertical grid = Linux X.Y GA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2746861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6" name="Connector 295"/>
          <p:cNvCxnSpPr/>
          <p:nvPr/>
        </p:nvCxnSpPr>
        <p:spPr>
          <a:xfrm>
            <a:off x="2746861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 rot="16200000">
            <a:off x="2696569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3.0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2943072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9" name="Connector 298"/>
          <p:cNvCxnSpPr/>
          <p:nvPr/>
        </p:nvCxnSpPr>
        <p:spPr>
          <a:xfrm>
            <a:off x="2943072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TextBox 299"/>
          <p:cNvSpPr txBox="1"/>
          <p:nvPr/>
        </p:nvSpPr>
        <p:spPr>
          <a:xfrm rot="16200000">
            <a:off x="2892780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3.1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3091779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2" name="Connector 301"/>
          <p:cNvCxnSpPr/>
          <p:nvPr/>
        </p:nvCxnSpPr>
        <p:spPr>
          <a:xfrm>
            <a:off x="3091779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 rot="16200000">
            <a:off x="3041487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3.2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3244617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5" name="Connector 304"/>
          <p:cNvCxnSpPr/>
          <p:nvPr/>
        </p:nvCxnSpPr>
        <p:spPr>
          <a:xfrm>
            <a:off x="3244617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TextBox 305"/>
          <p:cNvSpPr txBox="1"/>
          <p:nvPr/>
        </p:nvSpPr>
        <p:spPr>
          <a:xfrm rot="16200000">
            <a:off x="3194325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3.3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374736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8" name="Connector 307"/>
          <p:cNvCxnSpPr/>
          <p:nvPr/>
        </p:nvCxnSpPr>
        <p:spPr>
          <a:xfrm>
            <a:off x="3374736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9" name="TextBox 308"/>
          <p:cNvSpPr txBox="1"/>
          <p:nvPr/>
        </p:nvSpPr>
        <p:spPr>
          <a:xfrm rot="16200000">
            <a:off x="3324444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3.4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502790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1" name="Connector 310"/>
          <p:cNvCxnSpPr/>
          <p:nvPr/>
        </p:nvCxnSpPr>
        <p:spPr>
          <a:xfrm>
            <a:off x="3502790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2" name="TextBox 311"/>
          <p:cNvSpPr txBox="1"/>
          <p:nvPr/>
        </p:nvSpPr>
        <p:spPr>
          <a:xfrm rot="16200000">
            <a:off x="3452498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3.5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3649432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4" name="Connector 313"/>
          <p:cNvCxnSpPr/>
          <p:nvPr/>
        </p:nvCxnSpPr>
        <p:spPr>
          <a:xfrm>
            <a:off x="3649432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TextBox 314"/>
          <p:cNvSpPr txBox="1"/>
          <p:nvPr/>
        </p:nvSpPr>
        <p:spPr>
          <a:xfrm rot="16200000">
            <a:off x="3599140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3.6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3796074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7" name="Connector 316"/>
          <p:cNvCxnSpPr/>
          <p:nvPr/>
        </p:nvCxnSpPr>
        <p:spPr>
          <a:xfrm>
            <a:off x="3796074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TextBox 317"/>
          <p:cNvSpPr txBox="1"/>
          <p:nvPr/>
        </p:nvSpPr>
        <p:spPr>
          <a:xfrm rot="16200000">
            <a:off x="3745782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3.7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3940650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0" name="Connector 319"/>
          <p:cNvCxnSpPr/>
          <p:nvPr/>
        </p:nvCxnSpPr>
        <p:spPr>
          <a:xfrm>
            <a:off x="3940650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1" name="TextBox 320"/>
          <p:cNvSpPr txBox="1"/>
          <p:nvPr/>
        </p:nvSpPr>
        <p:spPr>
          <a:xfrm rot="16200000">
            <a:off x="3890358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3.8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083162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3" name="Connector 322"/>
          <p:cNvCxnSpPr/>
          <p:nvPr/>
        </p:nvCxnSpPr>
        <p:spPr>
          <a:xfrm>
            <a:off x="4083162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4" name="TextBox 323"/>
          <p:cNvSpPr txBox="1"/>
          <p:nvPr/>
        </p:nvSpPr>
        <p:spPr>
          <a:xfrm rot="16200000">
            <a:off x="4032870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3.9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213281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6" name="Connector 325"/>
          <p:cNvCxnSpPr/>
          <p:nvPr/>
        </p:nvCxnSpPr>
        <p:spPr>
          <a:xfrm>
            <a:off x="4213281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TextBox 326"/>
          <p:cNvSpPr txBox="1"/>
          <p:nvPr/>
        </p:nvSpPr>
        <p:spPr>
          <a:xfrm rot="16200000">
            <a:off x="4162989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3.10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345465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9" name="Connector 328"/>
          <p:cNvCxnSpPr/>
          <p:nvPr/>
        </p:nvCxnSpPr>
        <p:spPr>
          <a:xfrm>
            <a:off x="4345465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TextBox 329"/>
          <p:cNvSpPr txBox="1"/>
          <p:nvPr/>
        </p:nvSpPr>
        <p:spPr>
          <a:xfrm rot="16200000">
            <a:off x="4295173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3.11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473518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2" name="Connector 331"/>
          <p:cNvCxnSpPr/>
          <p:nvPr/>
        </p:nvCxnSpPr>
        <p:spPr>
          <a:xfrm>
            <a:off x="4473518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3" name="TextBox 332"/>
          <p:cNvSpPr txBox="1"/>
          <p:nvPr/>
        </p:nvSpPr>
        <p:spPr>
          <a:xfrm rot="16200000">
            <a:off x="4423226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3.12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632553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5" name="Connector 334"/>
          <p:cNvCxnSpPr/>
          <p:nvPr/>
        </p:nvCxnSpPr>
        <p:spPr>
          <a:xfrm>
            <a:off x="4632553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6" name="TextBox 335"/>
          <p:cNvSpPr txBox="1"/>
          <p:nvPr/>
        </p:nvSpPr>
        <p:spPr>
          <a:xfrm rot="16200000">
            <a:off x="4582261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3.13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777129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8" name="Connector 337"/>
          <p:cNvCxnSpPr/>
          <p:nvPr/>
        </p:nvCxnSpPr>
        <p:spPr>
          <a:xfrm>
            <a:off x="4777129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9" name="TextBox 338"/>
          <p:cNvSpPr txBox="1"/>
          <p:nvPr/>
        </p:nvSpPr>
        <p:spPr>
          <a:xfrm rot="16200000">
            <a:off x="4726837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3.14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4921706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1" name="Connector 340"/>
          <p:cNvCxnSpPr/>
          <p:nvPr/>
        </p:nvCxnSpPr>
        <p:spPr>
          <a:xfrm>
            <a:off x="4921706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2" name="TextBox 341"/>
          <p:cNvSpPr txBox="1"/>
          <p:nvPr/>
        </p:nvSpPr>
        <p:spPr>
          <a:xfrm rot="16200000">
            <a:off x="4871414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3.15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5037367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4" name="Connector 343"/>
          <p:cNvCxnSpPr/>
          <p:nvPr/>
        </p:nvCxnSpPr>
        <p:spPr>
          <a:xfrm>
            <a:off x="5037367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TextBox 344"/>
          <p:cNvSpPr txBox="1"/>
          <p:nvPr/>
        </p:nvSpPr>
        <p:spPr>
          <a:xfrm rot="16200000">
            <a:off x="4987075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3.16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5167486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7" name="Connector 346"/>
          <p:cNvCxnSpPr/>
          <p:nvPr/>
        </p:nvCxnSpPr>
        <p:spPr>
          <a:xfrm>
            <a:off x="5167486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TextBox 347"/>
          <p:cNvSpPr txBox="1"/>
          <p:nvPr/>
        </p:nvSpPr>
        <p:spPr>
          <a:xfrm rot="16200000">
            <a:off x="5117194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3.17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5297605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0" name="Connector 349"/>
          <p:cNvCxnSpPr/>
          <p:nvPr/>
        </p:nvCxnSpPr>
        <p:spPr>
          <a:xfrm>
            <a:off x="5297605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" name="TextBox 350"/>
          <p:cNvSpPr txBox="1"/>
          <p:nvPr/>
        </p:nvSpPr>
        <p:spPr>
          <a:xfrm rot="16200000">
            <a:off x="5247313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3.18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5427724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3" name="Connector 352"/>
          <p:cNvCxnSpPr/>
          <p:nvPr/>
        </p:nvCxnSpPr>
        <p:spPr>
          <a:xfrm>
            <a:off x="5427724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4" name="TextBox 353"/>
          <p:cNvSpPr txBox="1"/>
          <p:nvPr/>
        </p:nvSpPr>
        <p:spPr>
          <a:xfrm rot="16200000">
            <a:off x="5377432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3.19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5557843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6" name="Connector 355"/>
          <p:cNvCxnSpPr/>
          <p:nvPr/>
        </p:nvCxnSpPr>
        <p:spPr>
          <a:xfrm>
            <a:off x="5557843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7" name="TextBox 356"/>
          <p:cNvSpPr txBox="1"/>
          <p:nvPr/>
        </p:nvSpPr>
        <p:spPr>
          <a:xfrm rot="16200000">
            <a:off x="5507551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4.0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5702419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9" name="Connector 358"/>
          <p:cNvCxnSpPr/>
          <p:nvPr/>
        </p:nvCxnSpPr>
        <p:spPr>
          <a:xfrm>
            <a:off x="5702419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 rot="16200000">
            <a:off x="5652127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4.1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5846996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2" name="Connector 361"/>
          <p:cNvCxnSpPr/>
          <p:nvPr/>
        </p:nvCxnSpPr>
        <p:spPr>
          <a:xfrm>
            <a:off x="5846996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3" name="TextBox 362"/>
          <p:cNvSpPr txBox="1"/>
          <p:nvPr/>
        </p:nvSpPr>
        <p:spPr>
          <a:xfrm rot="16200000">
            <a:off x="5796704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4.2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5977115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5" name="Connector 364"/>
          <p:cNvCxnSpPr/>
          <p:nvPr/>
        </p:nvCxnSpPr>
        <p:spPr>
          <a:xfrm>
            <a:off x="5977115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6" name="TextBox 365"/>
          <p:cNvSpPr txBox="1"/>
          <p:nvPr/>
        </p:nvSpPr>
        <p:spPr>
          <a:xfrm rot="16200000">
            <a:off x="5926823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4.3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6121692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8" name="Connector 367"/>
          <p:cNvCxnSpPr/>
          <p:nvPr/>
        </p:nvCxnSpPr>
        <p:spPr>
          <a:xfrm>
            <a:off x="6121692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9" name="TextBox 368"/>
          <p:cNvSpPr txBox="1"/>
          <p:nvPr/>
        </p:nvSpPr>
        <p:spPr>
          <a:xfrm rot="16200000">
            <a:off x="6071400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4.4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6251811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1" name="Connector 370"/>
          <p:cNvCxnSpPr/>
          <p:nvPr/>
        </p:nvCxnSpPr>
        <p:spPr>
          <a:xfrm>
            <a:off x="6251811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2" name="TextBox 371"/>
          <p:cNvSpPr txBox="1"/>
          <p:nvPr/>
        </p:nvSpPr>
        <p:spPr>
          <a:xfrm rot="16200000">
            <a:off x="6201519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4.5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6381929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4" name="Connector 373"/>
          <p:cNvCxnSpPr/>
          <p:nvPr/>
        </p:nvCxnSpPr>
        <p:spPr>
          <a:xfrm>
            <a:off x="6381929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5" name="TextBox 374"/>
          <p:cNvSpPr txBox="1"/>
          <p:nvPr/>
        </p:nvSpPr>
        <p:spPr>
          <a:xfrm rot="16200000">
            <a:off x="6331637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4.6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6526506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7" name="Connector 376"/>
          <p:cNvCxnSpPr/>
          <p:nvPr/>
        </p:nvCxnSpPr>
        <p:spPr>
          <a:xfrm>
            <a:off x="6526506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TextBox 377"/>
          <p:cNvSpPr txBox="1"/>
          <p:nvPr/>
        </p:nvSpPr>
        <p:spPr>
          <a:xfrm rot="16200000">
            <a:off x="6476214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4.7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6671083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0" name="Connector 379"/>
          <p:cNvCxnSpPr/>
          <p:nvPr/>
        </p:nvCxnSpPr>
        <p:spPr>
          <a:xfrm>
            <a:off x="6671083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1" name="TextBox 380"/>
          <p:cNvSpPr txBox="1"/>
          <p:nvPr/>
        </p:nvSpPr>
        <p:spPr>
          <a:xfrm rot="16200000">
            <a:off x="6620791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4.8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6815659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3" name="Connector 382"/>
          <p:cNvCxnSpPr/>
          <p:nvPr/>
        </p:nvCxnSpPr>
        <p:spPr>
          <a:xfrm>
            <a:off x="6815659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4" name="TextBox 383"/>
          <p:cNvSpPr txBox="1"/>
          <p:nvPr/>
        </p:nvSpPr>
        <p:spPr>
          <a:xfrm rot="16200000">
            <a:off x="6765367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4.9</a:t>
            </a:r>
          </a:p>
        </p:txBody>
      </p:sp>
      <p:sp>
        <p:nvSpPr>
          <p:cNvPr id="385" name="Rectangle 384"/>
          <p:cNvSpPr/>
          <p:nvPr/>
        </p:nvSpPr>
        <p:spPr>
          <a:xfrm>
            <a:off x="6960236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6" name="Connector 385"/>
          <p:cNvCxnSpPr/>
          <p:nvPr/>
        </p:nvCxnSpPr>
        <p:spPr>
          <a:xfrm>
            <a:off x="6960236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7" name="TextBox 386"/>
          <p:cNvSpPr txBox="1"/>
          <p:nvPr/>
        </p:nvSpPr>
        <p:spPr>
          <a:xfrm rot="16200000">
            <a:off x="6909944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4.10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7104812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9" name="Connector 388"/>
          <p:cNvCxnSpPr/>
          <p:nvPr/>
        </p:nvCxnSpPr>
        <p:spPr>
          <a:xfrm>
            <a:off x="7104812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0" name="TextBox 389"/>
          <p:cNvSpPr txBox="1"/>
          <p:nvPr/>
        </p:nvSpPr>
        <p:spPr>
          <a:xfrm rot="16200000">
            <a:off x="7054520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4.11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7234931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2" name="Connector 391"/>
          <p:cNvCxnSpPr/>
          <p:nvPr/>
        </p:nvCxnSpPr>
        <p:spPr>
          <a:xfrm>
            <a:off x="7234931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3" name="TextBox 392"/>
          <p:cNvSpPr txBox="1"/>
          <p:nvPr/>
        </p:nvSpPr>
        <p:spPr>
          <a:xfrm rot="16200000">
            <a:off x="7184639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4.12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7365050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5" name="Connector 394"/>
          <p:cNvCxnSpPr/>
          <p:nvPr/>
        </p:nvCxnSpPr>
        <p:spPr>
          <a:xfrm>
            <a:off x="7365050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6" name="TextBox 395"/>
          <p:cNvSpPr txBox="1"/>
          <p:nvPr/>
        </p:nvSpPr>
        <p:spPr>
          <a:xfrm rot="16200000">
            <a:off x="7314758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4.13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7509627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8" name="Connector 397"/>
          <p:cNvCxnSpPr/>
          <p:nvPr/>
        </p:nvCxnSpPr>
        <p:spPr>
          <a:xfrm>
            <a:off x="7509627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9" name="TextBox 398"/>
          <p:cNvSpPr txBox="1"/>
          <p:nvPr/>
        </p:nvSpPr>
        <p:spPr>
          <a:xfrm rot="16200000">
            <a:off x="7459335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4.14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7668661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1" name="Connector 400"/>
          <p:cNvCxnSpPr/>
          <p:nvPr/>
        </p:nvCxnSpPr>
        <p:spPr>
          <a:xfrm>
            <a:off x="7668661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2" name="TextBox 401"/>
          <p:cNvSpPr txBox="1"/>
          <p:nvPr/>
        </p:nvSpPr>
        <p:spPr>
          <a:xfrm rot="16200000">
            <a:off x="7618369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4.15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7798780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4" name="Connector 403"/>
          <p:cNvCxnSpPr/>
          <p:nvPr/>
        </p:nvCxnSpPr>
        <p:spPr>
          <a:xfrm>
            <a:off x="7798780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5" name="TextBox 404"/>
          <p:cNvSpPr txBox="1"/>
          <p:nvPr/>
        </p:nvSpPr>
        <p:spPr>
          <a:xfrm rot="16200000">
            <a:off x="7748488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4.16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7928899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7" name="Connector 406"/>
          <p:cNvCxnSpPr/>
          <p:nvPr/>
        </p:nvCxnSpPr>
        <p:spPr>
          <a:xfrm>
            <a:off x="7928899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TextBox 407"/>
          <p:cNvSpPr txBox="1"/>
          <p:nvPr/>
        </p:nvSpPr>
        <p:spPr>
          <a:xfrm rot="16200000">
            <a:off x="7878607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4.17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8073476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0" name="Connector 409"/>
          <p:cNvCxnSpPr/>
          <p:nvPr/>
        </p:nvCxnSpPr>
        <p:spPr>
          <a:xfrm>
            <a:off x="8073476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1" name="TextBox 410"/>
          <p:cNvSpPr txBox="1"/>
          <p:nvPr/>
        </p:nvSpPr>
        <p:spPr>
          <a:xfrm rot="16200000">
            <a:off x="8023184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4.18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8220118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3" name="Connector 412"/>
          <p:cNvCxnSpPr/>
          <p:nvPr/>
        </p:nvCxnSpPr>
        <p:spPr>
          <a:xfrm>
            <a:off x="8220118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4" name="TextBox 413"/>
          <p:cNvSpPr txBox="1"/>
          <p:nvPr/>
        </p:nvSpPr>
        <p:spPr>
          <a:xfrm rot="16200000">
            <a:off x="8169826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4.19</a:t>
            </a:r>
          </a:p>
        </p:txBody>
      </p:sp>
      <p:sp>
        <p:nvSpPr>
          <p:cNvPr id="415" name="Rectangle 414"/>
          <p:cNvSpPr/>
          <p:nvPr/>
        </p:nvSpPr>
        <p:spPr>
          <a:xfrm>
            <a:off x="8348171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6" name="Connector 415"/>
          <p:cNvCxnSpPr/>
          <p:nvPr/>
        </p:nvCxnSpPr>
        <p:spPr>
          <a:xfrm>
            <a:off x="8348171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7" name="TextBox 416"/>
          <p:cNvSpPr txBox="1"/>
          <p:nvPr/>
        </p:nvSpPr>
        <p:spPr>
          <a:xfrm rot="16200000">
            <a:off x="8297879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4.20</a:t>
            </a:r>
          </a:p>
        </p:txBody>
      </p:sp>
      <p:sp>
        <p:nvSpPr>
          <p:cNvPr id="418" name="Rectangle 417"/>
          <p:cNvSpPr/>
          <p:nvPr/>
        </p:nvSpPr>
        <p:spPr>
          <a:xfrm>
            <a:off x="8492748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9" name="Connector 418"/>
          <p:cNvCxnSpPr/>
          <p:nvPr/>
        </p:nvCxnSpPr>
        <p:spPr>
          <a:xfrm>
            <a:off x="8492748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0" name="TextBox 419"/>
          <p:cNvSpPr txBox="1"/>
          <p:nvPr/>
        </p:nvSpPr>
        <p:spPr>
          <a:xfrm rot="16200000">
            <a:off x="8442456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5.0</a:t>
            </a:r>
          </a:p>
        </p:txBody>
      </p:sp>
      <p:sp>
        <p:nvSpPr>
          <p:cNvPr id="421" name="Rectangle 420"/>
          <p:cNvSpPr/>
          <p:nvPr/>
        </p:nvSpPr>
        <p:spPr>
          <a:xfrm>
            <a:off x="8622867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2" name="Connector 421"/>
          <p:cNvCxnSpPr/>
          <p:nvPr/>
        </p:nvCxnSpPr>
        <p:spPr>
          <a:xfrm>
            <a:off x="8622867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3" name="TextBox 422"/>
          <p:cNvSpPr txBox="1"/>
          <p:nvPr/>
        </p:nvSpPr>
        <p:spPr>
          <a:xfrm rot="16200000">
            <a:off x="8572575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5.1</a:t>
            </a:r>
          </a:p>
        </p:txBody>
      </p:sp>
      <p:sp>
        <p:nvSpPr>
          <p:cNvPr id="424" name="Rectangle 423"/>
          <p:cNvSpPr/>
          <p:nvPr/>
        </p:nvSpPr>
        <p:spPr>
          <a:xfrm>
            <a:off x="8752986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5" name="Connector 424"/>
          <p:cNvCxnSpPr/>
          <p:nvPr/>
        </p:nvCxnSpPr>
        <p:spPr>
          <a:xfrm>
            <a:off x="8752986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6" name="TextBox 425"/>
          <p:cNvSpPr txBox="1"/>
          <p:nvPr/>
        </p:nvSpPr>
        <p:spPr>
          <a:xfrm rot="16200000">
            <a:off x="8702694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5.2</a:t>
            </a:r>
          </a:p>
        </p:txBody>
      </p:sp>
      <p:sp>
        <p:nvSpPr>
          <p:cNvPr id="427" name="Rectangle 426"/>
          <p:cNvSpPr/>
          <p:nvPr/>
        </p:nvSpPr>
        <p:spPr>
          <a:xfrm>
            <a:off x="8897562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8" name="Connector 427"/>
          <p:cNvCxnSpPr/>
          <p:nvPr/>
        </p:nvCxnSpPr>
        <p:spPr>
          <a:xfrm>
            <a:off x="8897562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9" name="TextBox 428"/>
          <p:cNvSpPr txBox="1"/>
          <p:nvPr/>
        </p:nvSpPr>
        <p:spPr>
          <a:xfrm rot="16200000">
            <a:off x="8847270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5.3</a:t>
            </a:r>
          </a:p>
        </p:txBody>
      </p:sp>
      <p:sp>
        <p:nvSpPr>
          <p:cNvPr id="430" name="Rectangle 429"/>
          <p:cNvSpPr/>
          <p:nvPr/>
        </p:nvSpPr>
        <p:spPr>
          <a:xfrm>
            <a:off x="9042139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1" name="Connector 430"/>
          <p:cNvCxnSpPr/>
          <p:nvPr/>
        </p:nvCxnSpPr>
        <p:spPr>
          <a:xfrm>
            <a:off x="9042139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2" name="TextBox 431"/>
          <p:cNvSpPr txBox="1"/>
          <p:nvPr/>
        </p:nvSpPr>
        <p:spPr>
          <a:xfrm rot="16200000">
            <a:off x="8991847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5.4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9172258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4" name="Connector 433"/>
          <p:cNvCxnSpPr/>
          <p:nvPr/>
        </p:nvCxnSpPr>
        <p:spPr>
          <a:xfrm>
            <a:off x="9172258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5" name="TextBox 434"/>
          <p:cNvSpPr txBox="1"/>
          <p:nvPr/>
        </p:nvSpPr>
        <p:spPr>
          <a:xfrm rot="16200000">
            <a:off x="9121966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5.5</a:t>
            </a:r>
          </a:p>
        </p:txBody>
      </p:sp>
      <p:sp>
        <p:nvSpPr>
          <p:cNvPr id="436" name="Rectangle 435"/>
          <p:cNvSpPr/>
          <p:nvPr/>
        </p:nvSpPr>
        <p:spPr>
          <a:xfrm>
            <a:off x="9302377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7" name="Connector 436"/>
          <p:cNvCxnSpPr/>
          <p:nvPr/>
        </p:nvCxnSpPr>
        <p:spPr>
          <a:xfrm>
            <a:off x="9302377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8" name="TextBox 437"/>
          <p:cNvSpPr txBox="1"/>
          <p:nvPr/>
        </p:nvSpPr>
        <p:spPr>
          <a:xfrm rot="16200000">
            <a:off x="9252085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5.6</a:t>
            </a:r>
          </a:p>
        </p:txBody>
      </p:sp>
      <p:sp>
        <p:nvSpPr>
          <p:cNvPr id="439" name="Rectangle 438"/>
          <p:cNvSpPr/>
          <p:nvPr/>
        </p:nvSpPr>
        <p:spPr>
          <a:xfrm>
            <a:off x="9432496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0" name="Connector 439"/>
          <p:cNvCxnSpPr/>
          <p:nvPr/>
        </p:nvCxnSpPr>
        <p:spPr>
          <a:xfrm>
            <a:off x="9432496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1" name="TextBox 440"/>
          <p:cNvSpPr txBox="1"/>
          <p:nvPr/>
        </p:nvSpPr>
        <p:spPr>
          <a:xfrm rot="16200000">
            <a:off x="9382204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5.7</a:t>
            </a:r>
          </a:p>
        </p:txBody>
      </p:sp>
      <p:sp>
        <p:nvSpPr>
          <p:cNvPr id="442" name="Rectangle 441"/>
          <p:cNvSpPr/>
          <p:nvPr/>
        </p:nvSpPr>
        <p:spPr>
          <a:xfrm>
            <a:off x="9562614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3" name="Connector 442"/>
          <p:cNvCxnSpPr/>
          <p:nvPr/>
        </p:nvCxnSpPr>
        <p:spPr>
          <a:xfrm>
            <a:off x="9562614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4" name="TextBox 443"/>
          <p:cNvSpPr txBox="1"/>
          <p:nvPr/>
        </p:nvSpPr>
        <p:spPr>
          <a:xfrm rot="16200000">
            <a:off x="9512322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5.8</a:t>
            </a:r>
          </a:p>
        </p:txBody>
      </p:sp>
      <p:sp>
        <p:nvSpPr>
          <p:cNvPr id="445" name="Rectangle 444"/>
          <p:cNvSpPr/>
          <p:nvPr/>
        </p:nvSpPr>
        <p:spPr>
          <a:xfrm>
            <a:off x="9707191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6" name="Connector 445"/>
          <p:cNvCxnSpPr/>
          <p:nvPr/>
        </p:nvCxnSpPr>
        <p:spPr>
          <a:xfrm>
            <a:off x="9707191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7" name="TextBox 446"/>
          <p:cNvSpPr txBox="1"/>
          <p:nvPr/>
        </p:nvSpPr>
        <p:spPr>
          <a:xfrm rot="16200000">
            <a:off x="9656899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5.9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9837310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9" name="Connector 448"/>
          <p:cNvCxnSpPr/>
          <p:nvPr/>
        </p:nvCxnSpPr>
        <p:spPr>
          <a:xfrm>
            <a:off x="9837310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0" name="TextBox 449"/>
          <p:cNvSpPr txBox="1"/>
          <p:nvPr/>
        </p:nvSpPr>
        <p:spPr>
          <a:xfrm rot="16200000">
            <a:off x="9787018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5.10</a:t>
            </a:r>
          </a:p>
        </p:txBody>
      </p:sp>
      <p:sp>
        <p:nvSpPr>
          <p:cNvPr id="451" name="Rectangle 450"/>
          <p:cNvSpPr/>
          <p:nvPr/>
        </p:nvSpPr>
        <p:spPr>
          <a:xfrm>
            <a:off x="9967429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2" name="Connector 451"/>
          <p:cNvCxnSpPr/>
          <p:nvPr/>
        </p:nvCxnSpPr>
        <p:spPr>
          <a:xfrm>
            <a:off x="9967429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3" name="TextBox 452"/>
          <p:cNvSpPr txBox="1"/>
          <p:nvPr/>
        </p:nvSpPr>
        <p:spPr>
          <a:xfrm rot="16200000">
            <a:off x="9917137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5.11</a:t>
            </a:r>
          </a:p>
        </p:txBody>
      </p:sp>
      <p:sp>
        <p:nvSpPr>
          <p:cNvPr id="454" name="Rectangle 453"/>
          <p:cNvSpPr/>
          <p:nvPr/>
        </p:nvSpPr>
        <p:spPr>
          <a:xfrm>
            <a:off x="10112005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5" name="Connector 454"/>
          <p:cNvCxnSpPr/>
          <p:nvPr/>
        </p:nvCxnSpPr>
        <p:spPr>
          <a:xfrm>
            <a:off x="10112005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6" name="TextBox 455"/>
          <p:cNvSpPr txBox="1"/>
          <p:nvPr/>
        </p:nvSpPr>
        <p:spPr>
          <a:xfrm rot="16200000">
            <a:off x="10061713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5.12</a:t>
            </a:r>
          </a:p>
        </p:txBody>
      </p:sp>
      <p:sp>
        <p:nvSpPr>
          <p:cNvPr id="457" name="Rectangle 456"/>
          <p:cNvSpPr/>
          <p:nvPr/>
        </p:nvSpPr>
        <p:spPr>
          <a:xfrm>
            <a:off x="10242124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8" name="Connector 457"/>
          <p:cNvCxnSpPr/>
          <p:nvPr/>
        </p:nvCxnSpPr>
        <p:spPr>
          <a:xfrm>
            <a:off x="10242124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TextBox 458"/>
          <p:cNvSpPr txBox="1"/>
          <p:nvPr/>
        </p:nvSpPr>
        <p:spPr>
          <a:xfrm rot="16200000">
            <a:off x="10191832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5.13</a:t>
            </a:r>
          </a:p>
        </p:txBody>
      </p:sp>
      <p:sp>
        <p:nvSpPr>
          <p:cNvPr id="460" name="Rectangle 459"/>
          <p:cNvSpPr/>
          <p:nvPr/>
        </p:nvSpPr>
        <p:spPr>
          <a:xfrm>
            <a:off x="10372243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1" name="Connector 460"/>
          <p:cNvCxnSpPr/>
          <p:nvPr/>
        </p:nvCxnSpPr>
        <p:spPr>
          <a:xfrm>
            <a:off x="10372243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2" name="TextBox 461"/>
          <p:cNvSpPr txBox="1"/>
          <p:nvPr/>
        </p:nvSpPr>
        <p:spPr>
          <a:xfrm rot="16200000">
            <a:off x="10321951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5.14</a:t>
            </a:r>
          </a:p>
        </p:txBody>
      </p:sp>
      <p:sp>
        <p:nvSpPr>
          <p:cNvPr id="463" name="Rectangle 462"/>
          <p:cNvSpPr/>
          <p:nvPr/>
        </p:nvSpPr>
        <p:spPr>
          <a:xfrm>
            <a:off x="10502362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4" name="Connector 463"/>
          <p:cNvCxnSpPr/>
          <p:nvPr/>
        </p:nvCxnSpPr>
        <p:spPr>
          <a:xfrm>
            <a:off x="10502362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5" name="TextBox 464"/>
          <p:cNvSpPr txBox="1"/>
          <p:nvPr/>
        </p:nvSpPr>
        <p:spPr>
          <a:xfrm rot="16200000">
            <a:off x="10452070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5.15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10646939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7" name="Connector 466"/>
          <p:cNvCxnSpPr/>
          <p:nvPr/>
        </p:nvCxnSpPr>
        <p:spPr>
          <a:xfrm>
            <a:off x="10646939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8" name="TextBox 467"/>
          <p:cNvSpPr txBox="1"/>
          <p:nvPr/>
        </p:nvSpPr>
        <p:spPr>
          <a:xfrm rot="16200000">
            <a:off x="10596647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5.16</a:t>
            </a:r>
          </a:p>
        </p:txBody>
      </p:sp>
      <p:sp>
        <p:nvSpPr>
          <p:cNvPr id="469" name="Rectangle 468"/>
          <p:cNvSpPr/>
          <p:nvPr/>
        </p:nvSpPr>
        <p:spPr>
          <a:xfrm>
            <a:off x="10791515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0" name="Connector 469"/>
          <p:cNvCxnSpPr/>
          <p:nvPr/>
        </p:nvCxnSpPr>
        <p:spPr>
          <a:xfrm>
            <a:off x="10791515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1" name="TextBox 470"/>
          <p:cNvSpPr txBox="1"/>
          <p:nvPr/>
        </p:nvSpPr>
        <p:spPr>
          <a:xfrm rot="16200000">
            <a:off x="10741223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5.17</a:t>
            </a:r>
          </a:p>
        </p:txBody>
      </p:sp>
      <p:sp>
        <p:nvSpPr>
          <p:cNvPr id="472" name="Rectangle 471"/>
          <p:cNvSpPr/>
          <p:nvPr/>
        </p:nvSpPr>
        <p:spPr>
          <a:xfrm>
            <a:off x="10921634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3" name="Connector 472"/>
          <p:cNvCxnSpPr/>
          <p:nvPr/>
        </p:nvCxnSpPr>
        <p:spPr>
          <a:xfrm>
            <a:off x="10921634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4" name="TextBox 473"/>
          <p:cNvSpPr txBox="1"/>
          <p:nvPr/>
        </p:nvSpPr>
        <p:spPr>
          <a:xfrm rot="16200000">
            <a:off x="10871342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5.18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11066211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6" name="Connector 475"/>
          <p:cNvCxnSpPr/>
          <p:nvPr/>
        </p:nvCxnSpPr>
        <p:spPr>
          <a:xfrm>
            <a:off x="11066211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7" name="TextBox 476"/>
          <p:cNvSpPr txBox="1"/>
          <p:nvPr/>
        </p:nvSpPr>
        <p:spPr>
          <a:xfrm rot="16200000">
            <a:off x="11015919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5.19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11196330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9" name="Connector 478"/>
          <p:cNvCxnSpPr/>
          <p:nvPr/>
        </p:nvCxnSpPr>
        <p:spPr>
          <a:xfrm>
            <a:off x="11196330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0" name="TextBox 479"/>
          <p:cNvSpPr txBox="1"/>
          <p:nvPr/>
        </p:nvSpPr>
        <p:spPr>
          <a:xfrm rot="16200000">
            <a:off x="11146038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6.0</a:t>
            </a:r>
          </a:p>
        </p:txBody>
      </p:sp>
      <p:sp>
        <p:nvSpPr>
          <p:cNvPr id="481" name="Rectangle 480"/>
          <p:cNvSpPr/>
          <p:nvPr/>
        </p:nvSpPr>
        <p:spPr>
          <a:xfrm>
            <a:off x="11340907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2" name="Connector 481"/>
          <p:cNvCxnSpPr/>
          <p:nvPr/>
        </p:nvCxnSpPr>
        <p:spPr>
          <a:xfrm>
            <a:off x="11340907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 rot="16200000">
            <a:off x="11290615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6.1</a:t>
            </a:r>
          </a:p>
        </p:txBody>
      </p:sp>
      <p:sp>
        <p:nvSpPr>
          <p:cNvPr id="484" name="Rectangle 483"/>
          <p:cNvSpPr/>
          <p:nvPr/>
        </p:nvSpPr>
        <p:spPr>
          <a:xfrm>
            <a:off x="11485483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5" name="Connector 484"/>
          <p:cNvCxnSpPr/>
          <p:nvPr/>
        </p:nvCxnSpPr>
        <p:spPr>
          <a:xfrm>
            <a:off x="11485483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6" name="TextBox 485"/>
          <p:cNvSpPr txBox="1"/>
          <p:nvPr/>
        </p:nvSpPr>
        <p:spPr>
          <a:xfrm rot="16200000">
            <a:off x="11435191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6.2</a:t>
            </a:r>
          </a:p>
        </p:txBody>
      </p:sp>
      <p:sp>
        <p:nvSpPr>
          <p:cNvPr id="487" name="Rectangle 486"/>
          <p:cNvSpPr/>
          <p:nvPr/>
        </p:nvSpPr>
        <p:spPr>
          <a:xfrm>
            <a:off x="11615602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8" name="Connector 487"/>
          <p:cNvCxnSpPr/>
          <p:nvPr/>
        </p:nvCxnSpPr>
        <p:spPr>
          <a:xfrm>
            <a:off x="11615602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9" name="TextBox 488"/>
          <p:cNvSpPr txBox="1"/>
          <p:nvPr/>
        </p:nvSpPr>
        <p:spPr>
          <a:xfrm rot="16200000">
            <a:off x="11565310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6.3</a:t>
            </a:r>
          </a:p>
        </p:txBody>
      </p:sp>
      <p:sp>
        <p:nvSpPr>
          <p:cNvPr id="490" name="Rectangle 489"/>
          <p:cNvSpPr/>
          <p:nvPr/>
        </p:nvSpPr>
        <p:spPr>
          <a:xfrm>
            <a:off x="11745721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1" name="Connector 490"/>
          <p:cNvCxnSpPr/>
          <p:nvPr/>
        </p:nvCxnSpPr>
        <p:spPr>
          <a:xfrm>
            <a:off x="11745721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2" name="TextBox 491"/>
          <p:cNvSpPr txBox="1"/>
          <p:nvPr/>
        </p:nvSpPr>
        <p:spPr>
          <a:xfrm rot="16200000">
            <a:off x="11695429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6.4</a:t>
            </a:r>
          </a:p>
        </p:txBody>
      </p:sp>
      <p:sp>
        <p:nvSpPr>
          <p:cNvPr id="493" name="Rectangle 492"/>
          <p:cNvSpPr/>
          <p:nvPr/>
        </p:nvSpPr>
        <p:spPr>
          <a:xfrm>
            <a:off x="11875840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4" name="Connector 493"/>
          <p:cNvCxnSpPr/>
          <p:nvPr/>
        </p:nvCxnSpPr>
        <p:spPr>
          <a:xfrm>
            <a:off x="11875840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5" name="TextBox 494"/>
          <p:cNvSpPr txBox="1"/>
          <p:nvPr/>
        </p:nvSpPr>
        <p:spPr>
          <a:xfrm rot="16200000">
            <a:off x="11825548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6.5</a:t>
            </a:r>
          </a:p>
        </p:txBody>
      </p:sp>
      <p:sp>
        <p:nvSpPr>
          <p:cNvPr id="496" name="Rectangle 495"/>
          <p:cNvSpPr/>
          <p:nvPr/>
        </p:nvSpPr>
        <p:spPr>
          <a:xfrm>
            <a:off x="12005959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7" name="Connector 496"/>
          <p:cNvCxnSpPr/>
          <p:nvPr/>
        </p:nvCxnSpPr>
        <p:spPr>
          <a:xfrm>
            <a:off x="12005959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8" name="TextBox 497"/>
          <p:cNvSpPr txBox="1"/>
          <p:nvPr/>
        </p:nvSpPr>
        <p:spPr>
          <a:xfrm rot="16200000">
            <a:off x="11955667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6.6</a:t>
            </a:r>
          </a:p>
        </p:txBody>
      </p:sp>
      <p:sp>
        <p:nvSpPr>
          <p:cNvPr id="499" name="Rectangle 498"/>
          <p:cNvSpPr/>
          <p:nvPr/>
        </p:nvSpPr>
        <p:spPr>
          <a:xfrm>
            <a:off x="12150535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0" name="Connector 499"/>
          <p:cNvCxnSpPr/>
          <p:nvPr/>
        </p:nvCxnSpPr>
        <p:spPr>
          <a:xfrm>
            <a:off x="12150535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1" name="TextBox 500"/>
          <p:cNvSpPr txBox="1"/>
          <p:nvPr/>
        </p:nvSpPr>
        <p:spPr>
          <a:xfrm rot="16200000">
            <a:off x="12100243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6.7</a:t>
            </a:r>
          </a:p>
        </p:txBody>
      </p:sp>
      <p:sp>
        <p:nvSpPr>
          <p:cNvPr id="502" name="Rectangle 501"/>
          <p:cNvSpPr/>
          <p:nvPr/>
        </p:nvSpPr>
        <p:spPr>
          <a:xfrm>
            <a:off x="12280654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3" name="Connector 502"/>
          <p:cNvCxnSpPr/>
          <p:nvPr/>
        </p:nvCxnSpPr>
        <p:spPr>
          <a:xfrm>
            <a:off x="12280654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4" name="TextBox 503"/>
          <p:cNvSpPr txBox="1"/>
          <p:nvPr/>
        </p:nvSpPr>
        <p:spPr>
          <a:xfrm rot="16200000">
            <a:off x="12230362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6.8</a:t>
            </a:r>
          </a:p>
        </p:txBody>
      </p:sp>
      <p:sp>
        <p:nvSpPr>
          <p:cNvPr id="505" name="Rectangle 504"/>
          <p:cNvSpPr/>
          <p:nvPr/>
        </p:nvSpPr>
        <p:spPr>
          <a:xfrm>
            <a:off x="12410773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6" name="Connector 505"/>
          <p:cNvCxnSpPr/>
          <p:nvPr/>
        </p:nvCxnSpPr>
        <p:spPr>
          <a:xfrm>
            <a:off x="12410773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TextBox 506"/>
          <p:cNvSpPr txBox="1"/>
          <p:nvPr/>
        </p:nvSpPr>
        <p:spPr>
          <a:xfrm rot="16200000">
            <a:off x="12360481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6.9</a:t>
            </a:r>
          </a:p>
        </p:txBody>
      </p:sp>
      <p:sp>
        <p:nvSpPr>
          <p:cNvPr id="508" name="Rectangle 507"/>
          <p:cNvSpPr/>
          <p:nvPr/>
        </p:nvSpPr>
        <p:spPr>
          <a:xfrm>
            <a:off x="12540892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9" name="Connector 508"/>
          <p:cNvCxnSpPr/>
          <p:nvPr/>
        </p:nvCxnSpPr>
        <p:spPr>
          <a:xfrm>
            <a:off x="12540892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0" name="TextBox 509"/>
          <p:cNvSpPr txBox="1"/>
          <p:nvPr/>
        </p:nvSpPr>
        <p:spPr>
          <a:xfrm rot="16200000">
            <a:off x="12490600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6.10</a:t>
            </a:r>
          </a:p>
        </p:txBody>
      </p:sp>
      <p:sp>
        <p:nvSpPr>
          <p:cNvPr id="511" name="Rectangle 510"/>
          <p:cNvSpPr/>
          <p:nvPr/>
        </p:nvSpPr>
        <p:spPr>
          <a:xfrm>
            <a:off x="12671011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2" name="Connector 511"/>
          <p:cNvCxnSpPr/>
          <p:nvPr/>
        </p:nvCxnSpPr>
        <p:spPr>
          <a:xfrm>
            <a:off x="12671011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3" name="TextBox 512"/>
          <p:cNvSpPr txBox="1"/>
          <p:nvPr/>
        </p:nvSpPr>
        <p:spPr>
          <a:xfrm rot="16200000">
            <a:off x="12620719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6.11</a:t>
            </a:r>
          </a:p>
        </p:txBody>
      </p:sp>
      <p:sp>
        <p:nvSpPr>
          <p:cNvPr id="514" name="Rectangle 513"/>
          <p:cNvSpPr/>
          <p:nvPr/>
        </p:nvSpPr>
        <p:spPr>
          <a:xfrm>
            <a:off x="12801130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5" name="Connector 514"/>
          <p:cNvCxnSpPr/>
          <p:nvPr/>
        </p:nvCxnSpPr>
        <p:spPr>
          <a:xfrm>
            <a:off x="12801130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6" name="TextBox 515"/>
          <p:cNvSpPr txBox="1"/>
          <p:nvPr/>
        </p:nvSpPr>
        <p:spPr>
          <a:xfrm rot="16200000">
            <a:off x="12750838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6.12</a:t>
            </a:r>
          </a:p>
        </p:txBody>
      </p:sp>
      <p:sp>
        <p:nvSpPr>
          <p:cNvPr id="517" name="Rectangle 516"/>
          <p:cNvSpPr/>
          <p:nvPr/>
        </p:nvSpPr>
        <p:spPr>
          <a:xfrm>
            <a:off x="12933314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>
            <a:off x="12933314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9" name="TextBox 518"/>
          <p:cNvSpPr txBox="1"/>
          <p:nvPr/>
        </p:nvSpPr>
        <p:spPr>
          <a:xfrm rot="16200000">
            <a:off x="12883022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6.13</a:t>
            </a:r>
          </a:p>
        </p:txBody>
      </p:sp>
      <p:sp>
        <p:nvSpPr>
          <p:cNvPr id="520" name="Rectangle 519"/>
          <p:cNvSpPr/>
          <p:nvPr/>
        </p:nvSpPr>
        <p:spPr>
          <a:xfrm>
            <a:off x="13063433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1" name="Connector 520"/>
          <p:cNvCxnSpPr/>
          <p:nvPr/>
        </p:nvCxnSpPr>
        <p:spPr>
          <a:xfrm>
            <a:off x="13063433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2" name="TextBox 521"/>
          <p:cNvSpPr txBox="1"/>
          <p:nvPr/>
        </p:nvSpPr>
        <p:spPr>
          <a:xfrm rot="16200000">
            <a:off x="13013141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6.14</a:t>
            </a:r>
          </a:p>
        </p:txBody>
      </p:sp>
      <p:sp>
        <p:nvSpPr>
          <p:cNvPr id="523" name="Rectangle 522"/>
          <p:cNvSpPr/>
          <p:nvPr/>
        </p:nvSpPr>
        <p:spPr>
          <a:xfrm>
            <a:off x="13191487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4" name="Connector 523"/>
          <p:cNvCxnSpPr/>
          <p:nvPr/>
        </p:nvCxnSpPr>
        <p:spPr>
          <a:xfrm>
            <a:off x="13191487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5" name="TextBox 524"/>
          <p:cNvSpPr txBox="1"/>
          <p:nvPr/>
        </p:nvSpPr>
        <p:spPr>
          <a:xfrm rot="16200000">
            <a:off x="13141195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6.15</a:t>
            </a:r>
          </a:p>
        </p:txBody>
      </p:sp>
      <p:sp>
        <p:nvSpPr>
          <p:cNvPr id="526" name="Rectangle 525"/>
          <p:cNvSpPr/>
          <p:nvPr/>
        </p:nvSpPr>
        <p:spPr>
          <a:xfrm>
            <a:off x="13321606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7" name="Connector 526"/>
          <p:cNvCxnSpPr/>
          <p:nvPr/>
        </p:nvCxnSpPr>
        <p:spPr>
          <a:xfrm>
            <a:off x="13321606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8" name="TextBox 527"/>
          <p:cNvSpPr txBox="1"/>
          <p:nvPr/>
        </p:nvSpPr>
        <p:spPr>
          <a:xfrm rot="16200000">
            <a:off x="13271314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6.16</a:t>
            </a:r>
          </a:p>
        </p:txBody>
      </p:sp>
      <p:sp>
        <p:nvSpPr>
          <p:cNvPr id="529" name="Rectangle 528"/>
          <p:cNvSpPr/>
          <p:nvPr/>
        </p:nvSpPr>
        <p:spPr>
          <a:xfrm>
            <a:off x="13451725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0" name="Connector 529"/>
          <p:cNvCxnSpPr/>
          <p:nvPr/>
        </p:nvCxnSpPr>
        <p:spPr>
          <a:xfrm>
            <a:off x="13451725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1" name="TextBox 530"/>
          <p:cNvSpPr txBox="1"/>
          <p:nvPr/>
        </p:nvSpPr>
        <p:spPr>
          <a:xfrm rot="16200000">
            <a:off x="13401433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6.17</a:t>
            </a:r>
          </a:p>
        </p:txBody>
      </p:sp>
      <p:sp>
        <p:nvSpPr>
          <p:cNvPr id="532" name="Rectangle 531"/>
          <p:cNvSpPr/>
          <p:nvPr/>
        </p:nvSpPr>
        <p:spPr>
          <a:xfrm>
            <a:off x="13581844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3" name="Connector 532"/>
          <p:cNvCxnSpPr/>
          <p:nvPr/>
        </p:nvCxnSpPr>
        <p:spPr>
          <a:xfrm>
            <a:off x="13581844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4" name="TextBox 533"/>
          <p:cNvSpPr txBox="1"/>
          <p:nvPr/>
        </p:nvSpPr>
        <p:spPr>
          <a:xfrm rot="16200000">
            <a:off x="13531552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6.18</a:t>
            </a:r>
          </a:p>
        </p:txBody>
      </p:sp>
      <p:sp>
        <p:nvSpPr>
          <p:cNvPr id="535" name="Rectangle 534"/>
          <p:cNvSpPr/>
          <p:nvPr/>
        </p:nvSpPr>
        <p:spPr>
          <a:xfrm>
            <a:off x="13726420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6" name="Connector 535"/>
          <p:cNvCxnSpPr/>
          <p:nvPr/>
        </p:nvCxnSpPr>
        <p:spPr>
          <a:xfrm>
            <a:off x="13726420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7" name="TextBox 536"/>
          <p:cNvSpPr txBox="1"/>
          <p:nvPr/>
        </p:nvSpPr>
        <p:spPr>
          <a:xfrm rot="16200000">
            <a:off x="13676128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6.19</a:t>
            </a:r>
          </a:p>
        </p:txBody>
      </p:sp>
      <p:sp>
        <p:nvSpPr>
          <p:cNvPr id="538" name="Rectangle 537"/>
          <p:cNvSpPr/>
          <p:nvPr/>
        </p:nvSpPr>
        <p:spPr>
          <a:xfrm>
            <a:off x="13856539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9" name="Connector 538"/>
          <p:cNvCxnSpPr/>
          <p:nvPr/>
        </p:nvCxnSpPr>
        <p:spPr>
          <a:xfrm>
            <a:off x="13856539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0" name="TextBox 539"/>
          <p:cNvSpPr txBox="1"/>
          <p:nvPr/>
        </p:nvSpPr>
        <p:spPr>
          <a:xfrm rot="16200000">
            <a:off x="13806247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7.0</a:t>
            </a:r>
          </a:p>
        </p:txBody>
      </p:sp>
      <p:sp>
        <p:nvSpPr>
          <p:cNvPr id="541" name="Rectangle 540"/>
          <p:cNvSpPr/>
          <p:nvPr/>
        </p:nvSpPr>
        <p:spPr>
          <a:xfrm>
            <a:off x="13986658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2" name="Connector 541"/>
          <p:cNvCxnSpPr/>
          <p:nvPr/>
        </p:nvCxnSpPr>
        <p:spPr>
          <a:xfrm>
            <a:off x="13986658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3" name="TextBox 542"/>
          <p:cNvSpPr txBox="1"/>
          <p:nvPr/>
        </p:nvSpPr>
        <p:spPr>
          <a:xfrm rot="16200000">
            <a:off x="13936366" y="813816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7.1</a:t>
            </a:r>
          </a:p>
        </p:txBody>
      </p:sp>
      <p:sp>
        <p:nvSpPr>
          <p:cNvPr id="544" name="Rectangle 543"/>
          <p:cNvSpPr/>
          <p:nvPr/>
        </p:nvSpPr>
        <p:spPr>
          <a:xfrm>
            <a:off x="14116777" y="1024127"/>
            <a:ext cx="4572" cy="672998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5" name="Connector 544"/>
          <p:cNvCxnSpPr/>
          <p:nvPr/>
        </p:nvCxnSpPr>
        <p:spPr>
          <a:xfrm>
            <a:off x="14116777" y="1024127"/>
            <a:ext cx="0" cy="6729984"/>
          </a:xfrm>
          <a:prstGeom prst="line">
            <a:avLst/>
          </a:prstGeom>
          <a:ln w="571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6" name="TextBox 545"/>
          <p:cNvSpPr txBox="1"/>
          <p:nvPr/>
        </p:nvSpPr>
        <p:spPr>
          <a:xfrm rot="16200000">
            <a:off x="14066485" y="896112"/>
            <a:ext cx="16459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70">
                <a:solidFill>
                  <a:srgbClr val="475569"/>
                </a:solidFill>
              </a:defRPr>
            </a:pPr>
            <a:r>
              <a:t>7.2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335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937"/>
                </a:solidFill>
              </a:defRPr>
            </a:pPr>
            <a:r>
              <a:t>Editing notes /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2801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1. Each feature is composed of editable text boxes, line rectangles, and start/merge markers.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039112"/>
            <a:ext cx="12801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2. The filled endpoint is the first canonical merge/release milestone used in r24; a feature can continue evolving after that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843784"/>
            <a:ext cx="12801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3. The open start point is deliberately approximate. It represents visible development/RFC/series activity, not an audited provenance boundary.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48456"/>
            <a:ext cx="12801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4. BIG TCP extensions are shown as a separate continuation because r24 records IPv4 BIG TCP (6.3), HBH-less IPv6 BIG TCP (7.0), and tunnel support (7.3-rc).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453128"/>
            <a:ext cx="12801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5. netmem and memory providers are not assigned a fabricated canonical merge point because r24 keeps their provenance boundary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257800"/>
            <a:ext cx="12801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6. Cross-cutting domains (TRANSPORT / VIRTUAL-OVERLAY / SECURITY) are not separate vertical groups here because the requested vertical grouping is by architecture Axis.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40080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GA grid: slide 1 now includes a dotted vertical line for every Linux feature release from 3.0 through 7.2, positioned by its GA calendar date. 7.3 is not drawn because it is still an -rc series as of 2026-10-04.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