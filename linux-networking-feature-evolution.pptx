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36830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514600"/>
            <a:ext cx="14173200" cy="122529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614356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06762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5747007" y="3176968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395662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1" name="lineage:XDP-&gt;XDP multi-buffer:across"/>
          <p:cNvCxnSpPr/>
          <p:nvPr/>
        </p:nvCxnSpPr>
        <p:spPr>
          <a:xfrm>
            <a:off x="7012181" y="4361878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12181" y="447122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14600"/>
            <a:ext cx="1051560" cy="12252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650">
                <a:solidFill>
                  <a:srgbClr val="475569"/>
                </a:solidFill>
              </a:rPr>
              <a:t>~X.Y  ○  approx. development start → ●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  <p:sp>
        <p:nvSpPr>
          <p:cNvPr id="366" name="row:DQL / BQL:start-label"/>
          <p:cNvSpPr txBox="1"/>
          <p:nvPr/>
        </p:nvSpPr>
        <p:spPr>
          <a:xfrm>
            <a:off x="3026664" y="158172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~pre-3.0</a:t>
            </a:r>
          </a:p>
        </p:txBody>
      </p:sp>
      <p:sp>
        <p:nvSpPr>
          <p:cNvPr id="367" name="row:TSQ:start-label"/>
          <p:cNvSpPr txBox="1"/>
          <p:nvPr/>
        </p:nvSpPr>
        <p:spPr>
          <a:xfrm>
            <a:off x="3272809" y="169106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</a:t>
            </a:r>
          </a:p>
        </p:txBody>
      </p:sp>
      <p:sp>
        <p:nvSpPr>
          <p:cNvPr id="368" name="row:SO_BUSY_POLL:start-label"/>
          <p:cNvSpPr txBox="1"/>
          <p:nvPr/>
        </p:nvSpPr>
        <p:spPr>
          <a:xfrm>
            <a:off x="3967181" y="180041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~3.7</a:t>
            </a:r>
          </a:p>
        </p:txBody>
      </p:sp>
      <p:sp>
        <p:nvSpPr>
          <p:cNvPr id="369" name="row:sch_fq / TCP pacing:start-label"/>
          <p:cNvSpPr txBox="1"/>
          <p:nvPr/>
        </p:nvSpPr>
        <p:spPr>
          <a:xfrm>
            <a:off x="3828307" y="190976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~3.6</a:t>
            </a:r>
          </a:p>
        </p:txBody>
      </p:sp>
      <p:sp>
        <p:nvSpPr>
          <p:cNvPr id="370" name="row:SO_TXTIME / EDT / taprio:start-label"/>
          <p:cNvSpPr txBox="1"/>
          <p:nvPr/>
        </p:nvSpPr>
        <p:spPr>
          <a:xfrm>
            <a:off x="6883546" y="201910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~4.10</a:t>
            </a:r>
          </a:p>
        </p:txBody>
      </p:sp>
      <p:sp>
        <p:nvSpPr>
          <p:cNvPr id="371" name="row:BIG TCP:start-label"/>
          <p:cNvSpPr txBox="1"/>
          <p:nvPr/>
        </p:nvSpPr>
        <p:spPr>
          <a:xfrm>
            <a:off x="9661036" y="212845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~5.12</a:t>
            </a:r>
          </a:p>
        </p:txBody>
      </p:sp>
      <p:sp>
        <p:nvSpPr>
          <p:cNvPr id="372" name="row:cake_mq:start-label"/>
          <p:cNvSpPr txBox="1"/>
          <p:nvPr/>
        </p:nvSpPr>
        <p:spPr>
          <a:xfrm>
            <a:off x="12299651" y="234715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73" name="row:eBPF foundation:start-label"/>
          <p:cNvSpPr txBox="1"/>
          <p:nvPr/>
        </p:nvSpPr>
        <p:spPr>
          <a:xfrm>
            <a:off x="4314367" y="254793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~3.10</a:t>
            </a:r>
          </a:p>
        </p:txBody>
      </p:sp>
      <p:sp>
        <p:nvSpPr>
          <p:cNvPr id="374" name="row:TC BPF:start-label"/>
          <p:cNvSpPr txBox="1"/>
          <p:nvPr/>
        </p:nvSpPr>
        <p:spPr>
          <a:xfrm>
            <a:off x="5217052" y="265728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~3.17</a:t>
            </a:r>
          </a:p>
        </p:txBody>
      </p:sp>
      <p:sp>
        <p:nvSpPr>
          <p:cNvPr id="375" name="row:TCX:start-label"/>
          <p:cNvSpPr txBox="1"/>
          <p:nvPr/>
        </p:nvSpPr>
        <p:spPr>
          <a:xfrm>
            <a:off x="10633157" y="276663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~6.0</a:t>
            </a:r>
          </a:p>
        </p:txBody>
      </p:sp>
      <p:sp>
        <p:nvSpPr>
          <p:cNvPr id="376" name="row:netkit:start-label"/>
          <p:cNvSpPr txBox="1"/>
          <p:nvPr/>
        </p:nvSpPr>
        <p:spPr>
          <a:xfrm>
            <a:off x="10772032" y="287597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</a:t>
            </a:r>
          </a:p>
        </p:txBody>
      </p:sp>
      <p:sp>
        <p:nvSpPr>
          <p:cNvPr id="377" name="row:cgroup / LWT BPF:start-label"/>
          <p:cNvSpPr txBox="1"/>
          <p:nvPr/>
        </p:nvSpPr>
        <p:spPr>
          <a:xfrm>
            <a:off x="6050299" y="298532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78" name="row:SOCK_OPS / SOCKMAP:start-label"/>
          <p:cNvSpPr txBox="1"/>
          <p:nvPr/>
        </p:nvSpPr>
        <p:spPr>
          <a:xfrm>
            <a:off x="6397485" y="309467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~4.7</a:t>
            </a:r>
          </a:p>
        </p:txBody>
      </p:sp>
      <p:sp>
        <p:nvSpPr>
          <p:cNvPr id="379" name="row:BPF struct_ops:start-label"/>
          <p:cNvSpPr txBox="1"/>
          <p:nvPr/>
        </p:nvSpPr>
        <p:spPr>
          <a:xfrm>
            <a:off x="7994542" y="320401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~4.19</a:t>
            </a:r>
          </a:p>
        </p:txBody>
      </p:sp>
      <p:sp>
        <p:nvSpPr>
          <p:cNvPr id="380" name="row:BPF qdisc:start-label"/>
          <p:cNvSpPr txBox="1"/>
          <p:nvPr/>
        </p:nvSpPr>
        <p:spPr>
          <a:xfrm>
            <a:off x="11883028" y="331336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~6.10</a:t>
            </a:r>
          </a:p>
        </p:txBody>
      </p:sp>
      <p:sp>
        <p:nvSpPr>
          <p:cNvPr id="381" name="row:SK_LOOKUP:start-label"/>
          <p:cNvSpPr txBox="1"/>
          <p:nvPr/>
        </p:nvSpPr>
        <p:spPr>
          <a:xfrm>
            <a:off x="8480602" y="342271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~5.2</a:t>
            </a:r>
          </a:p>
        </p:txBody>
      </p:sp>
      <p:sp>
        <p:nvSpPr>
          <p:cNvPr id="382" name="row:XDP:start-label"/>
          <p:cNvSpPr txBox="1"/>
          <p:nvPr/>
        </p:nvSpPr>
        <p:spPr>
          <a:xfrm>
            <a:off x="6133623" y="353206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83" name="row:page_pool:start-label"/>
          <p:cNvSpPr txBox="1"/>
          <p:nvPr/>
        </p:nvSpPr>
        <p:spPr>
          <a:xfrm>
            <a:off x="6189173" y="373284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~4.5</a:t>
            </a:r>
          </a:p>
        </p:txBody>
      </p:sp>
      <p:sp>
        <p:nvSpPr>
          <p:cNvPr id="384" name="row:Device Memory TCP RX:start-label"/>
          <p:cNvSpPr txBox="1"/>
          <p:nvPr/>
        </p:nvSpPr>
        <p:spPr>
          <a:xfrm>
            <a:off x="10980343" y="384219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85" name="row:Device Memory TCP TX:start-label"/>
          <p:cNvSpPr txBox="1"/>
          <p:nvPr/>
        </p:nvSpPr>
        <p:spPr>
          <a:xfrm>
            <a:off x="11605279" y="395154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86" name="row:io_uring ZCRX:start-label"/>
          <p:cNvSpPr txBox="1"/>
          <p:nvPr/>
        </p:nvSpPr>
        <p:spPr>
          <a:xfrm>
            <a:off x="11188655" y="406088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~6.4</a:t>
            </a:r>
          </a:p>
        </p:txBody>
      </p:sp>
      <p:sp>
        <p:nvSpPr>
          <p:cNvPr id="387" name="row:large RX buffers (mem. providers):start-label"/>
          <p:cNvSpPr txBox="1"/>
          <p:nvPr/>
        </p:nvSpPr>
        <p:spPr>
          <a:xfrm>
            <a:off x="12299651" y="417023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88" name="row:XDP multi-buffer:start-label"/>
          <p:cNvSpPr txBox="1"/>
          <p:nvPr/>
        </p:nvSpPr>
        <p:spPr>
          <a:xfrm>
            <a:off x="9522161" y="427958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389" name="row:AF_XDP:start-label"/>
          <p:cNvSpPr txBox="1"/>
          <p:nvPr/>
        </p:nvSpPr>
        <p:spPr>
          <a:xfrm>
            <a:off x="6744671" y="438892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390" name="row:AF_XDP multi-buffer:start-label"/>
          <p:cNvSpPr txBox="1"/>
          <p:nvPr/>
        </p:nvSpPr>
        <p:spPr>
          <a:xfrm>
            <a:off x="10216534" y="449827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~5.16</a:t>
            </a:r>
          </a:p>
        </p:txBody>
      </p:sp>
      <p:sp>
        <p:nvSpPr>
          <p:cNvPr id="391" name="row:RX HW queue leasing:start-label"/>
          <p:cNvSpPr txBox="1"/>
          <p:nvPr/>
        </p:nvSpPr>
        <p:spPr>
          <a:xfrm>
            <a:off x="11952465" y="460762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~6.11</a:t>
            </a:r>
          </a:p>
        </p:txBody>
      </p:sp>
      <p:sp>
        <p:nvSpPr>
          <p:cNvPr id="392" name="row:nexthop objects:start-label"/>
          <p:cNvSpPr txBox="1"/>
          <p:nvPr/>
        </p:nvSpPr>
        <p:spPr>
          <a:xfrm>
            <a:off x="7439044" y="491775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393" name="row:per-netns RTNL:start-label"/>
          <p:cNvSpPr txBox="1"/>
          <p:nvPr/>
        </p:nvSpPr>
        <p:spPr>
          <a:xfrm>
            <a:off x="10910906" y="502710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4" name="row:further RTNL breakup:start-label"/>
          <p:cNvSpPr txBox="1"/>
          <p:nvPr/>
        </p:nvSpPr>
        <p:spPr>
          <a:xfrm>
            <a:off x="11605279" y="513645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95" name="row:RTNL-less FIB rules:start-label"/>
          <p:cNvSpPr txBox="1"/>
          <p:nvPr/>
        </p:nvSpPr>
        <p:spPr>
          <a:xfrm>
            <a:off x="12299651" y="524579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96" name="row:YNL tooling:start-label"/>
          <p:cNvSpPr txBox="1"/>
          <p:nvPr/>
        </p:nvSpPr>
        <p:spPr>
          <a:xfrm>
            <a:off x="9869347" y="535514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~5.13</a:t>
            </a:r>
          </a:p>
        </p:txBody>
      </p:sp>
      <p:sp>
        <p:nvSpPr>
          <p:cNvPr id="397" name="row:queue/NAPI netdev-genl:start-label"/>
          <p:cNvSpPr txBox="1"/>
          <p:nvPr/>
        </p:nvSpPr>
        <p:spPr>
          <a:xfrm>
            <a:off x="10910906" y="555593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8" name="row:kprobe BPF:start-label"/>
          <p:cNvSpPr txBox="1"/>
          <p:nvPr/>
        </p:nvSpPr>
        <p:spPr>
          <a:xfrm>
            <a:off x="4800428" y="566527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~3.13</a:t>
            </a:r>
          </a:p>
        </p:txBody>
      </p:sp>
      <p:sp>
        <p:nvSpPr>
          <p:cNvPr id="399" name="row:structured drop reason:start-label"/>
          <p:cNvSpPr txBox="1"/>
          <p:nvPr/>
        </p:nvSpPr>
        <p:spPr>
          <a:xfrm>
            <a:off x="9522161" y="577462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400" name="row:drop-reason expansion:start-label"/>
          <p:cNvSpPr txBox="1"/>
          <p:nvPr/>
        </p:nvSpPr>
        <p:spPr>
          <a:xfrm>
            <a:off x="10355408" y="588397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~5.17</a:t>
            </a:r>
          </a:p>
        </p:txBody>
      </p:sp>
      <p:sp>
        <p:nvSpPr>
          <p:cNvPr id="401" name="row:qdisc-drop tracepoint:start-label"/>
          <p:cNvSpPr txBox="1"/>
          <p:nvPr/>
        </p:nvSpPr>
        <p:spPr>
          <a:xfrm>
            <a:off x="12299651" y="599332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402" name="row:switchdev:start-label"/>
          <p:cNvSpPr txBox="1"/>
          <p:nvPr/>
        </p:nvSpPr>
        <p:spPr>
          <a:xfrm>
            <a:off x="4661554" y="619410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~3.12</a:t>
            </a:r>
          </a:p>
        </p:txBody>
      </p:sp>
      <p:sp>
        <p:nvSpPr>
          <p:cNvPr id="403" name="row:devlink:start-label"/>
          <p:cNvSpPr txBox="1"/>
          <p:nvPr/>
        </p:nvSpPr>
        <p:spPr>
          <a:xfrm>
            <a:off x="5355926" y="630345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~3.18</a:t>
            </a:r>
          </a:p>
        </p:txBody>
      </p:sp>
      <p:sp>
        <p:nvSpPr>
          <p:cNvPr id="404" name="row:devlink health:start-label"/>
          <p:cNvSpPr txBox="1"/>
          <p:nvPr/>
        </p:nvSpPr>
        <p:spPr>
          <a:xfrm>
            <a:off x="7439044" y="641280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5" name="row:phylink:start-label"/>
          <p:cNvSpPr txBox="1"/>
          <p:nvPr/>
        </p:nvSpPr>
        <p:spPr>
          <a:xfrm>
            <a:off x="5494801" y="652214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~3.19</a:t>
            </a:r>
          </a:p>
        </p:txBody>
      </p:sp>
      <p:sp>
        <p:nvSpPr>
          <p:cNvPr id="406" name="row:Net DIM:start-label"/>
          <p:cNvSpPr txBox="1"/>
          <p:nvPr/>
        </p:nvSpPr>
        <p:spPr>
          <a:xfrm>
            <a:off x="6744671" y="663149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407" name="row:netdevsim:start-label"/>
          <p:cNvSpPr txBox="1"/>
          <p:nvPr/>
        </p:nvSpPr>
        <p:spPr>
          <a:xfrm>
            <a:off x="7091857" y="674084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~4.12</a:t>
            </a:r>
          </a:p>
        </p:txBody>
      </p:sp>
      <p:sp>
        <p:nvSpPr>
          <p:cNvPr id="408" name="row:ethtool netlink:start-label"/>
          <p:cNvSpPr txBox="1"/>
          <p:nvPr/>
        </p:nvSpPr>
        <p:spPr>
          <a:xfrm>
            <a:off x="7439044" y="685018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9" name="row:auxiliary bus:start-label"/>
          <p:cNvSpPr txBox="1"/>
          <p:nvPr/>
        </p:nvSpPr>
        <p:spPr>
          <a:xfrm>
            <a:off x="8827789" y="695953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~5.5</a:t>
            </a:r>
          </a:p>
        </p:txBody>
      </p:sp>
      <p:sp>
        <p:nvSpPr>
          <p:cNvPr id="410" name="row:threaded NAPI:start-label"/>
          <p:cNvSpPr txBox="1"/>
          <p:nvPr/>
        </p:nvSpPr>
        <p:spPr>
          <a:xfrm>
            <a:off x="9036100" y="706888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~5.7</a:t>
            </a:r>
          </a:p>
        </p:txBody>
      </p:sp>
      <p:sp>
        <p:nvSpPr>
          <p:cNvPr id="411" name="row:Rust phylib:start-label"/>
          <p:cNvSpPr txBox="1"/>
          <p:nvPr/>
        </p:nvSpPr>
        <p:spPr>
          <a:xfrm>
            <a:off x="10910906" y="717823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cxnSp>
        <p:nvCxnSpPr>
          <p:cNvPr id="412" name="era-boundary:2019">
            <a:extLst>
              <a:ext uri="{FF2B5EF4-FFF2-40B4-BE49-F238E27FC236}">
                <a16:creationId xmlns:a16="http://schemas.microsoft.com/office/drawing/2014/main" id="{DF7A39ED-3A49-5311-FF5C-DA7E3429D443}"/>
              </a:ext>
            </a:extLst>
          </p:cNvPr>
          <p:cNvCxnSpPr>
            <a:cxnSpLocks/>
          </p:cNvCxnSpPr>
          <p:nvPr/>
        </p:nvCxnSpPr>
        <p:spPr>
          <a:xfrm flipH="1">
            <a:off x="5909309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era-boundary:2019">
            <a:extLst>
              <a:ext uri="{FF2B5EF4-FFF2-40B4-BE49-F238E27FC236}">
                <a16:creationId xmlns:a16="http://schemas.microsoft.com/office/drawing/2014/main" id="{70AAB47D-69B6-14C3-DB45-C2B750608594}"/>
              </a:ext>
            </a:extLst>
          </p:cNvPr>
          <p:cNvCxnSpPr>
            <a:cxnSpLocks/>
          </p:cNvCxnSpPr>
          <p:nvPr/>
        </p:nvCxnSpPr>
        <p:spPr>
          <a:xfrm flipH="1">
            <a:off x="8643057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era-boundary:2019">
            <a:extLst>
              <a:ext uri="{FF2B5EF4-FFF2-40B4-BE49-F238E27FC236}">
                <a16:creationId xmlns:a16="http://schemas.microsoft.com/office/drawing/2014/main" id="{F87C672E-5B0D-39A1-1528-9A0364835DB0}"/>
              </a:ext>
            </a:extLst>
          </p:cNvPr>
          <p:cNvCxnSpPr>
            <a:cxnSpLocks/>
          </p:cNvCxnSpPr>
          <p:nvPr/>
        </p:nvCxnSpPr>
        <p:spPr>
          <a:xfrm flipH="1">
            <a:off x="1144440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era-boundary:2019">
            <a:extLst>
              <a:ext uri="{FF2B5EF4-FFF2-40B4-BE49-F238E27FC236}">
                <a16:creationId xmlns:a16="http://schemas.microsoft.com/office/drawing/2014/main" id="{04030F15-784C-BE6E-0609-7428D8AC20A9}"/>
              </a:ext>
            </a:extLst>
          </p:cNvPr>
          <p:cNvCxnSpPr>
            <a:cxnSpLocks/>
          </p:cNvCxnSpPr>
          <p:nvPr/>
        </p:nvCxnSpPr>
        <p:spPr>
          <a:xfrm flipH="1">
            <a:off x="311193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