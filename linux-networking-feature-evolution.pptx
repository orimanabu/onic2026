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46304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Editing notes</a:t>
            </a:r>
          </a:p>
          <a:p>
            <a:r>
              <a:t>- Every band, label, marker and line is a native, named PowerPoint object (row:&lt;feature&gt;:name / :start / :development / :release:&lt;ver&gt; / :label).</a:t>
            </a:r>
          </a:p>
          <a:p>
            <a:r>
              <a:t>- Release markers sit on the kernel release date of the canonical version; 7.3-rc sits on the net-next-7.3 mainline merge date.</a:t>
            </a:r>
          </a:p>
          <a:p>
            <a:r>
              <a:t>- Bundled rows show one marker per release (SO_TXTIME / EDT / taprio: 4.19 and 4.20; SOCK_OPS / SOCKMAP: 4.13 and 4.14).</a:t>
            </a:r>
          </a:p>
          <a:p>
            <a:r>
              <a:t>- BIG TCP extensions record IPv4 BIG TCP (6.3), IPv6 BIG TCP without HBH (7.0) and tunnel BIG TCP (7.3-rc) as successive milestones, not a development period.</a:t>
            </a:r>
          </a:p>
          <a:p>
            <a:r>
              <a:t>- Era shading uses calendar-year boundaries (2015, 2019, 2023) as an approximation of Part II.</a:t>
            </a:r>
          </a:p>
          <a:p>
            <a:r>
              <a:t>- Only X.0 releases are drawn as vertical lines.</a:t>
            </a:r>
          </a:p>
          <a:p>
            <a:r>
              <a:t>- Rows inside each band are ordered by lineage rather than strictly by date. A lineage trunk drops from a parent release (●); a horizontal arrow runs to the start (○) of a feature that began afterwards, the trunk ends on the dashed line of a feature already in development, and a small dot marks a child the trunk passes through.</a:t>
            </a:r>
          </a:p>
          <a:p>
            <a:r>
              <a:t>- Links: sch_fq / TCP pacing → SO_TXTIME / EDT / taprio; BIG TCP → BIG TCP extensions; eBPF foundation → TC BPF, XDP, cgroup / LWT BPF, SOCK_OPS / SOCKMAP; TC BPF → TCX → netkit (shared bpf_mprog attachment); BPF struct_ops → BPF qdisc; page_pool → Device Memory TCP RX → TX; page_pool → io_uring ZCRX → large RX buffers; AF_XDP and XDP multi-buffer → AF_XDP multi-buffer; per-netns RTNL → further RTNL breakup → RTNL-less FIB rules; structured drop reason → drop-reason expansion; switchdev → devlink → devlink health.</a:t>
            </a:r>
          </a:p>
          <a:p>
            <a:r>
              <a:t>- Deliberately not linked: the queueing layers (BQL, TSQ, CoDel, fq; parallel, not derived), RX HW queue leasing (interacts with AF_XDP / io_uring), and links that cross bands.</a:t>
            </a:r>
          </a:p>
          <a:p>
            <a:r>
              <a:t>- Development starts revised from memory (not audited): nftables ~2008 (shown as off-chart), XDP ~early 2016.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background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itle"/>
          <p:cNvSpPr txBox="1"/>
          <p:nvPr/>
        </p:nvSpPr>
        <p:spPr>
          <a:xfrm>
            <a:off x="320040" y="201168"/>
            <a:ext cx="13990320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2400" b="1" i="0">
                <a:solidFill>
                  <a:srgbClr val="1F2937"/>
                </a:solidFill>
              </a:rPr>
              <a:t>From programmable datapath to explicit memory and control contracts (2011–2026)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320040" y="621792"/>
            <a:ext cx="13990320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100" b="0" i="0">
                <a:solidFill>
                  <a:srgbClr val="64748B"/>
                </a:solidFill>
              </a:rPr>
              <a:t>Linux networking milestones by architecture axis, set against the four architecture eras and X.0 releases</a:t>
            </a:r>
          </a:p>
        </p:txBody>
      </p:sp>
      <p:sp>
        <p:nvSpPr>
          <p:cNvPr id="5" name="band:PERFORMANCE"/>
          <p:cNvSpPr/>
          <p:nvPr/>
        </p:nvSpPr>
        <p:spPr>
          <a:xfrm>
            <a:off x="228600" y="1591056"/>
            <a:ext cx="14173200" cy="911351"/>
          </a:xfrm>
          <a:prstGeom prst="roundRect">
            <a:avLst>
              <a:gd name="adj" fmla="val 8000"/>
            </a:avLst>
          </a:prstGeom>
          <a:solidFill>
            <a:srgbClr val="EE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band:PROGRAMMABILITY"/>
          <p:cNvSpPr/>
          <p:nvPr/>
        </p:nvSpPr>
        <p:spPr>
          <a:xfrm>
            <a:off x="228600" y="2557272"/>
            <a:ext cx="14173200" cy="1130046"/>
          </a:xfrm>
          <a:prstGeom prst="roundRect">
            <a:avLst>
              <a:gd name="adj" fmla="val 8000"/>
            </a:avLst>
          </a:prstGeom>
          <a:solidFill>
            <a:srgbClr val="FF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band:MEMORY"/>
          <p:cNvSpPr/>
          <p:nvPr/>
        </p:nvSpPr>
        <p:spPr>
          <a:xfrm>
            <a:off x="228600" y="3742182"/>
            <a:ext cx="14173200" cy="1020699"/>
          </a:xfrm>
          <a:prstGeom prst="roundRect">
            <a:avLst>
              <a:gd name="adj" fmla="val 8000"/>
            </a:avLst>
          </a:prstGeom>
          <a:solidFill>
            <a:srgbClr val="ECF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band:CONTROL PLANE"/>
          <p:cNvSpPr/>
          <p:nvPr/>
        </p:nvSpPr>
        <p:spPr>
          <a:xfrm>
            <a:off x="228600" y="4817745"/>
            <a:ext cx="14173200" cy="692658"/>
          </a:xfrm>
          <a:prstGeom prst="roundRect">
            <a:avLst>
              <a:gd name="adj" fmla="val 8000"/>
            </a:avLst>
          </a:prstGeom>
          <a:solidFill>
            <a:srgbClr val="FE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band:OBSERVABILITY"/>
          <p:cNvSpPr/>
          <p:nvPr/>
        </p:nvSpPr>
        <p:spPr>
          <a:xfrm>
            <a:off x="228600" y="5565267"/>
            <a:ext cx="14173200" cy="583311"/>
          </a:xfrm>
          <a:prstGeom prst="roundRect">
            <a:avLst>
              <a:gd name="adj" fmla="val 8000"/>
            </a:avLst>
          </a:prstGeom>
          <a:solidFill>
            <a:srgbClr val="F3EF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band:DRIVER FRAMEWORK"/>
          <p:cNvSpPr/>
          <p:nvPr/>
        </p:nvSpPr>
        <p:spPr>
          <a:xfrm>
            <a:off x="228600" y="6203442"/>
            <a:ext cx="14173200" cy="1130046"/>
          </a:xfrm>
          <a:prstGeom prst="roundRect">
            <a:avLst>
              <a:gd name="adj" fmla="val 8000"/>
            </a:avLst>
          </a:prstGeom>
          <a:solidFill>
            <a:srgbClr val="FDF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era-label:1"/>
          <p:cNvSpPr txBox="1"/>
          <p:nvPr/>
        </p:nvSpPr>
        <p:spPr>
          <a:xfrm>
            <a:off x="3054096" y="896112"/>
            <a:ext cx="2704337" cy="3474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950" b="1" i="0">
                <a:solidFill>
                  <a:srgbClr val="1F2937"/>
                </a:solidFill>
              </a:rPr>
              <a:t>Era 1  (~2014)</a:t>
            </a:r>
          </a:p>
          <a:p>
            <a:pPr algn="ctr"/>
            <a:r>
              <a:rPr sz="850" b="0" i="0">
                <a:solidFill>
                  <a:srgbClr val="64748B"/>
                </a:solidFill>
              </a:rPr>
              <a:t>Queue &amp; scalability foundation</a:t>
            </a:r>
          </a:p>
        </p:txBody>
      </p:sp>
      <p:sp>
        <p:nvSpPr>
          <p:cNvPr id="12" name="era-shade:2"/>
          <p:cNvSpPr/>
          <p:nvPr/>
        </p:nvSpPr>
        <p:spPr>
          <a:xfrm>
            <a:off x="5795009" y="896112"/>
            <a:ext cx="2777490" cy="6455663"/>
          </a:xfrm>
          <a:prstGeom prst="rect">
            <a:avLst/>
          </a:prstGeom>
          <a:solidFill>
            <a:srgbClr val="334155">
              <a:alpha val="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era-label:2"/>
          <p:cNvSpPr txBox="1"/>
          <p:nvPr/>
        </p:nvSpPr>
        <p:spPr>
          <a:xfrm>
            <a:off x="5831586" y="896112"/>
            <a:ext cx="2704338" cy="3474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950" b="1" i="0">
                <a:solidFill>
                  <a:srgbClr val="1F2937"/>
                </a:solidFill>
              </a:rPr>
              <a:t>Era 2  (2015–2018)</a:t>
            </a:r>
          </a:p>
          <a:p>
            <a:pPr algn="ctr"/>
            <a:r>
              <a:rPr sz="850" b="0" i="0">
                <a:solidFill>
                  <a:srgbClr val="64748B"/>
                </a:solidFill>
              </a:rPr>
              <a:t>Programmable datapath</a:t>
            </a:r>
          </a:p>
        </p:txBody>
      </p:sp>
      <p:sp>
        <p:nvSpPr>
          <p:cNvPr id="14" name="era-label:3"/>
          <p:cNvSpPr txBox="1"/>
          <p:nvPr/>
        </p:nvSpPr>
        <p:spPr>
          <a:xfrm>
            <a:off x="8609076" y="896112"/>
            <a:ext cx="2704337" cy="3474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950" b="1" i="0">
                <a:solidFill>
                  <a:srgbClr val="1F2937"/>
                </a:solidFill>
              </a:rPr>
              <a:t>Era 3  (2019–2022)</a:t>
            </a:r>
          </a:p>
          <a:p>
            <a:pPr algn="ctr"/>
            <a:r>
              <a:rPr sz="850" b="0" i="0">
                <a:solidFill>
                  <a:srgbClr val="64748B"/>
                </a:solidFill>
              </a:rPr>
              <a:t>Programmability becomes infrastructure</a:t>
            </a:r>
          </a:p>
        </p:txBody>
      </p:sp>
      <p:sp>
        <p:nvSpPr>
          <p:cNvPr id="15" name="era-shade:4"/>
          <p:cNvSpPr/>
          <p:nvPr/>
        </p:nvSpPr>
        <p:spPr>
          <a:xfrm>
            <a:off x="11349989" y="896112"/>
            <a:ext cx="2777490" cy="6455663"/>
          </a:xfrm>
          <a:prstGeom prst="rect">
            <a:avLst/>
          </a:prstGeom>
          <a:solidFill>
            <a:srgbClr val="334155">
              <a:alpha val="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era-label:4"/>
          <p:cNvSpPr txBox="1"/>
          <p:nvPr/>
        </p:nvSpPr>
        <p:spPr>
          <a:xfrm>
            <a:off x="11386565" y="896112"/>
            <a:ext cx="2704338" cy="3474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950" b="1" i="0">
                <a:solidFill>
                  <a:srgbClr val="1F2937"/>
                </a:solidFill>
              </a:rPr>
              <a:t>Era 4  (2023~)</a:t>
            </a:r>
          </a:p>
          <a:p>
            <a:pPr algn="ctr"/>
            <a:r>
              <a:rPr sz="850" b="0" i="0">
                <a:solidFill>
                  <a:srgbClr val="64748B"/>
                </a:solidFill>
              </a:rPr>
              <a:t>Explicit resource / control contracts</a:t>
            </a:r>
          </a:p>
        </p:txBody>
      </p:sp>
      <p:cxnSp>
        <p:nvCxnSpPr>
          <p:cNvPr id="17" name="era-boundary:2015"/>
          <p:cNvCxnSpPr/>
          <p:nvPr/>
        </p:nvCxnSpPr>
        <p:spPr>
          <a:xfrm>
            <a:off x="5795009" y="896112"/>
            <a:ext cx="0" cy="6455663"/>
          </a:xfrm>
          <a:prstGeom prst="line">
            <a:avLst/>
          </a:prstGeom>
          <a:ln w="6350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era-boundary:2019"/>
          <p:cNvCxnSpPr/>
          <p:nvPr/>
        </p:nvCxnSpPr>
        <p:spPr>
          <a:xfrm>
            <a:off x="8572500" y="896112"/>
            <a:ext cx="0" cy="6455663"/>
          </a:xfrm>
          <a:prstGeom prst="line">
            <a:avLst/>
          </a:prstGeom>
          <a:ln w="6350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era-boundary:2023"/>
          <p:cNvCxnSpPr/>
          <p:nvPr/>
        </p:nvCxnSpPr>
        <p:spPr>
          <a:xfrm>
            <a:off x="11349989" y="896112"/>
            <a:ext cx="0" cy="6455663"/>
          </a:xfrm>
          <a:prstGeom prst="line">
            <a:avLst/>
          </a:prstGeom>
          <a:ln w="6350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ga-label:3.0"/>
          <p:cNvSpPr txBox="1"/>
          <p:nvPr/>
        </p:nvSpPr>
        <p:spPr>
          <a:xfrm>
            <a:off x="3172939" y="1261872"/>
            <a:ext cx="457200" cy="14630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900" b="1" i="0">
                <a:solidFill>
                  <a:srgbClr val="1F2937"/>
                </a:solidFill>
              </a:rPr>
              <a:t>3.0</a:t>
            </a:r>
          </a:p>
        </p:txBody>
      </p:sp>
      <p:cxnSp>
        <p:nvCxnSpPr>
          <p:cNvPr id="21" name="ga-line:3.0"/>
          <p:cNvCxnSpPr/>
          <p:nvPr/>
        </p:nvCxnSpPr>
        <p:spPr>
          <a:xfrm>
            <a:off x="3401539" y="1417320"/>
            <a:ext cx="0" cy="5934455"/>
          </a:xfrm>
          <a:prstGeom prst="line">
            <a:avLst/>
          </a:prstGeom>
          <a:ln w="9525">
            <a:solidFill>
              <a:srgbClr val="94A3B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ga-label:4.0"/>
          <p:cNvSpPr txBox="1"/>
          <p:nvPr/>
        </p:nvSpPr>
        <p:spPr>
          <a:xfrm>
            <a:off x="5758419" y="1261872"/>
            <a:ext cx="457200" cy="14630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900" b="1" i="0">
                <a:solidFill>
                  <a:srgbClr val="1F2937"/>
                </a:solidFill>
              </a:rPr>
              <a:t>4.0</a:t>
            </a:r>
          </a:p>
        </p:txBody>
      </p:sp>
      <p:cxnSp>
        <p:nvCxnSpPr>
          <p:cNvPr id="23" name="ga-line:4.0"/>
          <p:cNvCxnSpPr/>
          <p:nvPr/>
        </p:nvCxnSpPr>
        <p:spPr>
          <a:xfrm>
            <a:off x="5987019" y="1417320"/>
            <a:ext cx="0" cy="5934455"/>
          </a:xfrm>
          <a:prstGeom prst="line">
            <a:avLst/>
          </a:prstGeom>
          <a:ln w="9525">
            <a:solidFill>
              <a:srgbClr val="94A3B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ga-label:5.0"/>
          <p:cNvSpPr txBox="1"/>
          <p:nvPr/>
        </p:nvSpPr>
        <p:spPr>
          <a:xfrm>
            <a:off x="8459866" y="1261872"/>
            <a:ext cx="457200" cy="14630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900" b="1" i="0">
                <a:solidFill>
                  <a:srgbClr val="1F2937"/>
                </a:solidFill>
              </a:rPr>
              <a:t>5.0</a:t>
            </a:r>
          </a:p>
        </p:txBody>
      </p:sp>
      <p:cxnSp>
        <p:nvCxnSpPr>
          <p:cNvPr id="25" name="ga-line:5.0"/>
          <p:cNvCxnSpPr/>
          <p:nvPr/>
        </p:nvCxnSpPr>
        <p:spPr>
          <a:xfrm>
            <a:off x="8688466" y="1417320"/>
            <a:ext cx="0" cy="5934455"/>
          </a:xfrm>
          <a:prstGeom prst="line">
            <a:avLst/>
          </a:prstGeom>
          <a:ln w="9525">
            <a:solidFill>
              <a:srgbClr val="94A3B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ga-label:6.0"/>
          <p:cNvSpPr txBox="1"/>
          <p:nvPr/>
        </p:nvSpPr>
        <p:spPr>
          <a:xfrm>
            <a:off x="10947915" y="1261872"/>
            <a:ext cx="457200" cy="14630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900" b="1" i="0">
                <a:solidFill>
                  <a:srgbClr val="1F2937"/>
                </a:solidFill>
              </a:rPr>
              <a:t>6.0</a:t>
            </a:r>
          </a:p>
        </p:txBody>
      </p:sp>
      <p:cxnSp>
        <p:nvCxnSpPr>
          <p:cNvPr id="27" name="ga-line:6.0"/>
          <p:cNvCxnSpPr/>
          <p:nvPr/>
        </p:nvCxnSpPr>
        <p:spPr>
          <a:xfrm>
            <a:off x="11176515" y="1417320"/>
            <a:ext cx="0" cy="5934455"/>
          </a:xfrm>
          <a:prstGeom prst="line">
            <a:avLst/>
          </a:prstGeom>
          <a:ln w="9525">
            <a:solidFill>
              <a:srgbClr val="94A3B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ga-label:7.0"/>
          <p:cNvSpPr txBox="1"/>
          <p:nvPr/>
        </p:nvSpPr>
        <p:spPr>
          <a:xfrm>
            <a:off x="13396517" y="1261872"/>
            <a:ext cx="457200" cy="14630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900" b="1" i="0">
                <a:solidFill>
                  <a:srgbClr val="1F2937"/>
                </a:solidFill>
              </a:rPr>
              <a:t>7.0</a:t>
            </a:r>
          </a:p>
        </p:txBody>
      </p:sp>
      <p:cxnSp>
        <p:nvCxnSpPr>
          <p:cNvPr id="29" name="ga-line:7.0"/>
          <p:cNvCxnSpPr/>
          <p:nvPr/>
        </p:nvCxnSpPr>
        <p:spPr>
          <a:xfrm>
            <a:off x="13625117" y="1417320"/>
            <a:ext cx="0" cy="5934455"/>
          </a:xfrm>
          <a:prstGeom prst="line">
            <a:avLst/>
          </a:prstGeom>
          <a:ln w="9525">
            <a:solidFill>
              <a:srgbClr val="94A3B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year:2011"/>
          <p:cNvSpPr txBox="1"/>
          <p:nvPr/>
        </p:nvSpPr>
        <p:spPr>
          <a:xfrm>
            <a:off x="2788920" y="1417320"/>
            <a:ext cx="457200" cy="1371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750" b="0" i="0">
                <a:solidFill>
                  <a:srgbClr val="64748B"/>
                </a:solidFill>
              </a:rPr>
              <a:t>2011</a:t>
            </a:r>
          </a:p>
        </p:txBody>
      </p:sp>
      <p:cxnSp>
        <p:nvCxnSpPr>
          <p:cNvPr id="31" name="year-tick:2011"/>
          <p:cNvCxnSpPr/>
          <p:nvPr/>
        </p:nvCxnSpPr>
        <p:spPr>
          <a:xfrm>
            <a:off x="3017520" y="1545336"/>
            <a:ext cx="0" cy="36576"/>
          </a:xfrm>
          <a:prstGeom prst="line">
            <a:avLst/>
          </a:prstGeom>
          <a:ln w="63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year:2012"/>
          <p:cNvSpPr txBox="1"/>
          <p:nvPr/>
        </p:nvSpPr>
        <p:spPr>
          <a:xfrm>
            <a:off x="3483292" y="1417320"/>
            <a:ext cx="457200" cy="1371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750" b="0" i="0">
                <a:solidFill>
                  <a:srgbClr val="64748B"/>
                </a:solidFill>
              </a:rPr>
              <a:t>2012</a:t>
            </a:r>
          </a:p>
        </p:txBody>
      </p:sp>
      <p:cxnSp>
        <p:nvCxnSpPr>
          <p:cNvPr id="33" name="year-tick:2012"/>
          <p:cNvCxnSpPr/>
          <p:nvPr/>
        </p:nvCxnSpPr>
        <p:spPr>
          <a:xfrm>
            <a:off x="3711892" y="1545336"/>
            <a:ext cx="0" cy="36576"/>
          </a:xfrm>
          <a:prstGeom prst="line">
            <a:avLst/>
          </a:prstGeom>
          <a:ln w="63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year:2013"/>
          <p:cNvSpPr txBox="1"/>
          <p:nvPr/>
        </p:nvSpPr>
        <p:spPr>
          <a:xfrm>
            <a:off x="4177664" y="1417320"/>
            <a:ext cx="457200" cy="1371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750" b="0" i="0">
                <a:solidFill>
                  <a:srgbClr val="64748B"/>
                </a:solidFill>
              </a:rPr>
              <a:t>2013</a:t>
            </a:r>
          </a:p>
        </p:txBody>
      </p:sp>
      <p:cxnSp>
        <p:nvCxnSpPr>
          <p:cNvPr id="35" name="year-tick:2013"/>
          <p:cNvCxnSpPr/>
          <p:nvPr/>
        </p:nvCxnSpPr>
        <p:spPr>
          <a:xfrm>
            <a:off x="4406265" y="1545336"/>
            <a:ext cx="0" cy="36576"/>
          </a:xfrm>
          <a:prstGeom prst="line">
            <a:avLst/>
          </a:prstGeom>
          <a:ln w="63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year:2014"/>
          <p:cNvSpPr txBox="1"/>
          <p:nvPr/>
        </p:nvSpPr>
        <p:spPr>
          <a:xfrm>
            <a:off x="4872037" y="1417320"/>
            <a:ext cx="457200" cy="1371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750" b="0" i="0">
                <a:solidFill>
                  <a:srgbClr val="64748B"/>
                </a:solidFill>
              </a:rPr>
              <a:t>2014</a:t>
            </a:r>
          </a:p>
        </p:txBody>
      </p:sp>
      <p:cxnSp>
        <p:nvCxnSpPr>
          <p:cNvPr id="37" name="year-tick:2014"/>
          <p:cNvCxnSpPr/>
          <p:nvPr/>
        </p:nvCxnSpPr>
        <p:spPr>
          <a:xfrm>
            <a:off x="5100637" y="1545336"/>
            <a:ext cx="0" cy="36576"/>
          </a:xfrm>
          <a:prstGeom prst="line">
            <a:avLst/>
          </a:prstGeom>
          <a:ln w="63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year:2015"/>
          <p:cNvSpPr txBox="1"/>
          <p:nvPr/>
        </p:nvSpPr>
        <p:spPr>
          <a:xfrm>
            <a:off x="5566409" y="1417320"/>
            <a:ext cx="457200" cy="1371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750" b="0" i="0">
                <a:solidFill>
                  <a:srgbClr val="64748B"/>
                </a:solidFill>
              </a:rPr>
              <a:t>2015</a:t>
            </a:r>
          </a:p>
        </p:txBody>
      </p:sp>
      <p:cxnSp>
        <p:nvCxnSpPr>
          <p:cNvPr id="39" name="year-tick:2015"/>
          <p:cNvCxnSpPr/>
          <p:nvPr/>
        </p:nvCxnSpPr>
        <p:spPr>
          <a:xfrm>
            <a:off x="5795009" y="1545336"/>
            <a:ext cx="0" cy="36576"/>
          </a:xfrm>
          <a:prstGeom prst="line">
            <a:avLst/>
          </a:prstGeom>
          <a:ln w="63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year:2016"/>
          <p:cNvSpPr txBox="1"/>
          <p:nvPr/>
        </p:nvSpPr>
        <p:spPr>
          <a:xfrm>
            <a:off x="6260782" y="1417320"/>
            <a:ext cx="457200" cy="1371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750" b="0" i="0">
                <a:solidFill>
                  <a:srgbClr val="64748B"/>
                </a:solidFill>
              </a:rPr>
              <a:t>2016</a:t>
            </a:r>
          </a:p>
        </p:txBody>
      </p:sp>
      <p:cxnSp>
        <p:nvCxnSpPr>
          <p:cNvPr id="41" name="year-tick:2016"/>
          <p:cNvCxnSpPr/>
          <p:nvPr/>
        </p:nvCxnSpPr>
        <p:spPr>
          <a:xfrm>
            <a:off x="6489382" y="1545336"/>
            <a:ext cx="0" cy="36576"/>
          </a:xfrm>
          <a:prstGeom prst="line">
            <a:avLst/>
          </a:prstGeom>
          <a:ln w="63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year:2017"/>
          <p:cNvSpPr txBox="1"/>
          <p:nvPr/>
        </p:nvSpPr>
        <p:spPr>
          <a:xfrm>
            <a:off x="6955154" y="1417320"/>
            <a:ext cx="457200" cy="1371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750" b="0" i="0">
                <a:solidFill>
                  <a:srgbClr val="64748B"/>
                </a:solidFill>
              </a:rPr>
              <a:t>2017</a:t>
            </a:r>
          </a:p>
        </p:txBody>
      </p:sp>
      <p:cxnSp>
        <p:nvCxnSpPr>
          <p:cNvPr id="43" name="year-tick:2017"/>
          <p:cNvCxnSpPr/>
          <p:nvPr/>
        </p:nvCxnSpPr>
        <p:spPr>
          <a:xfrm>
            <a:off x="7183754" y="1545336"/>
            <a:ext cx="0" cy="36576"/>
          </a:xfrm>
          <a:prstGeom prst="line">
            <a:avLst/>
          </a:prstGeom>
          <a:ln w="63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year:2018"/>
          <p:cNvSpPr txBox="1"/>
          <p:nvPr/>
        </p:nvSpPr>
        <p:spPr>
          <a:xfrm>
            <a:off x="7649527" y="1417320"/>
            <a:ext cx="457200" cy="1371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750" b="0" i="0">
                <a:solidFill>
                  <a:srgbClr val="64748B"/>
                </a:solidFill>
              </a:rPr>
              <a:t>2018</a:t>
            </a:r>
          </a:p>
        </p:txBody>
      </p:sp>
      <p:cxnSp>
        <p:nvCxnSpPr>
          <p:cNvPr id="45" name="year-tick:2018"/>
          <p:cNvCxnSpPr/>
          <p:nvPr/>
        </p:nvCxnSpPr>
        <p:spPr>
          <a:xfrm>
            <a:off x="7878127" y="1545336"/>
            <a:ext cx="0" cy="36576"/>
          </a:xfrm>
          <a:prstGeom prst="line">
            <a:avLst/>
          </a:prstGeom>
          <a:ln w="63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year:2019"/>
          <p:cNvSpPr txBox="1"/>
          <p:nvPr/>
        </p:nvSpPr>
        <p:spPr>
          <a:xfrm>
            <a:off x="8343900" y="1417320"/>
            <a:ext cx="457200" cy="1371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750" b="0" i="0">
                <a:solidFill>
                  <a:srgbClr val="64748B"/>
                </a:solidFill>
              </a:rPr>
              <a:t>2019</a:t>
            </a:r>
          </a:p>
        </p:txBody>
      </p:sp>
      <p:cxnSp>
        <p:nvCxnSpPr>
          <p:cNvPr id="47" name="year-tick:2019"/>
          <p:cNvCxnSpPr/>
          <p:nvPr/>
        </p:nvCxnSpPr>
        <p:spPr>
          <a:xfrm>
            <a:off x="8572500" y="1545336"/>
            <a:ext cx="0" cy="36576"/>
          </a:xfrm>
          <a:prstGeom prst="line">
            <a:avLst/>
          </a:prstGeom>
          <a:ln w="63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year:2020"/>
          <p:cNvSpPr txBox="1"/>
          <p:nvPr/>
        </p:nvSpPr>
        <p:spPr>
          <a:xfrm>
            <a:off x="9038272" y="1417320"/>
            <a:ext cx="457200" cy="1371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750" b="0" i="0">
                <a:solidFill>
                  <a:srgbClr val="64748B"/>
                </a:solidFill>
              </a:rPr>
              <a:t>2020</a:t>
            </a:r>
          </a:p>
        </p:txBody>
      </p:sp>
      <p:cxnSp>
        <p:nvCxnSpPr>
          <p:cNvPr id="49" name="year-tick:2020"/>
          <p:cNvCxnSpPr/>
          <p:nvPr/>
        </p:nvCxnSpPr>
        <p:spPr>
          <a:xfrm>
            <a:off x="9266872" y="1545336"/>
            <a:ext cx="0" cy="36576"/>
          </a:xfrm>
          <a:prstGeom prst="line">
            <a:avLst/>
          </a:prstGeom>
          <a:ln w="63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year:2021"/>
          <p:cNvSpPr txBox="1"/>
          <p:nvPr/>
        </p:nvSpPr>
        <p:spPr>
          <a:xfrm>
            <a:off x="9732644" y="1417320"/>
            <a:ext cx="457200" cy="1371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750" b="0" i="0">
                <a:solidFill>
                  <a:srgbClr val="64748B"/>
                </a:solidFill>
              </a:rPr>
              <a:t>2021</a:t>
            </a:r>
          </a:p>
        </p:txBody>
      </p:sp>
      <p:cxnSp>
        <p:nvCxnSpPr>
          <p:cNvPr id="51" name="year-tick:2021"/>
          <p:cNvCxnSpPr/>
          <p:nvPr/>
        </p:nvCxnSpPr>
        <p:spPr>
          <a:xfrm>
            <a:off x="9961244" y="1545336"/>
            <a:ext cx="0" cy="36576"/>
          </a:xfrm>
          <a:prstGeom prst="line">
            <a:avLst/>
          </a:prstGeom>
          <a:ln w="63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year:2022"/>
          <p:cNvSpPr txBox="1"/>
          <p:nvPr/>
        </p:nvSpPr>
        <p:spPr>
          <a:xfrm>
            <a:off x="10427017" y="1417320"/>
            <a:ext cx="457200" cy="1371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750" b="0" i="0">
                <a:solidFill>
                  <a:srgbClr val="64748B"/>
                </a:solidFill>
              </a:rPr>
              <a:t>2022</a:t>
            </a:r>
          </a:p>
        </p:txBody>
      </p:sp>
      <p:cxnSp>
        <p:nvCxnSpPr>
          <p:cNvPr id="53" name="year-tick:2022"/>
          <p:cNvCxnSpPr/>
          <p:nvPr/>
        </p:nvCxnSpPr>
        <p:spPr>
          <a:xfrm>
            <a:off x="10655617" y="1545336"/>
            <a:ext cx="0" cy="36576"/>
          </a:xfrm>
          <a:prstGeom prst="line">
            <a:avLst/>
          </a:prstGeom>
          <a:ln w="63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year:2023"/>
          <p:cNvSpPr txBox="1"/>
          <p:nvPr/>
        </p:nvSpPr>
        <p:spPr>
          <a:xfrm>
            <a:off x="11121389" y="1417320"/>
            <a:ext cx="457200" cy="1371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750" b="0" i="0">
                <a:solidFill>
                  <a:srgbClr val="64748B"/>
                </a:solidFill>
              </a:rPr>
              <a:t>2023</a:t>
            </a:r>
          </a:p>
        </p:txBody>
      </p:sp>
      <p:cxnSp>
        <p:nvCxnSpPr>
          <p:cNvPr id="55" name="year-tick:2023"/>
          <p:cNvCxnSpPr/>
          <p:nvPr/>
        </p:nvCxnSpPr>
        <p:spPr>
          <a:xfrm>
            <a:off x="11349989" y="1545336"/>
            <a:ext cx="0" cy="36576"/>
          </a:xfrm>
          <a:prstGeom prst="line">
            <a:avLst/>
          </a:prstGeom>
          <a:ln w="63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year:2024"/>
          <p:cNvSpPr txBox="1"/>
          <p:nvPr/>
        </p:nvSpPr>
        <p:spPr>
          <a:xfrm>
            <a:off x="11815762" y="1417320"/>
            <a:ext cx="457200" cy="1371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750" b="0" i="0">
                <a:solidFill>
                  <a:srgbClr val="64748B"/>
                </a:solidFill>
              </a:rPr>
              <a:t>2024</a:t>
            </a:r>
          </a:p>
        </p:txBody>
      </p:sp>
      <p:cxnSp>
        <p:nvCxnSpPr>
          <p:cNvPr id="57" name="year-tick:2024"/>
          <p:cNvCxnSpPr/>
          <p:nvPr/>
        </p:nvCxnSpPr>
        <p:spPr>
          <a:xfrm>
            <a:off x="12044362" y="1545336"/>
            <a:ext cx="0" cy="36576"/>
          </a:xfrm>
          <a:prstGeom prst="line">
            <a:avLst/>
          </a:prstGeom>
          <a:ln w="63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year:2025"/>
          <p:cNvSpPr txBox="1"/>
          <p:nvPr/>
        </p:nvSpPr>
        <p:spPr>
          <a:xfrm>
            <a:off x="12510134" y="1417320"/>
            <a:ext cx="457200" cy="1371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750" b="0" i="0">
                <a:solidFill>
                  <a:srgbClr val="64748B"/>
                </a:solidFill>
              </a:rPr>
              <a:t>2025</a:t>
            </a:r>
          </a:p>
        </p:txBody>
      </p:sp>
      <p:cxnSp>
        <p:nvCxnSpPr>
          <p:cNvPr id="59" name="year-tick:2025"/>
          <p:cNvCxnSpPr/>
          <p:nvPr/>
        </p:nvCxnSpPr>
        <p:spPr>
          <a:xfrm>
            <a:off x="12738734" y="1545336"/>
            <a:ext cx="0" cy="36576"/>
          </a:xfrm>
          <a:prstGeom prst="line">
            <a:avLst/>
          </a:prstGeom>
          <a:ln w="63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year:2026"/>
          <p:cNvSpPr txBox="1"/>
          <p:nvPr/>
        </p:nvSpPr>
        <p:spPr>
          <a:xfrm>
            <a:off x="13204507" y="1417320"/>
            <a:ext cx="457200" cy="1371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750" b="0" i="0">
                <a:solidFill>
                  <a:srgbClr val="64748B"/>
                </a:solidFill>
              </a:rPr>
              <a:t>2026</a:t>
            </a:r>
          </a:p>
        </p:txBody>
      </p:sp>
      <p:cxnSp>
        <p:nvCxnSpPr>
          <p:cNvPr id="61" name="year-tick:2026"/>
          <p:cNvCxnSpPr/>
          <p:nvPr/>
        </p:nvCxnSpPr>
        <p:spPr>
          <a:xfrm>
            <a:off x="13433107" y="1545336"/>
            <a:ext cx="0" cy="36576"/>
          </a:xfrm>
          <a:prstGeom prst="line">
            <a:avLst/>
          </a:prstGeom>
          <a:ln w="63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lineage:sch_fq / TCP pacing:trunk"/>
          <p:cNvCxnSpPr/>
          <p:nvPr/>
        </p:nvCxnSpPr>
        <p:spPr>
          <a:xfrm>
            <a:off x="4987998" y="2037778"/>
            <a:ext cx="0" cy="63627"/>
          </a:xfrm>
          <a:prstGeom prst="line">
            <a:avLst/>
          </a:prstGeom>
          <a:ln w="1270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lineage:sch_fq / TCP pacing-&gt;SO_TXTIME / EDT / taprio:across"/>
          <p:cNvCxnSpPr/>
          <p:nvPr/>
        </p:nvCxnSpPr>
        <p:spPr>
          <a:xfrm>
            <a:off x="4987998" y="2101405"/>
            <a:ext cx="2279596" cy="0"/>
          </a:xfrm>
          <a:prstGeom prst="line">
            <a:avLst/>
          </a:prstGeom>
          <a:ln w="12700">
            <a:solidFill>
              <a:srgbClr val="4755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lineage:BIG TCP:trunk"/>
          <p:cNvCxnSpPr/>
          <p:nvPr/>
        </p:nvCxnSpPr>
        <p:spPr>
          <a:xfrm>
            <a:off x="11056747" y="2256472"/>
            <a:ext cx="0" cy="63627"/>
          </a:xfrm>
          <a:prstGeom prst="line">
            <a:avLst/>
          </a:prstGeom>
          <a:ln w="1270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lineage:BIG TCP-&gt;BIG TCP extensions:across"/>
          <p:cNvCxnSpPr/>
          <p:nvPr/>
        </p:nvCxnSpPr>
        <p:spPr>
          <a:xfrm>
            <a:off x="11056747" y="2320099"/>
            <a:ext cx="460444" cy="0"/>
          </a:xfrm>
          <a:prstGeom prst="line">
            <a:avLst/>
          </a:prstGeom>
          <a:ln w="12700">
            <a:solidFill>
              <a:srgbClr val="4755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lineage:eBPF foundation-&gt;TC BPF:junction"/>
          <p:cNvSpPr/>
          <p:nvPr/>
        </p:nvSpPr>
        <p:spPr>
          <a:xfrm>
            <a:off x="5726890" y="2719463"/>
            <a:ext cx="40233" cy="40233"/>
          </a:xfrm>
          <a:prstGeom prst="ellips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67" name="lineage:eBPF foundation-&gt;XDP:across"/>
          <p:cNvCxnSpPr/>
          <p:nvPr/>
        </p:nvCxnSpPr>
        <p:spPr>
          <a:xfrm>
            <a:off x="5747007" y="3067621"/>
            <a:ext cx="770664" cy="0"/>
          </a:xfrm>
          <a:prstGeom prst="line">
            <a:avLst/>
          </a:prstGeom>
          <a:ln w="12700">
            <a:solidFill>
              <a:srgbClr val="4755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lineage:eBPF foundation-&gt;cgroup / LWT BPF:across"/>
          <p:cNvCxnSpPr/>
          <p:nvPr/>
        </p:nvCxnSpPr>
        <p:spPr>
          <a:xfrm>
            <a:off x="5747007" y="3176968"/>
            <a:ext cx="687340" cy="0"/>
          </a:xfrm>
          <a:prstGeom prst="line">
            <a:avLst/>
          </a:prstGeom>
          <a:ln w="12700">
            <a:solidFill>
              <a:srgbClr val="4755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lineage:eBPF foundation:trunk"/>
          <p:cNvCxnSpPr/>
          <p:nvPr/>
        </p:nvCxnSpPr>
        <p:spPr>
          <a:xfrm>
            <a:off x="5747007" y="2675953"/>
            <a:ext cx="0" cy="610362"/>
          </a:xfrm>
          <a:prstGeom prst="line">
            <a:avLst/>
          </a:prstGeom>
          <a:ln w="1270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lineage:eBPF foundation-&gt;SOCK_OPS / SOCKMAP:across"/>
          <p:cNvCxnSpPr/>
          <p:nvPr/>
        </p:nvCxnSpPr>
        <p:spPr>
          <a:xfrm>
            <a:off x="5747007" y="3286315"/>
            <a:ext cx="1034526" cy="0"/>
          </a:xfrm>
          <a:prstGeom prst="line">
            <a:avLst/>
          </a:prstGeom>
          <a:ln w="12700">
            <a:solidFill>
              <a:srgbClr val="4755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lineage:TC BPF:trunk"/>
          <p:cNvCxnSpPr/>
          <p:nvPr/>
        </p:nvCxnSpPr>
        <p:spPr>
          <a:xfrm>
            <a:off x="6120096" y="2785300"/>
            <a:ext cx="0" cy="63627"/>
          </a:xfrm>
          <a:prstGeom prst="line">
            <a:avLst/>
          </a:prstGeom>
          <a:ln w="1270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lineage:TC BPF-&gt;TCX:across"/>
          <p:cNvCxnSpPr/>
          <p:nvPr/>
        </p:nvCxnSpPr>
        <p:spPr>
          <a:xfrm>
            <a:off x="6120096" y="2848927"/>
            <a:ext cx="4897109" cy="0"/>
          </a:xfrm>
          <a:prstGeom prst="line">
            <a:avLst/>
          </a:prstGeom>
          <a:ln w="12700">
            <a:solidFill>
              <a:srgbClr val="4755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lineage:TCX-&gt;netkit"/>
          <p:cNvCxnSpPr/>
          <p:nvPr/>
        </p:nvCxnSpPr>
        <p:spPr>
          <a:xfrm>
            <a:off x="11924118" y="2894647"/>
            <a:ext cx="0" cy="54483"/>
          </a:xfrm>
          <a:prstGeom prst="line">
            <a:avLst/>
          </a:prstGeom>
          <a:ln w="12700">
            <a:solidFill>
              <a:srgbClr val="4755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lineage:BPF struct_ops:trunk"/>
          <p:cNvCxnSpPr/>
          <p:nvPr/>
        </p:nvCxnSpPr>
        <p:spPr>
          <a:xfrm>
            <a:off x="9434168" y="3441382"/>
            <a:ext cx="0" cy="63627"/>
          </a:xfrm>
          <a:prstGeom prst="line">
            <a:avLst/>
          </a:prstGeom>
          <a:ln w="1270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lineage:BPF struct_ops-&gt;BPF qdisc:across"/>
          <p:cNvCxnSpPr/>
          <p:nvPr/>
        </p:nvCxnSpPr>
        <p:spPr>
          <a:xfrm>
            <a:off x="9434168" y="3505009"/>
            <a:ext cx="2832908" cy="0"/>
          </a:xfrm>
          <a:prstGeom prst="line">
            <a:avLst/>
          </a:prstGeom>
          <a:ln w="12700">
            <a:solidFill>
              <a:srgbClr val="4755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lineage:page_pool-&gt;Device Memory TCP RX:across"/>
          <p:cNvCxnSpPr/>
          <p:nvPr/>
        </p:nvCxnSpPr>
        <p:spPr>
          <a:xfrm>
            <a:off x="8302070" y="3924490"/>
            <a:ext cx="3062321" cy="0"/>
          </a:xfrm>
          <a:prstGeom prst="line">
            <a:avLst/>
          </a:prstGeom>
          <a:ln w="12700">
            <a:solidFill>
              <a:srgbClr val="4755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lineage:page_pool:trunk"/>
          <p:cNvCxnSpPr/>
          <p:nvPr/>
        </p:nvCxnSpPr>
        <p:spPr>
          <a:xfrm>
            <a:off x="8302070" y="3860863"/>
            <a:ext cx="0" cy="282321"/>
          </a:xfrm>
          <a:prstGeom prst="line">
            <a:avLst/>
          </a:prstGeom>
          <a:ln w="1270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lineage:page_pool-&gt;io_uring ZCRX:across"/>
          <p:cNvCxnSpPr/>
          <p:nvPr/>
        </p:nvCxnSpPr>
        <p:spPr>
          <a:xfrm>
            <a:off x="8302070" y="4143184"/>
            <a:ext cx="3270633" cy="0"/>
          </a:xfrm>
          <a:prstGeom prst="line">
            <a:avLst/>
          </a:prstGeom>
          <a:ln w="12700">
            <a:solidFill>
              <a:srgbClr val="4755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lineage:Device Memory TCP RX-&gt;Device Memory TCP TX"/>
          <p:cNvCxnSpPr/>
          <p:nvPr/>
        </p:nvCxnSpPr>
        <p:spPr>
          <a:xfrm>
            <a:off x="12654611" y="3970210"/>
            <a:ext cx="0" cy="54483"/>
          </a:xfrm>
          <a:prstGeom prst="line">
            <a:avLst/>
          </a:prstGeom>
          <a:ln w="12700">
            <a:solidFill>
              <a:srgbClr val="4755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lineage:io_uring ZCRX-&gt;large RX buffers (mem. providers)"/>
          <p:cNvCxnSpPr/>
          <p:nvPr/>
        </p:nvCxnSpPr>
        <p:spPr>
          <a:xfrm>
            <a:off x="13012491" y="4188904"/>
            <a:ext cx="0" cy="54483"/>
          </a:xfrm>
          <a:prstGeom prst="line">
            <a:avLst/>
          </a:prstGeom>
          <a:ln w="12700">
            <a:solidFill>
              <a:srgbClr val="4755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lineage:AF_XDP:trunk"/>
          <p:cNvCxnSpPr/>
          <p:nvPr/>
        </p:nvCxnSpPr>
        <p:spPr>
          <a:xfrm>
            <a:off x="8302070" y="4407598"/>
            <a:ext cx="0" cy="172974"/>
          </a:xfrm>
          <a:prstGeom prst="line">
            <a:avLst/>
          </a:prstGeom>
          <a:ln w="1270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lineage:AF_XDP-&gt;AF_XDP multi-buffer:across"/>
          <p:cNvCxnSpPr/>
          <p:nvPr/>
        </p:nvCxnSpPr>
        <p:spPr>
          <a:xfrm>
            <a:off x="8302070" y="4580572"/>
            <a:ext cx="2298512" cy="0"/>
          </a:xfrm>
          <a:prstGeom prst="line">
            <a:avLst/>
          </a:prstGeom>
          <a:ln w="12700">
            <a:solidFill>
              <a:srgbClr val="4755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lineage:XDP multi-buffer-&gt;AF_XDP multi-buffer"/>
          <p:cNvCxnSpPr/>
          <p:nvPr/>
        </p:nvCxnSpPr>
        <p:spPr>
          <a:xfrm>
            <a:off x="10923670" y="4516945"/>
            <a:ext cx="0" cy="54483"/>
          </a:xfrm>
          <a:prstGeom prst="line">
            <a:avLst/>
          </a:prstGeom>
          <a:ln w="12700">
            <a:solidFill>
              <a:srgbClr val="4755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lineage:per-netns RTNL-&gt;further RTNL breakup"/>
          <p:cNvCxnSpPr/>
          <p:nvPr/>
        </p:nvCxnSpPr>
        <p:spPr>
          <a:xfrm>
            <a:off x="12772954" y="5264467"/>
            <a:ext cx="0" cy="54483"/>
          </a:xfrm>
          <a:prstGeom prst="line">
            <a:avLst/>
          </a:prstGeom>
          <a:ln w="12700">
            <a:solidFill>
              <a:srgbClr val="4755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lineage:further RTNL breakup-&gt;RTNL-less FIB rules"/>
          <p:cNvCxnSpPr/>
          <p:nvPr/>
        </p:nvCxnSpPr>
        <p:spPr>
          <a:xfrm>
            <a:off x="13012491" y="5373814"/>
            <a:ext cx="0" cy="54483"/>
          </a:xfrm>
          <a:prstGeom prst="line">
            <a:avLst/>
          </a:prstGeom>
          <a:ln w="12700">
            <a:solidFill>
              <a:srgbClr val="4755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lineage:structured drop reason-&gt;drop-reason expansion"/>
          <p:cNvCxnSpPr/>
          <p:nvPr/>
        </p:nvCxnSpPr>
        <p:spPr>
          <a:xfrm>
            <a:off x="10803902" y="5793295"/>
            <a:ext cx="0" cy="54483"/>
          </a:xfrm>
          <a:prstGeom prst="line">
            <a:avLst/>
          </a:prstGeom>
          <a:ln w="12700">
            <a:solidFill>
              <a:srgbClr val="4755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lineage:switchdev-&gt;devlink"/>
          <p:cNvCxnSpPr/>
          <p:nvPr/>
        </p:nvCxnSpPr>
        <p:spPr>
          <a:xfrm>
            <a:off x="5867251" y="6322123"/>
            <a:ext cx="0" cy="54483"/>
          </a:xfrm>
          <a:prstGeom prst="line">
            <a:avLst/>
          </a:prstGeom>
          <a:ln w="12700">
            <a:solidFill>
              <a:srgbClr val="4755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lineage:devlink:trunk"/>
          <p:cNvCxnSpPr/>
          <p:nvPr/>
        </p:nvCxnSpPr>
        <p:spPr>
          <a:xfrm>
            <a:off x="6746029" y="6431470"/>
            <a:ext cx="0" cy="63627"/>
          </a:xfrm>
          <a:prstGeom prst="line">
            <a:avLst/>
          </a:prstGeom>
          <a:ln w="1270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lineage:devlink-&gt;devlink health:across"/>
          <p:cNvCxnSpPr/>
          <p:nvPr/>
        </p:nvCxnSpPr>
        <p:spPr>
          <a:xfrm>
            <a:off x="6746029" y="6495097"/>
            <a:ext cx="1077063" cy="0"/>
          </a:xfrm>
          <a:prstGeom prst="line">
            <a:avLst/>
          </a:prstGeom>
          <a:ln w="12700">
            <a:solidFill>
              <a:srgbClr val="4755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band-label:PERFORMANCE"/>
          <p:cNvSpPr txBox="1"/>
          <p:nvPr/>
        </p:nvSpPr>
        <p:spPr>
          <a:xfrm>
            <a:off x="384048" y="1591056"/>
            <a:ext cx="1051560" cy="91135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1000" b="1" i="0">
                <a:solidFill>
                  <a:srgbClr val="2563EB"/>
                </a:solidFill>
              </a:rPr>
              <a:t>PERFORMANCE</a:t>
            </a:r>
          </a:p>
        </p:txBody>
      </p:sp>
      <p:sp>
        <p:nvSpPr>
          <p:cNvPr id="91" name="row:DQL / BQL:name"/>
          <p:cNvSpPr txBox="1"/>
          <p:nvPr/>
        </p:nvSpPr>
        <p:spPr>
          <a:xfrm>
            <a:off x="1325880" y="1554289"/>
            <a:ext cx="1572768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DQL / BQL</a:t>
            </a:r>
          </a:p>
        </p:txBody>
      </p:sp>
      <p:cxnSp>
        <p:nvCxnSpPr>
          <p:cNvPr id="92" name="row:DQL / BQL:development"/>
          <p:cNvCxnSpPr/>
          <p:nvPr/>
        </p:nvCxnSpPr>
        <p:spPr>
          <a:xfrm>
            <a:off x="3211944" y="1664017"/>
            <a:ext cx="646332" cy="0"/>
          </a:xfrm>
          <a:prstGeom prst="line">
            <a:avLst/>
          </a:prstGeom>
          <a:ln w="12700">
            <a:solidFill>
              <a:srgbClr val="2563E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row:DQL / BQL:start"/>
          <p:cNvSpPr/>
          <p:nvPr/>
        </p:nvSpPr>
        <p:spPr>
          <a:xfrm>
            <a:off x="3179940" y="1632013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4" name="row:DQL / BQL:release:3.3"/>
          <p:cNvSpPr/>
          <p:nvPr/>
        </p:nvSpPr>
        <p:spPr>
          <a:xfrm>
            <a:off x="3814842" y="1620583"/>
            <a:ext cx="86868" cy="8686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5" name="row:DQL / BQL:label"/>
          <p:cNvSpPr txBox="1"/>
          <p:nvPr/>
        </p:nvSpPr>
        <p:spPr>
          <a:xfrm>
            <a:off x="3931428" y="1554289"/>
            <a:ext cx="731520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3.3</a:t>
            </a:r>
          </a:p>
        </p:txBody>
      </p:sp>
      <p:sp>
        <p:nvSpPr>
          <p:cNvPr id="96" name="row:TSQ:name"/>
          <p:cNvSpPr txBox="1"/>
          <p:nvPr/>
        </p:nvSpPr>
        <p:spPr>
          <a:xfrm>
            <a:off x="1325880" y="1663636"/>
            <a:ext cx="1572768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TSQ</a:t>
            </a:r>
          </a:p>
        </p:txBody>
      </p:sp>
      <p:cxnSp>
        <p:nvCxnSpPr>
          <p:cNvPr id="97" name="row:TSQ:development"/>
          <p:cNvCxnSpPr/>
          <p:nvPr/>
        </p:nvCxnSpPr>
        <p:spPr>
          <a:xfrm>
            <a:off x="3698005" y="1773364"/>
            <a:ext cx="532884" cy="0"/>
          </a:xfrm>
          <a:prstGeom prst="line">
            <a:avLst/>
          </a:prstGeom>
          <a:ln w="12700">
            <a:solidFill>
              <a:srgbClr val="2563E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row:TSQ:start"/>
          <p:cNvSpPr/>
          <p:nvPr/>
        </p:nvSpPr>
        <p:spPr>
          <a:xfrm>
            <a:off x="3666001" y="1741360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9" name="row:TSQ:release:3.6"/>
          <p:cNvSpPr/>
          <p:nvPr/>
        </p:nvSpPr>
        <p:spPr>
          <a:xfrm>
            <a:off x="4187455" y="1729930"/>
            <a:ext cx="86868" cy="8686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0" name="row:TSQ:label"/>
          <p:cNvSpPr txBox="1"/>
          <p:nvPr/>
        </p:nvSpPr>
        <p:spPr>
          <a:xfrm>
            <a:off x="4304041" y="1663636"/>
            <a:ext cx="731520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3.6</a:t>
            </a:r>
          </a:p>
        </p:txBody>
      </p:sp>
      <p:sp>
        <p:nvSpPr>
          <p:cNvPr id="101" name="row:SO_BUSY_POLL:name"/>
          <p:cNvSpPr txBox="1"/>
          <p:nvPr/>
        </p:nvSpPr>
        <p:spPr>
          <a:xfrm>
            <a:off x="1325880" y="1772983"/>
            <a:ext cx="1572768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SO_BUSY_POLL</a:t>
            </a:r>
          </a:p>
        </p:txBody>
      </p:sp>
      <p:cxnSp>
        <p:nvCxnSpPr>
          <p:cNvPr id="102" name="row:SO_BUSY_POLL:development"/>
          <p:cNvCxnSpPr/>
          <p:nvPr/>
        </p:nvCxnSpPr>
        <p:spPr>
          <a:xfrm>
            <a:off x="4392377" y="1882711"/>
            <a:ext cx="477753" cy="0"/>
          </a:xfrm>
          <a:prstGeom prst="line">
            <a:avLst/>
          </a:prstGeom>
          <a:ln w="12700">
            <a:solidFill>
              <a:srgbClr val="2563E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row:SO_BUSY_POLL:start"/>
          <p:cNvSpPr/>
          <p:nvPr/>
        </p:nvSpPr>
        <p:spPr>
          <a:xfrm>
            <a:off x="4360373" y="1850707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" name="row:SO_BUSY_POLL:release:3.11"/>
          <p:cNvSpPr/>
          <p:nvPr/>
        </p:nvSpPr>
        <p:spPr>
          <a:xfrm>
            <a:off x="4826696" y="1839277"/>
            <a:ext cx="86868" cy="8686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" name="row:SO_BUSY_POLL:label"/>
          <p:cNvSpPr txBox="1"/>
          <p:nvPr/>
        </p:nvSpPr>
        <p:spPr>
          <a:xfrm>
            <a:off x="4943282" y="1772983"/>
            <a:ext cx="731520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3.11</a:t>
            </a:r>
          </a:p>
        </p:txBody>
      </p:sp>
      <p:sp>
        <p:nvSpPr>
          <p:cNvPr id="106" name="row:sch_fq / TCP pacing:name"/>
          <p:cNvSpPr txBox="1"/>
          <p:nvPr/>
        </p:nvSpPr>
        <p:spPr>
          <a:xfrm>
            <a:off x="1325880" y="1882330"/>
            <a:ext cx="1572768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sch_fq / TCP pacing</a:t>
            </a:r>
          </a:p>
        </p:txBody>
      </p:sp>
      <p:cxnSp>
        <p:nvCxnSpPr>
          <p:cNvPr id="107" name="row:sch_fq / TCP pacing:development"/>
          <p:cNvCxnSpPr/>
          <p:nvPr/>
        </p:nvCxnSpPr>
        <p:spPr>
          <a:xfrm>
            <a:off x="4253503" y="1992058"/>
            <a:ext cx="734495" cy="0"/>
          </a:xfrm>
          <a:prstGeom prst="line">
            <a:avLst/>
          </a:prstGeom>
          <a:ln w="12700">
            <a:solidFill>
              <a:srgbClr val="2563E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" name="row:sch_fq / TCP pacing:start"/>
          <p:cNvSpPr/>
          <p:nvPr/>
        </p:nvSpPr>
        <p:spPr>
          <a:xfrm>
            <a:off x="4221499" y="1960054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" name="row:sch_fq / TCP pacing:release:3.12"/>
          <p:cNvSpPr/>
          <p:nvPr/>
        </p:nvSpPr>
        <p:spPr>
          <a:xfrm>
            <a:off x="4944564" y="1948624"/>
            <a:ext cx="86868" cy="8686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" name="row:sch_fq / TCP pacing:label"/>
          <p:cNvSpPr txBox="1"/>
          <p:nvPr/>
        </p:nvSpPr>
        <p:spPr>
          <a:xfrm>
            <a:off x="5061150" y="1882330"/>
            <a:ext cx="731520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3.12</a:t>
            </a:r>
          </a:p>
        </p:txBody>
      </p:sp>
      <p:sp>
        <p:nvSpPr>
          <p:cNvPr id="111" name="row:SO_TXTIME / EDT / taprio:name"/>
          <p:cNvSpPr txBox="1"/>
          <p:nvPr/>
        </p:nvSpPr>
        <p:spPr>
          <a:xfrm>
            <a:off x="1325880" y="1991677"/>
            <a:ext cx="1572768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SO_TXTIME / EDT / taprio</a:t>
            </a:r>
          </a:p>
        </p:txBody>
      </p:sp>
      <p:cxnSp>
        <p:nvCxnSpPr>
          <p:cNvPr id="112" name="row:SO_TXTIME / EDT / taprio:development"/>
          <p:cNvCxnSpPr/>
          <p:nvPr/>
        </p:nvCxnSpPr>
        <p:spPr>
          <a:xfrm>
            <a:off x="7308742" y="2101405"/>
            <a:ext cx="1128305" cy="0"/>
          </a:xfrm>
          <a:prstGeom prst="line">
            <a:avLst/>
          </a:prstGeom>
          <a:ln w="12700">
            <a:solidFill>
              <a:srgbClr val="2563E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" name="row:SO_TXTIME / EDT / taprio:start"/>
          <p:cNvSpPr/>
          <p:nvPr/>
        </p:nvSpPr>
        <p:spPr>
          <a:xfrm>
            <a:off x="7276738" y="2069401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14" name="row:SO_TXTIME / EDT / taprio:milestones"/>
          <p:cNvCxnSpPr/>
          <p:nvPr/>
        </p:nvCxnSpPr>
        <p:spPr>
          <a:xfrm>
            <a:off x="8437047" y="2101405"/>
            <a:ext cx="117867" cy="0"/>
          </a:xfrm>
          <a:prstGeom prst="line">
            <a:avLst/>
          </a:prstGeom>
          <a:ln w="1905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row:SO_TXTIME / EDT / taprio:release:4.19"/>
          <p:cNvSpPr/>
          <p:nvPr/>
        </p:nvSpPr>
        <p:spPr>
          <a:xfrm>
            <a:off x="8393613" y="2057971"/>
            <a:ext cx="86868" cy="8686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6" name="row:SO_TXTIME / EDT / taprio:release:4.20"/>
          <p:cNvSpPr/>
          <p:nvPr/>
        </p:nvSpPr>
        <p:spPr>
          <a:xfrm>
            <a:off x="8511480" y="2057971"/>
            <a:ext cx="86868" cy="8686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7" name="row:SO_TXTIME / EDT / taprio:label"/>
          <p:cNvSpPr txBox="1"/>
          <p:nvPr/>
        </p:nvSpPr>
        <p:spPr>
          <a:xfrm>
            <a:off x="8628066" y="1991677"/>
            <a:ext cx="731520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4.19 / 4.20</a:t>
            </a:r>
          </a:p>
        </p:txBody>
      </p:sp>
      <p:sp>
        <p:nvSpPr>
          <p:cNvPr id="118" name="row:BIG TCP:name"/>
          <p:cNvSpPr txBox="1"/>
          <p:nvPr/>
        </p:nvSpPr>
        <p:spPr>
          <a:xfrm>
            <a:off x="1325880" y="2101024"/>
            <a:ext cx="1572768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BIG TCP</a:t>
            </a:r>
          </a:p>
        </p:txBody>
      </p:sp>
      <p:cxnSp>
        <p:nvCxnSpPr>
          <p:cNvPr id="119" name="row:BIG TCP:development"/>
          <p:cNvCxnSpPr/>
          <p:nvPr/>
        </p:nvCxnSpPr>
        <p:spPr>
          <a:xfrm>
            <a:off x="10086232" y="2210752"/>
            <a:ext cx="970515" cy="0"/>
          </a:xfrm>
          <a:prstGeom prst="line">
            <a:avLst/>
          </a:prstGeom>
          <a:ln w="12700">
            <a:solidFill>
              <a:srgbClr val="2563E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0" name="row:BIG TCP:start"/>
          <p:cNvSpPr/>
          <p:nvPr/>
        </p:nvSpPr>
        <p:spPr>
          <a:xfrm>
            <a:off x="10054228" y="2178748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1" name="row:BIG TCP:release:5.19"/>
          <p:cNvSpPr/>
          <p:nvPr/>
        </p:nvSpPr>
        <p:spPr>
          <a:xfrm>
            <a:off x="11013313" y="2167318"/>
            <a:ext cx="86868" cy="8686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2" name="row:BIG TCP:label"/>
          <p:cNvSpPr txBox="1"/>
          <p:nvPr/>
        </p:nvSpPr>
        <p:spPr>
          <a:xfrm>
            <a:off x="11129899" y="2101024"/>
            <a:ext cx="731520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5.19</a:t>
            </a:r>
          </a:p>
        </p:txBody>
      </p:sp>
      <p:sp>
        <p:nvSpPr>
          <p:cNvPr id="123" name="row:BIG TCP extensions:name"/>
          <p:cNvSpPr txBox="1"/>
          <p:nvPr/>
        </p:nvSpPr>
        <p:spPr>
          <a:xfrm>
            <a:off x="1325880" y="2210371"/>
            <a:ext cx="1572768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BIG TCP extensions</a:t>
            </a:r>
          </a:p>
        </p:txBody>
      </p:sp>
      <p:cxnSp>
        <p:nvCxnSpPr>
          <p:cNvPr id="124" name="row:BIG TCP extensions:milestones"/>
          <p:cNvCxnSpPr/>
          <p:nvPr/>
        </p:nvCxnSpPr>
        <p:spPr>
          <a:xfrm>
            <a:off x="11562911" y="2320099"/>
            <a:ext cx="2309347" cy="0"/>
          </a:xfrm>
          <a:prstGeom prst="line">
            <a:avLst/>
          </a:prstGeom>
          <a:ln w="1905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5" name="row:BIG TCP extensions:release:6.3"/>
          <p:cNvSpPr/>
          <p:nvPr/>
        </p:nvSpPr>
        <p:spPr>
          <a:xfrm>
            <a:off x="11519477" y="2276665"/>
            <a:ext cx="86868" cy="8686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6" name="row:BIG TCP extensions:release:7.0"/>
          <p:cNvSpPr/>
          <p:nvPr/>
        </p:nvSpPr>
        <p:spPr>
          <a:xfrm>
            <a:off x="13581683" y="2276665"/>
            <a:ext cx="86868" cy="8686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7" name="row:BIG TCP extensions:release:7.3-rc"/>
          <p:cNvSpPr/>
          <p:nvPr/>
        </p:nvSpPr>
        <p:spPr>
          <a:xfrm>
            <a:off x="13828824" y="2276665"/>
            <a:ext cx="86868" cy="8686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8" name="row:BIG TCP extensions:label"/>
          <p:cNvSpPr txBox="1"/>
          <p:nvPr/>
        </p:nvSpPr>
        <p:spPr>
          <a:xfrm>
            <a:off x="9813163" y="2210371"/>
            <a:ext cx="1188720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/>
            <a:r>
              <a:rPr sz="800" b="1" i="0">
                <a:solidFill>
                  <a:srgbClr val="1F2937"/>
                </a:solidFill>
              </a:rPr>
              <a:t>6.3 · 7.0 · 7.3-rc</a:t>
            </a:r>
          </a:p>
        </p:txBody>
      </p:sp>
      <p:sp>
        <p:nvSpPr>
          <p:cNvPr id="129" name="row:cake_mq:name"/>
          <p:cNvSpPr txBox="1"/>
          <p:nvPr/>
        </p:nvSpPr>
        <p:spPr>
          <a:xfrm>
            <a:off x="1325880" y="2319718"/>
            <a:ext cx="1572768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cake_mq</a:t>
            </a:r>
          </a:p>
        </p:txBody>
      </p:sp>
      <p:cxnSp>
        <p:nvCxnSpPr>
          <p:cNvPr id="130" name="row:cake_mq:development"/>
          <p:cNvCxnSpPr/>
          <p:nvPr/>
        </p:nvCxnSpPr>
        <p:spPr>
          <a:xfrm>
            <a:off x="12724847" y="2429446"/>
            <a:ext cx="900270" cy="0"/>
          </a:xfrm>
          <a:prstGeom prst="line">
            <a:avLst/>
          </a:prstGeom>
          <a:ln w="12700">
            <a:solidFill>
              <a:srgbClr val="2563E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1" name="row:cake_mq:start"/>
          <p:cNvSpPr/>
          <p:nvPr/>
        </p:nvSpPr>
        <p:spPr>
          <a:xfrm>
            <a:off x="12692843" y="2397442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2" name="row:cake_mq:release:7.0"/>
          <p:cNvSpPr/>
          <p:nvPr/>
        </p:nvSpPr>
        <p:spPr>
          <a:xfrm>
            <a:off x="13581683" y="2386012"/>
            <a:ext cx="86868" cy="8686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3" name="row:cake_mq:label"/>
          <p:cNvSpPr txBox="1"/>
          <p:nvPr/>
        </p:nvSpPr>
        <p:spPr>
          <a:xfrm>
            <a:off x="13698269" y="2319718"/>
            <a:ext cx="731520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7.0</a:t>
            </a:r>
          </a:p>
        </p:txBody>
      </p:sp>
      <p:sp>
        <p:nvSpPr>
          <p:cNvPr id="134" name="band-label:PROGRAMMABILITY"/>
          <p:cNvSpPr txBox="1"/>
          <p:nvPr/>
        </p:nvSpPr>
        <p:spPr>
          <a:xfrm>
            <a:off x="384048" y="2557272"/>
            <a:ext cx="1051560" cy="113004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1000" b="1" i="0">
                <a:solidFill>
                  <a:srgbClr val="EA580C"/>
                </a:solidFill>
              </a:rPr>
              <a:t>PROGRAM-
MABILITY</a:t>
            </a:r>
          </a:p>
        </p:txBody>
      </p:sp>
      <p:sp>
        <p:nvSpPr>
          <p:cNvPr id="135" name="row:eBPF foundation:name"/>
          <p:cNvSpPr txBox="1"/>
          <p:nvPr/>
        </p:nvSpPr>
        <p:spPr>
          <a:xfrm>
            <a:off x="1325880" y="2520505"/>
            <a:ext cx="1572768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eBPF foundation</a:t>
            </a:r>
          </a:p>
        </p:txBody>
      </p:sp>
      <p:cxnSp>
        <p:nvCxnSpPr>
          <p:cNvPr id="136" name="row:eBPF foundation:development"/>
          <p:cNvCxnSpPr/>
          <p:nvPr/>
        </p:nvCxnSpPr>
        <p:spPr>
          <a:xfrm>
            <a:off x="4739563" y="2630233"/>
            <a:ext cx="1007444" cy="0"/>
          </a:xfrm>
          <a:prstGeom prst="line">
            <a:avLst/>
          </a:prstGeom>
          <a:ln w="12700">
            <a:solidFill>
              <a:srgbClr val="EA580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7" name="row:eBPF foundation:start"/>
          <p:cNvSpPr/>
          <p:nvPr/>
        </p:nvSpPr>
        <p:spPr>
          <a:xfrm>
            <a:off x="4707559" y="2598229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8" name="row:eBPF foundation:release:3.18"/>
          <p:cNvSpPr/>
          <p:nvPr/>
        </p:nvSpPr>
        <p:spPr>
          <a:xfrm>
            <a:off x="5703573" y="2586799"/>
            <a:ext cx="86868" cy="86868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9" name="row:eBPF foundation:label"/>
          <p:cNvSpPr txBox="1"/>
          <p:nvPr/>
        </p:nvSpPr>
        <p:spPr>
          <a:xfrm>
            <a:off x="5820159" y="2520505"/>
            <a:ext cx="731520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3.18</a:t>
            </a:r>
          </a:p>
        </p:txBody>
      </p:sp>
      <p:sp>
        <p:nvSpPr>
          <p:cNvPr id="140" name="row:TC BPF:name"/>
          <p:cNvSpPr txBox="1"/>
          <p:nvPr/>
        </p:nvSpPr>
        <p:spPr>
          <a:xfrm>
            <a:off x="1325880" y="2629852"/>
            <a:ext cx="1572768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TC BPF</a:t>
            </a:r>
          </a:p>
        </p:txBody>
      </p:sp>
      <p:cxnSp>
        <p:nvCxnSpPr>
          <p:cNvPr id="141" name="row:TC BPF:development"/>
          <p:cNvCxnSpPr/>
          <p:nvPr/>
        </p:nvCxnSpPr>
        <p:spPr>
          <a:xfrm>
            <a:off x="5642248" y="2739580"/>
            <a:ext cx="477848" cy="0"/>
          </a:xfrm>
          <a:prstGeom prst="line">
            <a:avLst/>
          </a:prstGeom>
          <a:ln w="12700">
            <a:solidFill>
              <a:srgbClr val="EA580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2" name="row:TC BPF:start"/>
          <p:cNvSpPr/>
          <p:nvPr/>
        </p:nvSpPr>
        <p:spPr>
          <a:xfrm>
            <a:off x="5610244" y="2707576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3" name="row:TC BPF:release:4.1"/>
          <p:cNvSpPr/>
          <p:nvPr/>
        </p:nvSpPr>
        <p:spPr>
          <a:xfrm>
            <a:off x="6076662" y="2696146"/>
            <a:ext cx="86868" cy="86868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4" name="row:TC BPF:label"/>
          <p:cNvSpPr txBox="1"/>
          <p:nvPr/>
        </p:nvSpPr>
        <p:spPr>
          <a:xfrm>
            <a:off x="6193248" y="2629852"/>
            <a:ext cx="731520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4.1</a:t>
            </a:r>
          </a:p>
        </p:txBody>
      </p:sp>
      <p:sp>
        <p:nvSpPr>
          <p:cNvPr id="145" name="row:TCX:name"/>
          <p:cNvSpPr txBox="1"/>
          <p:nvPr/>
        </p:nvSpPr>
        <p:spPr>
          <a:xfrm>
            <a:off x="1325880" y="2739199"/>
            <a:ext cx="1572768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TCX</a:t>
            </a:r>
          </a:p>
        </p:txBody>
      </p:sp>
      <p:cxnSp>
        <p:nvCxnSpPr>
          <p:cNvPr id="146" name="row:TCX:development"/>
          <p:cNvCxnSpPr/>
          <p:nvPr/>
        </p:nvCxnSpPr>
        <p:spPr>
          <a:xfrm>
            <a:off x="11058353" y="2848927"/>
            <a:ext cx="865765" cy="0"/>
          </a:xfrm>
          <a:prstGeom prst="line">
            <a:avLst/>
          </a:prstGeom>
          <a:ln w="12700">
            <a:solidFill>
              <a:srgbClr val="EA580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7" name="row:TCX:start"/>
          <p:cNvSpPr/>
          <p:nvPr/>
        </p:nvSpPr>
        <p:spPr>
          <a:xfrm>
            <a:off x="11026349" y="2816923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8" name="row:TCX:release:6.6"/>
          <p:cNvSpPr/>
          <p:nvPr/>
        </p:nvSpPr>
        <p:spPr>
          <a:xfrm>
            <a:off x="11880684" y="2805493"/>
            <a:ext cx="86868" cy="86868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9" name="row:TCX:label"/>
          <p:cNvSpPr txBox="1"/>
          <p:nvPr/>
        </p:nvSpPr>
        <p:spPr>
          <a:xfrm>
            <a:off x="11997270" y="2739199"/>
            <a:ext cx="731520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6.6</a:t>
            </a:r>
          </a:p>
        </p:txBody>
      </p:sp>
      <p:sp>
        <p:nvSpPr>
          <p:cNvPr id="150" name="row:netkit:name"/>
          <p:cNvSpPr txBox="1"/>
          <p:nvPr/>
        </p:nvSpPr>
        <p:spPr>
          <a:xfrm>
            <a:off x="1325880" y="2848546"/>
            <a:ext cx="1572768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netkit</a:t>
            </a:r>
          </a:p>
        </p:txBody>
      </p:sp>
      <p:cxnSp>
        <p:nvCxnSpPr>
          <p:cNvPr id="151" name="row:netkit:development"/>
          <p:cNvCxnSpPr/>
          <p:nvPr/>
        </p:nvCxnSpPr>
        <p:spPr>
          <a:xfrm>
            <a:off x="11197228" y="2958274"/>
            <a:ext cx="858541" cy="0"/>
          </a:xfrm>
          <a:prstGeom prst="line">
            <a:avLst/>
          </a:prstGeom>
          <a:ln w="12700">
            <a:solidFill>
              <a:srgbClr val="EA580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2" name="row:netkit:start"/>
          <p:cNvSpPr/>
          <p:nvPr/>
        </p:nvSpPr>
        <p:spPr>
          <a:xfrm>
            <a:off x="11165224" y="2926270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" name="row:netkit:release:6.7"/>
          <p:cNvSpPr/>
          <p:nvPr/>
        </p:nvSpPr>
        <p:spPr>
          <a:xfrm>
            <a:off x="12012335" y="2914840"/>
            <a:ext cx="86868" cy="86868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4" name="row:netkit:label"/>
          <p:cNvSpPr txBox="1"/>
          <p:nvPr/>
        </p:nvSpPr>
        <p:spPr>
          <a:xfrm>
            <a:off x="12128921" y="2848546"/>
            <a:ext cx="731520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6.7</a:t>
            </a:r>
          </a:p>
        </p:txBody>
      </p:sp>
      <p:sp>
        <p:nvSpPr>
          <p:cNvPr id="155" name="row:XDP:name"/>
          <p:cNvSpPr txBox="1"/>
          <p:nvPr/>
        </p:nvSpPr>
        <p:spPr>
          <a:xfrm>
            <a:off x="1325880" y="2957893"/>
            <a:ext cx="1572768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XDP</a:t>
            </a:r>
          </a:p>
        </p:txBody>
      </p:sp>
      <p:cxnSp>
        <p:nvCxnSpPr>
          <p:cNvPr id="156" name="row:XDP:development"/>
          <p:cNvCxnSpPr/>
          <p:nvPr/>
        </p:nvCxnSpPr>
        <p:spPr>
          <a:xfrm>
            <a:off x="6558819" y="3067621"/>
            <a:ext cx="453362" cy="0"/>
          </a:xfrm>
          <a:prstGeom prst="line">
            <a:avLst/>
          </a:prstGeom>
          <a:ln w="12700">
            <a:solidFill>
              <a:srgbClr val="EA580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7" name="row:XDP:start"/>
          <p:cNvSpPr/>
          <p:nvPr/>
        </p:nvSpPr>
        <p:spPr>
          <a:xfrm>
            <a:off x="6526815" y="3035617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8" name="row:XDP:release:4.8"/>
          <p:cNvSpPr/>
          <p:nvPr/>
        </p:nvSpPr>
        <p:spPr>
          <a:xfrm>
            <a:off x="6968747" y="3024187"/>
            <a:ext cx="86868" cy="86868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9" name="row:XDP:label"/>
          <p:cNvSpPr txBox="1"/>
          <p:nvPr/>
        </p:nvSpPr>
        <p:spPr>
          <a:xfrm>
            <a:off x="7085333" y="2957893"/>
            <a:ext cx="731520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4.8</a:t>
            </a:r>
          </a:p>
        </p:txBody>
      </p:sp>
      <p:sp>
        <p:nvSpPr>
          <p:cNvPr id="160" name="row:cgroup / LWT BPF:name"/>
          <p:cNvSpPr txBox="1"/>
          <p:nvPr/>
        </p:nvSpPr>
        <p:spPr>
          <a:xfrm>
            <a:off x="1325880" y="3067240"/>
            <a:ext cx="1572768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cgroup / LWT BPF</a:t>
            </a:r>
          </a:p>
        </p:txBody>
      </p:sp>
      <p:cxnSp>
        <p:nvCxnSpPr>
          <p:cNvPr id="161" name="row:cgroup / LWT BPF:development"/>
          <p:cNvCxnSpPr/>
          <p:nvPr/>
        </p:nvCxnSpPr>
        <p:spPr>
          <a:xfrm>
            <a:off x="6475495" y="3176968"/>
            <a:ext cx="801413" cy="0"/>
          </a:xfrm>
          <a:prstGeom prst="line">
            <a:avLst/>
          </a:prstGeom>
          <a:ln w="12700">
            <a:solidFill>
              <a:srgbClr val="EA580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2" name="row:cgroup / LWT BPF:start"/>
          <p:cNvSpPr/>
          <p:nvPr/>
        </p:nvSpPr>
        <p:spPr>
          <a:xfrm>
            <a:off x="6443491" y="3144964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3" name="row:cgroup / LWT BPF:release:4.10"/>
          <p:cNvSpPr/>
          <p:nvPr/>
        </p:nvSpPr>
        <p:spPr>
          <a:xfrm>
            <a:off x="7233474" y="3133534"/>
            <a:ext cx="86868" cy="86868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4" name="row:cgroup / LWT BPF:label"/>
          <p:cNvSpPr txBox="1"/>
          <p:nvPr/>
        </p:nvSpPr>
        <p:spPr>
          <a:xfrm>
            <a:off x="7350060" y="3067240"/>
            <a:ext cx="731520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4.10</a:t>
            </a:r>
          </a:p>
        </p:txBody>
      </p:sp>
      <p:sp>
        <p:nvSpPr>
          <p:cNvPr id="165" name="row:SOCK_OPS / SOCKMAP:name"/>
          <p:cNvSpPr txBox="1"/>
          <p:nvPr/>
        </p:nvSpPr>
        <p:spPr>
          <a:xfrm>
            <a:off x="1325880" y="3176587"/>
            <a:ext cx="1572768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SOCK_OPS / SOCKMAP</a:t>
            </a:r>
          </a:p>
        </p:txBody>
      </p:sp>
      <p:cxnSp>
        <p:nvCxnSpPr>
          <p:cNvPr id="166" name="row:SOCK_OPS / SOCKMAP:development"/>
          <p:cNvCxnSpPr/>
          <p:nvPr/>
        </p:nvCxnSpPr>
        <p:spPr>
          <a:xfrm>
            <a:off x="6822681" y="3286315"/>
            <a:ext cx="826840" cy="0"/>
          </a:xfrm>
          <a:prstGeom prst="line">
            <a:avLst/>
          </a:prstGeom>
          <a:ln w="12700">
            <a:solidFill>
              <a:srgbClr val="EA580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7" name="row:SOCK_OPS / SOCKMAP:start"/>
          <p:cNvSpPr/>
          <p:nvPr/>
        </p:nvSpPr>
        <p:spPr>
          <a:xfrm>
            <a:off x="6790677" y="3254311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68" name="row:SOCK_OPS / SOCKMAP:milestones"/>
          <p:cNvCxnSpPr/>
          <p:nvPr/>
        </p:nvCxnSpPr>
        <p:spPr>
          <a:xfrm>
            <a:off x="7649521" y="3286315"/>
            <a:ext cx="133076" cy="0"/>
          </a:xfrm>
          <a:prstGeom prst="line">
            <a:avLst/>
          </a:prstGeom>
          <a:ln w="19050">
            <a:solidFill>
              <a:srgbClr val="EA580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9" name="row:SOCK_OPS / SOCKMAP:release:4.13"/>
          <p:cNvSpPr/>
          <p:nvPr/>
        </p:nvSpPr>
        <p:spPr>
          <a:xfrm>
            <a:off x="7606087" y="3242881"/>
            <a:ext cx="86868" cy="86868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0" name="row:SOCK_OPS / SOCKMAP:release:4.14"/>
          <p:cNvSpPr/>
          <p:nvPr/>
        </p:nvSpPr>
        <p:spPr>
          <a:xfrm>
            <a:off x="7739163" y="3242881"/>
            <a:ext cx="86868" cy="86868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1" name="row:SOCK_OPS / SOCKMAP:label"/>
          <p:cNvSpPr txBox="1"/>
          <p:nvPr/>
        </p:nvSpPr>
        <p:spPr>
          <a:xfrm>
            <a:off x="7855749" y="3176587"/>
            <a:ext cx="731520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4.13 / 4.14</a:t>
            </a:r>
          </a:p>
        </p:txBody>
      </p:sp>
      <p:sp>
        <p:nvSpPr>
          <p:cNvPr id="172" name="row:BPF struct_ops:name"/>
          <p:cNvSpPr txBox="1"/>
          <p:nvPr/>
        </p:nvSpPr>
        <p:spPr>
          <a:xfrm>
            <a:off x="1325880" y="3285934"/>
            <a:ext cx="1572768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BPF struct_ops</a:t>
            </a:r>
          </a:p>
        </p:txBody>
      </p:sp>
      <p:cxnSp>
        <p:nvCxnSpPr>
          <p:cNvPr id="173" name="row:BPF struct_ops:development"/>
          <p:cNvCxnSpPr/>
          <p:nvPr/>
        </p:nvCxnSpPr>
        <p:spPr>
          <a:xfrm>
            <a:off x="8419738" y="3395662"/>
            <a:ext cx="1014430" cy="0"/>
          </a:xfrm>
          <a:prstGeom prst="line">
            <a:avLst/>
          </a:prstGeom>
          <a:ln w="12700">
            <a:solidFill>
              <a:srgbClr val="EA580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" name="row:BPF struct_ops:start"/>
          <p:cNvSpPr/>
          <p:nvPr/>
        </p:nvSpPr>
        <p:spPr>
          <a:xfrm>
            <a:off x="8387734" y="3363658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5" name="row:BPF struct_ops:release:5.6"/>
          <p:cNvSpPr/>
          <p:nvPr/>
        </p:nvSpPr>
        <p:spPr>
          <a:xfrm>
            <a:off x="9390734" y="3352228"/>
            <a:ext cx="86868" cy="86868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6" name="row:BPF struct_ops:label"/>
          <p:cNvSpPr txBox="1"/>
          <p:nvPr/>
        </p:nvSpPr>
        <p:spPr>
          <a:xfrm>
            <a:off x="9507320" y="3285934"/>
            <a:ext cx="731520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5.6</a:t>
            </a:r>
          </a:p>
        </p:txBody>
      </p:sp>
      <p:sp>
        <p:nvSpPr>
          <p:cNvPr id="177" name="row:BPF qdisc:name"/>
          <p:cNvSpPr txBox="1"/>
          <p:nvPr/>
        </p:nvSpPr>
        <p:spPr>
          <a:xfrm>
            <a:off x="1325880" y="3395281"/>
            <a:ext cx="1572768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BPF qdisc</a:t>
            </a:r>
          </a:p>
        </p:txBody>
      </p:sp>
      <p:cxnSp>
        <p:nvCxnSpPr>
          <p:cNvPr id="178" name="row:BPF qdisc:development"/>
          <p:cNvCxnSpPr/>
          <p:nvPr/>
        </p:nvCxnSpPr>
        <p:spPr>
          <a:xfrm>
            <a:off x="12308224" y="3505009"/>
            <a:ext cx="824036" cy="0"/>
          </a:xfrm>
          <a:prstGeom prst="line">
            <a:avLst/>
          </a:prstGeom>
          <a:ln w="12700">
            <a:solidFill>
              <a:srgbClr val="EA580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9" name="row:BPF qdisc:start"/>
          <p:cNvSpPr/>
          <p:nvPr/>
        </p:nvSpPr>
        <p:spPr>
          <a:xfrm>
            <a:off x="12276220" y="3473005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0" name="row:BPF qdisc:release:6.16"/>
          <p:cNvSpPr/>
          <p:nvPr/>
        </p:nvSpPr>
        <p:spPr>
          <a:xfrm>
            <a:off x="13088826" y="3461575"/>
            <a:ext cx="86868" cy="86868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1" name="row:BPF qdisc:label"/>
          <p:cNvSpPr txBox="1"/>
          <p:nvPr/>
        </p:nvSpPr>
        <p:spPr>
          <a:xfrm>
            <a:off x="13205412" y="3395281"/>
            <a:ext cx="731520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6.16</a:t>
            </a:r>
          </a:p>
        </p:txBody>
      </p:sp>
      <p:sp>
        <p:nvSpPr>
          <p:cNvPr id="182" name="row:SK_LOOKUP:name"/>
          <p:cNvSpPr txBox="1"/>
          <p:nvPr/>
        </p:nvSpPr>
        <p:spPr>
          <a:xfrm>
            <a:off x="1325880" y="3504628"/>
            <a:ext cx="1572768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SK_LOOKUP</a:t>
            </a:r>
          </a:p>
        </p:txBody>
      </p:sp>
      <p:cxnSp>
        <p:nvCxnSpPr>
          <p:cNvPr id="183" name="row:SK_LOOKUP:development"/>
          <p:cNvCxnSpPr/>
          <p:nvPr/>
        </p:nvCxnSpPr>
        <p:spPr>
          <a:xfrm>
            <a:off x="8905798" y="3614356"/>
            <a:ext cx="900983" cy="0"/>
          </a:xfrm>
          <a:prstGeom prst="line">
            <a:avLst/>
          </a:prstGeom>
          <a:ln w="12700">
            <a:solidFill>
              <a:srgbClr val="EA580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4" name="row:SK_LOOKUP:start"/>
          <p:cNvSpPr/>
          <p:nvPr/>
        </p:nvSpPr>
        <p:spPr>
          <a:xfrm>
            <a:off x="8873794" y="3582352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5" name="row:SK_LOOKUP:release:5.9"/>
          <p:cNvSpPr/>
          <p:nvPr/>
        </p:nvSpPr>
        <p:spPr>
          <a:xfrm>
            <a:off x="9763347" y="3570922"/>
            <a:ext cx="86868" cy="86868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6" name="row:SK_LOOKUP:label"/>
          <p:cNvSpPr txBox="1"/>
          <p:nvPr/>
        </p:nvSpPr>
        <p:spPr>
          <a:xfrm>
            <a:off x="9879933" y="3504628"/>
            <a:ext cx="731520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5.9</a:t>
            </a:r>
          </a:p>
        </p:txBody>
      </p:sp>
      <p:sp>
        <p:nvSpPr>
          <p:cNvPr id="187" name="band-label:MEMORY"/>
          <p:cNvSpPr txBox="1"/>
          <p:nvPr/>
        </p:nvSpPr>
        <p:spPr>
          <a:xfrm>
            <a:off x="384048" y="3742182"/>
            <a:ext cx="1051560" cy="1020699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1000" b="1" i="0">
                <a:solidFill>
                  <a:srgbClr val="16A34A"/>
                </a:solidFill>
              </a:rPr>
              <a:t>MEMORY</a:t>
            </a:r>
          </a:p>
        </p:txBody>
      </p:sp>
      <p:sp>
        <p:nvSpPr>
          <p:cNvPr id="188" name="row:page_pool:name"/>
          <p:cNvSpPr txBox="1"/>
          <p:nvPr/>
        </p:nvSpPr>
        <p:spPr>
          <a:xfrm>
            <a:off x="1325880" y="3705415"/>
            <a:ext cx="1572768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page_pool</a:t>
            </a:r>
          </a:p>
        </p:txBody>
      </p:sp>
      <p:cxnSp>
        <p:nvCxnSpPr>
          <p:cNvPr id="189" name="row:page_pool:development"/>
          <p:cNvCxnSpPr/>
          <p:nvPr/>
        </p:nvCxnSpPr>
        <p:spPr>
          <a:xfrm>
            <a:off x="6614369" y="3815143"/>
            <a:ext cx="1687701" cy="0"/>
          </a:xfrm>
          <a:prstGeom prst="line">
            <a:avLst/>
          </a:prstGeom>
          <a:ln w="12700">
            <a:solidFill>
              <a:srgbClr val="16A34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0" name="row:page_pool:start"/>
          <p:cNvSpPr/>
          <p:nvPr/>
        </p:nvSpPr>
        <p:spPr>
          <a:xfrm>
            <a:off x="6582365" y="3783139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1" name="row:page_pool:release:4.18"/>
          <p:cNvSpPr/>
          <p:nvPr/>
        </p:nvSpPr>
        <p:spPr>
          <a:xfrm>
            <a:off x="8258636" y="3771709"/>
            <a:ext cx="86868" cy="86868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2" name="row:page_pool:label"/>
          <p:cNvSpPr txBox="1"/>
          <p:nvPr/>
        </p:nvSpPr>
        <p:spPr>
          <a:xfrm>
            <a:off x="8375222" y="3705415"/>
            <a:ext cx="731520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4.18</a:t>
            </a:r>
          </a:p>
        </p:txBody>
      </p:sp>
      <p:sp>
        <p:nvSpPr>
          <p:cNvPr id="193" name="row:Device Memory TCP RX:name"/>
          <p:cNvSpPr txBox="1"/>
          <p:nvPr/>
        </p:nvSpPr>
        <p:spPr>
          <a:xfrm>
            <a:off x="1325880" y="3814762"/>
            <a:ext cx="1572768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Device Memory TCP RX</a:t>
            </a:r>
          </a:p>
        </p:txBody>
      </p:sp>
      <p:cxnSp>
        <p:nvCxnSpPr>
          <p:cNvPr id="194" name="row:Device Memory TCP RX:development"/>
          <p:cNvCxnSpPr/>
          <p:nvPr/>
        </p:nvCxnSpPr>
        <p:spPr>
          <a:xfrm>
            <a:off x="11405539" y="3924490"/>
            <a:ext cx="1249072" cy="0"/>
          </a:xfrm>
          <a:prstGeom prst="line">
            <a:avLst/>
          </a:prstGeom>
          <a:ln w="12700">
            <a:solidFill>
              <a:srgbClr val="16A34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5" name="row:Device Memory TCP RX:start"/>
          <p:cNvSpPr/>
          <p:nvPr/>
        </p:nvSpPr>
        <p:spPr>
          <a:xfrm>
            <a:off x="11373535" y="3892486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6" name="row:Device Memory TCP RX:release:6.12"/>
          <p:cNvSpPr/>
          <p:nvPr/>
        </p:nvSpPr>
        <p:spPr>
          <a:xfrm>
            <a:off x="12611177" y="3881056"/>
            <a:ext cx="86868" cy="86868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7" name="row:Device Memory TCP RX:label"/>
          <p:cNvSpPr txBox="1"/>
          <p:nvPr/>
        </p:nvSpPr>
        <p:spPr>
          <a:xfrm>
            <a:off x="12727763" y="3814762"/>
            <a:ext cx="731520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6.12</a:t>
            </a:r>
          </a:p>
        </p:txBody>
      </p:sp>
      <p:sp>
        <p:nvSpPr>
          <p:cNvPr id="198" name="row:Device Memory TCP TX:name"/>
          <p:cNvSpPr txBox="1"/>
          <p:nvPr/>
        </p:nvSpPr>
        <p:spPr>
          <a:xfrm>
            <a:off x="1325880" y="3924109"/>
            <a:ext cx="1572768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Device Memory TCP TX</a:t>
            </a:r>
          </a:p>
        </p:txBody>
      </p:sp>
      <p:cxnSp>
        <p:nvCxnSpPr>
          <p:cNvPr id="199" name="row:Device Memory TCP TX:development"/>
          <p:cNvCxnSpPr/>
          <p:nvPr/>
        </p:nvCxnSpPr>
        <p:spPr>
          <a:xfrm>
            <a:off x="12030475" y="4033837"/>
            <a:ext cx="1101785" cy="0"/>
          </a:xfrm>
          <a:prstGeom prst="line">
            <a:avLst/>
          </a:prstGeom>
          <a:ln w="12700">
            <a:solidFill>
              <a:srgbClr val="16A34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0" name="row:Device Memory TCP TX:start"/>
          <p:cNvSpPr/>
          <p:nvPr/>
        </p:nvSpPr>
        <p:spPr>
          <a:xfrm>
            <a:off x="11998471" y="4001833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1" name="row:Device Memory TCP TX:release:6.16"/>
          <p:cNvSpPr/>
          <p:nvPr/>
        </p:nvSpPr>
        <p:spPr>
          <a:xfrm>
            <a:off x="13088826" y="3990403"/>
            <a:ext cx="86868" cy="86868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2" name="row:Device Memory TCP TX:label"/>
          <p:cNvSpPr txBox="1"/>
          <p:nvPr/>
        </p:nvSpPr>
        <p:spPr>
          <a:xfrm>
            <a:off x="13205412" y="3924109"/>
            <a:ext cx="731520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6.16</a:t>
            </a:r>
          </a:p>
        </p:txBody>
      </p:sp>
      <p:sp>
        <p:nvSpPr>
          <p:cNvPr id="203" name="row:io_uring ZCRX:name"/>
          <p:cNvSpPr txBox="1"/>
          <p:nvPr/>
        </p:nvSpPr>
        <p:spPr>
          <a:xfrm>
            <a:off x="1325880" y="4033456"/>
            <a:ext cx="1572768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io_uring ZCRX</a:t>
            </a:r>
          </a:p>
        </p:txBody>
      </p:sp>
      <p:cxnSp>
        <p:nvCxnSpPr>
          <p:cNvPr id="204" name="row:io_uring ZCRX:development"/>
          <p:cNvCxnSpPr/>
          <p:nvPr/>
        </p:nvCxnSpPr>
        <p:spPr>
          <a:xfrm>
            <a:off x="11613851" y="4143184"/>
            <a:ext cx="1398640" cy="0"/>
          </a:xfrm>
          <a:prstGeom prst="line">
            <a:avLst/>
          </a:prstGeom>
          <a:ln w="12700">
            <a:solidFill>
              <a:srgbClr val="16A34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5" name="row:io_uring ZCRX:start"/>
          <p:cNvSpPr/>
          <p:nvPr/>
        </p:nvSpPr>
        <p:spPr>
          <a:xfrm>
            <a:off x="11581847" y="4111180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6" name="row:io_uring ZCRX:release:6.15"/>
          <p:cNvSpPr/>
          <p:nvPr/>
        </p:nvSpPr>
        <p:spPr>
          <a:xfrm>
            <a:off x="12969057" y="4099750"/>
            <a:ext cx="86868" cy="86868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7" name="row:io_uring ZCRX:label"/>
          <p:cNvSpPr txBox="1"/>
          <p:nvPr/>
        </p:nvSpPr>
        <p:spPr>
          <a:xfrm>
            <a:off x="13085643" y="4033456"/>
            <a:ext cx="731520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6.15</a:t>
            </a:r>
          </a:p>
        </p:txBody>
      </p:sp>
      <p:sp>
        <p:nvSpPr>
          <p:cNvPr id="208" name="row:large RX buffers (mem. providers):name"/>
          <p:cNvSpPr txBox="1"/>
          <p:nvPr/>
        </p:nvSpPr>
        <p:spPr>
          <a:xfrm>
            <a:off x="1325880" y="4142803"/>
            <a:ext cx="1572768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large RX buffers (mem. providers)</a:t>
            </a:r>
          </a:p>
        </p:txBody>
      </p:sp>
      <p:cxnSp>
        <p:nvCxnSpPr>
          <p:cNvPr id="209" name="row:large RX buffers (mem. providers):development"/>
          <p:cNvCxnSpPr/>
          <p:nvPr/>
        </p:nvCxnSpPr>
        <p:spPr>
          <a:xfrm>
            <a:off x="12724847" y="4252531"/>
            <a:ext cx="900270" cy="0"/>
          </a:xfrm>
          <a:prstGeom prst="line">
            <a:avLst/>
          </a:prstGeom>
          <a:ln w="12700">
            <a:solidFill>
              <a:srgbClr val="16A34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0" name="row:large RX buffers (mem. providers):start"/>
          <p:cNvSpPr/>
          <p:nvPr/>
        </p:nvSpPr>
        <p:spPr>
          <a:xfrm>
            <a:off x="12692843" y="4220527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1" name="row:large RX buffers (mem. providers):release:7.0"/>
          <p:cNvSpPr/>
          <p:nvPr/>
        </p:nvSpPr>
        <p:spPr>
          <a:xfrm>
            <a:off x="13581683" y="4209097"/>
            <a:ext cx="86868" cy="86868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2" name="row:large RX buffers (mem. providers):label"/>
          <p:cNvSpPr txBox="1"/>
          <p:nvPr/>
        </p:nvSpPr>
        <p:spPr>
          <a:xfrm>
            <a:off x="13698269" y="4142803"/>
            <a:ext cx="731520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7.0</a:t>
            </a:r>
          </a:p>
        </p:txBody>
      </p:sp>
      <p:sp>
        <p:nvSpPr>
          <p:cNvPr id="213" name="row:AF_XDP:name"/>
          <p:cNvSpPr txBox="1"/>
          <p:nvPr/>
        </p:nvSpPr>
        <p:spPr>
          <a:xfrm>
            <a:off x="1325880" y="4252150"/>
            <a:ext cx="1572768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AF_XDP</a:t>
            </a:r>
          </a:p>
        </p:txBody>
      </p:sp>
      <p:cxnSp>
        <p:nvCxnSpPr>
          <p:cNvPr id="214" name="row:AF_XDP:development"/>
          <p:cNvCxnSpPr/>
          <p:nvPr/>
        </p:nvCxnSpPr>
        <p:spPr>
          <a:xfrm>
            <a:off x="7169867" y="4361878"/>
            <a:ext cx="1132203" cy="0"/>
          </a:xfrm>
          <a:prstGeom prst="line">
            <a:avLst/>
          </a:prstGeom>
          <a:ln w="12700">
            <a:solidFill>
              <a:srgbClr val="16A34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5" name="row:AF_XDP:start"/>
          <p:cNvSpPr/>
          <p:nvPr/>
        </p:nvSpPr>
        <p:spPr>
          <a:xfrm>
            <a:off x="7137863" y="4329874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6" name="row:AF_XDP:release:4.18"/>
          <p:cNvSpPr/>
          <p:nvPr/>
        </p:nvSpPr>
        <p:spPr>
          <a:xfrm>
            <a:off x="8258636" y="4318444"/>
            <a:ext cx="86868" cy="86868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7" name="row:AF_XDP:label"/>
          <p:cNvSpPr txBox="1"/>
          <p:nvPr/>
        </p:nvSpPr>
        <p:spPr>
          <a:xfrm>
            <a:off x="8375222" y="4252150"/>
            <a:ext cx="731520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4.18</a:t>
            </a:r>
          </a:p>
        </p:txBody>
      </p:sp>
      <p:sp>
        <p:nvSpPr>
          <p:cNvPr id="218" name="row:XDP multi-buffer:name"/>
          <p:cNvSpPr txBox="1"/>
          <p:nvPr/>
        </p:nvSpPr>
        <p:spPr>
          <a:xfrm>
            <a:off x="1325880" y="4361497"/>
            <a:ext cx="1572768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XDP multi-buffer</a:t>
            </a:r>
          </a:p>
        </p:txBody>
      </p:sp>
      <p:cxnSp>
        <p:nvCxnSpPr>
          <p:cNvPr id="219" name="row:XDP multi-buffer:development"/>
          <p:cNvCxnSpPr/>
          <p:nvPr/>
        </p:nvCxnSpPr>
        <p:spPr>
          <a:xfrm>
            <a:off x="9947357" y="4471225"/>
            <a:ext cx="976313" cy="0"/>
          </a:xfrm>
          <a:prstGeom prst="line">
            <a:avLst/>
          </a:prstGeom>
          <a:ln w="12700">
            <a:solidFill>
              <a:srgbClr val="16A34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0" name="row:XDP multi-buffer:start"/>
          <p:cNvSpPr/>
          <p:nvPr/>
        </p:nvSpPr>
        <p:spPr>
          <a:xfrm>
            <a:off x="9915353" y="4439221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1" name="row:XDP multi-buffer:release:5.18"/>
          <p:cNvSpPr/>
          <p:nvPr/>
        </p:nvSpPr>
        <p:spPr>
          <a:xfrm>
            <a:off x="10880236" y="4427791"/>
            <a:ext cx="86868" cy="86868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2" name="row:XDP multi-buffer:label"/>
          <p:cNvSpPr txBox="1"/>
          <p:nvPr/>
        </p:nvSpPr>
        <p:spPr>
          <a:xfrm>
            <a:off x="10996822" y="4361497"/>
            <a:ext cx="731520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5.18</a:t>
            </a:r>
          </a:p>
        </p:txBody>
      </p:sp>
      <p:sp>
        <p:nvSpPr>
          <p:cNvPr id="223" name="row:AF_XDP multi-buffer:name"/>
          <p:cNvSpPr txBox="1"/>
          <p:nvPr/>
        </p:nvSpPr>
        <p:spPr>
          <a:xfrm>
            <a:off x="1325880" y="4470844"/>
            <a:ext cx="1572768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AF_XDP multi-buffer</a:t>
            </a:r>
          </a:p>
        </p:txBody>
      </p:sp>
      <p:cxnSp>
        <p:nvCxnSpPr>
          <p:cNvPr id="224" name="row:AF_XDP multi-buffer:development"/>
          <p:cNvCxnSpPr/>
          <p:nvPr/>
        </p:nvCxnSpPr>
        <p:spPr>
          <a:xfrm>
            <a:off x="10641730" y="4580572"/>
            <a:ext cx="1282388" cy="0"/>
          </a:xfrm>
          <a:prstGeom prst="line">
            <a:avLst/>
          </a:prstGeom>
          <a:ln w="12700">
            <a:solidFill>
              <a:srgbClr val="16A34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5" name="row:AF_XDP multi-buffer:start"/>
          <p:cNvSpPr/>
          <p:nvPr/>
        </p:nvSpPr>
        <p:spPr>
          <a:xfrm>
            <a:off x="10609726" y="4548568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6" name="row:AF_XDP multi-buffer:release:6.6"/>
          <p:cNvSpPr/>
          <p:nvPr/>
        </p:nvSpPr>
        <p:spPr>
          <a:xfrm>
            <a:off x="11880684" y="4537138"/>
            <a:ext cx="86868" cy="86868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7" name="row:AF_XDP multi-buffer:label"/>
          <p:cNvSpPr txBox="1"/>
          <p:nvPr/>
        </p:nvSpPr>
        <p:spPr>
          <a:xfrm>
            <a:off x="11997270" y="4470844"/>
            <a:ext cx="731520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6.6</a:t>
            </a:r>
          </a:p>
        </p:txBody>
      </p:sp>
      <p:sp>
        <p:nvSpPr>
          <p:cNvPr id="228" name="row:RX HW queue leasing:name"/>
          <p:cNvSpPr txBox="1"/>
          <p:nvPr/>
        </p:nvSpPr>
        <p:spPr>
          <a:xfrm>
            <a:off x="1325880" y="4580191"/>
            <a:ext cx="1572768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RX HW queue leasing</a:t>
            </a:r>
          </a:p>
        </p:txBody>
      </p:sp>
      <p:cxnSp>
        <p:nvCxnSpPr>
          <p:cNvPr id="229" name="row:RX HW queue leasing:development"/>
          <p:cNvCxnSpPr/>
          <p:nvPr/>
        </p:nvCxnSpPr>
        <p:spPr>
          <a:xfrm>
            <a:off x="12377661" y="4689919"/>
            <a:ext cx="1367224" cy="0"/>
          </a:xfrm>
          <a:prstGeom prst="line">
            <a:avLst/>
          </a:prstGeom>
          <a:ln w="12700">
            <a:solidFill>
              <a:srgbClr val="16A34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0" name="row:RX HW queue leasing:start"/>
          <p:cNvSpPr/>
          <p:nvPr/>
        </p:nvSpPr>
        <p:spPr>
          <a:xfrm>
            <a:off x="12345657" y="4657915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1" name="row:RX HW queue leasing:release:7.1"/>
          <p:cNvSpPr/>
          <p:nvPr/>
        </p:nvSpPr>
        <p:spPr>
          <a:xfrm>
            <a:off x="13701451" y="4646485"/>
            <a:ext cx="86868" cy="86868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2" name="row:RX HW queue leasing:label"/>
          <p:cNvSpPr txBox="1"/>
          <p:nvPr/>
        </p:nvSpPr>
        <p:spPr>
          <a:xfrm>
            <a:off x="13818037" y="4580191"/>
            <a:ext cx="731520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7.1</a:t>
            </a:r>
          </a:p>
        </p:txBody>
      </p:sp>
      <p:sp>
        <p:nvSpPr>
          <p:cNvPr id="233" name="band-label:CONTROL PLANE"/>
          <p:cNvSpPr txBox="1"/>
          <p:nvPr/>
        </p:nvSpPr>
        <p:spPr>
          <a:xfrm>
            <a:off x="384048" y="4817745"/>
            <a:ext cx="1051560" cy="69265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1000" b="1" i="0">
                <a:solidFill>
                  <a:srgbClr val="DC2626"/>
                </a:solidFill>
              </a:rPr>
              <a:t>CONTROL
PLANE</a:t>
            </a:r>
          </a:p>
        </p:txBody>
      </p:sp>
      <p:sp>
        <p:nvSpPr>
          <p:cNvPr id="234" name="row:nftables (dev. from 2008):name"/>
          <p:cNvSpPr txBox="1"/>
          <p:nvPr/>
        </p:nvSpPr>
        <p:spPr>
          <a:xfrm>
            <a:off x="1325880" y="4780978"/>
            <a:ext cx="1572768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nftables (dev. from 2008)</a:t>
            </a:r>
          </a:p>
        </p:txBody>
      </p:sp>
      <p:cxnSp>
        <p:nvCxnSpPr>
          <p:cNvPr id="235" name="row:nftables (dev. from 2008):development"/>
          <p:cNvCxnSpPr/>
          <p:nvPr/>
        </p:nvCxnSpPr>
        <p:spPr>
          <a:xfrm>
            <a:off x="3044951" y="4890706"/>
            <a:ext cx="2089906" cy="0"/>
          </a:xfrm>
          <a:prstGeom prst="line">
            <a:avLst/>
          </a:prstGeom>
          <a:ln w="12700">
            <a:solidFill>
              <a:srgbClr val="DC262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6" name="row:nftables (dev. from 2008):start-offchart"/>
          <p:cNvSpPr/>
          <p:nvPr/>
        </p:nvSpPr>
        <p:spPr>
          <a:xfrm rot="16200000">
            <a:off x="2980944" y="4849558"/>
            <a:ext cx="82296" cy="82296"/>
          </a:xfrm>
          <a:prstGeom prst="triangle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7" name="row:nftables (dev. from 2008):release:3.13"/>
          <p:cNvSpPr/>
          <p:nvPr/>
        </p:nvSpPr>
        <p:spPr>
          <a:xfrm>
            <a:off x="5091423" y="4847272"/>
            <a:ext cx="86868" cy="86868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8" name="row:nftables (dev. from 2008):label"/>
          <p:cNvSpPr txBox="1"/>
          <p:nvPr/>
        </p:nvSpPr>
        <p:spPr>
          <a:xfrm>
            <a:off x="5208009" y="4780978"/>
            <a:ext cx="731520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3.13</a:t>
            </a:r>
          </a:p>
        </p:txBody>
      </p:sp>
      <p:sp>
        <p:nvSpPr>
          <p:cNvPr id="239" name="row:nexthop objects:name"/>
          <p:cNvSpPr txBox="1"/>
          <p:nvPr/>
        </p:nvSpPr>
        <p:spPr>
          <a:xfrm>
            <a:off x="1325880" y="4890325"/>
            <a:ext cx="1572768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nexthop objects</a:t>
            </a:r>
          </a:p>
        </p:txBody>
      </p:sp>
      <p:cxnSp>
        <p:nvCxnSpPr>
          <p:cNvPr id="240" name="row:nexthop objects:development"/>
          <p:cNvCxnSpPr/>
          <p:nvPr/>
        </p:nvCxnSpPr>
        <p:spPr>
          <a:xfrm>
            <a:off x="7864240" y="5000053"/>
            <a:ext cx="1196839" cy="0"/>
          </a:xfrm>
          <a:prstGeom prst="line">
            <a:avLst/>
          </a:prstGeom>
          <a:ln w="12700">
            <a:solidFill>
              <a:srgbClr val="DC262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1" name="row:nexthop objects:start"/>
          <p:cNvSpPr/>
          <p:nvPr/>
        </p:nvSpPr>
        <p:spPr>
          <a:xfrm>
            <a:off x="7832236" y="4968049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2" name="row:nexthop objects:release:5.3"/>
          <p:cNvSpPr/>
          <p:nvPr/>
        </p:nvSpPr>
        <p:spPr>
          <a:xfrm>
            <a:off x="9017645" y="4956619"/>
            <a:ext cx="86868" cy="86868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3" name="row:nexthop objects:label"/>
          <p:cNvSpPr txBox="1"/>
          <p:nvPr/>
        </p:nvSpPr>
        <p:spPr>
          <a:xfrm>
            <a:off x="9134231" y="4890325"/>
            <a:ext cx="731520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5.3</a:t>
            </a:r>
          </a:p>
        </p:txBody>
      </p:sp>
      <p:sp>
        <p:nvSpPr>
          <p:cNvPr id="244" name="row:YNL tooling:name"/>
          <p:cNvSpPr txBox="1"/>
          <p:nvPr/>
        </p:nvSpPr>
        <p:spPr>
          <a:xfrm>
            <a:off x="1325880" y="4999672"/>
            <a:ext cx="1572768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YNL tooling</a:t>
            </a:r>
          </a:p>
        </p:txBody>
      </p:sp>
      <p:cxnSp>
        <p:nvCxnSpPr>
          <p:cNvPr id="245" name="row:YNL tooling:development"/>
          <p:cNvCxnSpPr/>
          <p:nvPr/>
        </p:nvCxnSpPr>
        <p:spPr>
          <a:xfrm>
            <a:off x="10294543" y="5109400"/>
            <a:ext cx="1268368" cy="0"/>
          </a:xfrm>
          <a:prstGeom prst="line">
            <a:avLst/>
          </a:prstGeom>
          <a:ln w="12700">
            <a:solidFill>
              <a:srgbClr val="DC262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6" name="row:YNL tooling:start"/>
          <p:cNvSpPr/>
          <p:nvPr/>
        </p:nvSpPr>
        <p:spPr>
          <a:xfrm>
            <a:off x="10262539" y="5077396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7" name="row:YNL tooling:release:6.3"/>
          <p:cNvSpPr/>
          <p:nvPr/>
        </p:nvSpPr>
        <p:spPr>
          <a:xfrm>
            <a:off x="11519477" y="5065966"/>
            <a:ext cx="86868" cy="86868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8" name="row:YNL tooling:label"/>
          <p:cNvSpPr txBox="1"/>
          <p:nvPr/>
        </p:nvSpPr>
        <p:spPr>
          <a:xfrm>
            <a:off x="11636063" y="4999672"/>
            <a:ext cx="731520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6.3</a:t>
            </a:r>
          </a:p>
        </p:txBody>
      </p:sp>
      <p:sp>
        <p:nvSpPr>
          <p:cNvPr id="249" name="row:per-netns RTNL:name"/>
          <p:cNvSpPr txBox="1"/>
          <p:nvPr/>
        </p:nvSpPr>
        <p:spPr>
          <a:xfrm>
            <a:off x="1325880" y="5109019"/>
            <a:ext cx="1572768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per-netns RTNL</a:t>
            </a:r>
          </a:p>
        </p:txBody>
      </p:sp>
      <p:cxnSp>
        <p:nvCxnSpPr>
          <p:cNvPr id="250" name="row:per-netns RTNL:development"/>
          <p:cNvCxnSpPr/>
          <p:nvPr/>
        </p:nvCxnSpPr>
        <p:spPr>
          <a:xfrm>
            <a:off x="11336102" y="5218747"/>
            <a:ext cx="1436852" cy="0"/>
          </a:xfrm>
          <a:prstGeom prst="line">
            <a:avLst/>
          </a:prstGeom>
          <a:ln w="12700">
            <a:solidFill>
              <a:srgbClr val="DC262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1" name="row:per-netns RTNL:start"/>
          <p:cNvSpPr/>
          <p:nvPr/>
        </p:nvSpPr>
        <p:spPr>
          <a:xfrm>
            <a:off x="11304098" y="5186743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2" name="row:per-netns RTNL:release:6.13"/>
          <p:cNvSpPr/>
          <p:nvPr/>
        </p:nvSpPr>
        <p:spPr>
          <a:xfrm>
            <a:off x="12729520" y="5175313"/>
            <a:ext cx="86868" cy="86868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3" name="row:per-netns RTNL:label"/>
          <p:cNvSpPr txBox="1"/>
          <p:nvPr/>
        </p:nvSpPr>
        <p:spPr>
          <a:xfrm>
            <a:off x="12846106" y="5109019"/>
            <a:ext cx="731520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6.13</a:t>
            </a:r>
          </a:p>
        </p:txBody>
      </p:sp>
      <p:sp>
        <p:nvSpPr>
          <p:cNvPr id="254" name="row:further RTNL breakup:name"/>
          <p:cNvSpPr txBox="1"/>
          <p:nvPr/>
        </p:nvSpPr>
        <p:spPr>
          <a:xfrm>
            <a:off x="1325880" y="5218366"/>
            <a:ext cx="1572768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further RTNL breakup</a:t>
            </a:r>
          </a:p>
        </p:txBody>
      </p:sp>
      <p:cxnSp>
        <p:nvCxnSpPr>
          <p:cNvPr id="255" name="row:further RTNL breakup:development"/>
          <p:cNvCxnSpPr/>
          <p:nvPr/>
        </p:nvCxnSpPr>
        <p:spPr>
          <a:xfrm>
            <a:off x="12030475" y="5328094"/>
            <a:ext cx="982016" cy="0"/>
          </a:xfrm>
          <a:prstGeom prst="line">
            <a:avLst/>
          </a:prstGeom>
          <a:ln w="12700">
            <a:solidFill>
              <a:srgbClr val="DC262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6" name="row:further RTNL breakup:start"/>
          <p:cNvSpPr/>
          <p:nvPr/>
        </p:nvSpPr>
        <p:spPr>
          <a:xfrm>
            <a:off x="11998471" y="5296090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7" name="row:further RTNL breakup:release:6.15"/>
          <p:cNvSpPr/>
          <p:nvPr/>
        </p:nvSpPr>
        <p:spPr>
          <a:xfrm>
            <a:off x="12969057" y="5284660"/>
            <a:ext cx="86868" cy="86868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8" name="row:further RTNL breakup:label"/>
          <p:cNvSpPr txBox="1"/>
          <p:nvPr/>
        </p:nvSpPr>
        <p:spPr>
          <a:xfrm>
            <a:off x="13085643" y="5218366"/>
            <a:ext cx="731520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6.15</a:t>
            </a:r>
          </a:p>
        </p:txBody>
      </p:sp>
      <p:sp>
        <p:nvSpPr>
          <p:cNvPr id="259" name="row:RTNL-less FIB rules:name"/>
          <p:cNvSpPr txBox="1"/>
          <p:nvPr/>
        </p:nvSpPr>
        <p:spPr>
          <a:xfrm>
            <a:off x="1325880" y="5327713"/>
            <a:ext cx="1572768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RTNL-less FIB rules</a:t>
            </a:r>
          </a:p>
        </p:txBody>
      </p:sp>
      <p:cxnSp>
        <p:nvCxnSpPr>
          <p:cNvPr id="260" name="row:RTNL-less FIB rules:development"/>
          <p:cNvCxnSpPr/>
          <p:nvPr/>
        </p:nvCxnSpPr>
        <p:spPr>
          <a:xfrm>
            <a:off x="12724847" y="5437441"/>
            <a:ext cx="1147411" cy="0"/>
          </a:xfrm>
          <a:prstGeom prst="line">
            <a:avLst/>
          </a:prstGeom>
          <a:ln w="12700">
            <a:solidFill>
              <a:srgbClr val="DC262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1" name="row:RTNL-less FIB rules:start"/>
          <p:cNvSpPr/>
          <p:nvPr/>
        </p:nvSpPr>
        <p:spPr>
          <a:xfrm>
            <a:off x="12692843" y="5405437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2" name="row:RTNL-less FIB rules:release:7.3-rc"/>
          <p:cNvSpPr/>
          <p:nvPr/>
        </p:nvSpPr>
        <p:spPr>
          <a:xfrm>
            <a:off x="13828824" y="5394007"/>
            <a:ext cx="86868" cy="86868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3" name="row:RTNL-less FIB rules:label"/>
          <p:cNvSpPr txBox="1"/>
          <p:nvPr/>
        </p:nvSpPr>
        <p:spPr>
          <a:xfrm>
            <a:off x="13945410" y="5327713"/>
            <a:ext cx="731520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7.3-rc</a:t>
            </a:r>
          </a:p>
        </p:txBody>
      </p:sp>
      <p:sp>
        <p:nvSpPr>
          <p:cNvPr id="264" name="band-label:OBSERVABILITY"/>
          <p:cNvSpPr txBox="1"/>
          <p:nvPr/>
        </p:nvSpPr>
        <p:spPr>
          <a:xfrm>
            <a:off x="384048" y="5565267"/>
            <a:ext cx="1051560" cy="58331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1000" b="1" i="0">
                <a:solidFill>
                  <a:srgbClr val="7C3AED"/>
                </a:solidFill>
              </a:rPr>
              <a:t>OBSERV-
ABILITY</a:t>
            </a:r>
          </a:p>
        </p:txBody>
      </p:sp>
      <p:sp>
        <p:nvSpPr>
          <p:cNvPr id="265" name="row:kprobe BPF:name"/>
          <p:cNvSpPr txBox="1"/>
          <p:nvPr/>
        </p:nvSpPr>
        <p:spPr>
          <a:xfrm>
            <a:off x="1325880" y="5528500"/>
            <a:ext cx="1572768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kprobe BPF</a:t>
            </a:r>
          </a:p>
        </p:txBody>
      </p:sp>
      <p:cxnSp>
        <p:nvCxnSpPr>
          <p:cNvPr id="266" name="row:kprobe BPF:development"/>
          <p:cNvCxnSpPr/>
          <p:nvPr/>
        </p:nvCxnSpPr>
        <p:spPr>
          <a:xfrm>
            <a:off x="5225624" y="5638228"/>
            <a:ext cx="894472" cy="0"/>
          </a:xfrm>
          <a:prstGeom prst="line">
            <a:avLst/>
          </a:prstGeom>
          <a:ln w="12700">
            <a:solidFill>
              <a:srgbClr val="7C3AED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7" name="row:kprobe BPF:start"/>
          <p:cNvSpPr/>
          <p:nvPr/>
        </p:nvSpPr>
        <p:spPr>
          <a:xfrm>
            <a:off x="5193620" y="5606224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8" name="row:kprobe BPF:release:4.1"/>
          <p:cNvSpPr/>
          <p:nvPr/>
        </p:nvSpPr>
        <p:spPr>
          <a:xfrm>
            <a:off x="6076662" y="5594794"/>
            <a:ext cx="86868" cy="86868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9" name="row:kprobe BPF:label"/>
          <p:cNvSpPr txBox="1"/>
          <p:nvPr/>
        </p:nvSpPr>
        <p:spPr>
          <a:xfrm>
            <a:off x="6193248" y="5528500"/>
            <a:ext cx="731520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4.1</a:t>
            </a:r>
          </a:p>
        </p:txBody>
      </p:sp>
      <p:sp>
        <p:nvSpPr>
          <p:cNvPr id="270" name="row:structured drop reason:name"/>
          <p:cNvSpPr txBox="1"/>
          <p:nvPr/>
        </p:nvSpPr>
        <p:spPr>
          <a:xfrm>
            <a:off x="1325880" y="5637847"/>
            <a:ext cx="1572768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structured drop reason</a:t>
            </a:r>
          </a:p>
        </p:txBody>
      </p:sp>
      <p:cxnSp>
        <p:nvCxnSpPr>
          <p:cNvPr id="271" name="row:structured drop reason:development"/>
          <p:cNvCxnSpPr/>
          <p:nvPr/>
        </p:nvCxnSpPr>
        <p:spPr>
          <a:xfrm>
            <a:off x="9947357" y="5747575"/>
            <a:ext cx="856545" cy="0"/>
          </a:xfrm>
          <a:prstGeom prst="line">
            <a:avLst/>
          </a:prstGeom>
          <a:ln w="12700">
            <a:solidFill>
              <a:srgbClr val="7C3AED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2" name="row:structured drop reason:start"/>
          <p:cNvSpPr/>
          <p:nvPr/>
        </p:nvSpPr>
        <p:spPr>
          <a:xfrm>
            <a:off x="9915353" y="5715571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3" name="row:structured drop reason:release:5.17"/>
          <p:cNvSpPr/>
          <p:nvPr/>
        </p:nvSpPr>
        <p:spPr>
          <a:xfrm>
            <a:off x="10760468" y="5704141"/>
            <a:ext cx="86868" cy="86868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4" name="row:structured drop reason:label"/>
          <p:cNvSpPr txBox="1"/>
          <p:nvPr/>
        </p:nvSpPr>
        <p:spPr>
          <a:xfrm>
            <a:off x="10877054" y="5637847"/>
            <a:ext cx="731520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5.17</a:t>
            </a:r>
          </a:p>
        </p:txBody>
      </p:sp>
      <p:sp>
        <p:nvSpPr>
          <p:cNvPr id="275" name="row:drop-reason expansion:name"/>
          <p:cNvSpPr txBox="1"/>
          <p:nvPr/>
        </p:nvSpPr>
        <p:spPr>
          <a:xfrm>
            <a:off x="1325880" y="5747194"/>
            <a:ext cx="1572768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drop-reason expansion</a:t>
            </a:r>
          </a:p>
        </p:txBody>
      </p:sp>
      <p:cxnSp>
        <p:nvCxnSpPr>
          <p:cNvPr id="276" name="row:drop-reason expansion:development"/>
          <p:cNvCxnSpPr/>
          <p:nvPr/>
        </p:nvCxnSpPr>
        <p:spPr>
          <a:xfrm>
            <a:off x="10780604" y="5856922"/>
            <a:ext cx="276143" cy="0"/>
          </a:xfrm>
          <a:prstGeom prst="line">
            <a:avLst/>
          </a:prstGeom>
          <a:ln w="12700">
            <a:solidFill>
              <a:srgbClr val="7C3AED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7" name="row:drop-reason expansion:start"/>
          <p:cNvSpPr/>
          <p:nvPr/>
        </p:nvSpPr>
        <p:spPr>
          <a:xfrm>
            <a:off x="10748600" y="5824918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8" name="row:drop-reason expansion:release:5.19"/>
          <p:cNvSpPr/>
          <p:nvPr/>
        </p:nvSpPr>
        <p:spPr>
          <a:xfrm>
            <a:off x="11013313" y="5813488"/>
            <a:ext cx="86868" cy="86868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9" name="row:drop-reason expansion:label"/>
          <p:cNvSpPr txBox="1"/>
          <p:nvPr/>
        </p:nvSpPr>
        <p:spPr>
          <a:xfrm>
            <a:off x="11129899" y="5747194"/>
            <a:ext cx="731520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5.19</a:t>
            </a:r>
          </a:p>
        </p:txBody>
      </p:sp>
      <p:sp>
        <p:nvSpPr>
          <p:cNvPr id="280" name="row:queue/NAPI netdev-genl:name"/>
          <p:cNvSpPr txBox="1"/>
          <p:nvPr/>
        </p:nvSpPr>
        <p:spPr>
          <a:xfrm>
            <a:off x="1325880" y="5856541"/>
            <a:ext cx="1572768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queue/NAPI netdev-genl</a:t>
            </a:r>
          </a:p>
        </p:txBody>
      </p:sp>
      <p:cxnSp>
        <p:nvCxnSpPr>
          <p:cNvPr id="281" name="row:queue/NAPI netdev-genl:development"/>
          <p:cNvCxnSpPr/>
          <p:nvPr/>
        </p:nvCxnSpPr>
        <p:spPr>
          <a:xfrm>
            <a:off x="11336102" y="5966269"/>
            <a:ext cx="839435" cy="0"/>
          </a:xfrm>
          <a:prstGeom prst="line">
            <a:avLst/>
          </a:prstGeom>
          <a:ln w="12700">
            <a:solidFill>
              <a:srgbClr val="7C3AED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2" name="row:queue/NAPI netdev-genl:start"/>
          <p:cNvSpPr/>
          <p:nvPr/>
        </p:nvSpPr>
        <p:spPr>
          <a:xfrm>
            <a:off x="11304098" y="5934265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3" name="row:queue/NAPI netdev-genl:release:6.8"/>
          <p:cNvSpPr/>
          <p:nvPr/>
        </p:nvSpPr>
        <p:spPr>
          <a:xfrm>
            <a:off x="12132103" y="5922835"/>
            <a:ext cx="86868" cy="86868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4" name="row:queue/NAPI netdev-genl:label"/>
          <p:cNvSpPr txBox="1"/>
          <p:nvPr/>
        </p:nvSpPr>
        <p:spPr>
          <a:xfrm>
            <a:off x="12248689" y="5856541"/>
            <a:ext cx="731520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6.8</a:t>
            </a:r>
          </a:p>
        </p:txBody>
      </p:sp>
      <p:sp>
        <p:nvSpPr>
          <p:cNvPr id="285" name="row:qdisc-drop tracepoint:name"/>
          <p:cNvSpPr txBox="1"/>
          <p:nvPr/>
        </p:nvSpPr>
        <p:spPr>
          <a:xfrm>
            <a:off x="1325880" y="5965888"/>
            <a:ext cx="1572768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qdisc-drop tracepoint</a:t>
            </a:r>
          </a:p>
        </p:txBody>
      </p:sp>
      <p:cxnSp>
        <p:nvCxnSpPr>
          <p:cNvPr id="286" name="row:qdisc-drop tracepoint:development"/>
          <p:cNvCxnSpPr/>
          <p:nvPr/>
        </p:nvCxnSpPr>
        <p:spPr>
          <a:xfrm>
            <a:off x="12724847" y="6075616"/>
            <a:ext cx="1020038" cy="0"/>
          </a:xfrm>
          <a:prstGeom prst="line">
            <a:avLst/>
          </a:prstGeom>
          <a:ln w="12700">
            <a:solidFill>
              <a:srgbClr val="7C3AED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7" name="row:qdisc-drop tracepoint:start"/>
          <p:cNvSpPr/>
          <p:nvPr/>
        </p:nvSpPr>
        <p:spPr>
          <a:xfrm>
            <a:off x="12692843" y="6043612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8" name="row:qdisc-drop tracepoint:release:7.1"/>
          <p:cNvSpPr/>
          <p:nvPr/>
        </p:nvSpPr>
        <p:spPr>
          <a:xfrm>
            <a:off x="13701451" y="6032182"/>
            <a:ext cx="86868" cy="86868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9" name="row:qdisc-drop tracepoint:label"/>
          <p:cNvSpPr txBox="1"/>
          <p:nvPr/>
        </p:nvSpPr>
        <p:spPr>
          <a:xfrm>
            <a:off x="13818037" y="5965888"/>
            <a:ext cx="731520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7.1</a:t>
            </a:r>
          </a:p>
        </p:txBody>
      </p:sp>
      <p:sp>
        <p:nvSpPr>
          <p:cNvPr id="290" name="band-label:DRIVER FRAMEWORK"/>
          <p:cNvSpPr txBox="1"/>
          <p:nvPr/>
        </p:nvSpPr>
        <p:spPr>
          <a:xfrm>
            <a:off x="384048" y="6203442"/>
            <a:ext cx="1051560" cy="113004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1000" b="1" i="0">
                <a:solidFill>
                  <a:srgbClr val="A16207"/>
                </a:solidFill>
              </a:rPr>
              <a:t>DRIVER
FRAMEWORK</a:t>
            </a:r>
          </a:p>
        </p:txBody>
      </p:sp>
      <p:sp>
        <p:nvSpPr>
          <p:cNvPr id="291" name="row:switchdev:name"/>
          <p:cNvSpPr txBox="1"/>
          <p:nvPr/>
        </p:nvSpPr>
        <p:spPr>
          <a:xfrm>
            <a:off x="1325880" y="6166675"/>
            <a:ext cx="1572768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switchdev</a:t>
            </a:r>
          </a:p>
        </p:txBody>
      </p:sp>
      <p:cxnSp>
        <p:nvCxnSpPr>
          <p:cNvPr id="292" name="row:switchdev:development"/>
          <p:cNvCxnSpPr/>
          <p:nvPr/>
        </p:nvCxnSpPr>
        <p:spPr>
          <a:xfrm>
            <a:off x="5086750" y="6276403"/>
            <a:ext cx="780501" cy="0"/>
          </a:xfrm>
          <a:prstGeom prst="line">
            <a:avLst/>
          </a:prstGeom>
          <a:ln w="12700">
            <a:solidFill>
              <a:srgbClr val="A16207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3" name="row:switchdev:start"/>
          <p:cNvSpPr/>
          <p:nvPr/>
        </p:nvSpPr>
        <p:spPr>
          <a:xfrm>
            <a:off x="5054746" y="6244399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4" name="row:switchdev:release:3.19"/>
          <p:cNvSpPr/>
          <p:nvPr/>
        </p:nvSpPr>
        <p:spPr>
          <a:xfrm>
            <a:off x="5823817" y="6232969"/>
            <a:ext cx="86868" cy="86868"/>
          </a:xfrm>
          <a:prstGeom prst="ellipse">
            <a:avLst/>
          </a:prstGeom>
          <a:solidFill>
            <a:srgbClr val="A16207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5" name="row:switchdev:label"/>
          <p:cNvSpPr txBox="1"/>
          <p:nvPr/>
        </p:nvSpPr>
        <p:spPr>
          <a:xfrm>
            <a:off x="5940403" y="6166675"/>
            <a:ext cx="731520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3.19</a:t>
            </a:r>
          </a:p>
        </p:txBody>
      </p:sp>
      <p:sp>
        <p:nvSpPr>
          <p:cNvPr id="296" name="row:devlink:name"/>
          <p:cNvSpPr txBox="1"/>
          <p:nvPr/>
        </p:nvSpPr>
        <p:spPr>
          <a:xfrm>
            <a:off x="1325880" y="6276022"/>
            <a:ext cx="1572768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devlink</a:t>
            </a:r>
          </a:p>
        </p:txBody>
      </p:sp>
      <p:cxnSp>
        <p:nvCxnSpPr>
          <p:cNvPr id="297" name="row:devlink:development"/>
          <p:cNvCxnSpPr/>
          <p:nvPr/>
        </p:nvCxnSpPr>
        <p:spPr>
          <a:xfrm>
            <a:off x="5781122" y="6385750"/>
            <a:ext cx="964907" cy="0"/>
          </a:xfrm>
          <a:prstGeom prst="line">
            <a:avLst/>
          </a:prstGeom>
          <a:ln w="12700">
            <a:solidFill>
              <a:srgbClr val="A16207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8" name="row:devlink:start"/>
          <p:cNvSpPr/>
          <p:nvPr/>
        </p:nvSpPr>
        <p:spPr>
          <a:xfrm>
            <a:off x="5749118" y="6353746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9" name="row:devlink:release:4.6"/>
          <p:cNvSpPr/>
          <p:nvPr/>
        </p:nvSpPr>
        <p:spPr>
          <a:xfrm>
            <a:off x="6702595" y="6342316"/>
            <a:ext cx="86868" cy="86868"/>
          </a:xfrm>
          <a:prstGeom prst="ellipse">
            <a:avLst/>
          </a:prstGeom>
          <a:solidFill>
            <a:srgbClr val="A16207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0" name="row:devlink:label"/>
          <p:cNvSpPr txBox="1"/>
          <p:nvPr/>
        </p:nvSpPr>
        <p:spPr>
          <a:xfrm>
            <a:off x="6819181" y="6276022"/>
            <a:ext cx="731520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4.6</a:t>
            </a:r>
          </a:p>
        </p:txBody>
      </p:sp>
      <p:sp>
        <p:nvSpPr>
          <p:cNvPr id="301" name="row:devlink health:name"/>
          <p:cNvSpPr txBox="1"/>
          <p:nvPr/>
        </p:nvSpPr>
        <p:spPr>
          <a:xfrm>
            <a:off x="1325880" y="6385369"/>
            <a:ext cx="1572768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devlink health</a:t>
            </a:r>
          </a:p>
        </p:txBody>
      </p:sp>
      <p:cxnSp>
        <p:nvCxnSpPr>
          <p:cNvPr id="302" name="row:devlink health:development"/>
          <p:cNvCxnSpPr/>
          <p:nvPr/>
        </p:nvCxnSpPr>
        <p:spPr>
          <a:xfrm>
            <a:off x="7864240" y="6495097"/>
            <a:ext cx="943994" cy="0"/>
          </a:xfrm>
          <a:prstGeom prst="line">
            <a:avLst/>
          </a:prstGeom>
          <a:ln w="12700">
            <a:solidFill>
              <a:srgbClr val="A16207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3" name="row:devlink health:start"/>
          <p:cNvSpPr/>
          <p:nvPr/>
        </p:nvSpPr>
        <p:spPr>
          <a:xfrm>
            <a:off x="7832236" y="6463093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4" name="row:devlink health:release:5.1"/>
          <p:cNvSpPr/>
          <p:nvPr/>
        </p:nvSpPr>
        <p:spPr>
          <a:xfrm>
            <a:off x="8764800" y="6451663"/>
            <a:ext cx="86868" cy="86868"/>
          </a:xfrm>
          <a:prstGeom prst="ellipse">
            <a:avLst/>
          </a:prstGeom>
          <a:solidFill>
            <a:srgbClr val="A16207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5" name="row:devlink health:label"/>
          <p:cNvSpPr txBox="1"/>
          <p:nvPr/>
        </p:nvSpPr>
        <p:spPr>
          <a:xfrm>
            <a:off x="8881386" y="6385369"/>
            <a:ext cx="731520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5.1</a:t>
            </a:r>
          </a:p>
        </p:txBody>
      </p:sp>
      <p:sp>
        <p:nvSpPr>
          <p:cNvPr id="306" name="row:phylink:name"/>
          <p:cNvSpPr txBox="1"/>
          <p:nvPr/>
        </p:nvSpPr>
        <p:spPr>
          <a:xfrm>
            <a:off x="1325880" y="6494716"/>
            <a:ext cx="1572768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phylink</a:t>
            </a:r>
          </a:p>
        </p:txBody>
      </p:sp>
      <p:cxnSp>
        <p:nvCxnSpPr>
          <p:cNvPr id="307" name="row:phylink:development"/>
          <p:cNvCxnSpPr/>
          <p:nvPr/>
        </p:nvCxnSpPr>
        <p:spPr>
          <a:xfrm>
            <a:off x="5919997" y="6604444"/>
            <a:ext cx="1862600" cy="0"/>
          </a:xfrm>
          <a:prstGeom prst="line">
            <a:avLst/>
          </a:prstGeom>
          <a:ln w="12700">
            <a:solidFill>
              <a:srgbClr val="A16207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8" name="row:phylink:start"/>
          <p:cNvSpPr/>
          <p:nvPr/>
        </p:nvSpPr>
        <p:spPr>
          <a:xfrm>
            <a:off x="5887993" y="6572440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9" name="row:phylink:release:4.14"/>
          <p:cNvSpPr/>
          <p:nvPr/>
        </p:nvSpPr>
        <p:spPr>
          <a:xfrm>
            <a:off x="7739163" y="6561010"/>
            <a:ext cx="86868" cy="86868"/>
          </a:xfrm>
          <a:prstGeom prst="ellipse">
            <a:avLst/>
          </a:prstGeom>
          <a:solidFill>
            <a:srgbClr val="A16207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0" name="row:phylink:label"/>
          <p:cNvSpPr txBox="1"/>
          <p:nvPr/>
        </p:nvSpPr>
        <p:spPr>
          <a:xfrm>
            <a:off x="7855749" y="6494716"/>
            <a:ext cx="731520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4.14</a:t>
            </a:r>
          </a:p>
        </p:txBody>
      </p:sp>
      <p:sp>
        <p:nvSpPr>
          <p:cNvPr id="311" name="row:Net DIM:name"/>
          <p:cNvSpPr txBox="1"/>
          <p:nvPr/>
        </p:nvSpPr>
        <p:spPr>
          <a:xfrm>
            <a:off x="1325880" y="6604063"/>
            <a:ext cx="1572768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Net DIM</a:t>
            </a:r>
          </a:p>
        </p:txBody>
      </p:sp>
      <p:cxnSp>
        <p:nvCxnSpPr>
          <p:cNvPr id="312" name="row:Net DIM:development"/>
          <p:cNvCxnSpPr/>
          <p:nvPr/>
        </p:nvCxnSpPr>
        <p:spPr>
          <a:xfrm>
            <a:off x="7169867" y="6713791"/>
            <a:ext cx="879358" cy="0"/>
          </a:xfrm>
          <a:prstGeom prst="line">
            <a:avLst/>
          </a:prstGeom>
          <a:ln w="12700">
            <a:solidFill>
              <a:srgbClr val="A16207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3" name="row:Net DIM:start"/>
          <p:cNvSpPr/>
          <p:nvPr/>
        </p:nvSpPr>
        <p:spPr>
          <a:xfrm>
            <a:off x="7137863" y="6681787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4" name="row:Net DIM:release:4.16"/>
          <p:cNvSpPr/>
          <p:nvPr/>
        </p:nvSpPr>
        <p:spPr>
          <a:xfrm>
            <a:off x="8005791" y="6670357"/>
            <a:ext cx="86868" cy="86868"/>
          </a:xfrm>
          <a:prstGeom prst="ellipse">
            <a:avLst/>
          </a:prstGeom>
          <a:solidFill>
            <a:srgbClr val="A16207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5" name="row:Net DIM:label"/>
          <p:cNvSpPr txBox="1"/>
          <p:nvPr/>
        </p:nvSpPr>
        <p:spPr>
          <a:xfrm>
            <a:off x="8122377" y="6604063"/>
            <a:ext cx="731520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4.16</a:t>
            </a:r>
          </a:p>
        </p:txBody>
      </p:sp>
      <p:sp>
        <p:nvSpPr>
          <p:cNvPr id="316" name="row:netdevsim:name"/>
          <p:cNvSpPr txBox="1"/>
          <p:nvPr/>
        </p:nvSpPr>
        <p:spPr>
          <a:xfrm>
            <a:off x="1325880" y="6713410"/>
            <a:ext cx="1572768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netdevsim</a:t>
            </a:r>
          </a:p>
        </p:txBody>
      </p:sp>
      <p:cxnSp>
        <p:nvCxnSpPr>
          <p:cNvPr id="317" name="row:netdevsim:development"/>
          <p:cNvCxnSpPr/>
          <p:nvPr/>
        </p:nvCxnSpPr>
        <p:spPr>
          <a:xfrm>
            <a:off x="7517053" y="6823138"/>
            <a:ext cx="532172" cy="0"/>
          </a:xfrm>
          <a:prstGeom prst="line">
            <a:avLst/>
          </a:prstGeom>
          <a:ln w="12700">
            <a:solidFill>
              <a:srgbClr val="A16207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8" name="row:netdevsim:start"/>
          <p:cNvSpPr/>
          <p:nvPr/>
        </p:nvSpPr>
        <p:spPr>
          <a:xfrm>
            <a:off x="7485049" y="6791134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9" name="row:netdevsim:release:4.16"/>
          <p:cNvSpPr/>
          <p:nvPr/>
        </p:nvSpPr>
        <p:spPr>
          <a:xfrm>
            <a:off x="8005791" y="6779704"/>
            <a:ext cx="86868" cy="86868"/>
          </a:xfrm>
          <a:prstGeom prst="ellipse">
            <a:avLst/>
          </a:prstGeom>
          <a:solidFill>
            <a:srgbClr val="A16207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0" name="row:netdevsim:label"/>
          <p:cNvSpPr txBox="1"/>
          <p:nvPr/>
        </p:nvSpPr>
        <p:spPr>
          <a:xfrm>
            <a:off x="8122377" y="6713410"/>
            <a:ext cx="731520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4.16</a:t>
            </a:r>
          </a:p>
        </p:txBody>
      </p:sp>
      <p:sp>
        <p:nvSpPr>
          <p:cNvPr id="321" name="row:ethtool netlink:name"/>
          <p:cNvSpPr txBox="1"/>
          <p:nvPr/>
        </p:nvSpPr>
        <p:spPr>
          <a:xfrm>
            <a:off x="1325880" y="6822757"/>
            <a:ext cx="1572768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ethtool netlink</a:t>
            </a:r>
          </a:p>
        </p:txBody>
      </p:sp>
      <p:cxnSp>
        <p:nvCxnSpPr>
          <p:cNvPr id="322" name="row:ethtool netlink:development"/>
          <p:cNvCxnSpPr/>
          <p:nvPr/>
        </p:nvCxnSpPr>
        <p:spPr>
          <a:xfrm>
            <a:off x="7864240" y="6932485"/>
            <a:ext cx="1569928" cy="0"/>
          </a:xfrm>
          <a:prstGeom prst="line">
            <a:avLst/>
          </a:prstGeom>
          <a:ln w="12700">
            <a:solidFill>
              <a:srgbClr val="A16207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3" name="row:ethtool netlink:start"/>
          <p:cNvSpPr/>
          <p:nvPr/>
        </p:nvSpPr>
        <p:spPr>
          <a:xfrm>
            <a:off x="7832236" y="6900481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4" name="row:ethtool netlink:release:5.6"/>
          <p:cNvSpPr/>
          <p:nvPr/>
        </p:nvSpPr>
        <p:spPr>
          <a:xfrm>
            <a:off x="9390734" y="6889051"/>
            <a:ext cx="86868" cy="86868"/>
          </a:xfrm>
          <a:prstGeom prst="ellipse">
            <a:avLst/>
          </a:prstGeom>
          <a:solidFill>
            <a:srgbClr val="A16207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5" name="row:ethtool netlink:label"/>
          <p:cNvSpPr txBox="1"/>
          <p:nvPr/>
        </p:nvSpPr>
        <p:spPr>
          <a:xfrm>
            <a:off x="9507320" y="6822757"/>
            <a:ext cx="731520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5.6</a:t>
            </a:r>
          </a:p>
        </p:txBody>
      </p:sp>
      <p:sp>
        <p:nvSpPr>
          <p:cNvPr id="326" name="row:auxiliary bus:name"/>
          <p:cNvSpPr txBox="1"/>
          <p:nvPr/>
        </p:nvSpPr>
        <p:spPr>
          <a:xfrm>
            <a:off x="1325880" y="6932104"/>
            <a:ext cx="1572768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auxiliary bus</a:t>
            </a:r>
          </a:p>
        </p:txBody>
      </p:sp>
      <p:cxnSp>
        <p:nvCxnSpPr>
          <p:cNvPr id="327" name="row:auxiliary bus:development"/>
          <p:cNvCxnSpPr/>
          <p:nvPr/>
        </p:nvCxnSpPr>
        <p:spPr>
          <a:xfrm>
            <a:off x="9252985" y="7041832"/>
            <a:ext cx="791907" cy="0"/>
          </a:xfrm>
          <a:prstGeom prst="line">
            <a:avLst/>
          </a:prstGeom>
          <a:ln w="12700">
            <a:solidFill>
              <a:srgbClr val="A16207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8" name="row:auxiliary bus:start"/>
          <p:cNvSpPr/>
          <p:nvPr/>
        </p:nvSpPr>
        <p:spPr>
          <a:xfrm>
            <a:off x="9220981" y="7009828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9" name="row:auxiliary bus:release:5.11"/>
          <p:cNvSpPr/>
          <p:nvPr/>
        </p:nvSpPr>
        <p:spPr>
          <a:xfrm>
            <a:off x="10001458" y="6998398"/>
            <a:ext cx="86868" cy="86868"/>
          </a:xfrm>
          <a:prstGeom prst="ellipse">
            <a:avLst/>
          </a:prstGeom>
          <a:solidFill>
            <a:srgbClr val="A16207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0" name="row:auxiliary bus:label"/>
          <p:cNvSpPr txBox="1"/>
          <p:nvPr/>
        </p:nvSpPr>
        <p:spPr>
          <a:xfrm>
            <a:off x="10118044" y="6932104"/>
            <a:ext cx="731520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5.11</a:t>
            </a:r>
          </a:p>
        </p:txBody>
      </p:sp>
      <p:sp>
        <p:nvSpPr>
          <p:cNvPr id="331" name="row:threaded NAPI:name"/>
          <p:cNvSpPr txBox="1"/>
          <p:nvPr/>
        </p:nvSpPr>
        <p:spPr>
          <a:xfrm>
            <a:off x="1325880" y="7041451"/>
            <a:ext cx="1572768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threaded NAPI</a:t>
            </a:r>
          </a:p>
        </p:txBody>
      </p:sp>
      <p:cxnSp>
        <p:nvCxnSpPr>
          <p:cNvPr id="332" name="row:threaded NAPI:development"/>
          <p:cNvCxnSpPr/>
          <p:nvPr/>
        </p:nvCxnSpPr>
        <p:spPr>
          <a:xfrm>
            <a:off x="9461296" y="7151179"/>
            <a:ext cx="716673" cy="0"/>
          </a:xfrm>
          <a:prstGeom prst="line">
            <a:avLst/>
          </a:prstGeom>
          <a:ln w="12700">
            <a:solidFill>
              <a:srgbClr val="A16207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3" name="row:threaded NAPI:start"/>
          <p:cNvSpPr/>
          <p:nvPr/>
        </p:nvSpPr>
        <p:spPr>
          <a:xfrm>
            <a:off x="9429292" y="7119175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4" name="row:threaded NAPI:release:5.12"/>
          <p:cNvSpPr/>
          <p:nvPr/>
        </p:nvSpPr>
        <p:spPr>
          <a:xfrm>
            <a:off x="10134535" y="7107745"/>
            <a:ext cx="86868" cy="86868"/>
          </a:xfrm>
          <a:prstGeom prst="ellipse">
            <a:avLst/>
          </a:prstGeom>
          <a:solidFill>
            <a:srgbClr val="A16207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5" name="row:threaded NAPI:label"/>
          <p:cNvSpPr txBox="1"/>
          <p:nvPr/>
        </p:nvSpPr>
        <p:spPr>
          <a:xfrm>
            <a:off x="10251121" y="7041451"/>
            <a:ext cx="731520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5.12</a:t>
            </a:r>
          </a:p>
        </p:txBody>
      </p:sp>
      <p:sp>
        <p:nvSpPr>
          <p:cNvPr id="336" name="row:Rust phylib:name"/>
          <p:cNvSpPr txBox="1"/>
          <p:nvPr/>
        </p:nvSpPr>
        <p:spPr>
          <a:xfrm>
            <a:off x="1325880" y="7150798"/>
            <a:ext cx="1572768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Rust phylib</a:t>
            </a:r>
          </a:p>
        </p:txBody>
      </p:sp>
      <p:cxnSp>
        <p:nvCxnSpPr>
          <p:cNvPr id="337" name="row:Rust phylib:development"/>
          <p:cNvCxnSpPr/>
          <p:nvPr/>
        </p:nvCxnSpPr>
        <p:spPr>
          <a:xfrm>
            <a:off x="11336102" y="7260526"/>
            <a:ext cx="839435" cy="0"/>
          </a:xfrm>
          <a:prstGeom prst="line">
            <a:avLst/>
          </a:prstGeom>
          <a:ln w="12700">
            <a:solidFill>
              <a:srgbClr val="A16207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8" name="row:Rust phylib:start"/>
          <p:cNvSpPr/>
          <p:nvPr/>
        </p:nvSpPr>
        <p:spPr>
          <a:xfrm>
            <a:off x="11304098" y="7228522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9" name="row:Rust phylib:release:6.8"/>
          <p:cNvSpPr/>
          <p:nvPr/>
        </p:nvSpPr>
        <p:spPr>
          <a:xfrm>
            <a:off x="12132103" y="7217092"/>
            <a:ext cx="86868" cy="86868"/>
          </a:xfrm>
          <a:prstGeom prst="ellipse">
            <a:avLst/>
          </a:prstGeom>
          <a:solidFill>
            <a:srgbClr val="A16207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0" name="row:Rust phylib:label"/>
          <p:cNvSpPr txBox="1"/>
          <p:nvPr/>
        </p:nvSpPr>
        <p:spPr>
          <a:xfrm>
            <a:off x="12248689" y="7150798"/>
            <a:ext cx="731520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6.8</a:t>
            </a:r>
          </a:p>
        </p:txBody>
      </p:sp>
      <p:sp>
        <p:nvSpPr>
          <p:cNvPr id="341" name="legend:title"/>
          <p:cNvSpPr txBox="1"/>
          <p:nvPr/>
        </p:nvSpPr>
        <p:spPr>
          <a:xfrm>
            <a:off x="384048" y="7434072"/>
            <a:ext cx="548640" cy="14630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850" b="1" i="0">
                <a:solidFill>
                  <a:srgbClr val="1F2937"/>
                </a:solidFill>
              </a:rPr>
              <a:t>Legend</a:t>
            </a:r>
          </a:p>
        </p:txBody>
      </p:sp>
      <p:sp>
        <p:nvSpPr>
          <p:cNvPr id="342" name="legend:start"/>
          <p:cNvSpPr/>
          <p:nvPr/>
        </p:nvSpPr>
        <p:spPr>
          <a:xfrm>
            <a:off x="946404" y="7475220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343" name="legend:dev"/>
          <p:cNvCxnSpPr/>
          <p:nvPr/>
        </p:nvCxnSpPr>
        <p:spPr>
          <a:xfrm>
            <a:off x="1014983" y="7507224"/>
            <a:ext cx="329185" cy="0"/>
          </a:xfrm>
          <a:prstGeom prst="line">
            <a:avLst/>
          </a:prstGeom>
          <a:ln w="12700">
            <a:solidFill>
              <a:srgbClr val="64748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4" name="legend:release"/>
          <p:cNvSpPr/>
          <p:nvPr/>
        </p:nvSpPr>
        <p:spPr>
          <a:xfrm>
            <a:off x="1337310" y="7463790"/>
            <a:ext cx="86868" cy="86868"/>
          </a:xfrm>
          <a:prstGeom prst="ellipse">
            <a:avLst/>
          </a:prstGeom>
          <a:solidFill>
            <a:srgbClr val="64748B"/>
          </a:solidFill>
          <a:ln w="12700"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5" name="legend:t1"/>
          <p:cNvSpPr txBox="1"/>
          <p:nvPr/>
        </p:nvSpPr>
        <p:spPr>
          <a:xfrm>
            <a:off x="1481328" y="7434072"/>
            <a:ext cx="2194560" cy="14630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800" b="0" i="0">
                <a:solidFill>
                  <a:srgbClr val="64748B"/>
                </a:solidFill>
              </a:rPr>
              <a:t>approx. development start → first canonical release</a:t>
            </a:r>
          </a:p>
        </p:txBody>
      </p:sp>
      <p:sp>
        <p:nvSpPr>
          <p:cNvPr id="346" name="legend:m1"/>
          <p:cNvSpPr/>
          <p:nvPr/>
        </p:nvSpPr>
        <p:spPr>
          <a:xfrm>
            <a:off x="3952494" y="7463790"/>
            <a:ext cx="86868" cy="86868"/>
          </a:xfrm>
          <a:prstGeom prst="ellipse">
            <a:avLst/>
          </a:prstGeom>
          <a:solidFill>
            <a:srgbClr val="64748B"/>
          </a:solidFill>
          <a:ln w="12700"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347" name="legend:m-line"/>
          <p:cNvCxnSpPr/>
          <p:nvPr/>
        </p:nvCxnSpPr>
        <p:spPr>
          <a:xfrm>
            <a:off x="3995928" y="7507224"/>
            <a:ext cx="274320" cy="0"/>
          </a:xfrm>
          <a:prstGeom prst="line">
            <a:avLst/>
          </a:prstGeom>
          <a:ln w="19050">
            <a:solidFill>
              <a:srgbClr val="6474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8" name="legend:m2"/>
          <p:cNvSpPr/>
          <p:nvPr/>
        </p:nvSpPr>
        <p:spPr>
          <a:xfrm>
            <a:off x="4226814" y="7463790"/>
            <a:ext cx="86868" cy="86868"/>
          </a:xfrm>
          <a:prstGeom prst="ellipse">
            <a:avLst/>
          </a:prstGeom>
          <a:solidFill>
            <a:srgbClr val="64748B"/>
          </a:solidFill>
          <a:ln w="12700"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9" name="legend:t2"/>
          <p:cNvSpPr txBox="1"/>
          <p:nvPr/>
        </p:nvSpPr>
        <p:spPr>
          <a:xfrm>
            <a:off x="4370832" y="7434072"/>
            <a:ext cx="1463040" cy="14630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800" b="0" i="0">
                <a:solidFill>
                  <a:srgbClr val="64748B"/>
                </a:solidFill>
              </a:rPr>
              <a:t>successive milestones</a:t>
            </a:r>
          </a:p>
        </p:txBody>
      </p:sp>
      <p:sp>
        <p:nvSpPr>
          <p:cNvPr id="350" name="legend:era"/>
          <p:cNvSpPr/>
          <p:nvPr/>
        </p:nvSpPr>
        <p:spPr>
          <a:xfrm>
            <a:off x="5641848" y="7452360"/>
            <a:ext cx="274320" cy="109728"/>
          </a:xfrm>
          <a:prstGeom prst="rect">
            <a:avLst/>
          </a:prstGeom>
          <a:solidFill>
            <a:srgbClr val="334155">
              <a:alpha val="1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1" name="legend:t3"/>
          <p:cNvSpPr txBox="1"/>
          <p:nvPr/>
        </p:nvSpPr>
        <p:spPr>
          <a:xfrm>
            <a:off x="5961888" y="7434072"/>
            <a:ext cx="1005840" cy="14630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800" b="0" i="0">
                <a:solidFill>
                  <a:srgbClr val="64748B"/>
                </a:solidFill>
              </a:rPr>
              <a:t>architecture era</a:t>
            </a:r>
          </a:p>
        </p:txBody>
      </p:sp>
      <p:cxnSp>
        <p:nvCxnSpPr>
          <p:cNvPr id="352" name="legend:ga"/>
          <p:cNvCxnSpPr/>
          <p:nvPr/>
        </p:nvCxnSpPr>
        <p:spPr>
          <a:xfrm>
            <a:off x="6967728" y="7443216"/>
            <a:ext cx="0" cy="128016"/>
          </a:xfrm>
          <a:prstGeom prst="line">
            <a:avLst/>
          </a:prstGeom>
          <a:ln w="9525">
            <a:solidFill>
              <a:srgbClr val="94A3B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3" name="legend:t4"/>
          <p:cNvSpPr txBox="1"/>
          <p:nvPr/>
        </p:nvSpPr>
        <p:spPr>
          <a:xfrm>
            <a:off x="7059168" y="7434072"/>
            <a:ext cx="914400" cy="14630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800" b="0" i="0">
                <a:solidFill>
                  <a:srgbClr val="64748B"/>
                </a:solidFill>
              </a:rPr>
              <a:t>X.0 release</a:t>
            </a:r>
          </a:p>
        </p:txBody>
      </p:sp>
      <p:cxnSp>
        <p:nvCxnSpPr>
          <p:cNvPr id="354" name="legend:lineage-down"/>
          <p:cNvCxnSpPr/>
          <p:nvPr/>
        </p:nvCxnSpPr>
        <p:spPr>
          <a:xfrm>
            <a:off x="7927848" y="7443216"/>
            <a:ext cx="0" cy="64008"/>
          </a:xfrm>
          <a:prstGeom prst="line">
            <a:avLst/>
          </a:prstGeom>
          <a:ln w="1270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5" name="legend:lineage-across"/>
          <p:cNvCxnSpPr/>
          <p:nvPr/>
        </p:nvCxnSpPr>
        <p:spPr>
          <a:xfrm>
            <a:off x="7927848" y="7507224"/>
            <a:ext cx="320040" cy="0"/>
          </a:xfrm>
          <a:prstGeom prst="line">
            <a:avLst/>
          </a:prstGeom>
          <a:ln w="12700">
            <a:solidFill>
              <a:srgbClr val="4755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6" name="legend:t5"/>
          <p:cNvSpPr txBox="1"/>
          <p:nvPr/>
        </p:nvSpPr>
        <p:spPr>
          <a:xfrm>
            <a:off x="8339327" y="7434072"/>
            <a:ext cx="3108960" cy="14630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800" b="0" i="0">
                <a:solidFill>
                  <a:srgbClr val="64748B"/>
                </a:solidFill>
              </a:rPr>
              <a:t>lineage: release that a later feature builds on</a:t>
            </a:r>
          </a:p>
        </p:txBody>
      </p:sp>
      <p:sp>
        <p:nvSpPr>
          <p:cNvPr id="357" name="legend:offchart"/>
          <p:cNvSpPr/>
          <p:nvPr/>
        </p:nvSpPr>
        <p:spPr>
          <a:xfrm rot="16200000">
            <a:off x="11494008" y="7466076"/>
            <a:ext cx="82296" cy="82296"/>
          </a:xfrm>
          <a:prstGeom prst="triangle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8" name="legend:t6"/>
          <p:cNvSpPr txBox="1"/>
          <p:nvPr/>
        </p:nvSpPr>
        <p:spPr>
          <a:xfrm>
            <a:off x="11649456" y="7434072"/>
            <a:ext cx="1828800" cy="14630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800" b="0" i="0">
                <a:solidFill>
                  <a:srgbClr val="64748B"/>
                </a:solidFill>
              </a:rPr>
              <a:t>development began before 2011</a:t>
            </a:r>
          </a:p>
        </p:txBody>
      </p:sp>
      <p:sp>
        <p:nvSpPr>
          <p:cNvPr id="359" name="notes:left"/>
          <p:cNvSpPr txBox="1"/>
          <p:nvPr/>
        </p:nvSpPr>
        <p:spPr>
          <a:xfrm>
            <a:off x="384048" y="7616952"/>
            <a:ext cx="681228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800" b="0" i="0">
                <a:solidFill>
                  <a:srgbClr val="64748B"/>
                </a:solidFill>
              </a:rPr>
              <a:t>· ● First canonical release in Part VI; a feature keeps evolving after it. 7.3-rc = merged to mainline on 2026-08-20, final 7.3 pending.</a:t>
            </a:r>
          </a:p>
          <a:p>
            <a:pPr algn="l"/>
            <a:r>
              <a:rPr sz="800" b="0" i="0">
                <a:solidFill>
                  <a:srgbClr val="64748B"/>
                </a:solidFill>
              </a:rPr>
              <a:t>· ○ and dashed line: approximate start of visible development (RFC / patch series). Not audited.</a:t>
            </a:r>
          </a:p>
        </p:txBody>
      </p:sp>
      <p:sp>
        <p:nvSpPr>
          <p:cNvPr id="360" name="notes:right"/>
          <p:cNvSpPr txBox="1"/>
          <p:nvPr/>
        </p:nvSpPr>
        <p:spPr>
          <a:xfrm>
            <a:off x="7388352" y="7616952"/>
            <a:ext cx="685800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800" b="0" i="0">
                <a:solidFill>
                  <a:srgbClr val="64748B"/>
                </a:solidFill>
              </a:rPr>
              <a:t>· Eras follow Part II: they are set by the dominant design problem, overlap, and are not X.0 boundaries.</a:t>
            </a:r>
          </a:p>
          <a:p>
            <a:pPr algn="l"/>
            <a:r>
              <a:rPr sz="800" b="0" i="0">
                <a:solidFill>
                  <a:srgbClr val="64748B"/>
                </a:solidFill>
              </a:rPr>
              <a:t>· Rows are grouped by architecture axis. Cross-cutting domains (e.g. BBR, MPTCP, kTLS) and netmem / memory providers (provenance still open) have no row.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