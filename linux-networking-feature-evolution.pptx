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Editing notes</a:t>
            </a:r>
          </a:p>
          <a:p>
            <a:r>
              <a:t>- Every band, label, marker and line is a native, named PowerPoint object (row:&lt;feature&gt;:name / :start / :development / :release:&lt;ver&gt; / :label).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 (SO_TXTIME / EDT / taprio: 4.19 and 4.20; SOCK_OPS / SOCKMAP: 4.13 and 4.14).</a:t>
            </a:r>
          </a:p>
          <a:p>
            <a:r>
              <a:t>- BIG TCP extensions record IPv4 BIG TCP (6.3), IPv6 BIG TCP without HBH (7.0) and tunnel BIG TCP (7.3-rc) as successive milestones, not a development period.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MEMORY rows are ordered by lineage. Lineage arrows run from a parent release (●) either to the start (○) of a feature that began afterwards, or straight down onto the dashed line of a feature already in development: page_pool → Device Memory TCP RX / io_uring ZCRX; Device Memory TCP RX → TX; io_uring ZCRX → large RX buffers; AF_XDP and XDP multi-buffer → AF_XDP multi-buffer. RX HW queue leasing interacts with AF_XDP / io_uring but is not drawn as a child.</a:t>
            </a:r>
          </a:p>
          <a:p>
            <a:r>
              <a:t>- Development starts revised from memory (not audited): nftables ~2008 (shown as off-chart), XDP ~early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320040" y="201168"/>
            <a:ext cx="1399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From programmable datapath to explicit memory and control contracts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621792"/>
            <a:ext cx="139903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91056"/>
            <a:ext cx="14173200" cy="911351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band:PROGRAMMABILITY"/>
          <p:cNvSpPr/>
          <p:nvPr/>
        </p:nvSpPr>
        <p:spPr>
          <a:xfrm>
            <a:off x="228600" y="255727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and:MEMORY"/>
          <p:cNvSpPr/>
          <p:nvPr/>
        </p:nvSpPr>
        <p:spPr>
          <a:xfrm>
            <a:off x="228600" y="3742182"/>
            <a:ext cx="14173200" cy="1020699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and:CONTROL PLANE"/>
          <p:cNvSpPr/>
          <p:nvPr/>
        </p:nvSpPr>
        <p:spPr>
          <a:xfrm>
            <a:off x="228600" y="4817745"/>
            <a:ext cx="14173200" cy="692658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band:OBSERVABILITY"/>
          <p:cNvSpPr/>
          <p:nvPr/>
        </p:nvSpPr>
        <p:spPr>
          <a:xfrm>
            <a:off x="228600" y="5565267"/>
            <a:ext cx="14173200" cy="583311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and:DRIVER FRAMEWORK"/>
          <p:cNvSpPr/>
          <p:nvPr/>
        </p:nvSpPr>
        <p:spPr>
          <a:xfrm>
            <a:off x="228600" y="620344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ra-label:1"/>
          <p:cNvSpPr txBox="1"/>
          <p:nvPr/>
        </p:nvSpPr>
        <p:spPr>
          <a:xfrm>
            <a:off x="305409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2" name="era-shade:2"/>
          <p:cNvSpPr/>
          <p:nvPr/>
        </p:nvSpPr>
        <p:spPr>
          <a:xfrm>
            <a:off x="5795009" y="896112"/>
            <a:ext cx="2777490" cy="6455663"/>
          </a:xfrm>
          <a:prstGeom prst="rect">
            <a:avLst/>
          </a:prstGeom>
          <a:solidFill>
            <a:srgbClr val="33415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era-label:2"/>
          <p:cNvSpPr txBox="1"/>
          <p:nvPr/>
        </p:nvSpPr>
        <p:spPr>
          <a:xfrm>
            <a:off x="5831586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5" name="era-shade:4"/>
          <p:cNvSpPr/>
          <p:nvPr/>
        </p:nvSpPr>
        <p:spPr>
          <a:xfrm>
            <a:off x="11349989" y="896112"/>
            <a:ext cx="2777490" cy="6455663"/>
          </a:xfrm>
          <a:prstGeom prst="rect">
            <a:avLst/>
          </a:prstGeom>
          <a:solidFill>
            <a:srgbClr val="33415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era-label:4"/>
          <p:cNvSpPr txBox="1"/>
          <p:nvPr/>
        </p:nvSpPr>
        <p:spPr>
          <a:xfrm>
            <a:off x="11386565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resource / control contracts</a:t>
            </a:r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neage:page_pool-&gt;Device Memory TCP RX:down"/>
          <p:cNvCxnSpPr/>
          <p:nvPr/>
        </p:nvCxnSpPr>
        <p:spPr>
          <a:xfrm>
            <a:off x="8302070" y="3860863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lineage:page_pool-&gt;Device Memory TCP RX:across"/>
          <p:cNvCxnSpPr/>
          <p:nvPr/>
        </p:nvCxnSpPr>
        <p:spPr>
          <a:xfrm>
            <a:off x="8302070" y="3924490"/>
            <a:ext cx="3062321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lineage:page_pool-&gt;io_uring ZCRX:down"/>
          <p:cNvCxnSpPr/>
          <p:nvPr/>
        </p:nvCxnSpPr>
        <p:spPr>
          <a:xfrm>
            <a:off x="8302070" y="3860863"/>
            <a:ext cx="0" cy="282321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lineage:page_pool-&gt;io_uring ZCRX:across"/>
          <p:cNvCxnSpPr/>
          <p:nvPr/>
        </p:nvCxnSpPr>
        <p:spPr>
          <a:xfrm>
            <a:off x="8302070" y="4143184"/>
            <a:ext cx="327063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lineage:Device Memory TCP RX-&gt;Device Memory TCP TX"/>
          <p:cNvCxnSpPr/>
          <p:nvPr/>
        </p:nvCxnSpPr>
        <p:spPr>
          <a:xfrm>
            <a:off x="12654611" y="397021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lineage:io_uring ZCRX-&gt;large RX buffers (mem. providers)"/>
          <p:cNvCxnSpPr/>
          <p:nvPr/>
        </p:nvCxnSpPr>
        <p:spPr>
          <a:xfrm>
            <a:off x="13012491" y="4188904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lineage:AF_XDP-&gt;AF_XDP multi-buffer:down"/>
          <p:cNvCxnSpPr/>
          <p:nvPr/>
        </p:nvCxnSpPr>
        <p:spPr>
          <a:xfrm>
            <a:off x="8302070" y="4407598"/>
            <a:ext cx="0" cy="172974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neage:AF_XDP-&gt;AF_XDP multi-buffer:across"/>
          <p:cNvCxnSpPr/>
          <p:nvPr/>
        </p:nvCxnSpPr>
        <p:spPr>
          <a:xfrm>
            <a:off x="8302070" y="4580572"/>
            <a:ext cx="229851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neage:XDP multi-buffer-&gt;AF_XDP multi-buffer"/>
          <p:cNvCxnSpPr/>
          <p:nvPr/>
        </p:nvCxnSpPr>
        <p:spPr>
          <a:xfrm>
            <a:off x="10923670" y="4516945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band-label:PERFORMANCE"/>
          <p:cNvSpPr txBox="1"/>
          <p:nvPr/>
        </p:nvSpPr>
        <p:spPr>
          <a:xfrm>
            <a:off x="384048" y="1591056"/>
            <a:ext cx="1051560" cy="91135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72" name="row:DQL / BQL:name"/>
          <p:cNvSpPr txBox="1"/>
          <p:nvPr/>
        </p:nvSpPr>
        <p:spPr>
          <a:xfrm>
            <a:off x="1325880" y="155428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73" name="row:DQL / BQL:development"/>
          <p:cNvCxnSpPr/>
          <p:nvPr/>
        </p:nvCxnSpPr>
        <p:spPr>
          <a:xfrm>
            <a:off x="3211944" y="1664017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w:DQL / BQL:start"/>
          <p:cNvSpPr/>
          <p:nvPr/>
        </p:nvSpPr>
        <p:spPr>
          <a:xfrm>
            <a:off x="3179940" y="16320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w:DQL / BQL:release:3.3"/>
          <p:cNvSpPr/>
          <p:nvPr/>
        </p:nvSpPr>
        <p:spPr>
          <a:xfrm>
            <a:off x="3814842" y="16205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ow:DQL / BQL:label"/>
          <p:cNvSpPr txBox="1"/>
          <p:nvPr/>
        </p:nvSpPr>
        <p:spPr>
          <a:xfrm>
            <a:off x="3931428" y="155428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77" name="row:TSQ:name"/>
          <p:cNvSpPr txBox="1"/>
          <p:nvPr/>
        </p:nvSpPr>
        <p:spPr>
          <a:xfrm>
            <a:off x="1325880" y="166363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78" name="row:TSQ:development"/>
          <p:cNvCxnSpPr/>
          <p:nvPr/>
        </p:nvCxnSpPr>
        <p:spPr>
          <a:xfrm>
            <a:off x="3698005" y="1773364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w:TSQ:start"/>
          <p:cNvSpPr/>
          <p:nvPr/>
        </p:nvSpPr>
        <p:spPr>
          <a:xfrm>
            <a:off x="3666001" y="17413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w:TSQ:release:3.6"/>
          <p:cNvSpPr/>
          <p:nvPr/>
        </p:nvSpPr>
        <p:spPr>
          <a:xfrm>
            <a:off x="4187455" y="1729930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ow:TSQ:label"/>
          <p:cNvSpPr txBox="1"/>
          <p:nvPr/>
        </p:nvSpPr>
        <p:spPr>
          <a:xfrm>
            <a:off x="4304041" y="166363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82" name="row:sch_fq / TCP pacing:name"/>
          <p:cNvSpPr txBox="1"/>
          <p:nvPr/>
        </p:nvSpPr>
        <p:spPr>
          <a:xfrm>
            <a:off x="1325880" y="177298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83" name="row:sch_fq / TCP pacing:development"/>
          <p:cNvCxnSpPr/>
          <p:nvPr/>
        </p:nvCxnSpPr>
        <p:spPr>
          <a:xfrm>
            <a:off x="4253503" y="1882711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w:sch_fq / TCP pacing:start"/>
          <p:cNvSpPr/>
          <p:nvPr/>
        </p:nvSpPr>
        <p:spPr>
          <a:xfrm>
            <a:off x="4221499" y="185070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ow:sch_fq / TCP pacing:release:3.12"/>
          <p:cNvSpPr/>
          <p:nvPr/>
        </p:nvSpPr>
        <p:spPr>
          <a:xfrm>
            <a:off x="4944564" y="183927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ow:sch_fq / TCP pacing:label"/>
          <p:cNvSpPr txBox="1"/>
          <p:nvPr/>
        </p:nvSpPr>
        <p:spPr>
          <a:xfrm>
            <a:off x="5061150" y="177298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87" name="row:SO_BUSY_POLL:name"/>
          <p:cNvSpPr txBox="1"/>
          <p:nvPr/>
        </p:nvSpPr>
        <p:spPr>
          <a:xfrm>
            <a:off x="1325880" y="188233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88" name="row:SO_BUSY_POLL:development"/>
          <p:cNvCxnSpPr/>
          <p:nvPr/>
        </p:nvCxnSpPr>
        <p:spPr>
          <a:xfrm>
            <a:off x="4392377" y="1992058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w:SO_BUSY_POLL:start"/>
          <p:cNvSpPr/>
          <p:nvPr/>
        </p:nvSpPr>
        <p:spPr>
          <a:xfrm>
            <a:off x="4360373" y="196005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w:SO_BUSY_POLL:release:3.11"/>
          <p:cNvSpPr/>
          <p:nvPr/>
        </p:nvSpPr>
        <p:spPr>
          <a:xfrm>
            <a:off x="4826696" y="1948624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ow:SO_BUSY_POLL:label"/>
          <p:cNvSpPr txBox="1"/>
          <p:nvPr/>
        </p:nvSpPr>
        <p:spPr>
          <a:xfrm>
            <a:off x="4943282" y="188233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92" name="row:SO_TXTIME / EDT / taprio:name"/>
          <p:cNvSpPr txBox="1"/>
          <p:nvPr/>
        </p:nvSpPr>
        <p:spPr>
          <a:xfrm>
            <a:off x="1325880" y="199167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93" name="row:SO_TXTIME / EDT / taprio:development"/>
          <p:cNvCxnSpPr/>
          <p:nvPr/>
        </p:nvCxnSpPr>
        <p:spPr>
          <a:xfrm>
            <a:off x="7308742" y="2101405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w:SO_TXTIME / EDT / taprio:start"/>
          <p:cNvSpPr/>
          <p:nvPr/>
        </p:nvSpPr>
        <p:spPr>
          <a:xfrm>
            <a:off x="7276738" y="20694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5" name="row:SO_TXTIME / EDT / taprio:milestones"/>
          <p:cNvCxnSpPr/>
          <p:nvPr/>
        </p:nvCxnSpPr>
        <p:spPr>
          <a:xfrm>
            <a:off x="8437047" y="2101405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w:SO_TXTIME / EDT / taprio:release:4.19"/>
          <p:cNvSpPr/>
          <p:nvPr/>
        </p:nvSpPr>
        <p:spPr>
          <a:xfrm>
            <a:off x="8393613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ow:SO_TXTIME / EDT / taprio:release:4.20"/>
          <p:cNvSpPr/>
          <p:nvPr/>
        </p:nvSpPr>
        <p:spPr>
          <a:xfrm>
            <a:off x="8511480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w:SO_TXTIME / EDT / taprio:label"/>
          <p:cNvSpPr txBox="1"/>
          <p:nvPr/>
        </p:nvSpPr>
        <p:spPr>
          <a:xfrm>
            <a:off x="8628066" y="199167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99" name="row:BIG TCP:name"/>
          <p:cNvSpPr txBox="1"/>
          <p:nvPr/>
        </p:nvSpPr>
        <p:spPr>
          <a:xfrm>
            <a:off x="1325880" y="210102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100" name="row:BIG TCP:development"/>
          <p:cNvCxnSpPr/>
          <p:nvPr/>
        </p:nvCxnSpPr>
        <p:spPr>
          <a:xfrm>
            <a:off x="10086232" y="2210752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w:BIG TCP:start"/>
          <p:cNvSpPr/>
          <p:nvPr/>
        </p:nvSpPr>
        <p:spPr>
          <a:xfrm>
            <a:off x="10054228" y="2178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ow:BIG TCP:release:5.19"/>
          <p:cNvSpPr/>
          <p:nvPr/>
        </p:nvSpPr>
        <p:spPr>
          <a:xfrm>
            <a:off x="11013313" y="2167318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ow:BIG TCP:label"/>
          <p:cNvSpPr txBox="1"/>
          <p:nvPr/>
        </p:nvSpPr>
        <p:spPr>
          <a:xfrm>
            <a:off x="11129899" y="210102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104" name="row:BIG TCP extensions:name"/>
          <p:cNvSpPr txBox="1"/>
          <p:nvPr/>
        </p:nvSpPr>
        <p:spPr>
          <a:xfrm>
            <a:off x="1325880" y="221037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105" name="row:BIG TCP extensions:milestones"/>
          <p:cNvCxnSpPr/>
          <p:nvPr/>
        </p:nvCxnSpPr>
        <p:spPr>
          <a:xfrm>
            <a:off x="11562911" y="2320099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w:BIG TCP extensions:release:6.3"/>
          <p:cNvSpPr/>
          <p:nvPr/>
        </p:nvSpPr>
        <p:spPr>
          <a:xfrm>
            <a:off x="11519477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ow:BIG TCP extensions:release:7.0"/>
          <p:cNvSpPr/>
          <p:nvPr/>
        </p:nvSpPr>
        <p:spPr>
          <a:xfrm>
            <a:off x="13581683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ow:BIG TCP extensions:release:7.3-rc"/>
          <p:cNvSpPr/>
          <p:nvPr/>
        </p:nvSpPr>
        <p:spPr>
          <a:xfrm>
            <a:off x="13828824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ow:BIG TCP extensions:label"/>
          <p:cNvSpPr txBox="1"/>
          <p:nvPr/>
        </p:nvSpPr>
        <p:spPr>
          <a:xfrm>
            <a:off x="10301039" y="2210371"/>
            <a:ext cx="11887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0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110" name="row:cake_mq:name"/>
          <p:cNvSpPr txBox="1"/>
          <p:nvPr/>
        </p:nvSpPr>
        <p:spPr>
          <a:xfrm>
            <a:off x="1325880" y="231971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111" name="row:cake_mq:development"/>
          <p:cNvCxnSpPr/>
          <p:nvPr/>
        </p:nvCxnSpPr>
        <p:spPr>
          <a:xfrm>
            <a:off x="12724847" y="2429446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w:cake_mq:start"/>
          <p:cNvSpPr/>
          <p:nvPr/>
        </p:nvSpPr>
        <p:spPr>
          <a:xfrm>
            <a:off x="12692843" y="239744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ow:cake_mq:release:7.0"/>
          <p:cNvSpPr/>
          <p:nvPr/>
        </p:nvSpPr>
        <p:spPr>
          <a:xfrm>
            <a:off x="13581683" y="2386012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ow:cake_mq:label"/>
          <p:cNvSpPr txBox="1"/>
          <p:nvPr/>
        </p:nvSpPr>
        <p:spPr>
          <a:xfrm>
            <a:off x="13698269" y="231971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15" name="band-label:PROGRAMMABILITY"/>
          <p:cNvSpPr txBox="1"/>
          <p:nvPr/>
        </p:nvSpPr>
        <p:spPr>
          <a:xfrm>
            <a:off x="384048" y="2557272"/>
            <a:ext cx="1051560" cy="1130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116" name="row:eBPF foundation:name"/>
          <p:cNvSpPr txBox="1"/>
          <p:nvPr/>
        </p:nvSpPr>
        <p:spPr>
          <a:xfrm>
            <a:off x="1325880" y="252050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117" name="row:eBPF foundation:development"/>
          <p:cNvCxnSpPr/>
          <p:nvPr/>
        </p:nvCxnSpPr>
        <p:spPr>
          <a:xfrm>
            <a:off x="4739563" y="2630233"/>
            <a:ext cx="100744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w:eBPF foundation:start"/>
          <p:cNvSpPr/>
          <p:nvPr/>
        </p:nvSpPr>
        <p:spPr>
          <a:xfrm>
            <a:off x="4707559" y="25982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ow:eBPF foundation:release:3.18"/>
          <p:cNvSpPr/>
          <p:nvPr/>
        </p:nvSpPr>
        <p:spPr>
          <a:xfrm>
            <a:off x="5703573" y="258679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ow:eBPF foundation:label"/>
          <p:cNvSpPr txBox="1"/>
          <p:nvPr/>
        </p:nvSpPr>
        <p:spPr>
          <a:xfrm>
            <a:off x="5820159" y="252050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3.18</a:t>
            </a:r>
          </a:p>
        </p:txBody>
      </p:sp>
      <p:sp>
        <p:nvSpPr>
          <p:cNvPr id="121" name="row:TC BPF:name"/>
          <p:cNvSpPr txBox="1"/>
          <p:nvPr/>
        </p:nvSpPr>
        <p:spPr>
          <a:xfrm>
            <a:off x="1325880" y="262985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122" name="row:TC BPF:development"/>
          <p:cNvCxnSpPr/>
          <p:nvPr/>
        </p:nvCxnSpPr>
        <p:spPr>
          <a:xfrm>
            <a:off x="5642248" y="2739580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w:TC BPF:start"/>
          <p:cNvSpPr/>
          <p:nvPr/>
        </p:nvSpPr>
        <p:spPr>
          <a:xfrm>
            <a:off x="5610244" y="27075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ow:TC BPF:release:4.1"/>
          <p:cNvSpPr/>
          <p:nvPr/>
        </p:nvSpPr>
        <p:spPr>
          <a:xfrm>
            <a:off x="6076662" y="2696146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ow:TC BPF:label"/>
          <p:cNvSpPr txBox="1"/>
          <p:nvPr/>
        </p:nvSpPr>
        <p:spPr>
          <a:xfrm>
            <a:off x="6193248" y="262985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126" name="row:XDP:name"/>
          <p:cNvSpPr txBox="1"/>
          <p:nvPr/>
        </p:nvSpPr>
        <p:spPr>
          <a:xfrm>
            <a:off x="1325880" y="273919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127" name="row:XDP:development"/>
          <p:cNvCxnSpPr/>
          <p:nvPr/>
        </p:nvCxnSpPr>
        <p:spPr>
          <a:xfrm>
            <a:off x="6558819" y="2848927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w:XDP:start"/>
          <p:cNvSpPr/>
          <p:nvPr/>
        </p:nvSpPr>
        <p:spPr>
          <a:xfrm>
            <a:off x="6526815" y="281692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ow:XDP:release:4.8"/>
          <p:cNvSpPr/>
          <p:nvPr/>
        </p:nvSpPr>
        <p:spPr>
          <a:xfrm>
            <a:off x="6968747" y="280549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ow:XDP:label"/>
          <p:cNvSpPr txBox="1"/>
          <p:nvPr/>
        </p:nvSpPr>
        <p:spPr>
          <a:xfrm>
            <a:off x="7085333" y="273919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131" name="row:cgroup / LWT BPF:name"/>
          <p:cNvSpPr txBox="1"/>
          <p:nvPr/>
        </p:nvSpPr>
        <p:spPr>
          <a:xfrm>
            <a:off x="1325880" y="284854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132" name="row:cgroup / LWT BPF:development"/>
          <p:cNvCxnSpPr/>
          <p:nvPr/>
        </p:nvCxnSpPr>
        <p:spPr>
          <a:xfrm>
            <a:off x="6475495" y="2958274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w:cgroup / LWT BPF:start"/>
          <p:cNvSpPr/>
          <p:nvPr/>
        </p:nvSpPr>
        <p:spPr>
          <a:xfrm>
            <a:off x="6443491" y="292627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ow:cgroup / LWT BPF:release:4.10"/>
          <p:cNvSpPr/>
          <p:nvPr/>
        </p:nvSpPr>
        <p:spPr>
          <a:xfrm>
            <a:off x="7233474" y="2914840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ow:cgroup / LWT BPF:label"/>
          <p:cNvSpPr txBox="1"/>
          <p:nvPr/>
        </p:nvSpPr>
        <p:spPr>
          <a:xfrm>
            <a:off x="7350060" y="284854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136" name="row:SOCK_OPS / SOCKMAP:name"/>
          <p:cNvSpPr txBox="1"/>
          <p:nvPr/>
        </p:nvSpPr>
        <p:spPr>
          <a:xfrm>
            <a:off x="1325880" y="295789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137" name="row:SOCK_OPS / SOCKMAP:development"/>
          <p:cNvCxnSpPr/>
          <p:nvPr/>
        </p:nvCxnSpPr>
        <p:spPr>
          <a:xfrm>
            <a:off x="6822681" y="3067621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ow:SOCK_OPS / SOCKMAP:start"/>
          <p:cNvSpPr/>
          <p:nvPr/>
        </p:nvSpPr>
        <p:spPr>
          <a:xfrm>
            <a:off x="6790677" y="30356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9" name="row:SOCK_OPS / SOCKMAP:milestones"/>
          <p:cNvCxnSpPr/>
          <p:nvPr/>
        </p:nvCxnSpPr>
        <p:spPr>
          <a:xfrm>
            <a:off x="7649521" y="3067621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row:SOCK_OPS / SOCKMAP:release:4.13"/>
          <p:cNvSpPr/>
          <p:nvPr/>
        </p:nvSpPr>
        <p:spPr>
          <a:xfrm>
            <a:off x="7606087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ow:SOCK_OPS / SOCKMAP:release:4.14"/>
          <p:cNvSpPr/>
          <p:nvPr/>
        </p:nvSpPr>
        <p:spPr>
          <a:xfrm>
            <a:off x="7739163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ow:SOCK_OPS / SOCKMAP:label"/>
          <p:cNvSpPr txBox="1"/>
          <p:nvPr/>
        </p:nvSpPr>
        <p:spPr>
          <a:xfrm>
            <a:off x="7855749" y="295789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143" name="row:BPF struct_ops:name"/>
          <p:cNvSpPr txBox="1"/>
          <p:nvPr/>
        </p:nvSpPr>
        <p:spPr>
          <a:xfrm>
            <a:off x="1325880" y="306724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144" name="row:BPF struct_ops:development"/>
          <p:cNvCxnSpPr/>
          <p:nvPr/>
        </p:nvCxnSpPr>
        <p:spPr>
          <a:xfrm>
            <a:off x="8419738" y="3176968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w:BPF struct_ops:start"/>
          <p:cNvSpPr/>
          <p:nvPr/>
        </p:nvSpPr>
        <p:spPr>
          <a:xfrm>
            <a:off x="8387734" y="31449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ow:BPF struct_ops:release:5.6"/>
          <p:cNvSpPr/>
          <p:nvPr/>
        </p:nvSpPr>
        <p:spPr>
          <a:xfrm>
            <a:off x="9390734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ow:BPF struct_ops:label"/>
          <p:cNvSpPr txBox="1"/>
          <p:nvPr/>
        </p:nvSpPr>
        <p:spPr>
          <a:xfrm>
            <a:off x="9507320" y="306724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148" name="row:SK_LOOKUP:name"/>
          <p:cNvSpPr txBox="1"/>
          <p:nvPr/>
        </p:nvSpPr>
        <p:spPr>
          <a:xfrm>
            <a:off x="1325880" y="317658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149" name="row:SK_LOOKUP:development"/>
          <p:cNvCxnSpPr/>
          <p:nvPr/>
        </p:nvCxnSpPr>
        <p:spPr>
          <a:xfrm>
            <a:off x="8905798" y="3286315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ow:SK_LOOKUP:start"/>
          <p:cNvSpPr/>
          <p:nvPr/>
        </p:nvSpPr>
        <p:spPr>
          <a:xfrm>
            <a:off x="8873794" y="325431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ow:SK_LOOKUP:release:5.9"/>
          <p:cNvSpPr/>
          <p:nvPr/>
        </p:nvSpPr>
        <p:spPr>
          <a:xfrm>
            <a:off x="9763347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ow:SK_LOOKUP:label"/>
          <p:cNvSpPr txBox="1"/>
          <p:nvPr/>
        </p:nvSpPr>
        <p:spPr>
          <a:xfrm>
            <a:off x="9879933" y="317658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153" name="row:TCX:name"/>
          <p:cNvSpPr txBox="1"/>
          <p:nvPr/>
        </p:nvSpPr>
        <p:spPr>
          <a:xfrm>
            <a:off x="1325880" y="328593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154" name="row:TCX:development"/>
          <p:cNvCxnSpPr/>
          <p:nvPr/>
        </p:nvCxnSpPr>
        <p:spPr>
          <a:xfrm>
            <a:off x="11058353" y="3395662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ow:TCX:start"/>
          <p:cNvSpPr/>
          <p:nvPr/>
        </p:nvSpPr>
        <p:spPr>
          <a:xfrm>
            <a:off x="11026349" y="336365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ow:TCX:release:6.6"/>
          <p:cNvSpPr/>
          <p:nvPr/>
        </p:nvSpPr>
        <p:spPr>
          <a:xfrm>
            <a:off x="11880684" y="3352228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ow:TCX:label"/>
          <p:cNvSpPr txBox="1"/>
          <p:nvPr/>
        </p:nvSpPr>
        <p:spPr>
          <a:xfrm>
            <a:off x="11997270" y="328593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58" name="row:netkit:name"/>
          <p:cNvSpPr txBox="1"/>
          <p:nvPr/>
        </p:nvSpPr>
        <p:spPr>
          <a:xfrm>
            <a:off x="1325880" y="339528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159" name="row:netkit:development"/>
          <p:cNvCxnSpPr/>
          <p:nvPr/>
        </p:nvCxnSpPr>
        <p:spPr>
          <a:xfrm>
            <a:off x="11197228" y="3505009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w:netkit:start"/>
          <p:cNvSpPr/>
          <p:nvPr/>
        </p:nvSpPr>
        <p:spPr>
          <a:xfrm>
            <a:off x="11165224" y="34730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row:netkit:release:6.7"/>
          <p:cNvSpPr/>
          <p:nvPr/>
        </p:nvSpPr>
        <p:spPr>
          <a:xfrm>
            <a:off x="12012335" y="34615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row:netkit:label"/>
          <p:cNvSpPr txBox="1"/>
          <p:nvPr/>
        </p:nvSpPr>
        <p:spPr>
          <a:xfrm>
            <a:off x="12128921" y="339528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163" name="row:BPF qdisc:name"/>
          <p:cNvSpPr txBox="1"/>
          <p:nvPr/>
        </p:nvSpPr>
        <p:spPr>
          <a:xfrm>
            <a:off x="1325880" y="350462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164" name="row:BPF qdisc:development"/>
          <p:cNvCxnSpPr/>
          <p:nvPr/>
        </p:nvCxnSpPr>
        <p:spPr>
          <a:xfrm>
            <a:off x="12308224" y="3614356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w:BPF qdisc:start"/>
          <p:cNvSpPr/>
          <p:nvPr/>
        </p:nvSpPr>
        <p:spPr>
          <a:xfrm>
            <a:off x="12276220" y="35823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ow:BPF qdisc:release:6.16"/>
          <p:cNvSpPr/>
          <p:nvPr/>
        </p:nvSpPr>
        <p:spPr>
          <a:xfrm>
            <a:off x="13088826" y="3570922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row:BPF qdisc:label"/>
          <p:cNvSpPr txBox="1"/>
          <p:nvPr/>
        </p:nvSpPr>
        <p:spPr>
          <a:xfrm>
            <a:off x="13205412" y="350462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68" name="band-label:MEMORY"/>
          <p:cNvSpPr txBox="1"/>
          <p:nvPr/>
        </p:nvSpPr>
        <p:spPr>
          <a:xfrm>
            <a:off x="384048" y="3742182"/>
            <a:ext cx="1051560" cy="10206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169" name="row:page_pool:name"/>
          <p:cNvSpPr txBox="1"/>
          <p:nvPr/>
        </p:nvSpPr>
        <p:spPr>
          <a:xfrm>
            <a:off x="1325880" y="370541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170" name="row:page_pool:development"/>
          <p:cNvCxnSpPr/>
          <p:nvPr/>
        </p:nvCxnSpPr>
        <p:spPr>
          <a:xfrm>
            <a:off x="6614369" y="3815143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ow:page_pool:start"/>
          <p:cNvSpPr/>
          <p:nvPr/>
        </p:nvSpPr>
        <p:spPr>
          <a:xfrm>
            <a:off x="6582365" y="378313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row:page_pool:release:4.18"/>
          <p:cNvSpPr/>
          <p:nvPr/>
        </p:nvSpPr>
        <p:spPr>
          <a:xfrm>
            <a:off x="8258636" y="377170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ow:page_pool:label"/>
          <p:cNvSpPr txBox="1"/>
          <p:nvPr/>
        </p:nvSpPr>
        <p:spPr>
          <a:xfrm>
            <a:off x="8375222" y="370541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74" name="row:Device Memory TCP RX:name"/>
          <p:cNvSpPr txBox="1"/>
          <p:nvPr/>
        </p:nvSpPr>
        <p:spPr>
          <a:xfrm>
            <a:off x="1325880" y="381476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175" name="row:Device Memory TCP RX:development"/>
          <p:cNvCxnSpPr/>
          <p:nvPr/>
        </p:nvCxnSpPr>
        <p:spPr>
          <a:xfrm>
            <a:off x="11405539" y="3924490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row:Device Memory TCP RX:start"/>
          <p:cNvSpPr/>
          <p:nvPr/>
        </p:nvSpPr>
        <p:spPr>
          <a:xfrm>
            <a:off x="11373535" y="389248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ow:Device Memory TCP RX:release:6.12"/>
          <p:cNvSpPr/>
          <p:nvPr/>
        </p:nvSpPr>
        <p:spPr>
          <a:xfrm>
            <a:off x="12611177" y="3881056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ow:Device Memory TCP RX:label"/>
          <p:cNvSpPr txBox="1"/>
          <p:nvPr/>
        </p:nvSpPr>
        <p:spPr>
          <a:xfrm>
            <a:off x="12727763" y="381476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179" name="row:Device Memory TCP TX:name"/>
          <p:cNvSpPr txBox="1"/>
          <p:nvPr/>
        </p:nvSpPr>
        <p:spPr>
          <a:xfrm>
            <a:off x="1325880" y="392410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180" name="row:Device Memory TCP TX:development"/>
          <p:cNvCxnSpPr/>
          <p:nvPr/>
        </p:nvCxnSpPr>
        <p:spPr>
          <a:xfrm>
            <a:off x="12030475" y="4033837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ow:Device Memory TCP TX:start"/>
          <p:cNvSpPr/>
          <p:nvPr/>
        </p:nvSpPr>
        <p:spPr>
          <a:xfrm>
            <a:off x="11998471" y="40018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row:Device Memory TCP TX:release:6.16"/>
          <p:cNvSpPr/>
          <p:nvPr/>
        </p:nvSpPr>
        <p:spPr>
          <a:xfrm>
            <a:off x="13088826" y="39904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row:Device Memory TCP TX:label"/>
          <p:cNvSpPr txBox="1"/>
          <p:nvPr/>
        </p:nvSpPr>
        <p:spPr>
          <a:xfrm>
            <a:off x="13205412" y="392410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84" name="row:io_uring ZCRX:name"/>
          <p:cNvSpPr txBox="1"/>
          <p:nvPr/>
        </p:nvSpPr>
        <p:spPr>
          <a:xfrm>
            <a:off x="1325880" y="403345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185" name="row:io_uring ZCRX:development"/>
          <p:cNvCxnSpPr/>
          <p:nvPr/>
        </p:nvCxnSpPr>
        <p:spPr>
          <a:xfrm>
            <a:off x="11613851" y="4143184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w:io_uring ZCRX:start"/>
          <p:cNvSpPr/>
          <p:nvPr/>
        </p:nvSpPr>
        <p:spPr>
          <a:xfrm>
            <a:off x="11581847" y="41111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row:io_uring ZCRX:release:6.15"/>
          <p:cNvSpPr/>
          <p:nvPr/>
        </p:nvSpPr>
        <p:spPr>
          <a:xfrm>
            <a:off x="12969057" y="4099750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row:io_uring ZCRX:label"/>
          <p:cNvSpPr txBox="1"/>
          <p:nvPr/>
        </p:nvSpPr>
        <p:spPr>
          <a:xfrm>
            <a:off x="13085643" y="403345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189" name="row:large RX buffers (mem. providers):name"/>
          <p:cNvSpPr txBox="1"/>
          <p:nvPr/>
        </p:nvSpPr>
        <p:spPr>
          <a:xfrm>
            <a:off x="1325880" y="414280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190" name="row:large RX buffers (mem. providers):development"/>
          <p:cNvCxnSpPr/>
          <p:nvPr/>
        </p:nvCxnSpPr>
        <p:spPr>
          <a:xfrm>
            <a:off x="12724847" y="425253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ow:large RX buffers (mem. providers):start"/>
          <p:cNvSpPr/>
          <p:nvPr/>
        </p:nvSpPr>
        <p:spPr>
          <a:xfrm>
            <a:off x="12692843" y="422052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row:large RX buffers (mem. providers):release:7.0"/>
          <p:cNvSpPr/>
          <p:nvPr/>
        </p:nvSpPr>
        <p:spPr>
          <a:xfrm>
            <a:off x="13581683" y="420909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row:large RX buffers (mem. providers):label"/>
          <p:cNvSpPr txBox="1"/>
          <p:nvPr/>
        </p:nvSpPr>
        <p:spPr>
          <a:xfrm>
            <a:off x="13698269" y="414280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94" name="row:AF_XDP:name"/>
          <p:cNvSpPr txBox="1"/>
          <p:nvPr/>
        </p:nvSpPr>
        <p:spPr>
          <a:xfrm>
            <a:off x="1325880" y="425215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195" name="row:AF_XDP:development"/>
          <p:cNvCxnSpPr/>
          <p:nvPr/>
        </p:nvCxnSpPr>
        <p:spPr>
          <a:xfrm>
            <a:off x="7169867" y="4361878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row:AF_XDP:start"/>
          <p:cNvSpPr/>
          <p:nvPr/>
        </p:nvSpPr>
        <p:spPr>
          <a:xfrm>
            <a:off x="7137863" y="432987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ow:AF_XDP:release:4.18"/>
          <p:cNvSpPr/>
          <p:nvPr/>
        </p:nvSpPr>
        <p:spPr>
          <a:xfrm>
            <a:off x="8258636" y="4318444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row:AF_XDP:label"/>
          <p:cNvSpPr txBox="1"/>
          <p:nvPr/>
        </p:nvSpPr>
        <p:spPr>
          <a:xfrm>
            <a:off x="8375222" y="425215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99" name="row:XDP multi-buffer:name"/>
          <p:cNvSpPr txBox="1"/>
          <p:nvPr/>
        </p:nvSpPr>
        <p:spPr>
          <a:xfrm>
            <a:off x="1325880" y="436149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200" name="row:XDP multi-buffer:development"/>
          <p:cNvCxnSpPr/>
          <p:nvPr/>
        </p:nvCxnSpPr>
        <p:spPr>
          <a:xfrm>
            <a:off x="9947357" y="4471225"/>
            <a:ext cx="97631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row:XDP multi-buffer:start"/>
          <p:cNvSpPr/>
          <p:nvPr/>
        </p:nvSpPr>
        <p:spPr>
          <a:xfrm>
            <a:off x="9915353" y="44392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ow:XDP multi-buffer:release:5.18"/>
          <p:cNvSpPr/>
          <p:nvPr/>
        </p:nvSpPr>
        <p:spPr>
          <a:xfrm>
            <a:off x="10880236" y="442779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row:XDP multi-buffer:label"/>
          <p:cNvSpPr txBox="1"/>
          <p:nvPr/>
        </p:nvSpPr>
        <p:spPr>
          <a:xfrm>
            <a:off x="10996822" y="436149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204" name="row:AF_XDP multi-buffer:name"/>
          <p:cNvSpPr txBox="1"/>
          <p:nvPr/>
        </p:nvSpPr>
        <p:spPr>
          <a:xfrm>
            <a:off x="1325880" y="447084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205" name="row:AF_XDP multi-buffer:development"/>
          <p:cNvCxnSpPr/>
          <p:nvPr/>
        </p:nvCxnSpPr>
        <p:spPr>
          <a:xfrm>
            <a:off x="10641730" y="4580572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row:AF_XDP multi-buffer:start"/>
          <p:cNvSpPr/>
          <p:nvPr/>
        </p:nvSpPr>
        <p:spPr>
          <a:xfrm>
            <a:off x="10609726" y="45485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ow:AF_XDP multi-buffer:release:6.6"/>
          <p:cNvSpPr/>
          <p:nvPr/>
        </p:nvSpPr>
        <p:spPr>
          <a:xfrm>
            <a:off x="11880684" y="4537138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row:AF_XDP multi-buffer:label"/>
          <p:cNvSpPr txBox="1"/>
          <p:nvPr/>
        </p:nvSpPr>
        <p:spPr>
          <a:xfrm>
            <a:off x="11997270" y="447084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209" name="row:RX HW queue leasing:name"/>
          <p:cNvSpPr txBox="1"/>
          <p:nvPr/>
        </p:nvSpPr>
        <p:spPr>
          <a:xfrm>
            <a:off x="1325880" y="458019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210" name="row:RX HW queue leasing:development"/>
          <p:cNvCxnSpPr/>
          <p:nvPr/>
        </p:nvCxnSpPr>
        <p:spPr>
          <a:xfrm>
            <a:off x="12377661" y="4689919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ow:RX HW queue leasing:start"/>
          <p:cNvSpPr/>
          <p:nvPr/>
        </p:nvSpPr>
        <p:spPr>
          <a:xfrm>
            <a:off x="12345657" y="465791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ow:RX HW queue leasing:release:7.1"/>
          <p:cNvSpPr/>
          <p:nvPr/>
        </p:nvSpPr>
        <p:spPr>
          <a:xfrm>
            <a:off x="13701451" y="464648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row:RX HW queue leasing:label"/>
          <p:cNvSpPr txBox="1"/>
          <p:nvPr/>
        </p:nvSpPr>
        <p:spPr>
          <a:xfrm>
            <a:off x="13818037" y="458019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14" name="band-label:CONTROL PLANE"/>
          <p:cNvSpPr txBox="1"/>
          <p:nvPr/>
        </p:nvSpPr>
        <p:spPr>
          <a:xfrm>
            <a:off x="384048" y="4817745"/>
            <a:ext cx="1051560" cy="6926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215" name="row:nftables (dev. from 2008):name"/>
          <p:cNvSpPr txBox="1"/>
          <p:nvPr/>
        </p:nvSpPr>
        <p:spPr>
          <a:xfrm>
            <a:off x="1325880" y="478097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216" name="row:nftables (dev. from 2008):development"/>
          <p:cNvCxnSpPr/>
          <p:nvPr/>
        </p:nvCxnSpPr>
        <p:spPr>
          <a:xfrm>
            <a:off x="3044951" y="4890706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ow:nftables (dev. from 2008):start-offchart"/>
          <p:cNvSpPr/>
          <p:nvPr/>
        </p:nvSpPr>
        <p:spPr>
          <a:xfrm rot="16200000">
            <a:off x="2980944" y="4849558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row:nftables (dev. from 2008):release:3.13"/>
          <p:cNvSpPr/>
          <p:nvPr/>
        </p:nvSpPr>
        <p:spPr>
          <a:xfrm>
            <a:off x="5091423" y="4847272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row:nftables (dev. from 2008):label"/>
          <p:cNvSpPr txBox="1"/>
          <p:nvPr/>
        </p:nvSpPr>
        <p:spPr>
          <a:xfrm>
            <a:off x="5208009" y="478097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220" name="row:nexthop objects:name"/>
          <p:cNvSpPr txBox="1"/>
          <p:nvPr/>
        </p:nvSpPr>
        <p:spPr>
          <a:xfrm>
            <a:off x="1325880" y="489032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221" name="row:nexthop objects:development"/>
          <p:cNvCxnSpPr/>
          <p:nvPr/>
        </p:nvCxnSpPr>
        <p:spPr>
          <a:xfrm>
            <a:off x="7864240" y="5000053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row:nexthop objects:start"/>
          <p:cNvSpPr/>
          <p:nvPr/>
        </p:nvSpPr>
        <p:spPr>
          <a:xfrm>
            <a:off x="7832236" y="49680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row:nexthop objects:release:5.3"/>
          <p:cNvSpPr/>
          <p:nvPr/>
        </p:nvSpPr>
        <p:spPr>
          <a:xfrm>
            <a:off x="9017645" y="495661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row:nexthop objects:label"/>
          <p:cNvSpPr txBox="1"/>
          <p:nvPr/>
        </p:nvSpPr>
        <p:spPr>
          <a:xfrm>
            <a:off x="9134231" y="489032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225" name="row:YNL tooling:name"/>
          <p:cNvSpPr txBox="1"/>
          <p:nvPr/>
        </p:nvSpPr>
        <p:spPr>
          <a:xfrm>
            <a:off x="1325880" y="499967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226" name="row:YNL tooling:development"/>
          <p:cNvCxnSpPr/>
          <p:nvPr/>
        </p:nvCxnSpPr>
        <p:spPr>
          <a:xfrm>
            <a:off x="10294543" y="5109400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row:YNL tooling:start"/>
          <p:cNvSpPr/>
          <p:nvPr/>
        </p:nvSpPr>
        <p:spPr>
          <a:xfrm>
            <a:off x="10262539" y="50773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row:YNL tooling:release:6.3"/>
          <p:cNvSpPr/>
          <p:nvPr/>
        </p:nvSpPr>
        <p:spPr>
          <a:xfrm>
            <a:off x="11519477" y="5065966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row:YNL tooling:label"/>
          <p:cNvSpPr txBox="1"/>
          <p:nvPr/>
        </p:nvSpPr>
        <p:spPr>
          <a:xfrm>
            <a:off x="11636063" y="499967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30" name="row:per-netns RTNL:name"/>
          <p:cNvSpPr txBox="1"/>
          <p:nvPr/>
        </p:nvSpPr>
        <p:spPr>
          <a:xfrm>
            <a:off x="1325880" y="510901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231" name="row:per-netns RTNL:development"/>
          <p:cNvCxnSpPr/>
          <p:nvPr/>
        </p:nvCxnSpPr>
        <p:spPr>
          <a:xfrm>
            <a:off x="11336102" y="5218747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row:per-netns RTNL:start"/>
          <p:cNvSpPr/>
          <p:nvPr/>
        </p:nvSpPr>
        <p:spPr>
          <a:xfrm>
            <a:off x="11304098" y="518674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row:per-netns RTNL:release:6.13"/>
          <p:cNvSpPr/>
          <p:nvPr/>
        </p:nvSpPr>
        <p:spPr>
          <a:xfrm>
            <a:off x="12729520" y="517531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row:per-netns RTNL:label"/>
          <p:cNvSpPr txBox="1"/>
          <p:nvPr/>
        </p:nvSpPr>
        <p:spPr>
          <a:xfrm>
            <a:off x="12846106" y="510901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235" name="row:further RTNL breakup:name"/>
          <p:cNvSpPr txBox="1"/>
          <p:nvPr/>
        </p:nvSpPr>
        <p:spPr>
          <a:xfrm>
            <a:off x="1325880" y="521836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236" name="row:further RTNL breakup:development"/>
          <p:cNvCxnSpPr/>
          <p:nvPr/>
        </p:nvCxnSpPr>
        <p:spPr>
          <a:xfrm>
            <a:off x="12030475" y="5328094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w:further RTNL breakup:start"/>
          <p:cNvSpPr/>
          <p:nvPr/>
        </p:nvSpPr>
        <p:spPr>
          <a:xfrm>
            <a:off x="11998471" y="529609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row:further RTNL breakup:release:6.15"/>
          <p:cNvSpPr/>
          <p:nvPr/>
        </p:nvSpPr>
        <p:spPr>
          <a:xfrm>
            <a:off x="12969057" y="5284660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row:further RTNL breakup:label"/>
          <p:cNvSpPr txBox="1"/>
          <p:nvPr/>
        </p:nvSpPr>
        <p:spPr>
          <a:xfrm>
            <a:off x="13085643" y="521836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40" name="row:RTNL-less FIB rules:name"/>
          <p:cNvSpPr txBox="1"/>
          <p:nvPr/>
        </p:nvSpPr>
        <p:spPr>
          <a:xfrm>
            <a:off x="1325880" y="532771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241" name="row:RTNL-less FIB rules:development"/>
          <p:cNvCxnSpPr/>
          <p:nvPr/>
        </p:nvCxnSpPr>
        <p:spPr>
          <a:xfrm>
            <a:off x="12724847" y="5437441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ow:RTNL-less FIB rules:start"/>
          <p:cNvSpPr/>
          <p:nvPr/>
        </p:nvSpPr>
        <p:spPr>
          <a:xfrm>
            <a:off x="12692843" y="54054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row:RTNL-less FIB rules:release:7.3-rc"/>
          <p:cNvSpPr/>
          <p:nvPr/>
        </p:nvSpPr>
        <p:spPr>
          <a:xfrm>
            <a:off x="13828824" y="53940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row:RTNL-less FIB rules:label"/>
          <p:cNvSpPr txBox="1"/>
          <p:nvPr/>
        </p:nvSpPr>
        <p:spPr>
          <a:xfrm>
            <a:off x="13945410" y="532771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245" name="band-label:OBSERVABILITY"/>
          <p:cNvSpPr txBox="1"/>
          <p:nvPr/>
        </p:nvSpPr>
        <p:spPr>
          <a:xfrm>
            <a:off x="384048" y="5565267"/>
            <a:ext cx="1051560" cy="58331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246" name="row:kprobe BPF:name"/>
          <p:cNvSpPr txBox="1"/>
          <p:nvPr/>
        </p:nvSpPr>
        <p:spPr>
          <a:xfrm>
            <a:off x="1325880" y="552850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247" name="row:kprobe BPF:development"/>
          <p:cNvCxnSpPr/>
          <p:nvPr/>
        </p:nvCxnSpPr>
        <p:spPr>
          <a:xfrm>
            <a:off x="5225624" y="5638228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row:kprobe BPF:start"/>
          <p:cNvSpPr/>
          <p:nvPr/>
        </p:nvSpPr>
        <p:spPr>
          <a:xfrm>
            <a:off x="5193620" y="56062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row:kprobe BPF:release:4.1"/>
          <p:cNvSpPr/>
          <p:nvPr/>
        </p:nvSpPr>
        <p:spPr>
          <a:xfrm>
            <a:off x="6076662" y="5594794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row:kprobe BPF:label"/>
          <p:cNvSpPr txBox="1"/>
          <p:nvPr/>
        </p:nvSpPr>
        <p:spPr>
          <a:xfrm>
            <a:off x="6193248" y="552850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251" name="row:structured drop reason:name"/>
          <p:cNvSpPr txBox="1"/>
          <p:nvPr/>
        </p:nvSpPr>
        <p:spPr>
          <a:xfrm>
            <a:off x="1325880" y="563784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252" name="row:structured drop reason:development"/>
          <p:cNvCxnSpPr/>
          <p:nvPr/>
        </p:nvCxnSpPr>
        <p:spPr>
          <a:xfrm>
            <a:off x="9947357" y="5747575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row:structured drop reason:start"/>
          <p:cNvSpPr/>
          <p:nvPr/>
        </p:nvSpPr>
        <p:spPr>
          <a:xfrm>
            <a:off x="9915353" y="571557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row:structured drop reason:release:5.17"/>
          <p:cNvSpPr/>
          <p:nvPr/>
        </p:nvSpPr>
        <p:spPr>
          <a:xfrm>
            <a:off x="10760468" y="570414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row:structured drop reason:label"/>
          <p:cNvSpPr txBox="1"/>
          <p:nvPr/>
        </p:nvSpPr>
        <p:spPr>
          <a:xfrm>
            <a:off x="10877054" y="563784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256" name="row:drop-reason expansion:name"/>
          <p:cNvSpPr txBox="1"/>
          <p:nvPr/>
        </p:nvSpPr>
        <p:spPr>
          <a:xfrm>
            <a:off x="1325880" y="574719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257" name="row:drop-reason expansion:development"/>
          <p:cNvCxnSpPr/>
          <p:nvPr/>
        </p:nvCxnSpPr>
        <p:spPr>
          <a:xfrm>
            <a:off x="10780604" y="5856922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w:drop-reason expansion:start"/>
          <p:cNvSpPr/>
          <p:nvPr/>
        </p:nvSpPr>
        <p:spPr>
          <a:xfrm>
            <a:off x="10748600" y="582491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row:drop-reason expansion:release:5.19"/>
          <p:cNvSpPr/>
          <p:nvPr/>
        </p:nvSpPr>
        <p:spPr>
          <a:xfrm>
            <a:off x="11013313" y="5813488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row:drop-reason expansion:label"/>
          <p:cNvSpPr txBox="1"/>
          <p:nvPr/>
        </p:nvSpPr>
        <p:spPr>
          <a:xfrm>
            <a:off x="11129899" y="574719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261" name="row:queue/NAPI netdev-genl:name"/>
          <p:cNvSpPr txBox="1"/>
          <p:nvPr/>
        </p:nvSpPr>
        <p:spPr>
          <a:xfrm>
            <a:off x="1325880" y="585654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queue/NAPI netdev-genl</a:t>
            </a:r>
          </a:p>
        </p:txBody>
      </p:sp>
      <p:cxnSp>
        <p:nvCxnSpPr>
          <p:cNvPr id="262" name="row:queue/NAPI netdev-genl:development"/>
          <p:cNvCxnSpPr/>
          <p:nvPr/>
        </p:nvCxnSpPr>
        <p:spPr>
          <a:xfrm>
            <a:off x="11336102" y="5966269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w:queue/NAPI netdev-genl:start"/>
          <p:cNvSpPr/>
          <p:nvPr/>
        </p:nvSpPr>
        <p:spPr>
          <a:xfrm>
            <a:off x="11304098" y="59342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row:queue/NAPI netdev-genl:release:6.8"/>
          <p:cNvSpPr/>
          <p:nvPr/>
        </p:nvSpPr>
        <p:spPr>
          <a:xfrm>
            <a:off x="12132103" y="592283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row:queue/NAPI netdev-genl:label"/>
          <p:cNvSpPr txBox="1"/>
          <p:nvPr/>
        </p:nvSpPr>
        <p:spPr>
          <a:xfrm>
            <a:off x="12248689" y="585654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266" name="row:qdisc-drop tracepoint:name"/>
          <p:cNvSpPr txBox="1"/>
          <p:nvPr/>
        </p:nvSpPr>
        <p:spPr>
          <a:xfrm>
            <a:off x="1325880" y="596588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267" name="row:qdisc-drop tracepoint:development"/>
          <p:cNvCxnSpPr/>
          <p:nvPr/>
        </p:nvCxnSpPr>
        <p:spPr>
          <a:xfrm>
            <a:off x="12724847" y="6075616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8" name="row:qdisc-drop tracepoint:start"/>
          <p:cNvSpPr/>
          <p:nvPr/>
        </p:nvSpPr>
        <p:spPr>
          <a:xfrm>
            <a:off x="12692843" y="60436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row:qdisc-drop tracepoint:release:7.1"/>
          <p:cNvSpPr/>
          <p:nvPr/>
        </p:nvSpPr>
        <p:spPr>
          <a:xfrm>
            <a:off x="13701451" y="6032182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row:qdisc-drop tracepoint:label"/>
          <p:cNvSpPr txBox="1"/>
          <p:nvPr/>
        </p:nvSpPr>
        <p:spPr>
          <a:xfrm>
            <a:off x="13818037" y="596588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71" name="band-label:DRIVER FRAMEWORK"/>
          <p:cNvSpPr txBox="1"/>
          <p:nvPr/>
        </p:nvSpPr>
        <p:spPr>
          <a:xfrm>
            <a:off x="384048" y="6203442"/>
            <a:ext cx="1051560" cy="1130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272" name="row:switchdev:name"/>
          <p:cNvSpPr txBox="1"/>
          <p:nvPr/>
        </p:nvSpPr>
        <p:spPr>
          <a:xfrm>
            <a:off x="1325880" y="616667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273" name="row:switchdev:development"/>
          <p:cNvCxnSpPr/>
          <p:nvPr/>
        </p:nvCxnSpPr>
        <p:spPr>
          <a:xfrm>
            <a:off x="5086750" y="6276403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row:switchdev:start"/>
          <p:cNvSpPr/>
          <p:nvPr/>
        </p:nvSpPr>
        <p:spPr>
          <a:xfrm>
            <a:off x="5054746" y="624439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row:switchdev:release:3.19"/>
          <p:cNvSpPr/>
          <p:nvPr/>
        </p:nvSpPr>
        <p:spPr>
          <a:xfrm>
            <a:off x="5823817" y="623296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row:switchdev:label"/>
          <p:cNvSpPr txBox="1"/>
          <p:nvPr/>
        </p:nvSpPr>
        <p:spPr>
          <a:xfrm>
            <a:off x="5940403" y="616667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277" name="row:devlink:name"/>
          <p:cNvSpPr txBox="1"/>
          <p:nvPr/>
        </p:nvSpPr>
        <p:spPr>
          <a:xfrm>
            <a:off x="1325880" y="627602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278" name="row:devlink:development"/>
          <p:cNvCxnSpPr/>
          <p:nvPr/>
        </p:nvCxnSpPr>
        <p:spPr>
          <a:xfrm>
            <a:off x="5781122" y="6385750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9" name="row:devlink:start"/>
          <p:cNvSpPr/>
          <p:nvPr/>
        </p:nvSpPr>
        <p:spPr>
          <a:xfrm>
            <a:off x="5749118" y="635374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row:devlink:release:4.6"/>
          <p:cNvSpPr/>
          <p:nvPr/>
        </p:nvSpPr>
        <p:spPr>
          <a:xfrm>
            <a:off x="6702595" y="6342316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row:devlink:label"/>
          <p:cNvSpPr txBox="1"/>
          <p:nvPr/>
        </p:nvSpPr>
        <p:spPr>
          <a:xfrm>
            <a:off x="6819181" y="627602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282" name="row:phylink:name"/>
          <p:cNvSpPr txBox="1"/>
          <p:nvPr/>
        </p:nvSpPr>
        <p:spPr>
          <a:xfrm>
            <a:off x="1325880" y="638536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283" name="row:phylink:development"/>
          <p:cNvCxnSpPr/>
          <p:nvPr/>
        </p:nvCxnSpPr>
        <p:spPr>
          <a:xfrm>
            <a:off x="5919997" y="6495097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w:phylink:start"/>
          <p:cNvSpPr/>
          <p:nvPr/>
        </p:nvSpPr>
        <p:spPr>
          <a:xfrm>
            <a:off x="5887993" y="64630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row:phylink:release:4.14"/>
          <p:cNvSpPr/>
          <p:nvPr/>
        </p:nvSpPr>
        <p:spPr>
          <a:xfrm>
            <a:off x="7739163" y="645166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row:phylink:label"/>
          <p:cNvSpPr txBox="1"/>
          <p:nvPr/>
        </p:nvSpPr>
        <p:spPr>
          <a:xfrm>
            <a:off x="7855749" y="638536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287" name="row:Net DIM:name"/>
          <p:cNvSpPr txBox="1"/>
          <p:nvPr/>
        </p:nvSpPr>
        <p:spPr>
          <a:xfrm>
            <a:off x="1325880" y="649471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288" name="row:Net DIM:development"/>
          <p:cNvCxnSpPr/>
          <p:nvPr/>
        </p:nvCxnSpPr>
        <p:spPr>
          <a:xfrm>
            <a:off x="7169867" y="6604444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w:Net DIM:start"/>
          <p:cNvSpPr/>
          <p:nvPr/>
        </p:nvSpPr>
        <p:spPr>
          <a:xfrm>
            <a:off x="7137863" y="65724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row:Net DIM:release:4.16"/>
          <p:cNvSpPr/>
          <p:nvPr/>
        </p:nvSpPr>
        <p:spPr>
          <a:xfrm>
            <a:off x="8005791" y="6561010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row:Net DIM:label"/>
          <p:cNvSpPr txBox="1"/>
          <p:nvPr/>
        </p:nvSpPr>
        <p:spPr>
          <a:xfrm>
            <a:off x="8122377" y="649471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292" name="row:netdevsim:name"/>
          <p:cNvSpPr txBox="1"/>
          <p:nvPr/>
        </p:nvSpPr>
        <p:spPr>
          <a:xfrm>
            <a:off x="1325880" y="660406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293" name="row:netdevsim:development"/>
          <p:cNvCxnSpPr/>
          <p:nvPr/>
        </p:nvCxnSpPr>
        <p:spPr>
          <a:xfrm>
            <a:off x="7517053" y="6713791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w:netdevsim:start"/>
          <p:cNvSpPr/>
          <p:nvPr/>
        </p:nvSpPr>
        <p:spPr>
          <a:xfrm>
            <a:off x="7485049" y="668178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row:netdevsim:release:4.16"/>
          <p:cNvSpPr/>
          <p:nvPr/>
        </p:nvSpPr>
        <p:spPr>
          <a:xfrm>
            <a:off x="8005791" y="667035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row:netdevsim:label"/>
          <p:cNvSpPr txBox="1"/>
          <p:nvPr/>
        </p:nvSpPr>
        <p:spPr>
          <a:xfrm>
            <a:off x="8122377" y="660406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297" name="row:devlink health:name"/>
          <p:cNvSpPr txBox="1"/>
          <p:nvPr/>
        </p:nvSpPr>
        <p:spPr>
          <a:xfrm>
            <a:off x="1325880" y="671341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298" name="row:devlink health:development"/>
          <p:cNvCxnSpPr/>
          <p:nvPr/>
        </p:nvCxnSpPr>
        <p:spPr>
          <a:xfrm>
            <a:off x="7864240" y="6823138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w:devlink health:start"/>
          <p:cNvSpPr/>
          <p:nvPr/>
        </p:nvSpPr>
        <p:spPr>
          <a:xfrm>
            <a:off x="7832236" y="679113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row:devlink health:release:5.1"/>
          <p:cNvSpPr/>
          <p:nvPr/>
        </p:nvSpPr>
        <p:spPr>
          <a:xfrm>
            <a:off x="8764800" y="6779704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row:devlink health:label"/>
          <p:cNvSpPr txBox="1"/>
          <p:nvPr/>
        </p:nvSpPr>
        <p:spPr>
          <a:xfrm>
            <a:off x="8881386" y="671341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302" name="row:ethtool netlink:name"/>
          <p:cNvSpPr txBox="1"/>
          <p:nvPr/>
        </p:nvSpPr>
        <p:spPr>
          <a:xfrm>
            <a:off x="1325880" y="682275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303" name="row:ethtool netlink:development"/>
          <p:cNvCxnSpPr/>
          <p:nvPr/>
        </p:nvCxnSpPr>
        <p:spPr>
          <a:xfrm>
            <a:off x="7864240" y="693248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w:ethtool netlink:start"/>
          <p:cNvSpPr/>
          <p:nvPr/>
        </p:nvSpPr>
        <p:spPr>
          <a:xfrm>
            <a:off x="7832236" y="69004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row:ethtool netlink:release:5.6"/>
          <p:cNvSpPr/>
          <p:nvPr/>
        </p:nvSpPr>
        <p:spPr>
          <a:xfrm>
            <a:off x="9390734" y="68890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row:ethtool netlink:label"/>
          <p:cNvSpPr txBox="1"/>
          <p:nvPr/>
        </p:nvSpPr>
        <p:spPr>
          <a:xfrm>
            <a:off x="9507320" y="682275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307" name="row:auxiliary bus:name"/>
          <p:cNvSpPr txBox="1"/>
          <p:nvPr/>
        </p:nvSpPr>
        <p:spPr>
          <a:xfrm>
            <a:off x="1325880" y="693210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308" name="row:auxiliary bus:development"/>
          <p:cNvCxnSpPr/>
          <p:nvPr/>
        </p:nvCxnSpPr>
        <p:spPr>
          <a:xfrm>
            <a:off x="9252985" y="7041832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9" name="row:auxiliary bus:start"/>
          <p:cNvSpPr/>
          <p:nvPr/>
        </p:nvSpPr>
        <p:spPr>
          <a:xfrm>
            <a:off x="9220981" y="70098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row:auxiliary bus:release:5.11"/>
          <p:cNvSpPr/>
          <p:nvPr/>
        </p:nvSpPr>
        <p:spPr>
          <a:xfrm>
            <a:off x="10001458" y="6998398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row:auxiliary bus:label"/>
          <p:cNvSpPr txBox="1"/>
          <p:nvPr/>
        </p:nvSpPr>
        <p:spPr>
          <a:xfrm>
            <a:off x="10118044" y="693210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312" name="row:threaded NAPI:name"/>
          <p:cNvSpPr txBox="1"/>
          <p:nvPr/>
        </p:nvSpPr>
        <p:spPr>
          <a:xfrm>
            <a:off x="1325880" y="704145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313" name="row:threaded NAPI:development"/>
          <p:cNvCxnSpPr/>
          <p:nvPr/>
        </p:nvCxnSpPr>
        <p:spPr>
          <a:xfrm>
            <a:off x="9461296" y="7151179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row:threaded NAPI:start"/>
          <p:cNvSpPr/>
          <p:nvPr/>
        </p:nvSpPr>
        <p:spPr>
          <a:xfrm>
            <a:off x="9429292" y="711917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row:threaded NAPI:release:5.12"/>
          <p:cNvSpPr/>
          <p:nvPr/>
        </p:nvSpPr>
        <p:spPr>
          <a:xfrm>
            <a:off x="10134535" y="710774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row:threaded NAPI:label"/>
          <p:cNvSpPr txBox="1"/>
          <p:nvPr/>
        </p:nvSpPr>
        <p:spPr>
          <a:xfrm>
            <a:off x="10251121" y="704145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5.12</a:t>
            </a:r>
          </a:p>
        </p:txBody>
      </p:sp>
      <p:sp>
        <p:nvSpPr>
          <p:cNvPr id="317" name="row:Rust phylib:name"/>
          <p:cNvSpPr txBox="1"/>
          <p:nvPr/>
        </p:nvSpPr>
        <p:spPr>
          <a:xfrm>
            <a:off x="1325880" y="715079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318" name="row:Rust phylib:development"/>
          <p:cNvCxnSpPr/>
          <p:nvPr/>
        </p:nvCxnSpPr>
        <p:spPr>
          <a:xfrm>
            <a:off x="11336102" y="7260526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ow:Rust phylib:start"/>
          <p:cNvSpPr/>
          <p:nvPr/>
        </p:nvSpPr>
        <p:spPr>
          <a:xfrm>
            <a:off x="11304098" y="722852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row:Rust phylib:release:6.8"/>
          <p:cNvSpPr/>
          <p:nvPr/>
        </p:nvSpPr>
        <p:spPr>
          <a:xfrm>
            <a:off x="12132103" y="7217092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row:Rust phylib:label"/>
          <p:cNvSpPr txBox="1"/>
          <p:nvPr/>
        </p:nvSpPr>
        <p:spPr>
          <a:xfrm>
            <a:off x="12248689" y="715079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22" name="legend:title"/>
          <p:cNvSpPr txBox="1"/>
          <p:nvPr/>
        </p:nvSpPr>
        <p:spPr>
          <a:xfrm>
            <a:off x="384048" y="7434072"/>
            <a:ext cx="5486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23" name="legend:start"/>
          <p:cNvSpPr/>
          <p:nvPr/>
        </p:nvSpPr>
        <p:spPr>
          <a:xfrm>
            <a:off x="946404" y="74752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24" name="legend:dev"/>
          <p:cNvCxnSpPr/>
          <p:nvPr/>
        </p:nvCxnSpPr>
        <p:spPr>
          <a:xfrm>
            <a:off x="1014983" y="7507224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legend:release"/>
          <p:cNvSpPr/>
          <p:nvPr/>
        </p:nvSpPr>
        <p:spPr>
          <a:xfrm>
            <a:off x="1337310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legend:t1"/>
          <p:cNvSpPr txBox="1"/>
          <p:nvPr/>
        </p:nvSpPr>
        <p:spPr>
          <a:xfrm>
            <a:off x="1481328" y="7434072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27" name="legend:m1"/>
          <p:cNvSpPr/>
          <p:nvPr/>
        </p:nvSpPr>
        <p:spPr>
          <a:xfrm>
            <a:off x="395249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28" name="legend:m-line"/>
          <p:cNvCxnSpPr/>
          <p:nvPr/>
        </p:nvCxnSpPr>
        <p:spPr>
          <a:xfrm>
            <a:off x="3995928" y="7507224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legend:m2"/>
          <p:cNvSpPr/>
          <p:nvPr/>
        </p:nvSpPr>
        <p:spPr>
          <a:xfrm>
            <a:off x="422681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legend:t2"/>
          <p:cNvSpPr txBox="1"/>
          <p:nvPr/>
        </p:nvSpPr>
        <p:spPr>
          <a:xfrm>
            <a:off x="4370832" y="7434072"/>
            <a:ext cx="14630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31" name="legend:era"/>
          <p:cNvSpPr/>
          <p:nvPr/>
        </p:nvSpPr>
        <p:spPr>
          <a:xfrm>
            <a:off x="5641848" y="7452360"/>
            <a:ext cx="274320" cy="109728"/>
          </a:xfrm>
          <a:prstGeom prst="rect">
            <a:avLst/>
          </a:prstGeom>
          <a:solidFill>
            <a:srgbClr val="33415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legend:t3"/>
          <p:cNvSpPr txBox="1"/>
          <p:nvPr/>
        </p:nvSpPr>
        <p:spPr>
          <a:xfrm>
            <a:off x="5961888" y="7434072"/>
            <a:ext cx="10058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33" name="legend:ga"/>
          <p:cNvCxnSpPr/>
          <p:nvPr/>
        </p:nvCxnSpPr>
        <p:spPr>
          <a:xfrm>
            <a:off x="6967728" y="7443216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4" name="legend:t4"/>
          <p:cNvSpPr txBox="1"/>
          <p:nvPr/>
        </p:nvSpPr>
        <p:spPr>
          <a:xfrm>
            <a:off x="7059168" y="7434072"/>
            <a:ext cx="9144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35" name="legend:lineage-down"/>
          <p:cNvCxnSpPr/>
          <p:nvPr/>
        </p:nvCxnSpPr>
        <p:spPr>
          <a:xfrm>
            <a:off x="7927848" y="7443216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legend:lineage-across"/>
          <p:cNvCxnSpPr/>
          <p:nvPr/>
        </p:nvCxnSpPr>
        <p:spPr>
          <a:xfrm>
            <a:off x="7927848" y="7507224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legend:t5"/>
          <p:cNvSpPr txBox="1"/>
          <p:nvPr/>
        </p:nvSpPr>
        <p:spPr>
          <a:xfrm>
            <a:off x="8339327" y="7434072"/>
            <a:ext cx="310896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 (MEMORY only): release that a later feature builds on</a:t>
            </a:r>
          </a:p>
        </p:txBody>
      </p:sp>
      <p:sp>
        <p:nvSpPr>
          <p:cNvPr id="338" name="legend:offchart"/>
          <p:cNvSpPr/>
          <p:nvPr/>
        </p:nvSpPr>
        <p:spPr>
          <a:xfrm rot="16200000">
            <a:off x="11494008" y="7466076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legend:t6"/>
          <p:cNvSpPr txBox="1"/>
          <p:nvPr/>
        </p:nvSpPr>
        <p:spPr>
          <a:xfrm>
            <a:off x="11649456" y="7434072"/>
            <a:ext cx="18288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40" name="notes:left"/>
          <p:cNvSpPr txBox="1"/>
          <p:nvPr/>
        </p:nvSpPr>
        <p:spPr>
          <a:xfrm>
            <a:off x="384048" y="7616952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in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approximate start of visible development (RFC / patch series). Not audited.</a:t>
            </a:r>
          </a:p>
        </p:txBody>
      </p:sp>
      <p:sp>
        <p:nvSpPr>
          <p:cNvPr id="341" name="notes:right"/>
          <p:cNvSpPr txBox="1"/>
          <p:nvPr/>
        </p:nvSpPr>
        <p:spPr>
          <a:xfrm>
            <a:off x="7388352" y="7616952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architecture axis. Cross-cutting domains (e.g. BBR, MPTCP, kTLS) and netmem / memory providers (provenance still open) have no 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