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00" d="100"/>
          <a:sy n="100" d="100"/>
        </p:scale>
        <p:origin x="7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506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Editing notes (figure synced to canonical edition r52)</a:t>
            </a:r>
          </a:p>
          <a:p>
            <a:r>
              <a:t>- Trial in this version: every row repeats its feature name as a caption next to its marks (row:&lt;feature&gt;:caption, grey, regular weight), to the right of the release label or, where that would leave the band or cross a lineage line, to the left of the start label. The name column on the left is unchanged. To go back, delete the :caption objects or use r52-v1.</a:t>
            </a:r>
          </a:p>
          <a:p>
            <a:r>
              <a:t>- Every band, label, marker and line is a native, named PowerPoint object (row:&lt;feature&gt;:name / :start / :development / :release:&lt;ver&gt; / :milestones / :label / :start-label).</a:t>
            </a:r>
          </a:p>
          <a:p>
            <a:r>
              <a:t>- Release markers sit on the kernel release date of the canonical version; 7.3-rc sits on the net-next-7.3 mainline merge date.</a:t>
            </a:r>
          </a:p>
          <a:p>
            <a:r>
              <a:t>- Row selection: rows are representative architecture milestones selected from Part VI and grouped by its axis; the figure is an overview, not a reduced Part VI. Not drawn: milestones whose subject is a cross-cutting domain (TRANSPORT, VIRTUAL / OVERLAY, SECURITY) and further Part VI milestones such as SO_REUSEPORT, MSG_ZEROCOPY, TCP_ZEROCOPY_RECEIVE, CAKE, UDP GRO, mac80211 airtime / AQL, Flower, TC ct, SK_MSG, flow dissector, nftables flowtable and route-cache removal. A full-milestone version would need two slides (Performance / Programmability / Memory and Control / Observability / Driver).</a:t>
            </a:r>
          </a:p>
          <a:p>
            <a:r>
              <a:t>- Bundled rows show one marker per release: SO_TXTIME / EDT / taprio (4.19, 4.20); SOCK_OPS / SOCKMAP (4.13, 4.14); XDP devmap / cpumap (4.14, 4.15). One marker stands for two Part VI rows of the same release in CoDel / fq_codel (3.5), cgroup / LWT BPF (4.10), io_uring SEND_ZC / multishot recv (6.0) and queue/NAPI/page_pool netdev-genl (6.8).</a:t>
            </a:r>
          </a:p>
          <a:p>
            <a:r>
              <a:t>- Successive milestones on one row (solid line, label a · b): eBPF foundation = internal BPF ISA rework (3.15) and bpf() / maps / verifier (3.18); BIG TCP extensions = IPv4 BIG TCP (6.3), IPv6 BIG TCP without HBH (7.0), tunnel BIG TCP (7.3-rc); Device Memory TCP = RX (6.12) and TX (6.16); Net DIM = initial generation (4.16) and common-library integration (5.3); threaded NAPI = origin (5.12) and kthread busy-poll extension (6.19).</a:t>
            </a:r>
          </a:p>
          <a:p>
            <a:r>
              <a:t>- io_uring ZCRX and page_pool memory-provider hooks are separate rows although both are 6.15: they are two Part VI rows with separate Part VII anchors, not one feature.</a:t>
            </a:r>
          </a:p>
          <a:p>
            <a:r>
              <a:t>- MEMORY lineage is a tree, not a chain: page_pool → netmem → Device Memory TCP RX. From the RX release (6.12) the trunk branches to devmem RX buffers &gt; PAGE_SIZE (7.3-rc, the devmem binding side) and to page_pool memory-provider hooks (6.15). r52 states this order explicitly: the consumer-specific devmem path came first, the generic provider API followed. The hooks then branch to large RX buffers for providers / ZCRX (7.0, the provider side) and to io_uring ZCRX, which landed on them in the same release (arrow ends on its ●).</a:t>
            </a:r>
          </a:p>
          <a:p>
            <a:r>
              <a:t>- namespace FD / setns(): first release 3.0 (Part VI status "release"; setns(2): "Linux 3.0"). The off-chart triangle only says that visible development began before 2011.</a:t>
            </a:r>
          </a:p>
          <a:p>
            <a:r>
              <a:t>- BTF sits in OBSERVABILITY (Part VI axis PROGRAMMABILITY / OBSERVABILITY) because Part V builds its observability story on it; XDP multi-buffer sits in PROGRAMMABILITY, its Part VI axis.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  <a:p>
            <a:r>
              <a:t>- Rows inside each band are ordered by lineage rather than strictly by date. A lineage trunk drops from a parent release (●); a horizontal arrow runs to the start (○) of a feature that began afterwards (or to the ● of a row without a start estimate), the trunk ends on the dashed line of a feature already in development, and a small dot marks a child the trunk passes through.</a:t>
            </a:r>
          </a:p>
          <a:p>
            <a:r>
              <a:t>- Other links: sch_fq / TCP pacing → SO_TXTIME / EDT / taprio; BIG TCP → BIG TCP extensions; eBPF foundation → TC BPF, cgroup / LWT BPF, SOCK_OPS / SOCKMAP, XDP; TC BPF → TCX → netkit (shared bpf_mprog attachment); BPF struct_ops → BPF qdisc; XDP → XDP devmap / cpumap, XDP multi-buffer; AF_XDP → AF_XDP multi-buffer; per-netns RTNL → further RTNL breakup → RTNL-less FIB rules and per-netns netdev unregistration; structured drop reason → drop-reason expansion; switchdev → devlink → devlink health.</a:t>
            </a:r>
          </a:p>
          <a:p>
            <a:r>
              <a:t>- Across bands: eBPF foundation → kprobe BPF; XDP → AF_XDP and XDP → page_pool (XDP was one of the pressures behind page_pool, not its only origin); XDP multi-buffer → AF_XDP multi-buffer; YNL tooling → queue/NAPI/page_pool netdev-genl (the netdev family is YNL-specified).</a:t>
            </a:r>
          </a:p>
          <a:p>
            <a:r>
              <a:t>- Deliberately not linked: the queueing layers (BQL, CoDel / fq_codel, TSQ, fq; parallel, not derived), dev_queue_xmit() llist (implementation scalability, not a contract), io_uring SEND_ZC (precedes ZCRX but is a different API), BTF and kprobe BPF (parallel observability primitives in Part V), RX HW queue leasing (interacts with AF_XDP / io_uring), and netdev-genl → queue leasing / ZCRX (conceptual only).</a:t>
            </a:r>
          </a:p>
          <a:p>
            <a:r>
              <a:t>- Development starts are from memory, not audited: nftables ~2008 and namespace FD / setns() before 2011 (off-chart), XDP ~early 2016, CoDel / fq_codel ~May 2012, XDP devmap / cpumap ~mid 2017, BTF ~March 2018, io_uring SEND_ZC ~Dec 2021, netmem ~Dec 2023, dev_queue_xmit() llist ~Oct 2025. Rows without ○ (devmem RX buffers &gt; PAGE_SIZE, page_pool memory-provider hooks, per-netns netdev unregistration) have no estimate.</a:t>
            </a:r>
          </a:p>
          <a:p>
            <a:r>
              <a:t>- Start labels (~X.Y) give the version under development at the plotted start date, i.e. the first kernel released after that date. Where a lineage arrow runs into a start label, its shaft is broken around the label (…:across:before-label + …:across).</a:t>
            </a:r>
          </a:p>
          <a:p>
            <a:r>
              <a:t>- Era span arrows: era-span:&lt;n&gt;:left / :right.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320040" y="137160"/>
            <a:ext cx="139903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Explicit resource / control contracts let execution and memory models coexist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557784"/>
            <a:ext cx="1399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 · canonical edition r52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08760"/>
            <a:ext cx="14173200" cy="1104763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band:PROGRAMMABILITY"/>
          <p:cNvSpPr/>
          <p:nvPr/>
        </p:nvSpPr>
        <p:spPr>
          <a:xfrm>
            <a:off x="228600" y="2668388"/>
            <a:ext cx="14173200" cy="1201871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band:MEMORY"/>
          <p:cNvSpPr/>
          <p:nvPr/>
        </p:nvSpPr>
        <p:spPr>
          <a:xfrm>
            <a:off x="228600" y="3925124"/>
            <a:ext cx="14173200" cy="1007655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band:CONTROL PLANE"/>
          <p:cNvSpPr/>
          <p:nvPr/>
        </p:nvSpPr>
        <p:spPr>
          <a:xfrm>
            <a:off x="228600" y="4987644"/>
            <a:ext cx="14173200" cy="813439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band:OBSERVABILITY"/>
          <p:cNvSpPr/>
          <p:nvPr/>
        </p:nvSpPr>
        <p:spPr>
          <a:xfrm>
            <a:off x="228600" y="5855948"/>
            <a:ext cx="14173200" cy="619223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band:DRIVER FRAMEWORK"/>
          <p:cNvSpPr/>
          <p:nvPr/>
        </p:nvSpPr>
        <p:spPr>
          <a:xfrm>
            <a:off x="228600" y="6530036"/>
            <a:ext cx="14173200" cy="1007655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era-shade:2"/>
          <p:cNvSpPr/>
          <p:nvPr/>
        </p:nvSpPr>
        <p:spPr>
          <a:xfrm>
            <a:off x="5795009" y="813816"/>
            <a:ext cx="2777490" cy="6742163"/>
          </a:xfrm>
          <a:prstGeom prst="rect">
            <a:avLst/>
          </a:prstGeom>
          <a:solidFill>
            <a:srgbClr val="47556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era-shade:4"/>
          <p:cNvSpPr/>
          <p:nvPr/>
        </p:nvSpPr>
        <p:spPr>
          <a:xfrm>
            <a:off x="11349989" y="813816"/>
            <a:ext cx="2777490" cy="6742163"/>
          </a:xfrm>
          <a:prstGeom prst="rect">
            <a:avLst/>
          </a:prstGeom>
          <a:solidFill>
            <a:srgbClr val="47556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3" name="lineage:sch_fq / TCP pacing:trunk"/>
          <p:cNvCxnSpPr/>
          <p:nvPr/>
        </p:nvCxnSpPr>
        <p:spPr>
          <a:xfrm>
            <a:off x="4987998" y="2009753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lineage:sch_fq / TCP pacing-&gt;SO_TXTIME / EDT / taprio:across:before-label"/>
          <p:cNvCxnSpPr/>
          <p:nvPr/>
        </p:nvCxnSpPr>
        <p:spPr>
          <a:xfrm>
            <a:off x="4987998" y="2061141"/>
            <a:ext cx="1906470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5" name="lineage:sch_fq / TCP pacing-&gt;SO_TXTIME / EDT / taprio:across"/>
          <p:cNvCxnSpPr/>
          <p:nvPr/>
        </p:nvCxnSpPr>
        <p:spPr>
          <a:xfrm>
            <a:off x="7180726" y="2061141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6" name="lineage:BIG TCP:trunk"/>
          <p:cNvCxnSpPr/>
          <p:nvPr/>
        </p:nvCxnSpPr>
        <p:spPr>
          <a:xfrm>
            <a:off x="11056747" y="2203969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7" name="lineage:BIG TCP-&gt;BIG TCP extensions:across"/>
          <p:cNvCxnSpPr/>
          <p:nvPr/>
        </p:nvCxnSpPr>
        <p:spPr>
          <a:xfrm>
            <a:off x="11056747" y="2255357"/>
            <a:ext cx="46044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8" name="lineage:eBPF foundation:trunk"/>
          <p:cNvCxnSpPr/>
          <p:nvPr/>
        </p:nvCxnSpPr>
        <p:spPr>
          <a:xfrm>
            <a:off x="5747007" y="2780949"/>
            <a:ext cx="0" cy="322980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9" name="lineage:eBPF foundation-&gt;TC BPF:junction"/>
          <p:cNvSpPr/>
          <p:nvPr/>
        </p:nvSpPr>
        <p:spPr>
          <a:xfrm>
            <a:off x="5726890" y="2812220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90" name="lineage:eBPF foundation-&gt;cgroup / LWT BPF:across:before-label"/>
          <p:cNvCxnSpPr/>
          <p:nvPr/>
        </p:nvCxnSpPr>
        <p:spPr>
          <a:xfrm>
            <a:off x="5747007" y="3123661"/>
            <a:ext cx="358664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1" name="lineage:eBPF foundation-&gt;cgroup / LWT BPF:across"/>
          <p:cNvCxnSpPr/>
          <p:nvPr/>
        </p:nvCxnSpPr>
        <p:spPr>
          <a:xfrm>
            <a:off x="6347479" y="3123661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2" name="lineage:eBPF foundation-&gt;SOCK_OPS / SOCKMAP:across:before-label"/>
          <p:cNvCxnSpPr/>
          <p:nvPr/>
        </p:nvCxnSpPr>
        <p:spPr>
          <a:xfrm>
            <a:off x="5747007" y="3220769"/>
            <a:ext cx="705850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3" name="lineage:eBPF foundation-&gt;SOCK_OPS / SOCKMAP:across"/>
          <p:cNvCxnSpPr/>
          <p:nvPr/>
        </p:nvCxnSpPr>
        <p:spPr>
          <a:xfrm>
            <a:off x="6694665" y="3220769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4" name="lineage:eBPF foundation-&gt;XDP:across:before-label"/>
          <p:cNvCxnSpPr/>
          <p:nvPr/>
        </p:nvCxnSpPr>
        <p:spPr>
          <a:xfrm>
            <a:off x="5747007" y="3609201"/>
            <a:ext cx="441988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5" name="lineage:eBPF foundation-&gt;XDP:across"/>
          <p:cNvCxnSpPr/>
          <p:nvPr/>
        </p:nvCxnSpPr>
        <p:spPr>
          <a:xfrm>
            <a:off x="6430803" y="3609201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6" name="lineage:TC BPF:trunk"/>
          <p:cNvCxnSpPr/>
          <p:nvPr/>
        </p:nvCxnSpPr>
        <p:spPr>
          <a:xfrm>
            <a:off x="6120096" y="2878057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7" name="lineage:TC BPF-&gt;TCX:across:before-label"/>
          <p:cNvCxnSpPr/>
          <p:nvPr/>
        </p:nvCxnSpPr>
        <p:spPr>
          <a:xfrm>
            <a:off x="6120096" y="2929445"/>
            <a:ext cx="4568433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8" name="lineage:TC BPF-&gt;TCX:across"/>
          <p:cNvCxnSpPr/>
          <p:nvPr/>
        </p:nvCxnSpPr>
        <p:spPr>
          <a:xfrm>
            <a:off x="10930337" y="2929445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9" name="lineage:TCX-&gt;netkit"/>
          <p:cNvCxnSpPr/>
          <p:nvPr/>
        </p:nvCxnSpPr>
        <p:spPr>
          <a:xfrm>
            <a:off x="11924118" y="2975165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0" name="lineage:BPF struct_ops:trunk"/>
          <p:cNvCxnSpPr/>
          <p:nvPr/>
        </p:nvCxnSpPr>
        <p:spPr>
          <a:xfrm>
            <a:off x="9434168" y="3363597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1" name="lineage:BPF struct_ops-&gt;BPF qdisc:across:before-label"/>
          <p:cNvCxnSpPr/>
          <p:nvPr/>
        </p:nvCxnSpPr>
        <p:spPr>
          <a:xfrm>
            <a:off x="9434168" y="3414985"/>
            <a:ext cx="2459782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2" name="lineage:BPF struct_ops-&gt;BPF qdisc:across"/>
          <p:cNvCxnSpPr/>
          <p:nvPr/>
        </p:nvCxnSpPr>
        <p:spPr>
          <a:xfrm>
            <a:off x="12180208" y="3414985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3" name="lineage:XDP:trunk"/>
          <p:cNvCxnSpPr/>
          <p:nvPr/>
        </p:nvCxnSpPr>
        <p:spPr>
          <a:xfrm>
            <a:off x="7012181" y="3654921"/>
            <a:ext cx="0" cy="522116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4" name="lineage:XDP-&gt;XDP devmap / cpumap:across"/>
          <p:cNvCxnSpPr/>
          <p:nvPr/>
        </p:nvCxnSpPr>
        <p:spPr>
          <a:xfrm>
            <a:off x="7012181" y="3706309"/>
            <a:ext cx="38612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5" name="lineage:XDP-&gt;XDP multi-buffer:across:before-label"/>
          <p:cNvCxnSpPr/>
          <p:nvPr/>
        </p:nvCxnSpPr>
        <p:spPr>
          <a:xfrm>
            <a:off x="7012181" y="3803417"/>
            <a:ext cx="2520902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6" name="lineage:XDP-&gt;XDP multi-buffer:across"/>
          <p:cNvCxnSpPr/>
          <p:nvPr/>
        </p:nvCxnSpPr>
        <p:spPr>
          <a:xfrm>
            <a:off x="9819341" y="3803417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7" name="lineage:XDP-&gt;AF_XDP:across"/>
          <p:cNvCxnSpPr/>
          <p:nvPr/>
        </p:nvCxnSpPr>
        <p:spPr>
          <a:xfrm>
            <a:off x="7012181" y="3991965"/>
            <a:ext cx="11653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8" name="lineage:XDP multi-buffer-&gt;AF_XDP multi-buffer"/>
          <p:cNvCxnSpPr/>
          <p:nvPr/>
        </p:nvCxnSpPr>
        <p:spPr>
          <a:xfrm>
            <a:off x="10923670" y="3849137"/>
            <a:ext cx="0" cy="230792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9" name="lineage:AF_XDP:trunk"/>
          <p:cNvCxnSpPr/>
          <p:nvPr/>
        </p:nvCxnSpPr>
        <p:spPr>
          <a:xfrm>
            <a:off x="8302070" y="4037685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0" name="lineage:AF_XDP-&gt;AF_XDP multi-buffer:across:before-label"/>
          <p:cNvCxnSpPr/>
          <p:nvPr/>
        </p:nvCxnSpPr>
        <p:spPr>
          <a:xfrm>
            <a:off x="8302070" y="4089073"/>
            <a:ext cx="1925386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1" name="lineage:AF_XDP-&gt;AF_XDP multi-buffer:across"/>
          <p:cNvCxnSpPr/>
          <p:nvPr/>
        </p:nvCxnSpPr>
        <p:spPr>
          <a:xfrm>
            <a:off x="10513714" y="4089073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2" name="lineage:page_pool:trunk"/>
          <p:cNvCxnSpPr/>
          <p:nvPr/>
        </p:nvCxnSpPr>
        <p:spPr>
          <a:xfrm>
            <a:off x="8302070" y="4231901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lineage:page_pool-&gt;netmem:across:before-label"/>
          <p:cNvCxnSpPr/>
          <p:nvPr/>
        </p:nvCxnSpPr>
        <p:spPr>
          <a:xfrm>
            <a:off x="8302070" y="4283289"/>
            <a:ext cx="3330169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4" name="lineage:page_pool-&gt;netmem:across"/>
          <p:cNvCxnSpPr/>
          <p:nvPr/>
        </p:nvCxnSpPr>
        <p:spPr>
          <a:xfrm>
            <a:off x="11874047" y="4283289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lineage:netmem-&gt;Device Memory TCP RX · TX"/>
          <p:cNvCxnSpPr/>
          <p:nvPr/>
        </p:nvCxnSpPr>
        <p:spPr>
          <a:xfrm>
            <a:off x="12294831" y="4329009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6" name="lineage:Device Memory TCP RX · TX:trunk"/>
          <p:cNvCxnSpPr/>
          <p:nvPr/>
        </p:nvCxnSpPr>
        <p:spPr>
          <a:xfrm>
            <a:off x="12654611" y="4426117"/>
            <a:ext cx="0" cy="148496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7" name="lineage:Device Memory TCP RX · TX-&gt;devmem RX buffers &gt; PAGE_SIZE:across"/>
          <p:cNvCxnSpPr/>
          <p:nvPr/>
        </p:nvCxnSpPr>
        <p:spPr>
          <a:xfrm>
            <a:off x="12654611" y="4477505"/>
            <a:ext cx="1171927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8" name="lineage:Device Memory TCP RX · TX-&gt;page_pool memory-provider hooks:across"/>
          <p:cNvCxnSpPr/>
          <p:nvPr/>
        </p:nvCxnSpPr>
        <p:spPr>
          <a:xfrm>
            <a:off x="12654611" y="4574613"/>
            <a:ext cx="31216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lineage:page_pool memory-provider hooks:trunk"/>
          <p:cNvCxnSpPr/>
          <p:nvPr/>
        </p:nvCxnSpPr>
        <p:spPr>
          <a:xfrm>
            <a:off x="13012491" y="4620333"/>
            <a:ext cx="0" cy="10049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0" name="lineage:page_pool memory-provider hooks-&gt;large RX buffers (providers / ZCRX):junction"/>
          <p:cNvSpPr/>
          <p:nvPr/>
        </p:nvSpPr>
        <p:spPr>
          <a:xfrm>
            <a:off x="12992374" y="4651604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821" name="lineage:per-netns RTNL-&gt;further RTNL breakup"/>
          <p:cNvCxnSpPr/>
          <p:nvPr/>
        </p:nvCxnSpPr>
        <p:spPr>
          <a:xfrm>
            <a:off x="12772954" y="5391529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2" name="lineage:further RTNL breakup:trunk"/>
          <p:cNvCxnSpPr/>
          <p:nvPr/>
        </p:nvCxnSpPr>
        <p:spPr>
          <a:xfrm>
            <a:off x="13012491" y="5488637"/>
            <a:ext cx="0" cy="148496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3" name="lineage:further RTNL breakup-&gt;RTNL-less FIB rules:junction"/>
          <p:cNvSpPr/>
          <p:nvPr/>
        </p:nvSpPr>
        <p:spPr>
          <a:xfrm>
            <a:off x="12992374" y="5519908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824" name="lineage:further RTNL breakup-&gt;per-netns netdev unregistration:across"/>
          <p:cNvCxnSpPr/>
          <p:nvPr/>
        </p:nvCxnSpPr>
        <p:spPr>
          <a:xfrm>
            <a:off x="13012491" y="5637133"/>
            <a:ext cx="814047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5" name="lineage:structured drop reason-&gt;drop-reason expansion"/>
          <p:cNvCxnSpPr/>
          <p:nvPr/>
        </p:nvCxnSpPr>
        <p:spPr>
          <a:xfrm>
            <a:off x="10803902" y="6259833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6" name="lineage:switchdev-&gt;devlink"/>
          <p:cNvCxnSpPr/>
          <p:nvPr/>
        </p:nvCxnSpPr>
        <p:spPr>
          <a:xfrm>
            <a:off x="5867251" y="6642597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7" name="lineage:devlink:trunk"/>
          <p:cNvCxnSpPr/>
          <p:nvPr/>
        </p:nvCxnSpPr>
        <p:spPr>
          <a:xfrm>
            <a:off x="6746029" y="6739705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8" name="lineage:devlink-&gt;devlink health:across:before-label"/>
          <p:cNvCxnSpPr/>
          <p:nvPr/>
        </p:nvCxnSpPr>
        <p:spPr>
          <a:xfrm>
            <a:off x="6746029" y="6791093"/>
            <a:ext cx="703937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9" name="lineage:devlink-&gt;devlink health:across"/>
          <p:cNvCxnSpPr/>
          <p:nvPr/>
        </p:nvCxnSpPr>
        <p:spPr>
          <a:xfrm>
            <a:off x="7736224" y="6791093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0" name="lineage:YNL tooling-&gt;queue/NAPI/page_pool netdev-genl"/>
          <p:cNvCxnSpPr/>
          <p:nvPr/>
        </p:nvCxnSpPr>
        <p:spPr>
          <a:xfrm>
            <a:off x="11562911" y="5779961"/>
            <a:ext cx="0" cy="13368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band-label:PERFORMANCE"/>
          <p:cNvSpPr txBox="1"/>
          <p:nvPr/>
        </p:nvSpPr>
        <p:spPr>
          <a:xfrm>
            <a:off x="384048" y="1508760"/>
            <a:ext cx="1051560" cy="110476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438" name="row:DQL / BQL:name"/>
          <p:cNvSpPr txBox="1"/>
          <p:nvPr/>
        </p:nvSpPr>
        <p:spPr>
          <a:xfrm>
            <a:off x="1325880" y="14658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439" name="row:DQL / BQL:development"/>
          <p:cNvCxnSpPr/>
          <p:nvPr/>
        </p:nvCxnSpPr>
        <p:spPr>
          <a:xfrm>
            <a:off x="3211944" y="1575601"/>
            <a:ext cx="6463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" name="row:DQL / BQL:start"/>
          <p:cNvSpPr/>
          <p:nvPr/>
        </p:nvSpPr>
        <p:spPr>
          <a:xfrm>
            <a:off x="3179940" y="15435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1" name="row:DQL / BQL:release:3.3"/>
          <p:cNvSpPr/>
          <p:nvPr/>
        </p:nvSpPr>
        <p:spPr>
          <a:xfrm>
            <a:off x="3814842" y="153216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2" name="row:DQL / BQL:label"/>
          <p:cNvSpPr txBox="1"/>
          <p:nvPr/>
        </p:nvSpPr>
        <p:spPr>
          <a:xfrm>
            <a:off x="3931428" y="14658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444" name="row:CoDel / fq_codel:name"/>
          <p:cNvSpPr txBox="1"/>
          <p:nvPr/>
        </p:nvSpPr>
        <p:spPr>
          <a:xfrm>
            <a:off x="1325880" y="15629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CoDel / fq_codel</a:t>
            </a:r>
          </a:p>
        </p:txBody>
      </p:sp>
      <p:cxnSp>
        <p:nvCxnSpPr>
          <p:cNvPr id="445" name="row:CoDel / fq_codel:development"/>
          <p:cNvCxnSpPr/>
          <p:nvPr/>
        </p:nvCxnSpPr>
        <p:spPr>
          <a:xfrm>
            <a:off x="3949053" y="1672709"/>
            <a:ext cx="1463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row:CoDel / fq_codel:start"/>
          <p:cNvSpPr/>
          <p:nvPr/>
        </p:nvSpPr>
        <p:spPr>
          <a:xfrm>
            <a:off x="3917049" y="16407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7" name="row:CoDel / fq_codel:release:3.5"/>
          <p:cNvSpPr/>
          <p:nvPr/>
        </p:nvSpPr>
        <p:spPr>
          <a:xfrm>
            <a:off x="4052003" y="162927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8" name="row:CoDel / fq_codel:label"/>
          <p:cNvSpPr txBox="1"/>
          <p:nvPr/>
        </p:nvSpPr>
        <p:spPr>
          <a:xfrm>
            <a:off x="4168589" y="15629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3.5</a:t>
            </a:r>
          </a:p>
        </p:txBody>
      </p:sp>
      <p:sp>
        <p:nvSpPr>
          <p:cNvPr id="450" name="row:TSQ:name"/>
          <p:cNvSpPr txBox="1"/>
          <p:nvPr/>
        </p:nvSpPr>
        <p:spPr>
          <a:xfrm>
            <a:off x="1325880" y="16600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451" name="row:TSQ:development"/>
          <p:cNvCxnSpPr/>
          <p:nvPr/>
        </p:nvCxnSpPr>
        <p:spPr>
          <a:xfrm>
            <a:off x="3698005" y="1769817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row:TSQ:start"/>
          <p:cNvSpPr/>
          <p:nvPr/>
        </p:nvSpPr>
        <p:spPr>
          <a:xfrm>
            <a:off x="3666001" y="17378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3" name="row:TSQ:release:3.6"/>
          <p:cNvSpPr/>
          <p:nvPr/>
        </p:nvSpPr>
        <p:spPr>
          <a:xfrm>
            <a:off x="4187455" y="17263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4" name="row:TSQ:label"/>
          <p:cNvSpPr txBox="1"/>
          <p:nvPr/>
        </p:nvSpPr>
        <p:spPr>
          <a:xfrm>
            <a:off x="4304041" y="16600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456" name="row:SO_BUSY_POLL:name"/>
          <p:cNvSpPr txBox="1"/>
          <p:nvPr/>
        </p:nvSpPr>
        <p:spPr>
          <a:xfrm>
            <a:off x="1325880" y="17571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457" name="row:SO_BUSY_POLL:development"/>
          <p:cNvCxnSpPr/>
          <p:nvPr/>
        </p:nvCxnSpPr>
        <p:spPr>
          <a:xfrm>
            <a:off x="4392377" y="1866925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row:SO_BUSY_POLL:start"/>
          <p:cNvSpPr/>
          <p:nvPr/>
        </p:nvSpPr>
        <p:spPr>
          <a:xfrm>
            <a:off x="4360373" y="18349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9" name="row:SO_BUSY_POLL:release:3.11"/>
          <p:cNvSpPr/>
          <p:nvPr/>
        </p:nvSpPr>
        <p:spPr>
          <a:xfrm>
            <a:off x="4826696" y="182349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0" name="row:SO_BUSY_POLL:label"/>
          <p:cNvSpPr txBox="1"/>
          <p:nvPr/>
        </p:nvSpPr>
        <p:spPr>
          <a:xfrm>
            <a:off x="4943282" y="17571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462" name="row:sch_fq / TCP pacing:name"/>
          <p:cNvSpPr txBox="1"/>
          <p:nvPr/>
        </p:nvSpPr>
        <p:spPr>
          <a:xfrm>
            <a:off x="1325880" y="18543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463" name="row:sch_fq / TCP pacing:development"/>
          <p:cNvCxnSpPr/>
          <p:nvPr/>
        </p:nvCxnSpPr>
        <p:spPr>
          <a:xfrm>
            <a:off x="4253503" y="1964033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4" name="row:sch_fq / TCP pacing:start"/>
          <p:cNvSpPr/>
          <p:nvPr/>
        </p:nvSpPr>
        <p:spPr>
          <a:xfrm>
            <a:off x="4221499" y="19320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5" name="row:sch_fq / TCP pacing:release:3.12"/>
          <p:cNvSpPr/>
          <p:nvPr/>
        </p:nvSpPr>
        <p:spPr>
          <a:xfrm>
            <a:off x="4944564" y="1920599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6" name="row:sch_fq / TCP pacing:label"/>
          <p:cNvSpPr txBox="1"/>
          <p:nvPr/>
        </p:nvSpPr>
        <p:spPr>
          <a:xfrm>
            <a:off x="5061150" y="18543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468" name="row:SO_TXTIME / EDT / taprio:name"/>
          <p:cNvSpPr txBox="1"/>
          <p:nvPr/>
        </p:nvSpPr>
        <p:spPr>
          <a:xfrm>
            <a:off x="1325880" y="19514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469" name="row:SO_TXTIME / EDT / taprio:development"/>
          <p:cNvCxnSpPr/>
          <p:nvPr/>
        </p:nvCxnSpPr>
        <p:spPr>
          <a:xfrm>
            <a:off x="7308742" y="2061141"/>
            <a:ext cx="112830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row:SO_TXTIME / EDT / taprio:start"/>
          <p:cNvSpPr/>
          <p:nvPr/>
        </p:nvSpPr>
        <p:spPr>
          <a:xfrm>
            <a:off x="7276738" y="20291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71" name="row:SO_TXTIME / EDT / taprio:milestones"/>
          <p:cNvCxnSpPr/>
          <p:nvPr/>
        </p:nvCxnSpPr>
        <p:spPr>
          <a:xfrm>
            <a:off x="8437047" y="2061141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2" name="row:SO_TXTIME / EDT / taprio:release:4.19"/>
          <p:cNvSpPr/>
          <p:nvPr/>
        </p:nvSpPr>
        <p:spPr>
          <a:xfrm>
            <a:off x="8393613" y="201770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3" name="row:SO_TXTIME / EDT / taprio:release:4.20"/>
          <p:cNvSpPr/>
          <p:nvPr/>
        </p:nvSpPr>
        <p:spPr>
          <a:xfrm>
            <a:off x="8511480" y="201770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4" name="row:SO_TXTIME / EDT / taprio:label"/>
          <p:cNvSpPr txBox="1"/>
          <p:nvPr/>
        </p:nvSpPr>
        <p:spPr>
          <a:xfrm>
            <a:off x="8628066" y="19514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476" name="row:BIG TCP:name"/>
          <p:cNvSpPr txBox="1"/>
          <p:nvPr/>
        </p:nvSpPr>
        <p:spPr>
          <a:xfrm>
            <a:off x="1325880" y="204852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477" name="row:BIG TCP:development"/>
          <p:cNvCxnSpPr/>
          <p:nvPr/>
        </p:nvCxnSpPr>
        <p:spPr>
          <a:xfrm>
            <a:off x="10086232" y="2158249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8" name="row:BIG TCP:start"/>
          <p:cNvSpPr/>
          <p:nvPr/>
        </p:nvSpPr>
        <p:spPr>
          <a:xfrm>
            <a:off x="10054228" y="212624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9" name="row:BIG TCP:release:5.19"/>
          <p:cNvSpPr/>
          <p:nvPr/>
        </p:nvSpPr>
        <p:spPr>
          <a:xfrm>
            <a:off x="11013313" y="211481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0" name="row:BIG TCP:label"/>
          <p:cNvSpPr txBox="1"/>
          <p:nvPr/>
        </p:nvSpPr>
        <p:spPr>
          <a:xfrm>
            <a:off x="11129899" y="204852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482" name="row:BIG TCP extensions:name"/>
          <p:cNvSpPr txBox="1"/>
          <p:nvPr/>
        </p:nvSpPr>
        <p:spPr>
          <a:xfrm>
            <a:off x="1325880" y="214562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483" name="row:BIG TCP extensions:milestones"/>
          <p:cNvCxnSpPr/>
          <p:nvPr/>
        </p:nvCxnSpPr>
        <p:spPr>
          <a:xfrm>
            <a:off x="11562911" y="2255357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row:BIG TCP extensions:release:6.3"/>
          <p:cNvSpPr/>
          <p:nvPr/>
        </p:nvSpPr>
        <p:spPr>
          <a:xfrm>
            <a:off x="11519477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5" name="row:BIG TCP extensions:release:7.0"/>
          <p:cNvSpPr/>
          <p:nvPr/>
        </p:nvSpPr>
        <p:spPr>
          <a:xfrm>
            <a:off x="13581683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6" name="row:BIG TCP extensions:release:7.3-rc"/>
          <p:cNvSpPr/>
          <p:nvPr/>
        </p:nvSpPr>
        <p:spPr>
          <a:xfrm>
            <a:off x="13828824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7" name="row:BIG TCP extensions:label"/>
          <p:cNvSpPr txBox="1"/>
          <p:nvPr/>
        </p:nvSpPr>
        <p:spPr>
          <a:xfrm>
            <a:off x="9813163" y="2145629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25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488" name="row:io_uring SEND_ZC / multishot recv:name"/>
          <p:cNvSpPr txBox="1"/>
          <p:nvPr/>
        </p:nvSpPr>
        <p:spPr>
          <a:xfrm>
            <a:off x="1325880" y="224273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io_uring SEND_ZC / multishot recv</a:t>
            </a:r>
          </a:p>
        </p:txBody>
      </p:sp>
      <p:cxnSp>
        <p:nvCxnSpPr>
          <p:cNvPr id="489" name="row:io_uring SEND_ZC / multishot recv:development"/>
          <p:cNvCxnSpPr/>
          <p:nvPr/>
        </p:nvCxnSpPr>
        <p:spPr>
          <a:xfrm>
            <a:off x="10597159" y="2352465"/>
            <a:ext cx="579356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0" name="row:io_uring SEND_ZC / multishot recv:start"/>
          <p:cNvSpPr/>
          <p:nvPr/>
        </p:nvSpPr>
        <p:spPr>
          <a:xfrm>
            <a:off x="10565155" y="232046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1" name="row:io_uring SEND_ZC / multishot recv:release:6.0"/>
          <p:cNvSpPr/>
          <p:nvPr/>
        </p:nvSpPr>
        <p:spPr>
          <a:xfrm>
            <a:off x="11133081" y="230903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2" name="row:io_uring SEND_ZC / multishot recv:label"/>
          <p:cNvSpPr txBox="1"/>
          <p:nvPr/>
        </p:nvSpPr>
        <p:spPr>
          <a:xfrm>
            <a:off x="11249667" y="224273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6.0</a:t>
            </a:r>
          </a:p>
        </p:txBody>
      </p:sp>
      <p:sp>
        <p:nvSpPr>
          <p:cNvPr id="494" name="row:dev_queue_xmit() llist:name"/>
          <p:cNvSpPr txBox="1"/>
          <p:nvPr/>
        </p:nvSpPr>
        <p:spPr>
          <a:xfrm>
            <a:off x="1325880" y="233984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dev_queue_xmit() llist</a:t>
            </a:r>
          </a:p>
        </p:txBody>
      </p:sp>
      <p:cxnSp>
        <p:nvCxnSpPr>
          <p:cNvPr id="495" name="row:dev_queue_xmit() llist:development"/>
          <p:cNvCxnSpPr/>
          <p:nvPr/>
        </p:nvCxnSpPr>
        <p:spPr>
          <a:xfrm>
            <a:off x="13275792" y="2449573"/>
            <a:ext cx="2300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6" name="row:dev_queue_xmit() llist:start"/>
          <p:cNvSpPr/>
          <p:nvPr/>
        </p:nvSpPr>
        <p:spPr>
          <a:xfrm>
            <a:off x="13243788" y="241756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7" name="row:dev_queue_xmit() llist:release:6.19"/>
          <p:cNvSpPr/>
          <p:nvPr/>
        </p:nvSpPr>
        <p:spPr>
          <a:xfrm>
            <a:off x="13462390" y="2406139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8" name="row:dev_queue_xmit() llist:label"/>
          <p:cNvSpPr txBox="1"/>
          <p:nvPr/>
        </p:nvSpPr>
        <p:spPr>
          <a:xfrm>
            <a:off x="13578976" y="233984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6.19</a:t>
            </a:r>
          </a:p>
        </p:txBody>
      </p:sp>
      <p:sp>
        <p:nvSpPr>
          <p:cNvPr id="500" name="row:cake_mq:name"/>
          <p:cNvSpPr txBox="1"/>
          <p:nvPr/>
        </p:nvSpPr>
        <p:spPr>
          <a:xfrm>
            <a:off x="1325880" y="243695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501" name="row:cake_mq:development"/>
          <p:cNvCxnSpPr/>
          <p:nvPr/>
        </p:nvCxnSpPr>
        <p:spPr>
          <a:xfrm>
            <a:off x="12724847" y="2546681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2" name="row:cake_mq:start"/>
          <p:cNvSpPr/>
          <p:nvPr/>
        </p:nvSpPr>
        <p:spPr>
          <a:xfrm>
            <a:off x="12692843" y="251467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3" name="row:cake_mq:release:7.0"/>
          <p:cNvSpPr/>
          <p:nvPr/>
        </p:nvSpPr>
        <p:spPr>
          <a:xfrm>
            <a:off x="13581683" y="250324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4" name="row:cake_mq:label"/>
          <p:cNvSpPr txBox="1"/>
          <p:nvPr/>
        </p:nvSpPr>
        <p:spPr>
          <a:xfrm>
            <a:off x="13698269" y="243695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39" name="band-label:PROGRAMMABILITY"/>
          <p:cNvSpPr txBox="1"/>
          <p:nvPr/>
        </p:nvSpPr>
        <p:spPr>
          <a:xfrm>
            <a:off x="384048" y="2668388"/>
            <a:ext cx="1051560" cy="12018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506" name="row:eBPF foundation:name"/>
          <p:cNvSpPr txBox="1"/>
          <p:nvPr/>
        </p:nvSpPr>
        <p:spPr>
          <a:xfrm>
            <a:off x="1325880" y="26255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507" name="row:eBPF foundation:development"/>
          <p:cNvCxnSpPr/>
          <p:nvPr/>
        </p:nvCxnSpPr>
        <p:spPr>
          <a:xfrm>
            <a:off x="4739563" y="2735229"/>
            <a:ext cx="66192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8" name="row:eBPF foundation:start"/>
          <p:cNvSpPr/>
          <p:nvPr/>
        </p:nvSpPr>
        <p:spPr>
          <a:xfrm>
            <a:off x="4707559" y="27032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09" name="row:eBPF foundation:milestones"/>
          <p:cNvCxnSpPr/>
          <p:nvPr/>
        </p:nvCxnSpPr>
        <p:spPr>
          <a:xfrm>
            <a:off x="5401485" y="2735229"/>
            <a:ext cx="345522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0" name="row:eBPF foundation:release:3.15"/>
          <p:cNvSpPr/>
          <p:nvPr/>
        </p:nvSpPr>
        <p:spPr>
          <a:xfrm>
            <a:off x="5358051" y="269179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1" name="row:eBPF foundation:release:3.18"/>
          <p:cNvSpPr/>
          <p:nvPr/>
        </p:nvSpPr>
        <p:spPr>
          <a:xfrm>
            <a:off x="5703573" y="269179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2" name="row:eBPF foundation:label"/>
          <p:cNvSpPr txBox="1"/>
          <p:nvPr/>
        </p:nvSpPr>
        <p:spPr>
          <a:xfrm>
            <a:off x="5820159" y="26255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3.15 · 3.18</a:t>
            </a:r>
          </a:p>
        </p:txBody>
      </p:sp>
      <p:sp>
        <p:nvSpPr>
          <p:cNvPr id="514" name="row:TC BPF:name"/>
          <p:cNvSpPr txBox="1"/>
          <p:nvPr/>
        </p:nvSpPr>
        <p:spPr>
          <a:xfrm>
            <a:off x="1325880" y="27226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515" name="row:TC BPF:development"/>
          <p:cNvCxnSpPr/>
          <p:nvPr/>
        </p:nvCxnSpPr>
        <p:spPr>
          <a:xfrm>
            <a:off x="5642248" y="2832337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6" name="row:TC BPF:start"/>
          <p:cNvSpPr/>
          <p:nvPr/>
        </p:nvSpPr>
        <p:spPr>
          <a:xfrm>
            <a:off x="5610244" y="28003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7" name="row:TC BPF:release:4.1"/>
          <p:cNvSpPr/>
          <p:nvPr/>
        </p:nvSpPr>
        <p:spPr>
          <a:xfrm>
            <a:off x="6076662" y="278890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8" name="row:TC BPF:label"/>
          <p:cNvSpPr txBox="1"/>
          <p:nvPr/>
        </p:nvSpPr>
        <p:spPr>
          <a:xfrm>
            <a:off x="6193248" y="272260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520" name="row:TCX:name"/>
          <p:cNvSpPr txBox="1"/>
          <p:nvPr/>
        </p:nvSpPr>
        <p:spPr>
          <a:xfrm>
            <a:off x="1325880" y="281971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521" name="row:TCX:development"/>
          <p:cNvCxnSpPr/>
          <p:nvPr/>
        </p:nvCxnSpPr>
        <p:spPr>
          <a:xfrm>
            <a:off x="11058353" y="2929445"/>
            <a:ext cx="86576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ow:TCX:start"/>
          <p:cNvSpPr/>
          <p:nvPr/>
        </p:nvSpPr>
        <p:spPr>
          <a:xfrm>
            <a:off x="11026349" y="289744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3" name="row:TCX:release:6.6"/>
          <p:cNvSpPr/>
          <p:nvPr/>
        </p:nvSpPr>
        <p:spPr>
          <a:xfrm>
            <a:off x="11880684" y="288601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4" name="row:TCX:label"/>
          <p:cNvSpPr txBox="1"/>
          <p:nvPr/>
        </p:nvSpPr>
        <p:spPr>
          <a:xfrm>
            <a:off x="11997270" y="281971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526" name="row:netkit:name"/>
          <p:cNvSpPr txBox="1"/>
          <p:nvPr/>
        </p:nvSpPr>
        <p:spPr>
          <a:xfrm>
            <a:off x="1325880" y="291682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527" name="row:netkit:development"/>
          <p:cNvCxnSpPr/>
          <p:nvPr/>
        </p:nvCxnSpPr>
        <p:spPr>
          <a:xfrm>
            <a:off x="11197228" y="3026553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8" name="row:netkit:start"/>
          <p:cNvSpPr/>
          <p:nvPr/>
        </p:nvSpPr>
        <p:spPr>
          <a:xfrm>
            <a:off x="11165224" y="29945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9" name="row:netkit:release:6.7"/>
          <p:cNvSpPr/>
          <p:nvPr/>
        </p:nvSpPr>
        <p:spPr>
          <a:xfrm>
            <a:off x="12012335" y="298311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0" name="row:netkit:label"/>
          <p:cNvSpPr txBox="1"/>
          <p:nvPr/>
        </p:nvSpPr>
        <p:spPr>
          <a:xfrm>
            <a:off x="12128921" y="291682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532" name="row:cgroup / LWT BPF:name"/>
          <p:cNvSpPr txBox="1"/>
          <p:nvPr/>
        </p:nvSpPr>
        <p:spPr>
          <a:xfrm>
            <a:off x="1325880" y="301393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533" name="row:cgroup / LWT BPF:development"/>
          <p:cNvCxnSpPr/>
          <p:nvPr/>
        </p:nvCxnSpPr>
        <p:spPr>
          <a:xfrm>
            <a:off x="6475495" y="3123661"/>
            <a:ext cx="8014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4" name="row:cgroup / LWT BPF:start"/>
          <p:cNvSpPr/>
          <p:nvPr/>
        </p:nvSpPr>
        <p:spPr>
          <a:xfrm>
            <a:off x="6443491" y="309165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5" name="row:cgroup / LWT BPF:release:4.10"/>
          <p:cNvSpPr/>
          <p:nvPr/>
        </p:nvSpPr>
        <p:spPr>
          <a:xfrm>
            <a:off x="7233474" y="308022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6" name="row:cgroup / LWT BPF:label"/>
          <p:cNvSpPr txBox="1"/>
          <p:nvPr/>
        </p:nvSpPr>
        <p:spPr>
          <a:xfrm>
            <a:off x="7350060" y="301393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538" name="row:SOCK_OPS / SOCKMAP:name"/>
          <p:cNvSpPr txBox="1"/>
          <p:nvPr/>
        </p:nvSpPr>
        <p:spPr>
          <a:xfrm>
            <a:off x="1325880" y="311104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539" name="row:SOCK_OPS / SOCKMAP:development"/>
          <p:cNvCxnSpPr/>
          <p:nvPr/>
        </p:nvCxnSpPr>
        <p:spPr>
          <a:xfrm>
            <a:off x="6822681" y="3220769"/>
            <a:ext cx="82684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0" name="row:SOCK_OPS / SOCKMAP:start"/>
          <p:cNvSpPr/>
          <p:nvPr/>
        </p:nvSpPr>
        <p:spPr>
          <a:xfrm>
            <a:off x="6790677" y="31887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41" name="row:SOCK_OPS / SOCKMAP:milestones"/>
          <p:cNvCxnSpPr/>
          <p:nvPr/>
        </p:nvCxnSpPr>
        <p:spPr>
          <a:xfrm>
            <a:off x="7649521" y="3220769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2" name="row:SOCK_OPS / SOCKMAP:release:4.13"/>
          <p:cNvSpPr/>
          <p:nvPr/>
        </p:nvSpPr>
        <p:spPr>
          <a:xfrm>
            <a:off x="7606087" y="317733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3" name="row:SOCK_OPS / SOCKMAP:release:4.14"/>
          <p:cNvSpPr/>
          <p:nvPr/>
        </p:nvSpPr>
        <p:spPr>
          <a:xfrm>
            <a:off x="7739163" y="317733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4" name="row:SOCK_OPS / SOCKMAP:label"/>
          <p:cNvSpPr txBox="1"/>
          <p:nvPr/>
        </p:nvSpPr>
        <p:spPr>
          <a:xfrm>
            <a:off x="7855749" y="311104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546" name="row:BPF struct_ops:name"/>
          <p:cNvSpPr txBox="1"/>
          <p:nvPr/>
        </p:nvSpPr>
        <p:spPr>
          <a:xfrm>
            <a:off x="1325880" y="320814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547" name="row:BPF struct_ops:development"/>
          <p:cNvCxnSpPr/>
          <p:nvPr/>
        </p:nvCxnSpPr>
        <p:spPr>
          <a:xfrm>
            <a:off x="8419738" y="3317877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row:BPF struct_ops:start"/>
          <p:cNvSpPr/>
          <p:nvPr/>
        </p:nvSpPr>
        <p:spPr>
          <a:xfrm>
            <a:off x="8387734" y="328587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9" name="row:BPF struct_ops:release:5.6"/>
          <p:cNvSpPr/>
          <p:nvPr/>
        </p:nvSpPr>
        <p:spPr>
          <a:xfrm>
            <a:off x="9390734" y="327444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0" name="row:BPF struct_ops:label"/>
          <p:cNvSpPr txBox="1"/>
          <p:nvPr/>
        </p:nvSpPr>
        <p:spPr>
          <a:xfrm>
            <a:off x="9507320" y="320814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552" name="row:BPF qdisc:name"/>
          <p:cNvSpPr txBox="1"/>
          <p:nvPr/>
        </p:nvSpPr>
        <p:spPr>
          <a:xfrm>
            <a:off x="1325880" y="33052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553" name="row:BPF qdisc:development"/>
          <p:cNvCxnSpPr/>
          <p:nvPr/>
        </p:nvCxnSpPr>
        <p:spPr>
          <a:xfrm>
            <a:off x="12308224" y="3414985"/>
            <a:ext cx="82403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row:BPF qdisc:start"/>
          <p:cNvSpPr/>
          <p:nvPr/>
        </p:nvSpPr>
        <p:spPr>
          <a:xfrm>
            <a:off x="12276220" y="33829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5" name="row:BPF qdisc:release:6.16"/>
          <p:cNvSpPr/>
          <p:nvPr/>
        </p:nvSpPr>
        <p:spPr>
          <a:xfrm>
            <a:off x="13088826" y="337155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6" name="row:BPF qdisc:label"/>
          <p:cNvSpPr txBox="1"/>
          <p:nvPr/>
        </p:nvSpPr>
        <p:spPr>
          <a:xfrm>
            <a:off x="13205412" y="33052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558" name="row:SK_LOOKUP:name"/>
          <p:cNvSpPr txBox="1"/>
          <p:nvPr/>
        </p:nvSpPr>
        <p:spPr>
          <a:xfrm>
            <a:off x="1325880" y="34023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559" name="row:SK_LOOKUP:development"/>
          <p:cNvCxnSpPr/>
          <p:nvPr/>
        </p:nvCxnSpPr>
        <p:spPr>
          <a:xfrm>
            <a:off x="8905798" y="3512093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row:SK_LOOKUP:start"/>
          <p:cNvSpPr/>
          <p:nvPr/>
        </p:nvSpPr>
        <p:spPr>
          <a:xfrm>
            <a:off x="8873794" y="348008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1" name="row:SK_LOOKUP:release:5.9"/>
          <p:cNvSpPr/>
          <p:nvPr/>
        </p:nvSpPr>
        <p:spPr>
          <a:xfrm>
            <a:off x="9763347" y="346865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2" name="row:SK_LOOKUP:label"/>
          <p:cNvSpPr txBox="1"/>
          <p:nvPr/>
        </p:nvSpPr>
        <p:spPr>
          <a:xfrm>
            <a:off x="9879933" y="34023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564" name="row:XDP:name"/>
          <p:cNvSpPr txBox="1"/>
          <p:nvPr/>
        </p:nvSpPr>
        <p:spPr>
          <a:xfrm>
            <a:off x="1325880" y="34994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565" name="row:XDP:development"/>
          <p:cNvCxnSpPr/>
          <p:nvPr/>
        </p:nvCxnSpPr>
        <p:spPr>
          <a:xfrm>
            <a:off x="6558819" y="3609201"/>
            <a:ext cx="45336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6" name="row:XDP:start"/>
          <p:cNvSpPr/>
          <p:nvPr/>
        </p:nvSpPr>
        <p:spPr>
          <a:xfrm>
            <a:off x="6526815" y="35771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7" name="row:XDP:release:4.8"/>
          <p:cNvSpPr/>
          <p:nvPr/>
        </p:nvSpPr>
        <p:spPr>
          <a:xfrm>
            <a:off x="6968747" y="356576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8" name="row:XDP:label"/>
          <p:cNvSpPr txBox="1"/>
          <p:nvPr/>
        </p:nvSpPr>
        <p:spPr>
          <a:xfrm>
            <a:off x="7085333" y="34994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570" name="row:XDP devmap / cpumap:name"/>
          <p:cNvSpPr txBox="1"/>
          <p:nvPr/>
        </p:nvSpPr>
        <p:spPr>
          <a:xfrm>
            <a:off x="1325880" y="35965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 devmap / cpumap</a:t>
            </a:r>
          </a:p>
        </p:txBody>
      </p:sp>
      <p:cxnSp>
        <p:nvCxnSpPr>
          <p:cNvPr id="571" name="row:XDP devmap / cpumap:development"/>
          <p:cNvCxnSpPr/>
          <p:nvPr/>
        </p:nvCxnSpPr>
        <p:spPr>
          <a:xfrm>
            <a:off x="7439451" y="3706309"/>
            <a:ext cx="34314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2" name="row:XDP devmap / cpumap:start"/>
          <p:cNvSpPr/>
          <p:nvPr/>
        </p:nvSpPr>
        <p:spPr>
          <a:xfrm>
            <a:off x="7407447" y="36743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73" name="row:XDP devmap / cpumap:milestones"/>
          <p:cNvCxnSpPr/>
          <p:nvPr/>
        </p:nvCxnSpPr>
        <p:spPr>
          <a:xfrm>
            <a:off x="7782597" y="3706309"/>
            <a:ext cx="147335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4" name="row:XDP devmap / cpumap:release:4.14"/>
          <p:cNvSpPr/>
          <p:nvPr/>
        </p:nvSpPr>
        <p:spPr>
          <a:xfrm>
            <a:off x="7739163" y="36628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5" name="row:XDP devmap / cpumap:release:4.15"/>
          <p:cNvSpPr/>
          <p:nvPr/>
        </p:nvSpPr>
        <p:spPr>
          <a:xfrm>
            <a:off x="7886498" y="36628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6" name="row:XDP devmap / cpumap:label"/>
          <p:cNvSpPr txBox="1"/>
          <p:nvPr/>
        </p:nvSpPr>
        <p:spPr>
          <a:xfrm>
            <a:off x="8003084" y="35965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4.14 / 4.15</a:t>
            </a:r>
          </a:p>
        </p:txBody>
      </p:sp>
      <p:sp>
        <p:nvSpPr>
          <p:cNvPr id="578" name="row:XDP multi-buffer:name"/>
          <p:cNvSpPr txBox="1"/>
          <p:nvPr/>
        </p:nvSpPr>
        <p:spPr>
          <a:xfrm>
            <a:off x="1325880" y="36936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579" name="row:XDP multi-buffer:development"/>
          <p:cNvCxnSpPr/>
          <p:nvPr/>
        </p:nvCxnSpPr>
        <p:spPr>
          <a:xfrm>
            <a:off x="9947357" y="3803417"/>
            <a:ext cx="9763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0" name="row:XDP multi-buffer:start"/>
          <p:cNvSpPr/>
          <p:nvPr/>
        </p:nvSpPr>
        <p:spPr>
          <a:xfrm>
            <a:off x="9915353" y="37714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1" name="row:XDP multi-buffer:release:5.18"/>
          <p:cNvSpPr/>
          <p:nvPr/>
        </p:nvSpPr>
        <p:spPr>
          <a:xfrm>
            <a:off x="10880236" y="375998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2" name="row:XDP multi-buffer:label"/>
          <p:cNvSpPr txBox="1"/>
          <p:nvPr/>
        </p:nvSpPr>
        <p:spPr>
          <a:xfrm>
            <a:off x="10996822" y="36936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192" name="band-label:MEMORY"/>
          <p:cNvSpPr txBox="1"/>
          <p:nvPr/>
        </p:nvSpPr>
        <p:spPr>
          <a:xfrm>
            <a:off x="384048" y="3925124"/>
            <a:ext cx="1051560" cy="100765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584" name="row:AF_XDP:name"/>
          <p:cNvSpPr txBox="1"/>
          <p:nvPr/>
        </p:nvSpPr>
        <p:spPr>
          <a:xfrm>
            <a:off x="1325880" y="388223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585" name="row:AF_XDP:development"/>
          <p:cNvCxnSpPr/>
          <p:nvPr/>
        </p:nvCxnSpPr>
        <p:spPr>
          <a:xfrm>
            <a:off x="7169867" y="3991965"/>
            <a:ext cx="113220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6" name="row:AF_XDP:start"/>
          <p:cNvSpPr/>
          <p:nvPr/>
        </p:nvSpPr>
        <p:spPr>
          <a:xfrm>
            <a:off x="7137863" y="395996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7" name="row:AF_XDP:release:4.18"/>
          <p:cNvSpPr/>
          <p:nvPr/>
        </p:nvSpPr>
        <p:spPr>
          <a:xfrm>
            <a:off x="8258636" y="394853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8" name="row:AF_XDP:label"/>
          <p:cNvSpPr txBox="1"/>
          <p:nvPr/>
        </p:nvSpPr>
        <p:spPr>
          <a:xfrm>
            <a:off x="8375222" y="388223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590" name="row:AF_XDP multi-buffer:name"/>
          <p:cNvSpPr txBox="1"/>
          <p:nvPr/>
        </p:nvSpPr>
        <p:spPr>
          <a:xfrm>
            <a:off x="1325880" y="397934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591" name="row:AF_XDP multi-buffer:development"/>
          <p:cNvCxnSpPr/>
          <p:nvPr/>
        </p:nvCxnSpPr>
        <p:spPr>
          <a:xfrm>
            <a:off x="10641730" y="4089073"/>
            <a:ext cx="128238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2" name="row:AF_XDP multi-buffer:start"/>
          <p:cNvSpPr/>
          <p:nvPr/>
        </p:nvSpPr>
        <p:spPr>
          <a:xfrm>
            <a:off x="10609726" y="405706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3" name="row:AF_XDP multi-buffer:release:6.6"/>
          <p:cNvSpPr/>
          <p:nvPr/>
        </p:nvSpPr>
        <p:spPr>
          <a:xfrm>
            <a:off x="11880684" y="404563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4" name="row:AF_XDP multi-buffer:label"/>
          <p:cNvSpPr txBox="1"/>
          <p:nvPr/>
        </p:nvSpPr>
        <p:spPr>
          <a:xfrm>
            <a:off x="11997270" y="397934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596" name="row:page_pool:name"/>
          <p:cNvSpPr txBox="1"/>
          <p:nvPr/>
        </p:nvSpPr>
        <p:spPr>
          <a:xfrm>
            <a:off x="1325880" y="407645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597" name="row:page_pool:development"/>
          <p:cNvCxnSpPr/>
          <p:nvPr/>
        </p:nvCxnSpPr>
        <p:spPr>
          <a:xfrm>
            <a:off x="6614369" y="4186181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8" name="row:page_pool:start"/>
          <p:cNvSpPr/>
          <p:nvPr/>
        </p:nvSpPr>
        <p:spPr>
          <a:xfrm>
            <a:off x="6582365" y="415417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9" name="row:page_pool:release:4.18"/>
          <p:cNvSpPr/>
          <p:nvPr/>
        </p:nvSpPr>
        <p:spPr>
          <a:xfrm>
            <a:off x="8258636" y="414274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0" name="row:page_pool:label"/>
          <p:cNvSpPr txBox="1"/>
          <p:nvPr/>
        </p:nvSpPr>
        <p:spPr>
          <a:xfrm>
            <a:off x="8375222" y="407645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602" name="row:netmem:name"/>
          <p:cNvSpPr txBox="1"/>
          <p:nvPr/>
        </p:nvSpPr>
        <p:spPr>
          <a:xfrm>
            <a:off x="1325880" y="417356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netmem</a:t>
            </a:r>
          </a:p>
        </p:txBody>
      </p:sp>
      <p:cxnSp>
        <p:nvCxnSpPr>
          <p:cNvPr id="603" name="row:netmem:development"/>
          <p:cNvCxnSpPr/>
          <p:nvPr/>
        </p:nvCxnSpPr>
        <p:spPr>
          <a:xfrm>
            <a:off x="12002063" y="4283289"/>
            <a:ext cx="29276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4" name="row:netmem:start"/>
          <p:cNvSpPr/>
          <p:nvPr/>
        </p:nvSpPr>
        <p:spPr>
          <a:xfrm>
            <a:off x="11970059" y="425128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5" name="row:netmem:release:6.9"/>
          <p:cNvSpPr/>
          <p:nvPr/>
        </p:nvSpPr>
        <p:spPr>
          <a:xfrm>
            <a:off x="12251397" y="423985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6" name="row:netmem:label"/>
          <p:cNvSpPr txBox="1"/>
          <p:nvPr/>
        </p:nvSpPr>
        <p:spPr>
          <a:xfrm>
            <a:off x="12367983" y="417356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6.9</a:t>
            </a:r>
          </a:p>
        </p:txBody>
      </p:sp>
      <p:sp>
        <p:nvSpPr>
          <p:cNvPr id="608" name="row:Device Memory TCP RX · TX:name"/>
          <p:cNvSpPr txBox="1"/>
          <p:nvPr/>
        </p:nvSpPr>
        <p:spPr>
          <a:xfrm>
            <a:off x="1325880" y="42706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Device Memory TCP RX · TX</a:t>
            </a:r>
          </a:p>
        </p:txBody>
      </p:sp>
      <p:cxnSp>
        <p:nvCxnSpPr>
          <p:cNvPr id="609" name="row:Device Memory TCP RX · TX:development"/>
          <p:cNvCxnSpPr/>
          <p:nvPr/>
        </p:nvCxnSpPr>
        <p:spPr>
          <a:xfrm>
            <a:off x="11405539" y="4380397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0" name="row:Device Memory TCP RX · TX:start"/>
          <p:cNvSpPr/>
          <p:nvPr/>
        </p:nvSpPr>
        <p:spPr>
          <a:xfrm>
            <a:off x="11373535" y="43483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11" name="row:Device Memory TCP RX · TX:milestones"/>
          <p:cNvCxnSpPr/>
          <p:nvPr/>
        </p:nvCxnSpPr>
        <p:spPr>
          <a:xfrm>
            <a:off x="12654611" y="4380397"/>
            <a:ext cx="477649" cy="0"/>
          </a:xfrm>
          <a:prstGeom prst="line">
            <a:avLst/>
          </a:prstGeom>
          <a:ln w="190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2" name="row:Device Memory TCP RX · TX:release:6.12"/>
          <p:cNvSpPr/>
          <p:nvPr/>
        </p:nvSpPr>
        <p:spPr>
          <a:xfrm>
            <a:off x="12611177" y="433696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3" name="row:Device Memory TCP RX · TX:release:6.16"/>
          <p:cNvSpPr/>
          <p:nvPr/>
        </p:nvSpPr>
        <p:spPr>
          <a:xfrm>
            <a:off x="13088826" y="433696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4" name="row:Device Memory TCP RX · TX:label"/>
          <p:cNvSpPr txBox="1"/>
          <p:nvPr/>
        </p:nvSpPr>
        <p:spPr>
          <a:xfrm>
            <a:off x="13205412" y="427066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6.12 · 6.16</a:t>
            </a:r>
          </a:p>
        </p:txBody>
      </p:sp>
      <p:sp>
        <p:nvSpPr>
          <p:cNvPr id="616" name="row:devmem RX buffers &gt; PAGE_SIZE:name"/>
          <p:cNvSpPr txBox="1"/>
          <p:nvPr/>
        </p:nvSpPr>
        <p:spPr>
          <a:xfrm>
            <a:off x="1325880" y="43677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devmem RX buffers &gt; PAGE_SIZE</a:t>
            </a:r>
          </a:p>
        </p:txBody>
      </p:sp>
      <p:sp>
        <p:nvSpPr>
          <p:cNvPr id="617" name="row:devmem RX buffers &gt; PAGE_SIZE:release:7.3-rc"/>
          <p:cNvSpPr/>
          <p:nvPr/>
        </p:nvSpPr>
        <p:spPr>
          <a:xfrm>
            <a:off x="13828824" y="443407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8" name="row:devmem RX buffers &gt; PAGE_SIZE:label"/>
          <p:cNvSpPr txBox="1"/>
          <p:nvPr/>
        </p:nvSpPr>
        <p:spPr>
          <a:xfrm>
            <a:off x="13945410" y="436777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619" name="row:page_pool memory-provider hooks:name"/>
          <p:cNvSpPr txBox="1"/>
          <p:nvPr/>
        </p:nvSpPr>
        <p:spPr>
          <a:xfrm>
            <a:off x="1325880" y="446488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page_pool memory-provider hooks</a:t>
            </a:r>
          </a:p>
        </p:txBody>
      </p:sp>
      <p:sp>
        <p:nvSpPr>
          <p:cNvPr id="620" name="row:page_pool memory-provider hooks:release:6.15"/>
          <p:cNvSpPr/>
          <p:nvPr/>
        </p:nvSpPr>
        <p:spPr>
          <a:xfrm>
            <a:off x="12969057" y="453117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1" name="row:page_pool memory-provider hooks:label"/>
          <p:cNvSpPr txBox="1"/>
          <p:nvPr/>
        </p:nvSpPr>
        <p:spPr>
          <a:xfrm>
            <a:off x="13085643" y="446488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622" name="row:large RX buffers (providers / ZCRX):name"/>
          <p:cNvSpPr txBox="1"/>
          <p:nvPr/>
        </p:nvSpPr>
        <p:spPr>
          <a:xfrm>
            <a:off x="1325880" y="45619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large RX buffers (providers / ZCRX)</a:t>
            </a:r>
          </a:p>
        </p:txBody>
      </p:sp>
      <p:cxnSp>
        <p:nvCxnSpPr>
          <p:cNvPr id="623" name="row:large RX buffers (providers / ZCRX):development"/>
          <p:cNvCxnSpPr/>
          <p:nvPr/>
        </p:nvCxnSpPr>
        <p:spPr>
          <a:xfrm>
            <a:off x="12724847" y="4671721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4" name="row:large RX buffers (providers / ZCRX):start"/>
          <p:cNvSpPr/>
          <p:nvPr/>
        </p:nvSpPr>
        <p:spPr>
          <a:xfrm>
            <a:off x="12692843" y="46397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5" name="row:large RX buffers (providers / ZCRX):release:7.0"/>
          <p:cNvSpPr/>
          <p:nvPr/>
        </p:nvSpPr>
        <p:spPr>
          <a:xfrm>
            <a:off x="13581683" y="462828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6" name="row:large RX buffers (providers / ZCRX):label"/>
          <p:cNvSpPr txBox="1"/>
          <p:nvPr/>
        </p:nvSpPr>
        <p:spPr>
          <a:xfrm>
            <a:off x="13698269" y="456199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628" name="row:io_uring ZCRX:name"/>
          <p:cNvSpPr txBox="1"/>
          <p:nvPr/>
        </p:nvSpPr>
        <p:spPr>
          <a:xfrm>
            <a:off x="1325880" y="46591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io_uring ZCRX</a:t>
            </a:r>
          </a:p>
        </p:txBody>
      </p:sp>
      <p:cxnSp>
        <p:nvCxnSpPr>
          <p:cNvPr id="629" name="row:io_uring ZCRX:development"/>
          <p:cNvCxnSpPr/>
          <p:nvPr/>
        </p:nvCxnSpPr>
        <p:spPr>
          <a:xfrm>
            <a:off x="11613851" y="4768829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0" name="row:io_uring ZCRX:start"/>
          <p:cNvSpPr/>
          <p:nvPr/>
        </p:nvSpPr>
        <p:spPr>
          <a:xfrm>
            <a:off x="11581847" y="47368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1" name="row:io_uring ZCRX:release:6.15"/>
          <p:cNvSpPr/>
          <p:nvPr/>
        </p:nvSpPr>
        <p:spPr>
          <a:xfrm>
            <a:off x="12969057" y="472539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2" name="row:io_uring ZCRX:label"/>
          <p:cNvSpPr txBox="1"/>
          <p:nvPr/>
        </p:nvSpPr>
        <p:spPr>
          <a:xfrm>
            <a:off x="13085643" y="46591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634" name="row:RX HW queue leasing:name"/>
          <p:cNvSpPr txBox="1"/>
          <p:nvPr/>
        </p:nvSpPr>
        <p:spPr>
          <a:xfrm>
            <a:off x="1325880" y="47562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635" name="row:RX HW queue leasing:development"/>
          <p:cNvCxnSpPr/>
          <p:nvPr/>
        </p:nvCxnSpPr>
        <p:spPr>
          <a:xfrm>
            <a:off x="12377661" y="4865937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6" name="row:RX HW queue leasing:start"/>
          <p:cNvSpPr/>
          <p:nvPr/>
        </p:nvSpPr>
        <p:spPr>
          <a:xfrm>
            <a:off x="12345657" y="48339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7" name="row:RX HW queue leasing:release:7.1"/>
          <p:cNvSpPr/>
          <p:nvPr/>
        </p:nvSpPr>
        <p:spPr>
          <a:xfrm>
            <a:off x="13701451" y="48225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8" name="row:RX HW queue leasing:label"/>
          <p:cNvSpPr txBox="1"/>
          <p:nvPr/>
        </p:nvSpPr>
        <p:spPr>
          <a:xfrm>
            <a:off x="13818037" y="475620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38" name="band-label:CONTROL PLANE"/>
          <p:cNvSpPr txBox="1"/>
          <p:nvPr/>
        </p:nvSpPr>
        <p:spPr>
          <a:xfrm>
            <a:off x="384048" y="4987644"/>
            <a:ext cx="1051560" cy="81343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640" name="row:namespace FD / setns():name"/>
          <p:cNvSpPr txBox="1"/>
          <p:nvPr/>
        </p:nvSpPr>
        <p:spPr>
          <a:xfrm>
            <a:off x="1325880" y="49447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namespace FD / setns()</a:t>
            </a:r>
          </a:p>
        </p:txBody>
      </p:sp>
      <p:cxnSp>
        <p:nvCxnSpPr>
          <p:cNvPr id="642" name="row:namespace FD / setns():development"/>
          <p:cNvCxnSpPr/>
          <p:nvPr/>
        </p:nvCxnSpPr>
        <p:spPr>
          <a:xfrm>
            <a:off x="3044951" y="5054485"/>
            <a:ext cx="35658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1" name="row:namespace FD / setns():start-offchart"/>
          <p:cNvSpPr/>
          <p:nvPr/>
        </p:nvSpPr>
        <p:spPr>
          <a:xfrm rot="16200000">
            <a:off x="2980944" y="5013337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3" name="row:namespace FD / setns():release:3.0"/>
          <p:cNvSpPr/>
          <p:nvPr/>
        </p:nvSpPr>
        <p:spPr>
          <a:xfrm>
            <a:off x="3358105" y="5011051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4" name="row:namespace FD / setns():label"/>
          <p:cNvSpPr txBox="1"/>
          <p:nvPr/>
        </p:nvSpPr>
        <p:spPr>
          <a:xfrm>
            <a:off x="3474691" y="49447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3.0</a:t>
            </a:r>
          </a:p>
        </p:txBody>
      </p:sp>
      <p:sp>
        <p:nvSpPr>
          <p:cNvPr id="645" name="row:nftables (dev. from 2008):name"/>
          <p:cNvSpPr txBox="1"/>
          <p:nvPr/>
        </p:nvSpPr>
        <p:spPr>
          <a:xfrm>
            <a:off x="1325880" y="50418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nftables (dev. from 2008)</a:t>
            </a:r>
          </a:p>
        </p:txBody>
      </p:sp>
      <p:cxnSp>
        <p:nvCxnSpPr>
          <p:cNvPr id="647" name="row:nftables (dev. from 2008):development"/>
          <p:cNvCxnSpPr/>
          <p:nvPr/>
        </p:nvCxnSpPr>
        <p:spPr>
          <a:xfrm>
            <a:off x="3044951" y="5151593"/>
            <a:ext cx="208990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6" name="row:nftables (dev. from 2008):start-offchart"/>
          <p:cNvSpPr/>
          <p:nvPr/>
        </p:nvSpPr>
        <p:spPr>
          <a:xfrm rot="16200000">
            <a:off x="2980944" y="5110445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8" name="row:nftables (dev. from 2008):release:3.13"/>
          <p:cNvSpPr/>
          <p:nvPr/>
        </p:nvSpPr>
        <p:spPr>
          <a:xfrm>
            <a:off x="5091423" y="510815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9" name="row:nftables (dev. from 2008):label"/>
          <p:cNvSpPr txBox="1"/>
          <p:nvPr/>
        </p:nvSpPr>
        <p:spPr>
          <a:xfrm>
            <a:off x="5208009" y="50418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650" name="row:nexthop objects:name"/>
          <p:cNvSpPr txBox="1"/>
          <p:nvPr/>
        </p:nvSpPr>
        <p:spPr>
          <a:xfrm>
            <a:off x="1325880" y="51389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651" name="row:nexthop objects:development"/>
          <p:cNvCxnSpPr/>
          <p:nvPr/>
        </p:nvCxnSpPr>
        <p:spPr>
          <a:xfrm>
            <a:off x="7864240" y="5248701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2" name="row:nexthop objects:start"/>
          <p:cNvSpPr/>
          <p:nvPr/>
        </p:nvSpPr>
        <p:spPr>
          <a:xfrm>
            <a:off x="7832236" y="52166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3" name="row:nexthop objects:release:5.3"/>
          <p:cNvSpPr/>
          <p:nvPr/>
        </p:nvSpPr>
        <p:spPr>
          <a:xfrm>
            <a:off x="9017645" y="520526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4" name="row:nexthop objects:label"/>
          <p:cNvSpPr txBox="1"/>
          <p:nvPr/>
        </p:nvSpPr>
        <p:spPr>
          <a:xfrm>
            <a:off x="9134231" y="51389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656" name="row:per-netns RTNL:name"/>
          <p:cNvSpPr txBox="1"/>
          <p:nvPr/>
        </p:nvSpPr>
        <p:spPr>
          <a:xfrm>
            <a:off x="1325880" y="52360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657" name="row:per-netns RTNL:development"/>
          <p:cNvCxnSpPr/>
          <p:nvPr/>
        </p:nvCxnSpPr>
        <p:spPr>
          <a:xfrm>
            <a:off x="11336102" y="5345809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8" name="row:per-netns RTNL:start"/>
          <p:cNvSpPr/>
          <p:nvPr/>
        </p:nvSpPr>
        <p:spPr>
          <a:xfrm>
            <a:off x="11304098" y="53138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9" name="row:per-netns RTNL:release:6.13"/>
          <p:cNvSpPr/>
          <p:nvPr/>
        </p:nvSpPr>
        <p:spPr>
          <a:xfrm>
            <a:off x="12729520" y="5302375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0" name="row:per-netns RTNL:label"/>
          <p:cNvSpPr txBox="1"/>
          <p:nvPr/>
        </p:nvSpPr>
        <p:spPr>
          <a:xfrm>
            <a:off x="12846106" y="52360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662" name="row:further RTNL breakup:name"/>
          <p:cNvSpPr txBox="1"/>
          <p:nvPr/>
        </p:nvSpPr>
        <p:spPr>
          <a:xfrm>
            <a:off x="1325880" y="53331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663" name="row:further RTNL breakup:development"/>
          <p:cNvCxnSpPr/>
          <p:nvPr/>
        </p:nvCxnSpPr>
        <p:spPr>
          <a:xfrm>
            <a:off x="12030475" y="5442917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4" name="row:further RTNL breakup:start"/>
          <p:cNvSpPr/>
          <p:nvPr/>
        </p:nvSpPr>
        <p:spPr>
          <a:xfrm>
            <a:off x="11998471" y="54109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5" name="row:further RTNL breakup:release:6.15"/>
          <p:cNvSpPr/>
          <p:nvPr/>
        </p:nvSpPr>
        <p:spPr>
          <a:xfrm>
            <a:off x="12969057" y="539948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6" name="row:further RTNL breakup:label"/>
          <p:cNvSpPr txBox="1"/>
          <p:nvPr/>
        </p:nvSpPr>
        <p:spPr>
          <a:xfrm>
            <a:off x="13085643" y="53331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668" name="row:RTNL-less FIB rules:name"/>
          <p:cNvSpPr txBox="1"/>
          <p:nvPr/>
        </p:nvSpPr>
        <p:spPr>
          <a:xfrm>
            <a:off x="1325880" y="54302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669" name="row:RTNL-less FIB rules:development"/>
          <p:cNvCxnSpPr/>
          <p:nvPr/>
        </p:nvCxnSpPr>
        <p:spPr>
          <a:xfrm>
            <a:off x="12724847" y="5540025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0" name="row:RTNL-less FIB rules:start"/>
          <p:cNvSpPr/>
          <p:nvPr/>
        </p:nvSpPr>
        <p:spPr>
          <a:xfrm>
            <a:off x="12692843" y="55080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1" name="row:RTNL-less FIB rules:release:7.3-rc"/>
          <p:cNvSpPr/>
          <p:nvPr/>
        </p:nvSpPr>
        <p:spPr>
          <a:xfrm>
            <a:off x="13828824" y="5496591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2" name="row:RTNL-less FIB rules:label"/>
          <p:cNvSpPr txBox="1"/>
          <p:nvPr/>
        </p:nvSpPr>
        <p:spPr>
          <a:xfrm>
            <a:off x="13945410" y="54302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674" name="row:per-netns netdev unregistration:name"/>
          <p:cNvSpPr txBox="1"/>
          <p:nvPr/>
        </p:nvSpPr>
        <p:spPr>
          <a:xfrm>
            <a:off x="1325880" y="55274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per-netns netdev unregistration</a:t>
            </a:r>
          </a:p>
        </p:txBody>
      </p:sp>
      <p:sp>
        <p:nvSpPr>
          <p:cNvPr id="675" name="row:per-netns netdev unregistration:release:7.3-rc"/>
          <p:cNvSpPr/>
          <p:nvPr/>
        </p:nvSpPr>
        <p:spPr>
          <a:xfrm>
            <a:off x="13828824" y="559369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6" name="row:per-netns netdev unregistration:label"/>
          <p:cNvSpPr txBox="1"/>
          <p:nvPr/>
        </p:nvSpPr>
        <p:spPr>
          <a:xfrm>
            <a:off x="13945410" y="55274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677" name="row:YNL tooling:name"/>
          <p:cNvSpPr txBox="1"/>
          <p:nvPr/>
        </p:nvSpPr>
        <p:spPr>
          <a:xfrm>
            <a:off x="1325880" y="56245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678" name="row:YNL tooling:development"/>
          <p:cNvCxnSpPr/>
          <p:nvPr/>
        </p:nvCxnSpPr>
        <p:spPr>
          <a:xfrm>
            <a:off x="10294543" y="5734241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9" name="row:YNL tooling:start"/>
          <p:cNvSpPr/>
          <p:nvPr/>
        </p:nvSpPr>
        <p:spPr>
          <a:xfrm>
            <a:off x="10262539" y="57022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0" name="row:YNL tooling:release:6.3"/>
          <p:cNvSpPr/>
          <p:nvPr/>
        </p:nvSpPr>
        <p:spPr>
          <a:xfrm>
            <a:off x="11519477" y="56908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1" name="row:YNL tooling:label"/>
          <p:cNvSpPr txBox="1"/>
          <p:nvPr/>
        </p:nvSpPr>
        <p:spPr>
          <a:xfrm>
            <a:off x="11636063" y="56245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69" name="band-label:OBSERVABILITY"/>
          <p:cNvSpPr txBox="1"/>
          <p:nvPr/>
        </p:nvSpPr>
        <p:spPr>
          <a:xfrm>
            <a:off x="384048" y="5855948"/>
            <a:ext cx="1051560" cy="61922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683" name="row:queue/NAPI/page_pool netdev-genl:name"/>
          <p:cNvSpPr txBox="1"/>
          <p:nvPr/>
        </p:nvSpPr>
        <p:spPr>
          <a:xfrm>
            <a:off x="1325880" y="581306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queue/NAPI/page_pool netdev-genl</a:t>
            </a:r>
          </a:p>
        </p:txBody>
      </p:sp>
      <p:cxnSp>
        <p:nvCxnSpPr>
          <p:cNvPr id="684" name="row:queue/NAPI/page_pool netdev-genl:development"/>
          <p:cNvCxnSpPr/>
          <p:nvPr/>
        </p:nvCxnSpPr>
        <p:spPr>
          <a:xfrm>
            <a:off x="11336102" y="5922789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5" name="row:queue/NAPI/page_pool netdev-genl:start"/>
          <p:cNvSpPr/>
          <p:nvPr/>
        </p:nvSpPr>
        <p:spPr>
          <a:xfrm>
            <a:off x="11304098" y="589078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6" name="row:queue/NAPI/page_pool netdev-genl:release:6.8"/>
          <p:cNvSpPr/>
          <p:nvPr/>
        </p:nvSpPr>
        <p:spPr>
          <a:xfrm>
            <a:off x="12132103" y="587935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7" name="row:queue/NAPI/page_pool netdev-genl:label"/>
          <p:cNvSpPr txBox="1"/>
          <p:nvPr/>
        </p:nvSpPr>
        <p:spPr>
          <a:xfrm>
            <a:off x="12248689" y="581306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689" name="row:kprobe BPF:name"/>
          <p:cNvSpPr txBox="1"/>
          <p:nvPr/>
        </p:nvSpPr>
        <p:spPr>
          <a:xfrm>
            <a:off x="1325880" y="59101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690" name="row:kprobe BPF:development"/>
          <p:cNvCxnSpPr/>
          <p:nvPr/>
        </p:nvCxnSpPr>
        <p:spPr>
          <a:xfrm>
            <a:off x="5225624" y="6019897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1" name="row:kprobe BPF:start"/>
          <p:cNvSpPr/>
          <p:nvPr/>
        </p:nvSpPr>
        <p:spPr>
          <a:xfrm>
            <a:off x="5193620" y="59878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2" name="row:kprobe BPF:release:4.1"/>
          <p:cNvSpPr/>
          <p:nvPr/>
        </p:nvSpPr>
        <p:spPr>
          <a:xfrm>
            <a:off x="6076662" y="5976463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3" name="row:kprobe BPF:label"/>
          <p:cNvSpPr txBox="1"/>
          <p:nvPr/>
        </p:nvSpPr>
        <p:spPr>
          <a:xfrm>
            <a:off x="6193248" y="591016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695" name="row:BTF:name"/>
          <p:cNvSpPr txBox="1"/>
          <p:nvPr/>
        </p:nvSpPr>
        <p:spPr>
          <a:xfrm>
            <a:off x="1325880" y="60072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BTF</a:t>
            </a:r>
          </a:p>
        </p:txBody>
      </p:sp>
      <p:cxnSp>
        <p:nvCxnSpPr>
          <p:cNvPr id="696" name="row:BTF:development"/>
          <p:cNvCxnSpPr/>
          <p:nvPr/>
        </p:nvCxnSpPr>
        <p:spPr>
          <a:xfrm>
            <a:off x="8017382" y="6117005"/>
            <a:ext cx="28468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7" name="row:BTF:start"/>
          <p:cNvSpPr/>
          <p:nvPr/>
        </p:nvSpPr>
        <p:spPr>
          <a:xfrm>
            <a:off x="7985378" y="60850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8" name="row:BTF:release:4.18"/>
          <p:cNvSpPr/>
          <p:nvPr/>
        </p:nvSpPr>
        <p:spPr>
          <a:xfrm>
            <a:off x="8258636" y="607357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9" name="row:BTF:label"/>
          <p:cNvSpPr txBox="1"/>
          <p:nvPr/>
        </p:nvSpPr>
        <p:spPr>
          <a:xfrm>
            <a:off x="8375222" y="600727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701" name="row:structured drop reason:name"/>
          <p:cNvSpPr txBox="1"/>
          <p:nvPr/>
        </p:nvSpPr>
        <p:spPr>
          <a:xfrm>
            <a:off x="1325880" y="610438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702" name="row:structured drop reason:development"/>
          <p:cNvCxnSpPr/>
          <p:nvPr/>
        </p:nvCxnSpPr>
        <p:spPr>
          <a:xfrm>
            <a:off x="9947357" y="6214113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3" name="row:structured drop reason:start"/>
          <p:cNvSpPr/>
          <p:nvPr/>
        </p:nvSpPr>
        <p:spPr>
          <a:xfrm>
            <a:off x="9915353" y="618210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4" name="row:structured drop reason:release:5.17"/>
          <p:cNvSpPr/>
          <p:nvPr/>
        </p:nvSpPr>
        <p:spPr>
          <a:xfrm>
            <a:off x="10760468" y="6170679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5" name="row:structured drop reason:label"/>
          <p:cNvSpPr txBox="1"/>
          <p:nvPr/>
        </p:nvSpPr>
        <p:spPr>
          <a:xfrm>
            <a:off x="10877054" y="610438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707" name="row:drop-reason expansion:name"/>
          <p:cNvSpPr txBox="1"/>
          <p:nvPr/>
        </p:nvSpPr>
        <p:spPr>
          <a:xfrm>
            <a:off x="1325880" y="62014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708" name="row:drop-reason expansion:development"/>
          <p:cNvCxnSpPr/>
          <p:nvPr/>
        </p:nvCxnSpPr>
        <p:spPr>
          <a:xfrm>
            <a:off x="10780604" y="6311221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9" name="row:drop-reason expansion:start"/>
          <p:cNvSpPr/>
          <p:nvPr/>
        </p:nvSpPr>
        <p:spPr>
          <a:xfrm>
            <a:off x="10748600" y="62792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0" name="row:drop-reason expansion:release:5.19"/>
          <p:cNvSpPr/>
          <p:nvPr/>
        </p:nvSpPr>
        <p:spPr>
          <a:xfrm>
            <a:off x="11013313" y="6267787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1" name="row:drop-reason expansion:label"/>
          <p:cNvSpPr txBox="1"/>
          <p:nvPr/>
        </p:nvSpPr>
        <p:spPr>
          <a:xfrm>
            <a:off x="11129899" y="620149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713" name="row:qdisc-drop tracepoint:name"/>
          <p:cNvSpPr txBox="1"/>
          <p:nvPr/>
        </p:nvSpPr>
        <p:spPr>
          <a:xfrm>
            <a:off x="1325880" y="62986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714" name="row:qdisc-drop tracepoint:development"/>
          <p:cNvCxnSpPr/>
          <p:nvPr/>
        </p:nvCxnSpPr>
        <p:spPr>
          <a:xfrm>
            <a:off x="12724847" y="6408329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5" name="row:qdisc-drop tracepoint:start"/>
          <p:cNvSpPr/>
          <p:nvPr/>
        </p:nvSpPr>
        <p:spPr>
          <a:xfrm>
            <a:off x="12692843" y="63763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6" name="row:qdisc-drop tracepoint:release:7.1"/>
          <p:cNvSpPr/>
          <p:nvPr/>
        </p:nvSpPr>
        <p:spPr>
          <a:xfrm>
            <a:off x="13701451" y="636489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7" name="row:qdisc-drop tracepoint:label"/>
          <p:cNvSpPr txBox="1"/>
          <p:nvPr/>
        </p:nvSpPr>
        <p:spPr>
          <a:xfrm>
            <a:off x="13818037" y="62986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95" name="band-label:DRIVER FRAMEWORK"/>
          <p:cNvSpPr txBox="1"/>
          <p:nvPr/>
        </p:nvSpPr>
        <p:spPr>
          <a:xfrm>
            <a:off x="384048" y="6530036"/>
            <a:ext cx="1051560" cy="100765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719" name="row:switchdev:name"/>
          <p:cNvSpPr txBox="1"/>
          <p:nvPr/>
        </p:nvSpPr>
        <p:spPr>
          <a:xfrm>
            <a:off x="1325880" y="648714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720" name="row:switchdev:development"/>
          <p:cNvCxnSpPr/>
          <p:nvPr/>
        </p:nvCxnSpPr>
        <p:spPr>
          <a:xfrm>
            <a:off x="5086750" y="6596877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1" name="row:switchdev:start"/>
          <p:cNvSpPr/>
          <p:nvPr/>
        </p:nvSpPr>
        <p:spPr>
          <a:xfrm>
            <a:off x="5054746" y="656487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2" name="row:switchdev:release:3.19"/>
          <p:cNvSpPr/>
          <p:nvPr/>
        </p:nvSpPr>
        <p:spPr>
          <a:xfrm>
            <a:off x="5823817" y="655344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3" name="row:switchdev:label"/>
          <p:cNvSpPr txBox="1"/>
          <p:nvPr/>
        </p:nvSpPr>
        <p:spPr>
          <a:xfrm>
            <a:off x="5940403" y="648714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725" name="row:devlink:name"/>
          <p:cNvSpPr txBox="1"/>
          <p:nvPr/>
        </p:nvSpPr>
        <p:spPr>
          <a:xfrm>
            <a:off x="1325880" y="65842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726" name="row:devlink:development"/>
          <p:cNvCxnSpPr/>
          <p:nvPr/>
        </p:nvCxnSpPr>
        <p:spPr>
          <a:xfrm>
            <a:off x="5781122" y="6693985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7" name="row:devlink:start"/>
          <p:cNvSpPr/>
          <p:nvPr/>
        </p:nvSpPr>
        <p:spPr>
          <a:xfrm>
            <a:off x="5749118" y="66619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8" name="row:devlink:release:4.6"/>
          <p:cNvSpPr/>
          <p:nvPr/>
        </p:nvSpPr>
        <p:spPr>
          <a:xfrm>
            <a:off x="6702595" y="66505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9" name="row:devlink:label"/>
          <p:cNvSpPr txBox="1"/>
          <p:nvPr/>
        </p:nvSpPr>
        <p:spPr>
          <a:xfrm>
            <a:off x="6819181" y="65842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731" name="row:devlink health:name"/>
          <p:cNvSpPr txBox="1"/>
          <p:nvPr/>
        </p:nvSpPr>
        <p:spPr>
          <a:xfrm>
            <a:off x="1325880" y="66813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732" name="row:devlink health:development"/>
          <p:cNvCxnSpPr/>
          <p:nvPr/>
        </p:nvCxnSpPr>
        <p:spPr>
          <a:xfrm>
            <a:off x="7864240" y="6791093"/>
            <a:ext cx="943994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3" name="row:devlink health:start"/>
          <p:cNvSpPr/>
          <p:nvPr/>
        </p:nvSpPr>
        <p:spPr>
          <a:xfrm>
            <a:off x="7832236" y="675908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4" name="row:devlink health:release:5.1"/>
          <p:cNvSpPr/>
          <p:nvPr/>
        </p:nvSpPr>
        <p:spPr>
          <a:xfrm>
            <a:off x="8764800" y="674765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5" name="row:devlink health:label"/>
          <p:cNvSpPr txBox="1"/>
          <p:nvPr/>
        </p:nvSpPr>
        <p:spPr>
          <a:xfrm>
            <a:off x="8881386" y="66813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737" name="row:phylink:name"/>
          <p:cNvSpPr txBox="1"/>
          <p:nvPr/>
        </p:nvSpPr>
        <p:spPr>
          <a:xfrm>
            <a:off x="1325880" y="67784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738" name="row:phylink:development"/>
          <p:cNvCxnSpPr/>
          <p:nvPr/>
        </p:nvCxnSpPr>
        <p:spPr>
          <a:xfrm>
            <a:off x="5919997" y="6888201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9" name="row:phylink:start"/>
          <p:cNvSpPr/>
          <p:nvPr/>
        </p:nvSpPr>
        <p:spPr>
          <a:xfrm>
            <a:off x="5887993" y="68561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0" name="row:phylink:release:4.14"/>
          <p:cNvSpPr/>
          <p:nvPr/>
        </p:nvSpPr>
        <p:spPr>
          <a:xfrm>
            <a:off x="7739163" y="684476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1" name="row:phylink:label"/>
          <p:cNvSpPr txBox="1"/>
          <p:nvPr/>
        </p:nvSpPr>
        <p:spPr>
          <a:xfrm>
            <a:off x="7855749" y="67784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743" name="row:Net DIM:name"/>
          <p:cNvSpPr txBox="1"/>
          <p:nvPr/>
        </p:nvSpPr>
        <p:spPr>
          <a:xfrm>
            <a:off x="1325880" y="68755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744" name="row:Net DIM:development"/>
          <p:cNvCxnSpPr/>
          <p:nvPr/>
        </p:nvCxnSpPr>
        <p:spPr>
          <a:xfrm>
            <a:off x="7169867" y="6985309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5" name="row:Net DIM:start"/>
          <p:cNvSpPr/>
          <p:nvPr/>
        </p:nvSpPr>
        <p:spPr>
          <a:xfrm>
            <a:off x="7137863" y="69533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46" name="row:Net DIM:milestones"/>
          <p:cNvCxnSpPr/>
          <p:nvPr/>
        </p:nvCxnSpPr>
        <p:spPr>
          <a:xfrm>
            <a:off x="8049225" y="6985309"/>
            <a:ext cx="1011854" cy="0"/>
          </a:xfrm>
          <a:prstGeom prst="line">
            <a:avLst/>
          </a:prstGeom>
          <a:ln w="19050">
            <a:solidFill>
              <a:srgbClr val="A162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7" name="row:Net DIM:release:4.16"/>
          <p:cNvSpPr/>
          <p:nvPr/>
        </p:nvSpPr>
        <p:spPr>
          <a:xfrm>
            <a:off x="8005791" y="694187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8" name="row:Net DIM:release:5.3"/>
          <p:cNvSpPr/>
          <p:nvPr/>
        </p:nvSpPr>
        <p:spPr>
          <a:xfrm>
            <a:off x="9017645" y="694187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9" name="row:Net DIM:label"/>
          <p:cNvSpPr txBox="1"/>
          <p:nvPr/>
        </p:nvSpPr>
        <p:spPr>
          <a:xfrm>
            <a:off x="9134231" y="68755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4.16 · 5.3</a:t>
            </a:r>
          </a:p>
        </p:txBody>
      </p:sp>
      <p:sp>
        <p:nvSpPr>
          <p:cNvPr id="751" name="row:netdevsim:name"/>
          <p:cNvSpPr txBox="1"/>
          <p:nvPr/>
        </p:nvSpPr>
        <p:spPr>
          <a:xfrm>
            <a:off x="1325880" y="69726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752" name="row:netdevsim:development"/>
          <p:cNvCxnSpPr/>
          <p:nvPr/>
        </p:nvCxnSpPr>
        <p:spPr>
          <a:xfrm>
            <a:off x="7517053" y="7082417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3" name="row:netdevsim:start"/>
          <p:cNvSpPr/>
          <p:nvPr/>
        </p:nvSpPr>
        <p:spPr>
          <a:xfrm>
            <a:off x="7485049" y="70504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4" name="row:netdevsim:release:4.16"/>
          <p:cNvSpPr/>
          <p:nvPr/>
        </p:nvSpPr>
        <p:spPr>
          <a:xfrm>
            <a:off x="8005791" y="703898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5" name="row:netdevsim:label"/>
          <p:cNvSpPr txBox="1"/>
          <p:nvPr/>
        </p:nvSpPr>
        <p:spPr>
          <a:xfrm>
            <a:off x="8122377" y="69726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757" name="row:ethtool netlink:name"/>
          <p:cNvSpPr txBox="1"/>
          <p:nvPr/>
        </p:nvSpPr>
        <p:spPr>
          <a:xfrm>
            <a:off x="1325880" y="70697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758" name="row:ethtool netlink:development"/>
          <p:cNvCxnSpPr/>
          <p:nvPr/>
        </p:nvCxnSpPr>
        <p:spPr>
          <a:xfrm>
            <a:off x="7864240" y="717952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9" name="row:ethtool netlink:start"/>
          <p:cNvSpPr/>
          <p:nvPr/>
        </p:nvSpPr>
        <p:spPr>
          <a:xfrm>
            <a:off x="7832236" y="71475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0" name="row:ethtool netlink:release:5.6"/>
          <p:cNvSpPr/>
          <p:nvPr/>
        </p:nvSpPr>
        <p:spPr>
          <a:xfrm>
            <a:off x="9390734" y="713609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1" name="row:ethtool netlink:label"/>
          <p:cNvSpPr txBox="1"/>
          <p:nvPr/>
        </p:nvSpPr>
        <p:spPr>
          <a:xfrm>
            <a:off x="9507320" y="70697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763" name="row:auxiliary bus:name"/>
          <p:cNvSpPr txBox="1"/>
          <p:nvPr/>
        </p:nvSpPr>
        <p:spPr>
          <a:xfrm>
            <a:off x="1325880" y="71669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764" name="row:auxiliary bus:development"/>
          <p:cNvCxnSpPr/>
          <p:nvPr/>
        </p:nvCxnSpPr>
        <p:spPr>
          <a:xfrm>
            <a:off x="9252985" y="7276633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5" name="row:auxiliary bus:start"/>
          <p:cNvSpPr/>
          <p:nvPr/>
        </p:nvSpPr>
        <p:spPr>
          <a:xfrm>
            <a:off x="9220981" y="72446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6" name="row:auxiliary bus:release:5.11"/>
          <p:cNvSpPr/>
          <p:nvPr/>
        </p:nvSpPr>
        <p:spPr>
          <a:xfrm>
            <a:off x="10001458" y="723319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7" name="row:auxiliary bus:label"/>
          <p:cNvSpPr txBox="1"/>
          <p:nvPr/>
        </p:nvSpPr>
        <p:spPr>
          <a:xfrm>
            <a:off x="10118044" y="71669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769" name="row:threaded NAPI:name"/>
          <p:cNvSpPr txBox="1"/>
          <p:nvPr/>
        </p:nvSpPr>
        <p:spPr>
          <a:xfrm>
            <a:off x="1325880" y="72640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770" name="row:threaded NAPI:development"/>
          <p:cNvCxnSpPr/>
          <p:nvPr/>
        </p:nvCxnSpPr>
        <p:spPr>
          <a:xfrm>
            <a:off x="9461296" y="7373741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1" name="row:threaded NAPI:start"/>
          <p:cNvSpPr/>
          <p:nvPr/>
        </p:nvSpPr>
        <p:spPr>
          <a:xfrm>
            <a:off x="9429292" y="73417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72" name="row:threaded NAPI:milestones"/>
          <p:cNvCxnSpPr/>
          <p:nvPr/>
        </p:nvCxnSpPr>
        <p:spPr>
          <a:xfrm>
            <a:off x="10177969" y="7373741"/>
            <a:ext cx="3327855" cy="0"/>
          </a:xfrm>
          <a:prstGeom prst="line">
            <a:avLst/>
          </a:prstGeom>
          <a:ln w="19050">
            <a:solidFill>
              <a:srgbClr val="A162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3" name="row:threaded NAPI:release:5.12"/>
          <p:cNvSpPr/>
          <p:nvPr/>
        </p:nvSpPr>
        <p:spPr>
          <a:xfrm>
            <a:off x="10134535" y="733030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4" name="row:threaded NAPI:release:6.19"/>
          <p:cNvSpPr/>
          <p:nvPr/>
        </p:nvSpPr>
        <p:spPr>
          <a:xfrm>
            <a:off x="13462390" y="733030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5" name="row:threaded NAPI:label"/>
          <p:cNvSpPr txBox="1"/>
          <p:nvPr/>
        </p:nvSpPr>
        <p:spPr>
          <a:xfrm>
            <a:off x="13578976" y="72640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5.12 · 6.19</a:t>
            </a:r>
          </a:p>
        </p:txBody>
      </p:sp>
      <p:sp>
        <p:nvSpPr>
          <p:cNvPr id="777" name="row:Rust phylib:name"/>
          <p:cNvSpPr txBox="1"/>
          <p:nvPr/>
        </p:nvSpPr>
        <p:spPr>
          <a:xfrm>
            <a:off x="1325880" y="736112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778" name="row:Rust phylib:development"/>
          <p:cNvCxnSpPr/>
          <p:nvPr/>
        </p:nvCxnSpPr>
        <p:spPr>
          <a:xfrm>
            <a:off x="11336102" y="7470849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9" name="row:Rust phylib:start"/>
          <p:cNvSpPr/>
          <p:nvPr/>
        </p:nvSpPr>
        <p:spPr>
          <a:xfrm>
            <a:off x="11304098" y="743884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0" name="row:Rust phylib:release:6.8"/>
          <p:cNvSpPr/>
          <p:nvPr/>
        </p:nvSpPr>
        <p:spPr>
          <a:xfrm>
            <a:off x="12132103" y="742741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1" name="row:Rust phylib:label"/>
          <p:cNvSpPr txBox="1"/>
          <p:nvPr/>
        </p:nvSpPr>
        <p:spPr>
          <a:xfrm>
            <a:off x="12248689" y="736112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46" name="legend:title"/>
          <p:cNvSpPr txBox="1"/>
          <p:nvPr/>
        </p:nvSpPr>
        <p:spPr>
          <a:xfrm>
            <a:off x="384048" y="7619987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47" name="legend:start"/>
          <p:cNvSpPr/>
          <p:nvPr/>
        </p:nvSpPr>
        <p:spPr>
          <a:xfrm>
            <a:off x="946404" y="766113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48" name="legend:dev"/>
          <p:cNvCxnSpPr/>
          <p:nvPr/>
        </p:nvCxnSpPr>
        <p:spPr>
          <a:xfrm>
            <a:off x="1014983" y="7693139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legend:release"/>
          <p:cNvSpPr/>
          <p:nvPr/>
        </p:nvSpPr>
        <p:spPr>
          <a:xfrm>
            <a:off x="1337310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0" name="legend:t1"/>
          <p:cNvSpPr txBox="1"/>
          <p:nvPr/>
        </p:nvSpPr>
        <p:spPr>
          <a:xfrm>
            <a:off x="1481328" y="7619987"/>
            <a:ext cx="21945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>
                <a:solidFill>
                  <a:srgbClr val="64748B"/>
                </a:solidFill>
              </a:rPr>
              <a:t>approx. development start → first canonical release</a:t>
            </a:r>
          </a:p>
        </p:txBody>
      </p:sp>
      <p:sp>
        <p:nvSpPr>
          <p:cNvPr id="351" name="legend:m1"/>
          <p:cNvSpPr/>
          <p:nvPr/>
        </p:nvSpPr>
        <p:spPr>
          <a:xfrm>
            <a:off x="3952494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2" name="legend:m-line"/>
          <p:cNvCxnSpPr/>
          <p:nvPr/>
        </p:nvCxnSpPr>
        <p:spPr>
          <a:xfrm>
            <a:off x="3995928" y="7693139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legend:m2"/>
          <p:cNvSpPr/>
          <p:nvPr/>
        </p:nvSpPr>
        <p:spPr>
          <a:xfrm>
            <a:off x="4226814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4" name="legend:t2"/>
          <p:cNvSpPr txBox="1"/>
          <p:nvPr/>
        </p:nvSpPr>
        <p:spPr>
          <a:xfrm>
            <a:off x="4370832" y="7619987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55" name="legend:era"/>
          <p:cNvSpPr/>
          <p:nvPr/>
        </p:nvSpPr>
        <p:spPr>
          <a:xfrm>
            <a:off x="5641848" y="7638275"/>
            <a:ext cx="274320" cy="109728"/>
          </a:xfrm>
          <a:prstGeom prst="rect">
            <a:avLst/>
          </a:prstGeom>
          <a:solidFill>
            <a:srgbClr val="475569">
              <a:alpha val="8000"/>
            </a:srgbClr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6" name="legend:t3"/>
          <p:cNvSpPr txBox="1"/>
          <p:nvPr/>
        </p:nvSpPr>
        <p:spPr>
          <a:xfrm>
            <a:off x="5961888" y="7619987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57" name="legend:ga"/>
          <p:cNvCxnSpPr/>
          <p:nvPr/>
        </p:nvCxnSpPr>
        <p:spPr>
          <a:xfrm>
            <a:off x="6967728" y="7629131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legend:t4"/>
          <p:cNvSpPr txBox="1"/>
          <p:nvPr/>
        </p:nvSpPr>
        <p:spPr>
          <a:xfrm>
            <a:off x="7059168" y="7619987"/>
            <a:ext cx="9144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cxnSp>
        <p:nvCxnSpPr>
          <p:cNvPr id="359" name="legend:lineage-down"/>
          <p:cNvCxnSpPr/>
          <p:nvPr/>
        </p:nvCxnSpPr>
        <p:spPr>
          <a:xfrm>
            <a:off x="7927848" y="7629131"/>
            <a:ext cx="0" cy="6400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legend:lineage-across"/>
          <p:cNvCxnSpPr/>
          <p:nvPr/>
        </p:nvCxnSpPr>
        <p:spPr>
          <a:xfrm>
            <a:off x="7927848" y="7693139"/>
            <a:ext cx="3200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legend:t5"/>
          <p:cNvSpPr txBox="1"/>
          <p:nvPr/>
        </p:nvSpPr>
        <p:spPr>
          <a:xfrm>
            <a:off x="8339327" y="7619987"/>
            <a:ext cx="31089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lineage: release that a later feature builds on</a:t>
            </a:r>
          </a:p>
        </p:txBody>
      </p:sp>
      <p:sp>
        <p:nvSpPr>
          <p:cNvPr id="362" name="legend:offchart"/>
          <p:cNvSpPr/>
          <p:nvPr/>
        </p:nvSpPr>
        <p:spPr>
          <a:xfrm rot="16200000">
            <a:off x="11494008" y="7651991"/>
            <a:ext cx="82296" cy="82296"/>
          </a:xfrm>
          <a:prstGeom prst="triangl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3" name="legend:t6"/>
          <p:cNvSpPr txBox="1"/>
          <p:nvPr/>
        </p:nvSpPr>
        <p:spPr>
          <a:xfrm>
            <a:off x="11649456" y="7619987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development began before 2011</a:t>
            </a:r>
          </a:p>
        </p:txBody>
      </p:sp>
      <p:sp>
        <p:nvSpPr>
          <p:cNvPr id="364" name="notes:left"/>
          <p:cNvSpPr txBox="1"/>
          <p:nvPr/>
        </p:nvSpPr>
        <p:spPr>
          <a:xfrm>
            <a:off x="384048" y="7802867"/>
            <a:ext cx="681228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per Part VI;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approx. start of visible development (RFC / patch series); ~X.Y = kernel version then in development. Not audited; no ○ = no estimate.</a:t>
            </a:r>
          </a:p>
        </p:txBody>
      </p:sp>
      <p:sp>
        <p:nvSpPr>
          <p:cNvPr id="365" name="notes:right"/>
          <p:cNvSpPr txBox="1"/>
          <p:nvPr/>
        </p:nvSpPr>
        <p:spPr>
          <a:xfrm>
            <a:off x="7388352" y="7802867"/>
            <a:ext cx="685800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Rows: representative milestones selected from Part VI, grouped by axis. Cross-cutting-domain milestones (e.g. BBR, MPTCP, VXLAN, kTLS) have no row.</a:t>
            </a:r>
          </a:p>
        </p:txBody>
      </p:sp>
      <p:sp>
        <p:nvSpPr>
          <p:cNvPr id="443" name="row:DQL / BQL:start-label"/>
          <p:cNvSpPr txBox="1"/>
          <p:nvPr/>
        </p:nvSpPr>
        <p:spPr>
          <a:xfrm>
            <a:off x="3257664" y="1507021"/>
            <a:ext cx="274320" cy="137160"/>
          </a:xfrm>
          <a:prstGeom prst="rect">
            <a:avLst/>
          </a:prstGeom>
          <a:solidFill>
            <a:srgbClr val="EEF4FF"/>
          </a:solidFill>
        </p:spPr>
        <p:txBody>
          <a:bodyPr wrap="square" lIns="0" tIns="0" rIns="0" bIns="0" anchor="ctr">
            <a:noAutofit/>
          </a:bodyPr>
          <a:lstStyle/>
          <a:p>
            <a:pPr algn="ct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~2.6.39</a:t>
            </a:r>
          </a:p>
        </p:txBody>
      </p:sp>
      <p:sp>
        <p:nvSpPr>
          <p:cNvPr id="449" name="row:CoDel / fq_codel:start-label"/>
          <p:cNvSpPr txBox="1"/>
          <p:nvPr/>
        </p:nvSpPr>
        <p:spPr>
          <a:xfrm>
            <a:off x="3702673" y="160412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~3.4</a:t>
            </a:r>
          </a:p>
        </p:txBody>
      </p:sp>
      <p:sp>
        <p:nvSpPr>
          <p:cNvPr id="455" name="row:TSQ:start-label"/>
          <p:cNvSpPr txBox="1"/>
          <p:nvPr/>
        </p:nvSpPr>
        <p:spPr>
          <a:xfrm>
            <a:off x="3451625" y="170123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~3.2</a:t>
            </a:r>
          </a:p>
        </p:txBody>
      </p:sp>
      <p:sp>
        <p:nvSpPr>
          <p:cNvPr id="461" name="row:SO_BUSY_POLL:start-label"/>
          <p:cNvSpPr txBox="1"/>
          <p:nvPr/>
        </p:nvSpPr>
        <p:spPr>
          <a:xfrm>
            <a:off x="4145997" y="1798345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~3.8</a:t>
            </a:r>
          </a:p>
        </p:txBody>
      </p:sp>
      <p:sp>
        <p:nvSpPr>
          <p:cNvPr id="467" name="row:sch_fq / TCP pacing:start-label"/>
          <p:cNvSpPr txBox="1"/>
          <p:nvPr/>
        </p:nvSpPr>
        <p:spPr>
          <a:xfrm>
            <a:off x="4007123" y="189545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~3.7</a:t>
            </a:r>
          </a:p>
        </p:txBody>
      </p:sp>
      <p:sp>
        <p:nvSpPr>
          <p:cNvPr id="475" name="row:SO_TXTIME / EDT / taprio:start-label"/>
          <p:cNvSpPr txBox="1"/>
          <p:nvPr/>
        </p:nvSpPr>
        <p:spPr>
          <a:xfrm>
            <a:off x="6921900" y="199256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~4.11</a:t>
            </a:r>
          </a:p>
        </p:txBody>
      </p:sp>
      <p:sp>
        <p:nvSpPr>
          <p:cNvPr id="481" name="row:BIG TCP:start-label"/>
          <p:cNvSpPr txBox="1"/>
          <p:nvPr/>
        </p:nvSpPr>
        <p:spPr>
          <a:xfrm>
            <a:off x="9795402" y="208966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~5.12</a:t>
            </a:r>
          </a:p>
        </p:txBody>
      </p:sp>
      <p:sp>
        <p:nvSpPr>
          <p:cNvPr id="493" name="row:io_uring SEND_ZC / multishot recv:start-label"/>
          <p:cNvSpPr txBox="1"/>
          <p:nvPr/>
        </p:nvSpPr>
        <p:spPr>
          <a:xfrm>
            <a:off x="10306329" y="228388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~5.16</a:t>
            </a:r>
          </a:p>
        </p:txBody>
      </p:sp>
      <p:sp>
        <p:nvSpPr>
          <p:cNvPr id="499" name="row:dev_queue_xmit() llist:start-label"/>
          <p:cNvSpPr txBox="1"/>
          <p:nvPr/>
        </p:nvSpPr>
        <p:spPr>
          <a:xfrm>
            <a:off x="12984962" y="238099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~6.18</a:t>
            </a:r>
          </a:p>
        </p:txBody>
      </p:sp>
      <p:sp>
        <p:nvSpPr>
          <p:cNvPr id="505" name="row:cake_mq:start-label"/>
          <p:cNvSpPr txBox="1"/>
          <p:nvPr/>
        </p:nvSpPr>
        <p:spPr>
          <a:xfrm>
            <a:off x="12434017" y="247810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513" name="row:eBPF foundation:start-label"/>
          <p:cNvSpPr txBox="1"/>
          <p:nvPr/>
        </p:nvSpPr>
        <p:spPr>
          <a:xfrm>
            <a:off x="4448733" y="266664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~3.10</a:t>
            </a:r>
          </a:p>
        </p:txBody>
      </p:sp>
      <p:sp>
        <p:nvSpPr>
          <p:cNvPr id="519" name="row:TC BPF:start-label"/>
          <p:cNvSpPr txBox="1"/>
          <p:nvPr/>
        </p:nvSpPr>
        <p:spPr>
          <a:xfrm>
            <a:off x="5351418" y="276375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~3.18</a:t>
            </a:r>
          </a:p>
        </p:txBody>
      </p:sp>
      <p:sp>
        <p:nvSpPr>
          <p:cNvPr id="525" name="row:TCX:start-label"/>
          <p:cNvSpPr txBox="1"/>
          <p:nvPr/>
        </p:nvSpPr>
        <p:spPr>
          <a:xfrm>
            <a:off x="10715961" y="2860865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~6.0</a:t>
            </a:r>
          </a:p>
        </p:txBody>
      </p:sp>
      <p:sp>
        <p:nvSpPr>
          <p:cNvPr id="531" name="row:netkit:start-label"/>
          <p:cNvSpPr txBox="1"/>
          <p:nvPr/>
        </p:nvSpPr>
        <p:spPr>
          <a:xfrm>
            <a:off x="10950848" y="295797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</a:t>
            </a:r>
          </a:p>
        </p:txBody>
      </p:sp>
      <p:sp>
        <p:nvSpPr>
          <p:cNvPr id="537" name="row:cgroup / LWT BPF:start-label"/>
          <p:cNvSpPr txBox="1"/>
          <p:nvPr/>
        </p:nvSpPr>
        <p:spPr>
          <a:xfrm>
            <a:off x="6133103" y="305508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~4.4</a:t>
            </a:r>
          </a:p>
        </p:txBody>
      </p:sp>
      <p:sp>
        <p:nvSpPr>
          <p:cNvPr id="545" name="row:SOCK_OPS / SOCKMAP:start-label"/>
          <p:cNvSpPr txBox="1"/>
          <p:nvPr/>
        </p:nvSpPr>
        <p:spPr>
          <a:xfrm>
            <a:off x="6480289" y="315218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~4.7</a:t>
            </a:r>
          </a:p>
        </p:txBody>
      </p:sp>
      <p:sp>
        <p:nvSpPr>
          <p:cNvPr id="551" name="row:BPF struct_ops:start-label"/>
          <p:cNvSpPr txBox="1"/>
          <p:nvPr/>
        </p:nvSpPr>
        <p:spPr>
          <a:xfrm>
            <a:off x="8128908" y="324929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~4.19</a:t>
            </a:r>
          </a:p>
        </p:txBody>
      </p:sp>
      <p:sp>
        <p:nvSpPr>
          <p:cNvPr id="557" name="row:BPF qdisc:start-label"/>
          <p:cNvSpPr txBox="1"/>
          <p:nvPr/>
        </p:nvSpPr>
        <p:spPr>
          <a:xfrm>
            <a:off x="11921382" y="334640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~6.10</a:t>
            </a:r>
          </a:p>
        </p:txBody>
      </p:sp>
      <p:sp>
        <p:nvSpPr>
          <p:cNvPr id="563" name="row:SK_LOOKUP:start-label"/>
          <p:cNvSpPr txBox="1"/>
          <p:nvPr/>
        </p:nvSpPr>
        <p:spPr>
          <a:xfrm>
            <a:off x="8659418" y="344351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~5.2</a:t>
            </a:r>
          </a:p>
        </p:txBody>
      </p:sp>
      <p:sp>
        <p:nvSpPr>
          <p:cNvPr id="569" name="row:XDP:start-label"/>
          <p:cNvSpPr txBox="1"/>
          <p:nvPr/>
        </p:nvSpPr>
        <p:spPr>
          <a:xfrm>
            <a:off x="6216427" y="354062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~4.5</a:t>
            </a:r>
          </a:p>
        </p:txBody>
      </p:sp>
      <p:sp>
        <p:nvSpPr>
          <p:cNvPr id="577" name="row:XDP devmap / cpumap:start-label"/>
          <p:cNvSpPr txBox="1"/>
          <p:nvPr/>
        </p:nvSpPr>
        <p:spPr>
          <a:xfrm>
            <a:off x="6744211" y="363772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~4.12</a:t>
            </a:r>
          </a:p>
        </p:txBody>
      </p:sp>
      <p:sp>
        <p:nvSpPr>
          <p:cNvPr id="583" name="row:XDP multi-buffer:start-label"/>
          <p:cNvSpPr txBox="1"/>
          <p:nvPr/>
        </p:nvSpPr>
        <p:spPr>
          <a:xfrm>
            <a:off x="9560515" y="373483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~5.11</a:t>
            </a:r>
          </a:p>
        </p:txBody>
      </p:sp>
      <p:sp>
        <p:nvSpPr>
          <p:cNvPr id="589" name="row:AF_XDP:start-label"/>
          <p:cNvSpPr txBox="1"/>
          <p:nvPr/>
        </p:nvSpPr>
        <p:spPr>
          <a:xfrm>
            <a:off x="6744211" y="392338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~4.10</a:t>
            </a:r>
          </a:p>
        </p:txBody>
      </p:sp>
      <p:sp>
        <p:nvSpPr>
          <p:cNvPr id="595" name="row:AF_XDP multi-buffer:start-label"/>
          <p:cNvSpPr txBox="1"/>
          <p:nvPr/>
        </p:nvSpPr>
        <p:spPr>
          <a:xfrm>
            <a:off x="10254888" y="402049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~5.16</a:t>
            </a:r>
          </a:p>
        </p:txBody>
      </p:sp>
      <p:sp>
        <p:nvSpPr>
          <p:cNvPr id="601" name="row:page_pool:start-label"/>
          <p:cNvSpPr txBox="1"/>
          <p:nvPr/>
        </p:nvSpPr>
        <p:spPr>
          <a:xfrm>
            <a:off x="6367989" y="411760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~4.5</a:t>
            </a:r>
          </a:p>
        </p:txBody>
      </p:sp>
      <p:sp>
        <p:nvSpPr>
          <p:cNvPr id="607" name="row:netmem:start-label"/>
          <p:cNvSpPr txBox="1"/>
          <p:nvPr/>
        </p:nvSpPr>
        <p:spPr>
          <a:xfrm>
            <a:off x="11659671" y="421470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~6.7</a:t>
            </a:r>
          </a:p>
        </p:txBody>
      </p:sp>
      <p:sp>
        <p:nvSpPr>
          <p:cNvPr id="615" name="row:Device Memory TCP RX · TX:start-label"/>
          <p:cNvSpPr txBox="1"/>
          <p:nvPr/>
        </p:nvSpPr>
        <p:spPr>
          <a:xfrm>
            <a:off x="11159159" y="431181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627" name="row:large RX buffers (providers / ZCRX):start-label"/>
          <p:cNvSpPr txBox="1"/>
          <p:nvPr/>
        </p:nvSpPr>
        <p:spPr>
          <a:xfrm>
            <a:off x="12434017" y="460314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633" name="row:io_uring ZCRX:start-label"/>
          <p:cNvSpPr txBox="1"/>
          <p:nvPr/>
        </p:nvSpPr>
        <p:spPr>
          <a:xfrm>
            <a:off x="11367471" y="470024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~6.4</a:t>
            </a:r>
          </a:p>
        </p:txBody>
      </p:sp>
      <p:sp>
        <p:nvSpPr>
          <p:cNvPr id="639" name="row:RX HW queue leasing:start-label"/>
          <p:cNvSpPr txBox="1"/>
          <p:nvPr/>
        </p:nvSpPr>
        <p:spPr>
          <a:xfrm>
            <a:off x="12086831" y="479735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~6.10</a:t>
            </a:r>
          </a:p>
        </p:txBody>
      </p:sp>
      <p:sp>
        <p:nvSpPr>
          <p:cNvPr id="655" name="row:nexthop objects:start-label"/>
          <p:cNvSpPr txBox="1"/>
          <p:nvPr/>
        </p:nvSpPr>
        <p:spPr>
          <a:xfrm>
            <a:off x="7573410" y="518012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661" name="row:per-netns RTNL:start-label"/>
          <p:cNvSpPr txBox="1"/>
          <p:nvPr/>
        </p:nvSpPr>
        <p:spPr>
          <a:xfrm>
            <a:off x="11089722" y="527722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667" name="row:further RTNL breakup:start-label"/>
          <p:cNvSpPr txBox="1"/>
          <p:nvPr/>
        </p:nvSpPr>
        <p:spPr>
          <a:xfrm>
            <a:off x="11784095" y="537433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~6.7</a:t>
            </a:r>
          </a:p>
        </p:txBody>
      </p:sp>
      <p:sp>
        <p:nvSpPr>
          <p:cNvPr id="673" name="row:RTNL-less FIB rules:start-label"/>
          <p:cNvSpPr txBox="1"/>
          <p:nvPr/>
        </p:nvSpPr>
        <p:spPr>
          <a:xfrm>
            <a:off x="12434017" y="547144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682" name="row:YNL tooling:start-label"/>
          <p:cNvSpPr txBox="1"/>
          <p:nvPr/>
        </p:nvSpPr>
        <p:spPr>
          <a:xfrm>
            <a:off x="10003713" y="566566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~5.13</a:t>
            </a:r>
          </a:p>
        </p:txBody>
      </p:sp>
      <p:sp>
        <p:nvSpPr>
          <p:cNvPr id="688" name="row:queue/NAPI/page_pool netdev-genl:start-label"/>
          <p:cNvSpPr txBox="1"/>
          <p:nvPr/>
        </p:nvSpPr>
        <p:spPr>
          <a:xfrm>
            <a:off x="11089722" y="585420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694" name="row:kprobe BPF:start-label"/>
          <p:cNvSpPr txBox="1"/>
          <p:nvPr/>
        </p:nvSpPr>
        <p:spPr>
          <a:xfrm>
            <a:off x="4934794" y="595131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~3.14</a:t>
            </a:r>
          </a:p>
        </p:txBody>
      </p:sp>
      <p:sp>
        <p:nvSpPr>
          <p:cNvPr id="700" name="row:BTF:start-label"/>
          <p:cNvSpPr txBox="1"/>
          <p:nvPr/>
        </p:nvSpPr>
        <p:spPr>
          <a:xfrm>
            <a:off x="7726552" y="604842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~4.16</a:t>
            </a:r>
          </a:p>
        </p:txBody>
      </p:sp>
      <p:sp>
        <p:nvSpPr>
          <p:cNvPr id="706" name="row:structured drop reason:start-label"/>
          <p:cNvSpPr txBox="1"/>
          <p:nvPr/>
        </p:nvSpPr>
        <p:spPr>
          <a:xfrm>
            <a:off x="9656527" y="614553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~5.11</a:t>
            </a:r>
          </a:p>
        </p:txBody>
      </p:sp>
      <p:sp>
        <p:nvSpPr>
          <p:cNvPr id="712" name="row:drop-reason expansion:start-label"/>
          <p:cNvSpPr txBox="1"/>
          <p:nvPr/>
        </p:nvSpPr>
        <p:spPr>
          <a:xfrm>
            <a:off x="10489774" y="624264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~5.17</a:t>
            </a:r>
          </a:p>
        </p:txBody>
      </p:sp>
      <p:sp>
        <p:nvSpPr>
          <p:cNvPr id="718" name="row:qdisc-drop tracepoint:start-label"/>
          <p:cNvSpPr txBox="1"/>
          <p:nvPr/>
        </p:nvSpPr>
        <p:spPr>
          <a:xfrm>
            <a:off x="12434017" y="633974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724" name="row:switchdev:start-label"/>
          <p:cNvSpPr txBox="1"/>
          <p:nvPr/>
        </p:nvSpPr>
        <p:spPr>
          <a:xfrm>
            <a:off x="4795920" y="652829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~3.13</a:t>
            </a:r>
          </a:p>
        </p:txBody>
      </p:sp>
      <p:sp>
        <p:nvSpPr>
          <p:cNvPr id="730" name="row:devlink:start-label"/>
          <p:cNvSpPr txBox="1"/>
          <p:nvPr/>
        </p:nvSpPr>
        <p:spPr>
          <a:xfrm>
            <a:off x="5490292" y="662540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~3.19</a:t>
            </a:r>
          </a:p>
        </p:txBody>
      </p:sp>
      <p:sp>
        <p:nvSpPr>
          <p:cNvPr id="736" name="row:devlink health:start-label"/>
          <p:cNvSpPr txBox="1"/>
          <p:nvPr/>
        </p:nvSpPr>
        <p:spPr>
          <a:xfrm>
            <a:off x="7477398" y="672251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742" name="row:phylink:start-label"/>
          <p:cNvSpPr txBox="1"/>
          <p:nvPr/>
        </p:nvSpPr>
        <p:spPr>
          <a:xfrm>
            <a:off x="5673617" y="681962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~4.0</a:t>
            </a:r>
          </a:p>
        </p:txBody>
      </p:sp>
      <p:sp>
        <p:nvSpPr>
          <p:cNvPr id="750" name="row:Net DIM:start-label"/>
          <p:cNvSpPr txBox="1"/>
          <p:nvPr/>
        </p:nvSpPr>
        <p:spPr>
          <a:xfrm>
            <a:off x="6879037" y="691672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~4.10</a:t>
            </a:r>
          </a:p>
        </p:txBody>
      </p:sp>
      <p:sp>
        <p:nvSpPr>
          <p:cNvPr id="756" name="row:netdevsim:start-label"/>
          <p:cNvSpPr txBox="1"/>
          <p:nvPr/>
        </p:nvSpPr>
        <p:spPr>
          <a:xfrm>
            <a:off x="7226223" y="701383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~4.12</a:t>
            </a:r>
          </a:p>
        </p:txBody>
      </p:sp>
      <p:sp>
        <p:nvSpPr>
          <p:cNvPr id="762" name="row:ethtool netlink:start-label"/>
          <p:cNvSpPr txBox="1"/>
          <p:nvPr/>
        </p:nvSpPr>
        <p:spPr>
          <a:xfrm>
            <a:off x="7573410" y="711094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768" name="row:auxiliary bus:start-label"/>
          <p:cNvSpPr txBox="1"/>
          <p:nvPr/>
        </p:nvSpPr>
        <p:spPr>
          <a:xfrm>
            <a:off x="9006605" y="720805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~5.5</a:t>
            </a:r>
          </a:p>
        </p:txBody>
      </p:sp>
      <p:sp>
        <p:nvSpPr>
          <p:cNvPr id="776" name="row:threaded NAPI:start-label"/>
          <p:cNvSpPr txBox="1"/>
          <p:nvPr/>
        </p:nvSpPr>
        <p:spPr>
          <a:xfrm>
            <a:off x="9214916" y="730516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~5.7</a:t>
            </a:r>
          </a:p>
        </p:txBody>
      </p:sp>
      <p:sp>
        <p:nvSpPr>
          <p:cNvPr id="782" name="row:Rust phylib:start-label"/>
          <p:cNvSpPr txBox="1"/>
          <p:nvPr/>
        </p:nvSpPr>
        <p:spPr>
          <a:xfrm>
            <a:off x="11089722" y="740226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831" name="row:DQL / BQL:caption"/>
          <p:cNvSpPr txBox="1"/>
          <p:nvPr/>
        </p:nvSpPr>
        <p:spPr>
          <a:xfrm>
            <a:off x="4090511" y="1465873"/>
            <a:ext cx="39026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DQL / BQL</a:t>
            </a:r>
          </a:p>
        </p:txBody>
      </p:sp>
      <p:sp>
        <p:nvSpPr>
          <p:cNvPr id="832" name="row:CoDel / fq_codel:caption"/>
          <p:cNvSpPr txBox="1"/>
          <p:nvPr/>
        </p:nvSpPr>
        <p:spPr>
          <a:xfrm>
            <a:off x="4327672" y="1562981"/>
            <a:ext cx="617342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CoDel / fq_codel</a:t>
            </a:r>
          </a:p>
        </p:txBody>
      </p:sp>
      <p:sp>
        <p:nvSpPr>
          <p:cNvPr id="833" name="row:TSQ:caption"/>
          <p:cNvSpPr txBox="1"/>
          <p:nvPr/>
        </p:nvSpPr>
        <p:spPr>
          <a:xfrm>
            <a:off x="4463124" y="1660089"/>
            <a:ext cx="1618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TSQ</a:t>
            </a:r>
          </a:p>
        </p:txBody>
      </p:sp>
      <p:sp>
        <p:nvSpPr>
          <p:cNvPr id="834" name="row:SO_BUSY_POLL:caption"/>
          <p:cNvSpPr txBox="1"/>
          <p:nvPr/>
        </p:nvSpPr>
        <p:spPr>
          <a:xfrm>
            <a:off x="5149036" y="1757197"/>
            <a:ext cx="57478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SO_BUSY_POLL</a:t>
            </a:r>
          </a:p>
        </p:txBody>
      </p:sp>
      <p:sp>
        <p:nvSpPr>
          <p:cNvPr id="835" name="row:sch_fq / TCP pacing:caption"/>
          <p:cNvSpPr txBox="1"/>
          <p:nvPr/>
        </p:nvSpPr>
        <p:spPr>
          <a:xfrm>
            <a:off x="5266904" y="1854305"/>
            <a:ext cx="71848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sch_fq / TCP pacing</a:t>
            </a:r>
          </a:p>
        </p:txBody>
      </p:sp>
      <p:sp>
        <p:nvSpPr>
          <p:cNvPr id="836" name="row:SO_TXTIME / EDT / taprio:caption"/>
          <p:cNvSpPr txBox="1"/>
          <p:nvPr/>
        </p:nvSpPr>
        <p:spPr>
          <a:xfrm>
            <a:off x="9079624" y="1951413"/>
            <a:ext cx="94265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SO_TXTIME / EDT / taprio</a:t>
            </a:r>
          </a:p>
        </p:txBody>
      </p:sp>
      <p:sp>
        <p:nvSpPr>
          <p:cNvPr id="837" name="row:BIG TCP:caption"/>
          <p:cNvSpPr txBox="1"/>
          <p:nvPr/>
        </p:nvSpPr>
        <p:spPr>
          <a:xfrm>
            <a:off x="11335653" y="2048521"/>
            <a:ext cx="30006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BIG TCP</a:t>
            </a:r>
          </a:p>
        </p:txBody>
      </p:sp>
      <p:sp>
        <p:nvSpPr>
          <p:cNvPr id="838" name="row:BIG TCP extensions:caption"/>
          <p:cNvSpPr txBox="1"/>
          <p:nvPr/>
        </p:nvSpPr>
        <p:spPr>
          <a:xfrm>
            <a:off x="9671115" y="2145629"/>
            <a:ext cx="70512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BIG TCP extensions</a:t>
            </a:r>
          </a:p>
        </p:txBody>
      </p:sp>
      <p:sp>
        <p:nvSpPr>
          <p:cNvPr id="839" name="row:io_uring SEND_ZC / multishot recv:caption"/>
          <p:cNvSpPr txBox="1"/>
          <p:nvPr/>
        </p:nvSpPr>
        <p:spPr>
          <a:xfrm>
            <a:off x="11408750" y="2242737"/>
            <a:ext cx="125740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io_uring SEND_ZC / multishot recv</a:t>
            </a:r>
          </a:p>
        </p:txBody>
      </p:sp>
      <p:sp>
        <p:nvSpPr>
          <p:cNvPr id="840" name="row:dev_queue_xmit() llist:caption"/>
          <p:cNvSpPr txBox="1"/>
          <p:nvPr/>
        </p:nvSpPr>
        <p:spPr>
          <a:xfrm>
            <a:off x="12190585" y="2339845"/>
            <a:ext cx="8245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dev_queue_xmit() llist</a:t>
            </a:r>
          </a:p>
        </p:txBody>
      </p:sp>
      <p:sp>
        <p:nvSpPr>
          <p:cNvPr id="841" name="row:cake_mq:caption"/>
          <p:cNvSpPr txBox="1"/>
          <p:nvPr/>
        </p:nvSpPr>
        <p:spPr>
          <a:xfrm>
            <a:off x="13857352" y="2436953"/>
            <a:ext cx="3415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cake_mq</a:t>
            </a:r>
          </a:p>
        </p:txBody>
      </p:sp>
      <p:sp>
        <p:nvSpPr>
          <p:cNvPr id="842" name="row:eBPF foundation:caption"/>
          <p:cNvSpPr txBox="1"/>
          <p:nvPr/>
        </p:nvSpPr>
        <p:spPr>
          <a:xfrm>
            <a:off x="6256791" y="2625501"/>
            <a:ext cx="61489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eBPF foundation</a:t>
            </a:r>
          </a:p>
        </p:txBody>
      </p:sp>
      <p:sp>
        <p:nvSpPr>
          <p:cNvPr id="843" name="row:TC BPF:caption"/>
          <p:cNvSpPr txBox="1"/>
          <p:nvPr/>
        </p:nvSpPr>
        <p:spPr>
          <a:xfrm>
            <a:off x="6352331" y="2722609"/>
            <a:ext cx="26243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TC BPF</a:t>
            </a:r>
          </a:p>
        </p:txBody>
      </p:sp>
      <p:sp>
        <p:nvSpPr>
          <p:cNvPr id="844" name="row:TCX:caption"/>
          <p:cNvSpPr txBox="1"/>
          <p:nvPr/>
        </p:nvSpPr>
        <p:spPr>
          <a:xfrm>
            <a:off x="12156353" y="2819717"/>
            <a:ext cx="1533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TCX</a:t>
            </a:r>
          </a:p>
        </p:txBody>
      </p:sp>
      <p:sp>
        <p:nvSpPr>
          <p:cNvPr id="845" name="row:netkit:caption"/>
          <p:cNvSpPr txBox="1"/>
          <p:nvPr/>
        </p:nvSpPr>
        <p:spPr>
          <a:xfrm>
            <a:off x="12288004" y="2916825"/>
            <a:ext cx="22913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netkit</a:t>
            </a:r>
          </a:p>
        </p:txBody>
      </p:sp>
      <p:sp>
        <p:nvSpPr>
          <p:cNvPr id="846" name="row:cgroup / LWT BPF:caption"/>
          <p:cNvSpPr txBox="1"/>
          <p:nvPr/>
        </p:nvSpPr>
        <p:spPr>
          <a:xfrm>
            <a:off x="7555814" y="3013933"/>
            <a:ext cx="65203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cgroup / LWT BPF</a:t>
            </a:r>
          </a:p>
        </p:txBody>
      </p:sp>
      <p:sp>
        <p:nvSpPr>
          <p:cNvPr id="847" name="row:SOCK_OPS / SOCKMAP:caption"/>
          <p:cNvSpPr txBox="1"/>
          <p:nvPr/>
        </p:nvSpPr>
        <p:spPr>
          <a:xfrm>
            <a:off x="8307307" y="3111041"/>
            <a:ext cx="84270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SOCK_OPS / SOCKMAP</a:t>
            </a:r>
          </a:p>
        </p:txBody>
      </p:sp>
      <p:sp>
        <p:nvSpPr>
          <p:cNvPr id="848" name="row:BPF struct_ops:caption"/>
          <p:cNvSpPr txBox="1"/>
          <p:nvPr/>
        </p:nvSpPr>
        <p:spPr>
          <a:xfrm>
            <a:off x="9666403" y="3208149"/>
            <a:ext cx="55435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BPF struct_ops</a:t>
            </a:r>
          </a:p>
        </p:txBody>
      </p:sp>
      <p:sp>
        <p:nvSpPr>
          <p:cNvPr id="849" name="row:BPF qdisc:caption"/>
          <p:cNvSpPr txBox="1"/>
          <p:nvPr/>
        </p:nvSpPr>
        <p:spPr>
          <a:xfrm>
            <a:off x="13411166" y="3305257"/>
            <a:ext cx="35970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BPF qdisc</a:t>
            </a:r>
          </a:p>
        </p:txBody>
      </p:sp>
      <p:sp>
        <p:nvSpPr>
          <p:cNvPr id="850" name="row:SK_LOOKUP:caption"/>
          <p:cNvSpPr txBox="1"/>
          <p:nvPr/>
        </p:nvSpPr>
        <p:spPr>
          <a:xfrm>
            <a:off x="10039016" y="3402365"/>
            <a:ext cx="450641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SK_LOOKUP</a:t>
            </a:r>
          </a:p>
        </p:txBody>
      </p:sp>
      <p:sp>
        <p:nvSpPr>
          <p:cNvPr id="851" name="row:XDP:caption"/>
          <p:cNvSpPr txBox="1"/>
          <p:nvPr/>
        </p:nvSpPr>
        <p:spPr>
          <a:xfrm>
            <a:off x="7244416" y="3499473"/>
            <a:ext cx="165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XDP</a:t>
            </a:r>
          </a:p>
        </p:txBody>
      </p:sp>
      <p:sp>
        <p:nvSpPr>
          <p:cNvPr id="852" name="row:XDP devmap / cpumap:caption"/>
          <p:cNvSpPr txBox="1"/>
          <p:nvPr/>
        </p:nvSpPr>
        <p:spPr>
          <a:xfrm>
            <a:off x="8454642" y="3596581"/>
            <a:ext cx="84197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XDP devmap / cpumap</a:t>
            </a:r>
          </a:p>
        </p:txBody>
      </p:sp>
      <p:sp>
        <p:nvSpPr>
          <p:cNvPr id="853" name="row:XDP multi-buffer:caption"/>
          <p:cNvSpPr txBox="1"/>
          <p:nvPr/>
        </p:nvSpPr>
        <p:spPr>
          <a:xfrm>
            <a:off x="11202576" y="3693689"/>
            <a:ext cx="61833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XDP multi-buffer</a:t>
            </a:r>
          </a:p>
        </p:txBody>
      </p:sp>
      <p:sp>
        <p:nvSpPr>
          <p:cNvPr id="854" name="row:AF_XDP:caption"/>
          <p:cNvSpPr txBox="1"/>
          <p:nvPr/>
        </p:nvSpPr>
        <p:spPr>
          <a:xfrm>
            <a:off x="8580976" y="3882237"/>
            <a:ext cx="30161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AF_XDP</a:t>
            </a:r>
          </a:p>
        </p:txBody>
      </p:sp>
      <p:sp>
        <p:nvSpPr>
          <p:cNvPr id="855" name="row:AF_XDP multi-buffer:caption"/>
          <p:cNvSpPr txBox="1"/>
          <p:nvPr/>
        </p:nvSpPr>
        <p:spPr>
          <a:xfrm>
            <a:off x="12156353" y="3979345"/>
            <a:ext cx="75489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AF_XDP multi-buffer</a:t>
            </a:r>
          </a:p>
        </p:txBody>
      </p:sp>
      <p:sp>
        <p:nvSpPr>
          <p:cNvPr id="856" name="row:page_pool:caption"/>
          <p:cNvSpPr txBox="1"/>
          <p:nvPr/>
        </p:nvSpPr>
        <p:spPr>
          <a:xfrm>
            <a:off x="8580976" y="4076453"/>
            <a:ext cx="398072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page_pool</a:t>
            </a:r>
          </a:p>
        </p:txBody>
      </p:sp>
      <p:sp>
        <p:nvSpPr>
          <p:cNvPr id="857" name="row:netmem:caption"/>
          <p:cNvSpPr txBox="1"/>
          <p:nvPr/>
        </p:nvSpPr>
        <p:spPr>
          <a:xfrm>
            <a:off x="12527066" y="4173561"/>
            <a:ext cx="324799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netmem</a:t>
            </a:r>
          </a:p>
        </p:txBody>
      </p:sp>
      <p:sp>
        <p:nvSpPr>
          <p:cNvPr id="858" name="row:Device Memory TCP RX · TX:caption"/>
          <p:cNvSpPr txBox="1"/>
          <p:nvPr/>
        </p:nvSpPr>
        <p:spPr>
          <a:xfrm>
            <a:off x="10176103" y="4270669"/>
            <a:ext cx="10106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Device Memory TCP RX · TX</a:t>
            </a:r>
          </a:p>
        </p:txBody>
      </p:sp>
      <p:sp>
        <p:nvSpPr>
          <p:cNvPr id="859" name="row:devmem RX buffers &gt; PAGE_SIZE:caption"/>
          <p:cNvSpPr txBox="1"/>
          <p:nvPr/>
        </p:nvSpPr>
        <p:spPr>
          <a:xfrm>
            <a:off x="11420825" y="4367777"/>
            <a:ext cx="118806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devmem RX buffers &gt; PAGE_SIZE</a:t>
            </a:r>
          </a:p>
        </p:txBody>
      </p:sp>
      <p:sp>
        <p:nvSpPr>
          <p:cNvPr id="860" name="row:page_pool memory-provider hooks:caption"/>
          <p:cNvSpPr txBox="1"/>
          <p:nvPr/>
        </p:nvSpPr>
        <p:spPr>
          <a:xfrm>
            <a:off x="11320444" y="4464885"/>
            <a:ext cx="128844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page_pool memory-provider hooks</a:t>
            </a:r>
          </a:p>
        </p:txBody>
      </p:sp>
      <p:sp>
        <p:nvSpPr>
          <p:cNvPr id="861" name="row:large RX buffers (providers / ZCRX):caption"/>
          <p:cNvSpPr txBox="1"/>
          <p:nvPr/>
        </p:nvSpPr>
        <p:spPr>
          <a:xfrm>
            <a:off x="11212232" y="4561993"/>
            <a:ext cx="125198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large RX buffers (providers / ZCRX)</a:t>
            </a:r>
          </a:p>
        </p:txBody>
      </p:sp>
      <p:sp>
        <p:nvSpPr>
          <p:cNvPr id="862" name="row:io_uring ZCRX:caption"/>
          <p:cNvSpPr txBox="1"/>
          <p:nvPr/>
        </p:nvSpPr>
        <p:spPr>
          <a:xfrm>
            <a:off x="13291397" y="4659101"/>
            <a:ext cx="5189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io_uring ZCRX</a:t>
            </a:r>
          </a:p>
        </p:txBody>
      </p:sp>
      <p:sp>
        <p:nvSpPr>
          <p:cNvPr id="863" name="row:RX HW queue leasing:caption"/>
          <p:cNvSpPr txBox="1"/>
          <p:nvPr/>
        </p:nvSpPr>
        <p:spPr>
          <a:xfrm>
            <a:off x="11330007" y="4756209"/>
            <a:ext cx="78702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RX HW queue leasing</a:t>
            </a:r>
          </a:p>
        </p:txBody>
      </p:sp>
      <p:sp>
        <p:nvSpPr>
          <p:cNvPr id="864" name="row:namespace FD / setns():caption"/>
          <p:cNvSpPr txBox="1"/>
          <p:nvPr/>
        </p:nvSpPr>
        <p:spPr>
          <a:xfrm>
            <a:off x="3633774" y="4944757"/>
            <a:ext cx="862581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namespace FD / setns()</a:t>
            </a:r>
          </a:p>
        </p:txBody>
      </p:sp>
      <p:sp>
        <p:nvSpPr>
          <p:cNvPr id="865" name="row:nftables (dev. from 2008):caption"/>
          <p:cNvSpPr txBox="1"/>
          <p:nvPr/>
        </p:nvSpPr>
        <p:spPr>
          <a:xfrm>
            <a:off x="4078304" y="5092157"/>
            <a:ext cx="976543" cy="118872"/>
          </a:xfrm>
          <a:prstGeom prst="rect">
            <a:avLst/>
          </a:prstGeom>
          <a:solidFill>
            <a:srgbClr val="FEF0F0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00" b="0" i="0">
                <a:solidFill>
                  <a:srgbClr val="334155"/>
                </a:solidFill>
              </a:rPr>
              <a:t>nftables (dev. from 2008)</a:t>
            </a:r>
          </a:p>
        </p:txBody>
      </p:sp>
      <p:sp>
        <p:nvSpPr>
          <p:cNvPr id="866" name="row:nexthop objects:caption"/>
          <p:cNvSpPr txBox="1"/>
          <p:nvPr/>
        </p:nvSpPr>
        <p:spPr>
          <a:xfrm>
            <a:off x="9293314" y="5138973"/>
            <a:ext cx="598069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nexthop objects</a:t>
            </a:r>
          </a:p>
        </p:txBody>
      </p:sp>
      <p:sp>
        <p:nvSpPr>
          <p:cNvPr id="867" name="row:per-netns RTNL:caption"/>
          <p:cNvSpPr txBox="1"/>
          <p:nvPr/>
        </p:nvSpPr>
        <p:spPr>
          <a:xfrm>
            <a:off x="13051860" y="5236081"/>
            <a:ext cx="572149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per-netns RTNL</a:t>
            </a:r>
          </a:p>
        </p:txBody>
      </p:sp>
      <p:sp>
        <p:nvSpPr>
          <p:cNvPr id="868" name="row:further RTNL breakup:caption"/>
          <p:cNvSpPr txBox="1"/>
          <p:nvPr/>
        </p:nvSpPr>
        <p:spPr>
          <a:xfrm>
            <a:off x="13291397" y="5333189"/>
            <a:ext cx="7965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further RTNL breakup</a:t>
            </a:r>
          </a:p>
        </p:txBody>
      </p:sp>
      <p:sp>
        <p:nvSpPr>
          <p:cNvPr id="869" name="row:RTNL-less FIB rules:caption"/>
          <p:cNvSpPr txBox="1"/>
          <p:nvPr/>
        </p:nvSpPr>
        <p:spPr>
          <a:xfrm>
            <a:off x="11770128" y="5430297"/>
            <a:ext cx="69408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RTNL-less FIB rules</a:t>
            </a:r>
          </a:p>
        </p:txBody>
      </p:sp>
      <p:sp>
        <p:nvSpPr>
          <p:cNvPr id="870" name="row:per-netns netdev unregistration:caption"/>
          <p:cNvSpPr txBox="1"/>
          <p:nvPr/>
        </p:nvSpPr>
        <p:spPr>
          <a:xfrm>
            <a:off x="11802784" y="5527405"/>
            <a:ext cx="116398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per-netns netdev unregistration</a:t>
            </a:r>
          </a:p>
        </p:txBody>
      </p:sp>
      <p:sp>
        <p:nvSpPr>
          <p:cNvPr id="871" name="row:YNL tooling:caption"/>
          <p:cNvSpPr txBox="1"/>
          <p:nvPr/>
        </p:nvSpPr>
        <p:spPr>
          <a:xfrm>
            <a:off x="11795146" y="5624513"/>
            <a:ext cx="42851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YNL tooling</a:t>
            </a:r>
          </a:p>
        </p:txBody>
      </p:sp>
      <p:sp>
        <p:nvSpPr>
          <p:cNvPr id="872" name="row:queue/NAPI/page_pool netdev-genl:caption"/>
          <p:cNvSpPr txBox="1"/>
          <p:nvPr/>
        </p:nvSpPr>
        <p:spPr>
          <a:xfrm>
            <a:off x="12407772" y="5813061"/>
            <a:ext cx="1320131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queue/NAPI/page_pool netdev-genl</a:t>
            </a:r>
          </a:p>
        </p:txBody>
      </p:sp>
      <p:sp>
        <p:nvSpPr>
          <p:cNvPr id="873" name="row:kprobe BPF:caption"/>
          <p:cNvSpPr txBox="1"/>
          <p:nvPr/>
        </p:nvSpPr>
        <p:spPr>
          <a:xfrm>
            <a:off x="6352331" y="5910169"/>
            <a:ext cx="42803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kprobe BPF</a:t>
            </a:r>
          </a:p>
        </p:txBody>
      </p:sp>
      <p:sp>
        <p:nvSpPr>
          <p:cNvPr id="874" name="row:BTF:caption"/>
          <p:cNvSpPr txBox="1"/>
          <p:nvPr/>
        </p:nvSpPr>
        <p:spPr>
          <a:xfrm>
            <a:off x="8580976" y="6007277"/>
            <a:ext cx="14873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BTF</a:t>
            </a:r>
          </a:p>
        </p:txBody>
      </p:sp>
      <p:sp>
        <p:nvSpPr>
          <p:cNvPr id="875" name="row:structured drop reason:caption"/>
          <p:cNvSpPr txBox="1"/>
          <p:nvPr/>
        </p:nvSpPr>
        <p:spPr>
          <a:xfrm>
            <a:off x="11082808" y="6104385"/>
            <a:ext cx="84944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structured drop reason</a:t>
            </a:r>
          </a:p>
        </p:txBody>
      </p:sp>
      <p:sp>
        <p:nvSpPr>
          <p:cNvPr id="876" name="row:drop-reason expansion:caption"/>
          <p:cNvSpPr txBox="1"/>
          <p:nvPr/>
        </p:nvSpPr>
        <p:spPr>
          <a:xfrm>
            <a:off x="11335653" y="6201493"/>
            <a:ext cx="84661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drop-reason expansion</a:t>
            </a:r>
          </a:p>
        </p:txBody>
      </p:sp>
      <p:sp>
        <p:nvSpPr>
          <p:cNvPr id="877" name="row:qdisc-drop tracepoint:caption"/>
          <p:cNvSpPr txBox="1"/>
          <p:nvPr/>
        </p:nvSpPr>
        <p:spPr>
          <a:xfrm>
            <a:off x="11669540" y="6298601"/>
            <a:ext cx="79467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qdisc-drop tracepoint</a:t>
            </a:r>
          </a:p>
        </p:txBody>
      </p:sp>
      <p:sp>
        <p:nvSpPr>
          <p:cNvPr id="878" name="row:switchdev:caption"/>
          <p:cNvSpPr txBox="1"/>
          <p:nvPr/>
        </p:nvSpPr>
        <p:spPr>
          <a:xfrm>
            <a:off x="6146157" y="6487149"/>
            <a:ext cx="38024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switchdev</a:t>
            </a:r>
          </a:p>
        </p:txBody>
      </p:sp>
      <p:sp>
        <p:nvSpPr>
          <p:cNvPr id="879" name="row:devlink:caption"/>
          <p:cNvSpPr txBox="1"/>
          <p:nvPr/>
        </p:nvSpPr>
        <p:spPr>
          <a:xfrm>
            <a:off x="6978264" y="6584257"/>
            <a:ext cx="27688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devlink</a:t>
            </a:r>
          </a:p>
        </p:txBody>
      </p:sp>
      <p:sp>
        <p:nvSpPr>
          <p:cNvPr id="880" name="row:devlink health:caption"/>
          <p:cNvSpPr txBox="1"/>
          <p:nvPr/>
        </p:nvSpPr>
        <p:spPr>
          <a:xfrm>
            <a:off x="9040469" y="6681365"/>
            <a:ext cx="5274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devlink health</a:t>
            </a:r>
          </a:p>
        </p:txBody>
      </p:sp>
      <p:sp>
        <p:nvSpPr>
          <p:cNvPr id="881" name="row:phylink:caption"/>
          <p:cNvSpPr txBox="1"/>
          <p:nvPr/>
        </p:nvSpPr>
        <p:spPr>
          <a:xfrm>
            <a:off x="8061503" y="6778473"/>
            <a:ext cx="27823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phylink</a:t>
            </a:r>
          </a:p>
        </p:txBody>
      </p:sp>
      <p:sp>
        <p:nvSpPr>
          <p:cNvPr id="882" name="row:Net DIM:caption"/>
          <p:cNvSpPr txBox="1"/>
          <p:nvPr/>
        </p:nvSpPr>
        <p:spPr>
          <a:xfrm>
            <a:off x="9524192" y="6875581"/>
            <a:ext cx="3224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Net DIM</a:t>
            </a:r>
          </a:p>
        </p:txBody>
      </p:sp>
      <p:sp>
        <p:nvSpPr>
          <p:cNvPr id="883" name="row:netdevsim:caption"/>
          <p:cNvSpPr txBox="1"/>
          <p:nvPr/>
        </p:nvSpPr>
        <p:spPr>
          <a:xfrm>
            <a:off x="8328131" y="6972689"/>
            <a:ext cx="39399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netdevsim</a:t>
            </a:r>
          </a:p>
        </p:txBody>
      </p:sp>
      <p:sp>
        <p:nvSpPr>
          <p:cNvPr id="884" name="row:ethtool netlink:caption"/>
          <p:cNvSpPr txBox="1"/>
          <p:nvPr/>
        </p:nvSpPr>
        <p:spPr>
          <a:xfrm>
            <a:off x="9666403" y="7069797"/>
            <a:ext cx="54906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ethtool netlink</a:t>
            </a:r>
          </a:p>
        </p:txBody>
      </p:sp>
      <p:sp>
        <p:nvSpPr>
          <p:cNvPr id="885" name="row:auxiliary bus:caption"/>
          <p:cNvSpPr txBox="1"/>
          <p:nvPr/>
        </p:nvSpPr>
        <p:spPr>
          <a:xfrm>
            <a:off x="10323798" y="7166905"/>
            <a:ext cx="46983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auxiliary bus</a:t>
            </a:r>
          </a:p>
        </p:txBody>
      </p:sp>
      <p:sp>
        <p:nvSpPr>
          <p:cNvPr id="886" name="row:threaded NAPI:caption"/>
          <p:cNvSpPr txBox="1"/>
          <p:nvPr/>
        </p:nvSpPr>
        <p:spPr>
          <a:xfrm>
            <a:off x="8696188" y="7264013"/>
            <a:ext cx="546319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threaded NAPI</a:t>
            </a:r>
          </a:p>
        </p:txBody>
      </p:sp>
      <p:sp>
        <p:nvSpPr>
          <p:cNvPr id="887" name="row:Rust phylib:caption"/>
          <p:cNvSpPr txBox="1"/>
          <p:nvPr/>
        </p:nvSpPr>
        <p:spPr>
          <a:xfrm>
            <a:off x="12407772" y="7361121"/>
            <a:ext cx="416442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Rust phylib</a:t>
            </a:r>
          </a:p>
        </p:txBody>
      </p:sp>
      <p:cxnSp>
        <p:nvCxnSpPr>
          <p:cNvPr id="421" name="era-span:2:left"/>
          <p:cNvCxnSpPr/>
          <p:nvPr/>
        </p:nvCxnSpPr>
        <p:spPr>
          <a:xfrm>
            <a:off x="5909309" y="880491"/>
            <a:ext cx="600076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era-span:2:right"/>
          <p:cNvCxnSpPr/>
          <p:nvPr/>
        </p:nvCxnSpPr>
        <p:spPr>
          <a:xfrm>
            <a:off x="7858125" y="880491"/>
            <a:ext cx="639841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era-span:3:left"/>
          <p:cNvCxnSpPr/>
          <p:nvPr/>
        </p:nvCxnSpPr>
        <p:spPr>
          <a:xfrm>
            <a:off x="8643057" y="880491"/>
            <a:ext cx="64381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era-span:3:right"/>
          <p:cNvCxnSpPr/>
          <p:nvPr/>
        </p:nvCxnSpPr>
        <p:spPr>
          <a:xfrm>
            <a:off x="10635614" y="880491"/>
            <a:ext cx="596100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era-span:4:left"/>
          <p:cNvCxnSpPr/>
          <p:nvPr/>
        </p:nvCxnSpPr>
        <p:spPr>
          <a:xfrm>
            <a:off x="11444405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era-span:4:right"/>
          <p:cNvCxnSpPr/>
          <p:nvPr/>
        </p:nvCxnSpPr>
        <p:spPr>
          <a:xfrm>
            <a:off x="13287628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era-span:1:left"/>
          <p:cNvCxnSpPr/>
          <p:nvPr/>
        </p:nvCxnSpPr>
        <p:spPr>
          <a:xfrm>
            <a:off x="3111935" y="880491"/>
            <a:ext cx="745435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era-span:1:right"/>
          <p:cNvCxnSpPr/>
          <p:nvPr/>
        </p:nvCxnSpPr>
        <p:spPr>
          <a:xfrm>
            <a:off x="4955158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ra-label:1"/>
          <p:cNvSpPr txBox="1"/>
          <p:nvPr/>
        </p:nvSpPr>
        <p:spPr>
          <a:xfrm>
            <a:off x="3054096" y="813816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 dirty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 dirty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3" name="era-label:2"/>
          <p:cNvSpPr txBox="1"/>
          <p:nvPr/>
        </p:nvSpPr>
        <p:spPr>
          <a:xfrm>
            <a:off x="5831586" y="813816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13816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6" name="era-label:4"/>
          <p:cNvSpPr txBox="1"/>
          <p:nvPr/>
        </p:nvSpPr>
        <p:spPr>
          <a:xfrm>
            <a:off x="11386565" y="813816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placement &amp; scoped control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1015</Words>
  <Application>Microsoft Macintosh PowerPoint</Application>
  <PresentationFormat>ユーザー設定</PresentationFormat>
  <Paragraphs>202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shownet_user01</cp:lastModifiedBy>
  <cp:revision>2</cp:revision>
  <dcterms:created xsi:type="dcterms:W3CDTF">2013-01-27T09:14:16Z</dcterms:created>
  <dcterms:modified xsi:type="dcterms:W3CDTF">2026-10-04T12:41:53Z</dcterms:modified>
  <cp:category/>
</cp:coreProperties>
</file>