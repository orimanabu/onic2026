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00" d="100"/>
          <a:sy n="100" d="100"/>
        </p:scale>
        <p:origin x="77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506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Editing notes (figure synced to canonical edition r50)</a:t>
            </a:r>
          </a:p>
          <a:p>
            <a:r>
              <a:t>- Every band, label, marker and line is a native, named PowerPoint object (row:&lt;feature&gt;:name / :start / :development / :release:&lt;ver&gt; / :milestones / :label / :start-label).</a:t>
            </a:r>
          </a:p>
          <a:p>
            <a:r>
              <a:t>- Release markers sit on the kernel release date of the canonical version; 7.3-rc sits on the net-next-7.3 mainline merge date.</a:t>
            </a:r>
          </a:p>
          <a:p>
            <a:r>
              <a:t>- Bundled rows show one marker per release: SO_TXTIME / EDT / taprio (4.19, 4.20); SOCK_OPS / SOCKMAP (4.13, 4.14); XDP devmap / cpumap (4.14, 4.15). One marker stands for two Part VI rows of the same release in CoDel / fq_codel (3.5), cgroup / LWT BPF (4.10), io_uring SEND_ZC / multishot recv (6.0), io_uring ZCRX / memory-provider hooks (6.15) and queue/NAPI/page_pool netdev-genl (6.8).</a:t>
            </a:r>
          </a:p>
          <a:p>
            <a:r>
              <a:t>- Successive milestones on one row (solid line, label a · b): eBPF foundation = internal BPF ISA rework (3.15) and bpf() / maps / verifier (3.18); BIG TCP extensions = IPv4 BIG TCP (6.3), IPv6 BIG TCP without HBH (7.0), tunnel BIG TCP (7.3-rc); Net DIM = initial generation (4.16) and common-library integration (5.3); threaded NAPI = origin (5.12) and kthread busy-poll extension (6.19).</a:t>
            </a:r>
          </a:p>
          <a:p>
            <a:r>
              <a:t>- Changes against r24-v8: Era 4 renamed to "Explicit placement &amp; scoped control"; title restated as the r50 central thesis; rows added for CoDel / fq_codel, io_uring SEND_ZC / multishot recv, dev_queue_xmit() llist, XDP devmap / cpumap, netmem, devmem buffers &gt; PAGE_SIZE, namespace FD / setns(), per-netns netdev unregistration and BTF; XDP multi-buffer moved from MEMORY to PROGRAMMABILITY (its Part VI axis); memory providers are no longer "provenance open" (Part VII anchors for netmem 6.9 and the 6.15 provider hooks).</a:t>
            </a:r>
          </a:p>
          <a:p>
            <a:r>
              <a:t>- netmem (6.9) is drawn from its Part VII anchor: r50 Part VI has no netmem row.</a:t>
            </a:r>
          </a:p>
          <a:p>
            <a:r>
              <a:t>- Row selection: every row is a Part VI milestone. Not drawn: milestones whose subject is a cross-cutting domain (TRANSPORT, VIRTUAL / OVERLAY, SECURITY) and secondary Part VI milestones (e.g. SO_REUSEPORT, MSG_ZEROCOPY, TCP_ZEROCOPY_RECEIVE, CAKE, UDP GRO, mac80211 airtime / AQL, Flower, TC ct, SK_MSG, flow dissector, nftables ingress / egress / flowtable, conntrack and bpfilter rows, route-cache removal).</a:t>
            </a:r>
          </a:p>
          <a:p>
            <a:r>
              <a:t>- Era shading uses calendar-year boundaries (2015, 2019, 2023) as an approximation of Part II.</a:t>
            </a:r>
          </a:p>
          <a:p>
            <a:r>
              <a:t>- Only X.0 releases are drawn as vertical lines.</a:t>
            </a:r>
          </a:p>
          <a:p>
            <a:r>
              <a:t>- Rows inside each band are ordered by lineage rather than strictly by date. A lineage trunk drops from a parent release (●); a horizontal arrow runs to the start (○) of a feature that began afterwards (or to the ● of a row without a start estimate), the trunk ends on the dashed line of a feature already in development, and a small dot marks a child the trunk passes through.</a:t>
            </a:r>
          </a:p>
          <a:p>
            <a:r>
              <a:t>- Links: sch_fq / TCP pacing → SO_TXTIME / EDT / taprio; BIG TCP → BIG TCP extensions; eBPF foundation → TC BPF, cgroup / LWT BPF, SOCK_OPS / SOCKMAP, XDP; TC BPF → TCX → netkit (shared bpf_mprog attachment); BPF struct_ops → BPF qdisc; XDP → XDP devmap / cpumap, XDP multi-buffer; AF_XDP → AF_XDP multi-buffer; page_pool → netmem → Device Memory TCP RX → Device Memory TCP TX and io_uring ZCRX / memory-provider hooks → large RX buffers (r50: consumer-specific devmem path first, generic provider hooks in 6.15); per-netns RTNL → further RTNL breakup → RTNL-less FIB rules and per-netns netdev unregistration; structured drop reason → drop-reason expansion; switchdev → devlink → devlink health.</a:t>
            </a:r>
          </a:p>
          <a:p>
            <a:r>
              <a:t>- Across bands: eBPF foundation → kprobe BPF; XDP → AF_XDP and XDP → page_pool (XDP was one of the pressures behind page_pool, not its only origin); XDP multi-buffer → AF_XDP multi-buffer; YNL tooling → queue/NAPI/page_pool netdev-genl (the netdev family is YNL-specified).</a:t>
            </a:r>
          </a:p>
          <a:p>
            <a:r>
              <a:t>- Deliberately not linked: the queueing layers (BQL, CoDel / fq_codel, TSQ, fq; parallel, not derived), dev_queue_xmit() llist (implementation scalability, not a contract), io_uring SEND_ZC (precedes ZCRX but is a different API), BTF (a parallel observability primitive in Part V), devmem buffers &gt; PAGE_SIZE, RX HW queue leasing (interacts with AF_XDP / io_uring), and netdev-genl → queue leasing / ZCRX (conceptual only).</a:t>
            </a:r>
          </a:p>
          <a:p>
            <a:r>
              <a:t>- Development starts are from memory, not audited: nftables ~2008 and namespace FD / setns() before 2011 (off-chart), XDP ~early 2016; added in this revision: CoDel / fq_codel ~May 2012, XDP devmap / cpumap ~mid 2017, BTF ~March 2018, io_uring SEND_ZC ~Dec 2021, netmem ~Dec 2023, dev_queue_xmit() llist ~Oct 2025. Rows without ○ (devmem buffers &gt; PAGE_SIZE, per-netns netdev unregistration) have no estimate.</a:t>
            </a:r>
          </a:p>
          <a:p>
            <a:r>
              <a:t>- Start labels (~X.Y) give the version under development at the plotted start date, i.e. the first kernel released after that date. Where a lineage arrow runs into a start label, its shaft is broken around the label (…:across:before-label + …:across).</a:t>
            </a:r>
          </a:p>
          <a:p>
            <a:r>
              <a:t>- Era span arrows: era-span:&lt;n&gt;:left / :right.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itle"/>
          <p:cNvSpPr txBox="1"/>
          <p:nvPr/>
        </p:nvSpPr>
        <p:spPr>
          <a:xfrm>
            <a:off x="320040" y="137160"/>
            <a:ext cx="1399032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2400" b="1" i="0">
                <a:solidFill>
                  <a:srgbClr val="1F2937"/>
                </a:solidFill>
              </a:rPr>
              <a:t>Explicit resource / control contracts let execution and memory models coexist (2011–2026)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320040" y="557784"/>
            <a:ext cx="139903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100" b="0" i="0">
                <a:solidFill>
                  <a:srgbClr val="64748B"/>
                </a:solidFill>
              </a:rPr>
              <a:t>Linux networking milestones by architecture axis, set against the four architecture eras and X.0 releases · canonical edition r50</a:t>
            </a:r>
          </a:p>
        </p:txBody>
      </p:sp>
      <p:sp>
        <p:nvSpPr>
          <p:cNvPr id="5" name="band:PERFORMANCE"/>
          <p:cNvSpPr/>
          <p:nvPr/>
        </p:nvSpPr>
        <p:spPr>
          <a:xfrm>
            <a:off x="228600" y="1508760"/>
            <a:ext cx="14173200" cy="1104763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band:PROGRAMMABILITY"/>
          <p:cNvSpPr/>
          <p:nvPr/>
        </p:nvSpPr>
        <p:spPr>
          <a:xfrm>
            <a:off x="228600" y="2668388"/>
            <a:ext cx="14173200" cy="1201871"/>
          </a:xfrm>
          <a:prstGeom prst="roundRect">
            <a:avLst>
              <a:gd name="adj" fmla="val 8000"/>
            </a:avLst>
          </a:prstGeom>
          <a:solidFill>
            <a:srgbClr val="FF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band:MEMORY"/>
          <p:cNvSpPr/>
          <p:nvPr/>
        </p:nvSpPr>
        <p:spPr>
          <a:xfrm>
            <a:off x="228600" y="3925124"/>
            <a:ext cx="14173200" cy="1007655"/>
          </a:xfrm>
          <a:prstGeom prst="roundRect">
            <a:avLst>
              <a:gd name="adj" fmla="val 8000"/>
            </a:avLst>
          </a:prstGeom>
          <a:solidFill>
            <a:srgbClr val="ECF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band:CONTROL PLANE"/>
          <p:cNvSpPr/>
          <p:nvPr/>
        </p:nvSpPr>
        <p:spPr>
          <a:xfrm>
            <a:off x="228600" y="4987644"/>
            <a:ext cx="14173200" cy="813439"/>
          </a:xfrm>
          <a:prstGeom prst="roundRect">
            <a:avLst>
              <a:gd name="adj" fmla="val 8000"/>
            </a:avLst>
          </a:prstGeom>
          <a:solidFill>
            <a:srgbClr val="FE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band:OBSERVABILITY"/>
          <p:cNvSpPr/>
          <p:nvPr/>
        </p:nvSpPr>
        <p:spPr>
          <a:xfrm>
            <a:off x="228600" y="5855948"/>
            <a:ext cx="14173200" cy="619223"/>
          </a:xfrm>
          <a:prstGeom prst="roundRect">
            <a:avLst>
              <a:gd name="adj" fmla="val 8000"/>
            </a:avLst>
          </a:prstGeom>
          <a:solidFill>
            <a:srgbClr val="F3EF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band:DRIVER FRAMEWORK"/>
          <p:cNvSpPr/>
          <p:nvPr/>
        </p:nvSpPr>
        <p:spPr>
          <a:xfrm>
            <a:off x="228600" y="6530036"/>
            <a:ext cx="14173200" cy="1007655"/>
          </a:xfrm>
          <a:prstGeom prst="roundRect">
            <a:avLst>
              <a:gd name="adj" fmla="val 8000"/>
            </a:avLst>
          </a:prstGeom>
          <a:solidFill>
            <a:srgbClr val="FDF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era-shade:2"/>
          <p:cNvSpPr/>
          <p:nvPr/>
        </p:nvSpPr>
        <p:spPr>
          <a:xfrm>
            <a:off x="5795009" y="813816"/>
            <a:ext cx="2777490" cy="6742163"/>
          </a:xfrm>
          <a:prstGeom prst="rect">
            <a:avLst/>
          </a:prstGeom>
          <a:solidFill>
            <a:srgbClr val="475569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era-shade:4"/>
          <p:cNvSpPr/>
          <p:nvPr/>
        </p:nvSpPr>
        <p:spPr>
          <a:xfrm>
            <a:off x="11349989" y="813816"/>
            <a:ext cx="2777490" cy="6742163"/>
          </a:xfrm>
          <a:prstGeom prst="rect">
            <a:avLst/>
          </a:prstGeom>
          <a:solidFill>
            <a:srgbClr val="475569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7" name="era-boundary:2015"/>
          <p:cNvCxnSpPr/>
          <p:nvPr/>
        </p:nvCxnSpPr>
        <p:spPr>
          <a:xfrm>
            <a:off x="5795009" y="813816"/>
            <a:ext cx="0" cy="67421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ra-boundary:2019"/>
          <p:cNvCxnSpPr/>
          <p:nvPr/>
        </p:nvCxnSpPr>
        <p:spPr>
          <a:xfrm>
            <a:off x="8572500" y="813816"/>
            <a:ext cx="0" cy="67421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era-boundary:2023"/>
          <p:cNvCxnSpPr/>
          <p:nvPr/>
        </p:nvCxnSpPr>
        <p:spPr>
          <a:xfrm>
            <a:off x="11349989" y="813816"/>
            <a:ext cx="0" cy="6742163"/>
          </a:xfrm>
          <a:prstGeom prst="line">
            <a:avLst/>
          </a:prstGeom>
          <a:ln w="635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ga-label:3.0"/>
          <p:cNvSpPr txBox="1"/>
          <p:nvPr/>
        </p:nvSpPr>
        <p:spPr>
          <a:xfrm>
            <a:off x="3172939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3.0</a:t>
            </a:r>
          </a:p>
        </p:txBody>
      </p:sp>
      <p:cxnSp>
        <p:nvCxnSpPr>
          <p:cNvPr id="21" name="ga-line:3.0"/>
          <p:cNvCxnSpPr/>
          <p:nvPr/>
        </p:nvCxnSpPr>
        <p:spPr>
          <a:xfrm>
            <a:off x="3401539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ga-label:4.0"/>
          <p:cNvSpPr txBox="1"/>
          <p:nvPr/>
        </p:nvSpPr>
        <p:spPr>
          <a:xfrm>
            <a:off x="5758419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4.0</a:t>
            </a:r>
          </a:p>
        </p:txBody>
      </p:sp>
      <p:cxnSp>
        <p:nvCxnSpPr>
          <p:cNvPr id="23" name="ga-line:4.0"/>
          <p:cNvCxnSpPr/>
          <p:nvPr/>
        </p:nvCxnSpPr>
        <p:spPr>
          <a:xfrm>
            <a:off x="5987019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ga-label:5.0"/>
          <p:cNvSpPr txBox="1"/>
          <p:nvPr/>
        </p:nvSpPr>
        <p:spPr>
          <a:xfrm>
            <a:off x="8459866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5.0</a:t>
            </a:r>
          </a:p>
        </p:txBody>
      </p:sp>
      <p:cxnSp>
        <p:nvCxnSpPr>
          <p:cNvPr id="25" name="ga-line:5.0"/>
          <p:cNvCxnSpPr/>
          <p:nvPr/>
        </p:nvCxnSpPr>
        <p:spPr>
          <a:xfrm>
            <a:off x="8688466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ga-label:6.0"/>
          <p:cNvSpPr txBox="1"/>
          <p:nvPr/>
        </p:nvSpPr>
        <p:spPr>
          <a:xfrm>
            <a:off x="10947915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6.0</a:t>
            </a:r>
          </a:p>
        </p:txBody>
      </p:sp>
      <p:cxnSp>
        <p:nvCxnSpPr>
          <p:cNvPr id="27" name="ga-line:6.0"/>
          <p:cNvCxnSpPr/>
          <p:nvPr/>
        </p:nvCxnSpPr>
        <p:spPr>
          <a:xfrm>
            <a:off x="11176515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a-label:7.0"/>
          <p:cNvSpPr txBox="1"/>
          <p:nvPr/>
        </p:nvSpPr>
        <p:spPr>
          <a:xfrm>
            <a:off x="13396517" y="1179576"/>
            <a:ext cx="4572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900" b="1" i="0">
                <a:solidFill>
                  <a:srgbClr val="1F2937"/>
                </a:solidFill>
              </a:rPr>
              <a:t>7.0</a:t>
            </a:r>
          </a:p>
        </p:txBody>
      </p:sp>
      <p:cxnSp>
        <p:nvCxnSpPr>
          <p:cNvPr id="29" name="ga-line:7.0"/>
          <p:cNvCxnSpPr/>
          <p:nvPr/>
        </p:nvCxnSpPr>
        <p:spPr>
          <a:xfrm>
            <a:off x="13625117" y="1335024"/>
            <a:ext cx="0" cy="6220955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year:2011"/>
          <p:cNvSpPr txBox="1"/>
          <p:nvPr/>
        </p:nvSpPr>
        <p:spPr>
          <a:xfrm>
            <a:off x="2788920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2011</a:t>
            </a:r>
          </a:p>
        </p:txBody>
      </p:sp>
      <p:cxnSp>
        <p:nvCxnSpPr>
          <p:cNvPr id="31" name="year-tick:2011"/>
          <p:cNvCxnSpPr/>
          <p:nvPr/>
        </p:nvCxnSpPr>
        <p:spPr>
          <a:xfrm>
            <a:off x="3017520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year:2012"/>
          <p:cNvSpPr txBox="1"/>
          <p:nvPr/>
        </p:nvSpPr>
        <p:spPr>
          <a:xfrm>
            <a:off x="348329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2012</a:t>
            </a:r>
          </a:p>
        </p:txBody>
      </p:sp>
      <p:cxnSp>
        <p:nvCxnSpPr>
          <p:cNvPr id="33" name="year-tick:2012"/>
          <p:cNvCxnSpPr/>
          <p:nvPr/>
        </p:nvCxnSpPr>
        <p:spPr>
          <a:xfrm>
            <a:off x="371189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year:2013"/>
          <p:cNvSpPr txBox="1"/>
          <p:nvPr/>
        </p:nvSpPr>
        <p:spPr>
          <a:xfrm>
            <a:off x="417766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2013</a:t>
            </a:r>
          </a:p>
        </p:txBody>
      </p:sp>
      <p:cxnSp>
        <p:nvCxnSpPr>
          <p:cNvPr id="35" name="year-tick:2013"/>
          <p:cNvCxnSpPr/>
          <p:nvPr/>
        </p:nvCxnSpPr>
        <p:spPr>
          <a:xfrm>
            <a:off x="4406265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year:2014"/>
          <p:cNvSpPr txBox="1"/>
          <p:nvPr/>
        </p:nvSpPr>
        <p:spPr>
          <a:xfrm>
            <a:off x="487203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2014</a:t>
            </a:r>
          </a:p>
        </p:txBody>
      </p:sp>
      <p:cxnSp>
        <p:nvCxnSpPr>
          <p:cNvPr id="37" name="year-tick:2014"/>
          <p:cNvCxnSpPr/>
          <p:nvPr/>
        </p:nvCxnSpPr>
        <p:spPr>
          <a:xfrm>
            <a:off x="510063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year:2015"/>
          <p:cNvSpPr txBox="1"/>
          <p:nvPr/>
        </p:nvSpPr>
        <p:spPr>
          <a:xfrm>
            <a:off x="5566409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2015</a:t>
            </a:r>
          </a:p>
        </p:txBody>
      </p:sp>
      <p:cxnSp>
        <p:nvCxnSpPr>
          <p:cNvPr id="39" name="year-tick:2015"/>
          <p:cNvCxnSpPr/>
          <p:nvPr/>
        </p:nvCxnSpPr>
        <p:spPr>
          <a:xfrm>
            <a:off x="5795009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year:2016"/>
          <p:cNvSpPr txBox="1"/>
          <p:nvPr/>
        </p:nvSpPr>
        <p:spPr>
          <a:xfrm>
            <a:off x="626078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2016</a:t>
            </a:r>
          </a:p>
        </p:txBody>
      </p:sp>
      <p:cxnSp>
        <p:nvCxnSpPr>
          <p:cNvPr id="41" name="year-tick:2016"/>
          <p:cNvCxnSpPr/>
          <p:nvPr/>
        </p:nvCxnSpPr>
        <p:spPr>
          <a:xfrm>
            <a:off x="648938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year:2017"/>
          <p:cNvSpPr txBox="1"/>
          <p:nvPr/>
        </p:nvSpPr>
        <p:spPr>
          <a:xfrm>
            <a:off x="695515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2017</a:t>
            </a:r>
          </a:p>
        </p:txBody>
      </p:sp>
      <p:cxnSp>
        <p:nvCxnSpPr>
          <p:cNvPr id="43" name="year-tick:2017"/>
          <p:cNvCxnSpPr/>
          <p:nvPr/>
        </p:nvCxnSpPr>
        <p:spPr>
          <a:xfrm>
            <a:off x="7183754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year:2018"/>
          <p:cNvSpPr txBox="1"/>
          <p:nvPr/>
        </p:nvSpPr>
        <p:spPr>
          <a:xfrm>
            <a:off x="764952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2018</a:t>
            </a:r>
          </a:p>
        </p:txBody>
      </p:sp>
      <p:cxnSp>
        <p:nvCxnSpPr>
          <p:cNvPr id="45" name="year-tick:2018"/>
          <p:cNvCxnSpPr/>
          <p:nvPr/>
        </p:nvCxnSpPr>
        <p:spPr>
          <a:xfrm>
            <a:off x="787812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year:2019"/>
          <p:cNvSpPr txBox="1"/>
          <p:nvPr/>
        </p:nvSpPr>
        <p:spPr>
          <a:xfrm>
            <a:off x="8343900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2019</a:t>
            </a:r>
          </a:p>
        </p:txBody>
      </p:sp>
      <p:cxnSp>
        <p:nvCxnSpPr>
          <p:cNvPr id="47" name="year-tick:2019"/>
          <p:cNvCxnSpPr/>
          <p:nvPr/>
        </p:nvCxnSpPr>
        <p:spPr>
          <a:xfrm>
            <a:off x="8572500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year:2020"/>
          <p:cNvSpPr txBox="1"/>
          <p:nvPr/>
        </p:nvSpPr>
        <p:spPr>
          <a:xfrm>
            <a:off x="903827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2020</a:t>
            </a:r>
          </a:p>
        </p:txBody>
      </p:sp>
      <p:cxnSp>
        <p:nvCxnSpPr>
          <p:cNvPr id="49" name="year-tick:2020"/>
          <p:cNvCxnSpPr/>
          <p:nvPr/>
        </p:nvCxnSpPr>
        <p:spPr>
          <a:xfrm>
            <a:off x="926687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year:2021"/>
          <p:cNvSpPr txBox="1"/>
          <p:nvPr/>
        </p:nvSpPr>
        <p:spPr>
          <a:xfrm>
            <a:off x="973264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2021</a:t>
            </a:r>
          </a:p>
        </p:txBody>
      </p:sp>
      <p:cxnSp>
        <p:nvCxnSpPr>
          <p:cNvPr id="51" name="year-tick:2021"/>
          <p:cNvCxnSpPr/>
          <p:nvPr/>
        </p:nvCxnSpPr>
        <p:spPr>
          <a:xfrm>
            <a:off x="9961244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year:2022"/>
          <p:cNvSpPr txBox="1"/>
          <p:nvPr/>
        </p:nvSpPr>
        <p:spPr>
          <a:xfrm>
            <a:off x="1042701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2022</a:t>
            </a:r>
          </a:p>
        </p:txBody>
      </p:sp>
      <p:cxnSp>
        <p:nvCxnSpPr>
          <p:cNvPr id="53" name="year-tick:2022"/>
          <p:cNvCxnSpPr/>
          <p:nvPr/>
        </p:nvCxnSpPr>
        <p:spPr>
          <a:xfrm>
            <a:off x="1065561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year:2023"/>
          <p:cNvSpPr txBox="1"/>
          <p:nvPr/>
        </p:nvSpPr>
        <p:spPr>
          <a:xfrm>
            <a:off x="11121389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2023</a:t>
            </a:r>
          </a:p>
        </p:txBody>
      </p:sp>
      <p:cxnSp>
        <p:nvCxnSpPr>
          <p:cNvPr id="55" name="year-tick:2023"/>
          <p:cNvCxnSpPr/>
          <p:nvPr/>
        </p:nvCxnSpPr>
        <p:spPr>
          <a:xfrm>
            <a:off x="11349989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year:2024"/>
          <p:cNvSpPr txBox="1"/>
          <p:nvPr/>
        </p:nvSpPr>
        <p:spPr>
          <a:xfrm>
            <a:off x="11815762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2024</a:t>
            </a:r>
          </a:p>
        </p:txBody>
      </p:sp>
      <p:cxnSp>
        <p:nvCxnSpPr>
          <p:cNvPr id="57" name="year-tick:2024"/>
          <p:cNvCxnSpPr/>
          <p:nvPr/>
        </p:nvCxnSpPr>
        <p:spPr>
          <a:xfrm>
            <a:off x="12044362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year:2025"/>
          <p:cNvSpPr txBox="1"/>
          <p:nvPr/>
        </p:nvSpPr>
        <p:spPr>
          <a:xfrm>
            <a:off x="12510134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2025</a:t>
            </a:r>
          </a:p>
        </p:txBody>
      </p:sp>
      <p:cxnSp>
        <p:nvCxnSpPr>
          <p:cNvPr id="59" name="year-tick:2025"/>
          <p:cNvCxnSpPr/>
          <p:nvPr/>
        </p:nvCxnSpPr>
        <p:spPr>
          <a:xfrm>
            <a:off x="12738734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year:2026"/>
          <p:cNvSpPr txBox="1"/>
          <p:nvPr/>
        </p:nvSpPr>
        <p:spPr>
          <a:xfrm>
            <a:off x="13204507" y="1335024"/>
            <a:ext cx="457200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750" b="0" i="0">
                <a:solidFill>
                  <a:srgbClr val="64748B"/>
                </a:solidFill>
              </a:rPr>
              <a:t>2026</a:t>
            </a:r>
          </a:p>
        </p:txBody>
      </p:sp>
      <p:cxnSp>
        <p:nvCxnSpPr>
          <p:cNvPr id="61" name="year-tick:2026"/>
          <p:cNvCxnSpPr/>
          <p:nvPr/>
        </p:nvCxnSpPr>
        <p:spPr>
          <a:xfrm>
            <a:off x="13433107" y="1463040"/>
            <a:ext cx="0" cy="36576"/>
          </a:xfrm>
          <a:prstGeom prst="line">
            <a:avLst/>
          </a:prstGeom>
          <a:ln w="635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4" name="lineage:sch_fq / TCP pacing:trunk"/>
          <p:cNvCxnSpPr/>
          <p:nvPr/>
        </p:nvCxnSpPr>
        <p:spPr>
          <a:xfrm>
            <a:off x="4987998" y="2009753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5" name="lineage:sch_fq / TCP pacing-&gt;SO_TXTIME / EDT / taprio:across:before-label"/>
          <p:cNvCxnSpPr/>
          <p:nvPr/>
        </p:nvCxnSpPr>
        <p:spPr>
          <a:xfrm>
            <a:off x="4987998" y="2061141"/>
            <a:ext cx="1906470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6" name="lineage:sch_fq / TCP pacing-&gt;SO_TXTIME / EDT / taprio:across"/>
          <p:cNvCxnSpPr/>
          <p:nvPr/>
        </p:nvCxnSpPr>
        <p:spPr>
          <a:xfrm>
            <a:off x="7180726" y="2061141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7" name="lineage:BIG TCP:trunk"/>
          <p:cNvCxnSpPr/>
          <p:nvPr/>
        </p:nvCxnSpPr>
        <p:spPr>
          <a:xfrm>
            <a:off x="11056747" y="2203969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8" name="lineage:BIG TCP-&gt;BIG TCP extensions:across"/>
          <p:cNvCxnSpPr/>
          <p:nvPr/>
        </p:nvCxnSpPr>
        <p:spPr>
          <a:xfrm>
            <a:off x="11056747" y="2255357"/>
            <a:ext cx="460444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9" name="lineage:eBPF foundation:trunk"/>
          <p:cNvCxnSpPr/>
          <p:nvPr/>
        </p:nvCxnSpPr>
        <p:spPr>
          <a:xfrm>
            <a:off x="5747007" y="2780949"/>
            <a:ext cx="0" cy="322980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0" name="lineage:eBPF foundation-&gt;TC BPF:junction"/>
          <p:cNvSpPr/>
          <p:nvPr/>
        </p:nvSpPr>
        <p:spPr>
          <a:xfrm>
            <a:off x="5726890" y="2812220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791" name="lineage:eBPF foundation-&gt;cgroup / LWT BPF:across:before-label"/>
          <p:cNvCxnSpPr/>
          <p:nvPr/>
        </p:nvCxnSpPr>
        <p:spPr>
          <a:xfrm>
            <a:off x="5747007" y="3123661"/>
            <a:ext cx="358664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2" name="lineage:eBPF foundation-&gt;cgroup / LWT BPF:across"/>
          <p:cNvCxnSpPr/>
          <p:nvPr/>
        </p:nvCxnSpPr>
        <p:spPr>
          <a:xfrm>
            <a:off x="6347479" y="3123661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3" name="lineage:eBPF foundation-&gt;SOCK_OPS / SOCKMAP:across:before-label"/>
          <p:cNvCxnSpPr/>
          <p:nvPr/>
        </p:nvCxnSpPr>
        <p:spPr>
          <a:xfrm>
            <a:off x="5747007" y="3220769"/>
            <a:ext cx="705850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4" name="lineage:eBPF foundation-&gt;SOCK_OPS / SOCKMAP:across"/>
          <p:cNvCxnSpPr/>
          <p:nvPr/>
        </p:nvCxnSpPr>
        <p:spPr>
          <a:xfrm>
            <a:off x="6694665" y="3220769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5" name="lineage:eBPF foundation-&gt;XDP:across:before-label"/>
          <p:cNvCxnSpPr/>
          <p:nvPr/>
        </p:nvCxnSpPr>
        <p:spPr>
          <a:xfrm>
            <a:off x="5747007" y="3609201"/>
            <a:ext cx="441988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6" name="lineage:eBPF foundation-&gt;XDP:across"/>
          <p:cNvCxnSpPr/>
          <p:nvPr/>
        </p:nvCxnSpPr>
        <p:spPr>
          <a:xfrm>
            <a:off x="6430803" y="3609201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7" name="lineage:TC BPF:trunk"/>
          <p:cNvCxnSpPr/>
          <p:nvPr/>
        </p:nvCxnSpPr>
        <p:spPr>
          <a:xfrm>
            <a:off x="6120096" y="2878057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8" name="lineage:TC BPF-&gt;TCX:across:before-label"/>
          <p:cNvCxnSpPr/>
          <p:nvPr/>
        </p:nvCxnSpPr>
        <p:spPr>
          <a:xfrm>
            <a:off x="6120096" y="2929445"/>
            <a:ext cx="4568433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9" name="lineage:TC BPF-&gt;TCX:across"/>
          <p:cNvCxnSpPr/>
          <p:nvPr/>
        </p:nvCxnSpPr>
        <p:spPr>
          <a:xfrm>
            <a:off x="10930337" y="2929445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0" name="lineage:TCX-&gt;netkit"/>
          <p:cNvCxnSpPr/>
          <p:nvPr/>
        </p:nvCxnSpPr>
        <p:spPr>
          <a:xfrm>
            <a:off x="11924118" y="2975165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1" name="lineage:BPF struct_ops:trunk"/>
          <p:cNvCxnSpPr/>
          <p:nvPr/>
        </p:nvCxnSpPr>
        <p:spPr>
          <a:xfrm>
            <a:off x="9434168" y="3363597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2" name="lineage:BPF struct_ops-&gt;BPF qdisc:across:before-label"/>
          <p:cNvCxnSpPr/>
          <p:nvPr/>
        </p:nvCxnSpPr>
        <p:spPr>
          <a:xfrm>
            <a:off x="9434168" y="3414985"/>
            <a:ext cx="2459782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3" name="lineage:BPF struct_ops-&gt;BPF qdisc:across"/>
          <p:cNvCxnSpPr/>
          <p:nvPr/>
        </p:nvCxnSpPr>
        <p:spPr>
          <a:xfrm>
            <a:off x="12180208" y="3414985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4" name="lineage:XDP:trunk"/>
          <p:cNvCxnSpPr/>
          <p:nvPr/>
        </p:nvCxnSpPr>
        <p:spPr>
          <a:xfrm>
            <a:off x="7012181" y="3654921"/>
            <a:ext cx="0" cy="522116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5" name="lineage:XDP-&gt;XDP devmap / cpumap:across"/>
          <p:cNvCxnSpPr/>
          <p:nvPr/>
        </p:nvCxnSpPr>
        <p:spPr>
          <a:xfrm>
            <a:off x="7012181" y="3706309"/>
            <a:ext cx="386122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6" name="lineage:XDP-&gt;XDP multi-buffer:across:before-label"/>
          <p:cNvCxnSpPr/>
          <p:nvPr/>
        </p:nvCxnSpPr>
        <p:spPr>
          <a:xfrm>
            <a:off x="7012181" y="3803417"/>
            <a:ext cx="2520902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7" name="lineage:XDP-&gt;XDP multi-buffer:across"/>
          <p:cNvCxnSpPr/>
          <p:nvPr/>
        </p:nvCxnSpPr>
        <p:spPr>
          <a:xfrm>
            <a:off x="9819341" y="3803417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8" name="lineage:XDP-&gt;AF_XDP:across"/>
          <p:cNvCxnSpPr/>
          <p:nvPr/>
        </p:nvCxnSpPr>
        <p:spPr>
          <a:xfrm>
            <a:off x="7012181" y="3991965"/>
            <a:ext cx="11653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9" name="lineage:XDP multi-buffer-&gt;AF_XDP multi-buffer"/>
          <p:cNvCxnSpPr/>
          <p:nvPr/>
        </p:nvCxnSpPr>
        <p:spPr>
          <a:xfrm>
            <a:off x="10923670" y="3849137"/>
            <a:ext cx="0" cy="230792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0" name="lineage:AF_XDP:trunk"/>
          <p:cNvCxnSpPr/>
          <p:nvPr/>
        </p:nvCxnSpPr>
        <p:spPr>
          <a:xfrm>
            <a:off x="8302070" y="4037685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1" name="lineage:AF_XDP-&gt;AF_XDP multi-buffer:across:before-label"/>
          <p:cNvCxnSpPr/>
          <p:nvPr/>
        </p:nvCxnSpPr>
        <p:spPr>
          <a:xfrm>
            <a:off x="8302070" y="4089073"/>
            <a:ext cx="1925386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2" name="lineage:AF_XDP-&gt;AF_XDP multi-buffer:across"/>
          <p:cNvCxnSpPr/>
          <p:nvPr/>
        </p:nvCxnSpPr>
        <p:spPr>
          <a:xfrm>
            <a:off x="10513714" y="4089073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3" name="lineage:page_pool:trunk"/>
          <p:cNvCxnSpPr/>
          <p:nvPr/>
        </p:nvCxnSpPr>
        <p:spPr>
          <a:xfrm>
            <a:off x="8302070" y="4231901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4" name="lineage:page_pool-&gt;netmem:across:before-label"/>
          <p:cNvCxnSpPr/>
          <p:nvPr/>
        </p:nvCxnSpPr>
        <p:spPr>
          <a:xfrm>
            <a:off x="8302070" y="4283289"/>
            <a:ext cx="3330169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5" name="lineage:page_pool-&gt;netmem:across"/>
          <p:cNvCxnSpPr/>
          <p:nvPr/>
        </p:nvCxnSpPr>
        <p:spPr>
          <a:xfrm>
            <a:off x="11874047" y="4283289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6" name="lineage:netmem-&gt;Device Memory TCP RX"/>
          <p:cNvCxnSpPr/>
          <p:nvPr/>
        </p:nvCxnSpPr>
        <p:spPr>
          <a:xfrm>
            <a:off x="12294831" y="4329009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7" name="lineage:Device Memory TCP RX:trunk"/>
          <p:cNvCxnSpPr/>
          <p:nvPr/>
        </p:nvCxnSpPr>
        <p:spPr>
          <a:xfrm>
            <a:off x="12654611" y="4426117"/>
            <a:ext cx="0" cy="139352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8" name="lineage:Device Memory TCP RX-&gt;Device Memory TCP TX:junction"/>
          <p:cNvSpPr/>
          <p:nvPr/>
        </p:nvSpPr>
        <p:spPr>
          <a:xfrm>
            <a:off x="12634494" y="4457388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819" name="lineage:io_uring ZCRX / memory-provider hooks-&gt;large RX buffers (mem. providers)"/>
          <p:cNvCxnSpPr/>
          <p:nvPr/>
        </p:nvCxnSpPr>
        <p:spPr>
          <a:xfrm>
            <a:off x="13012491" y="4620333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0" name="lineage:per-netns RTNL-&gt;further RTNL breakup"/>
          <p:cNvCxnSpPr/>
          <p:nvPr/>
        </p:nvCxnSpPr>
        <p:spPr>
          <a:xfrm>
            <a:off x="12772954" y="5391529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1" name="lineage:further RTNL breakup:trunk"/>
          <p:cNvCxnSpPr/>
          <p:nvPr/>
        </p:nvCxnSpPr>
        <p:spPr>
          <a:xfrm>
            <a:off x="13012491" y="5488637"/>
            <a:ext cx="0" cy="148496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2" name="lineage:further RTNL breakup-&gt;RTNL-less FIB rules:junction"/>
          <p:cNvSpPr/>
          <p:nvPr/>
        </p:nvSpPr>
        <p:spPr>
          <a:xfrm>
            <a:off x="12992374" y="5519908"/>
            <a:ext cx="40233" cy="4023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823" name="lineage:further RTNL breakup-&gt;per-netns netdev unregistration:across"/>
          <p:cNvCxnSpPr/>
          <p:nvPr/>
        </p:nvCxnSpPr>
        <p:spPr>
          <a:xfrm>
            <a:off x="13012491" y="5637133"/>
            <a:ext cx="814047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4" name="lineage:structured drop reason-&gt;drop-reason expansion"/>
          <p:cNvCxnSpPr/>
          <p:nvPr/>
        </p:nvCxnSpPr>
        <p:spPr>
          <a:xfrm>
            <a:off x="10803902" y="6259833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5" name="lineage:switchdev-&gt;devlink"/>
          <p:cNvCxnSpPr/>
          <p:nvPr/>
        </p:nvCxnSpPr>
        <p:spPr>
          <a:xfrm>
            <a:off x="5867251" y="6642597"/>
            <a:ext cx="0" cy="4224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6" name="lineage:devlink:trunk"/>
          <p:cNvCxnSpPr/>
          <p:nvPr/>
        </p:nvCxnSpPr>
        <p:spPr>
          <a:xfrm>
            <a:off x="6746029" y="6739705"/>
            <a:ext cx="0" cy="5138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7" name="lineage:devlink-&gt;devlink health:across:before-label"/>
          <p:cNvCxnSpPr/>
          <p:nvPr/>
        </p:nvCxnSpPr>
        <p:spPr>
          <a:xfrm>
            <a:off x="6746029" y="6791093"/>
            <a:ext cx="703937" cy="0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8" name="lineage:devlink-&gt;devlink health:across"/>
          <p:cNvCxnSpPr/>
          <p:nvPr/>
        </p:nvCxnSpPr>
        <p:spPr>
          <a:xfrm>
            <a:off x="7736224" y="6791093"/>
            <a:ext cx="86868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9" name="lineage:YNL tooling-&gt;queue/NAPI/page_pool netdev-genl"/>
          <p:cNvCxnSpPr/>
          <p:nvPr/>
        </p:nvCxnSpPr>
        <p:spPr>
          <a:xfrm>
            <a:off x="11562911" y="5779961"/>
            <a:ext cx="0" cy="133684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band-label:PERFORMANCE"/>
          <p:cNvSpPr txBox="1"/>
          <p:nvPr/>
        </p:nvSpPr>
        <p:spPr>
          <a:xfrm>
            <a:off x="384048" y="1508760"/>
            <a:ext cx="1051560" cy="110476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</a:rPr>
              <a:t>PERFORMANCE</a:t>
            </a:r>
          </a:p>
        </p:txBody>
      </p:sp>
      <p:sp>
        <p:nvSpPr>
          <p:cNvPr id="438" name="row:DQL / BQL:name"/>
          <p:cNvSpPr txBox="1"/>
          <p:nvPr/>
        </p:nvSpPr>
        <p:spPr>
          <a:xfrm>
            <a:off x="1325880" y="14658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DQL / BQL</a:t>
            </a:r>
          </a:p>
        </p:txBody>
      </p:sp>
      <p:cxnSp>
        <p:nvCxnSpPr>
          <p:cNvPr id="439" name="row:DQL / BQL:development"/>
          <p:cNvCxnSpPr/>
          <p:nvPr/>
        </p:nvCxnSpPr>
        <p:spPr>
          <a:xfrm>
            <a:off x="3211944" y="1575601"/>
            <a:ext cx="6463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0" name="row:DQL / BQL:start"/>
          <p:cNvSpPr/>
          <p:nvPr/>
        </p:nvSpPr>
        <p:spPr>
          <a:xfrm>
            <a:off x="3179940" y="15435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1" name="row:DQL / BQL:release:3.3"/>
          <p:cNvSpPr/>
          <p:nvPr/>
        </p:nvSpPr>
        <p:spPr>
          <a:xfrm>
            <a:off x="3814842" y="153216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2" name="row:DQL / BQL:label"/>
          <p:cNvSpPr txBox="1"/>
          <p:nvPr/>
        </p:nvSpPr>
        <p:spPr>
          <a:xfrm>
            <a:off x="3931428" y="14658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3.3</a:t>
            </a:r>
          </a:p>
        </p:txBody>
      </p:sp>
      <p:sp>
        <p:nvSpPr>
          <p:cNvPr id="444" name="row:CoDel / fq_codel:name"/>
          <p:cNvSpPr txBox="1"/>
          <p:nvPr/>
        </p:nvSpPr>
        <p:spPr>
          <a:xfrm>
            <a:off x="1325880" y="15629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CoDel / fq_codel</a:t>
            </a:r>
          </a:p>
        </p:txBody>
      </p:sp>
      <p:cxnSp>
        <p:nvCxnSpPr>
          <p:cNvPr id="445" name="row:CoDel / fq_codel:development"/>
          <p:cNvCxnSpPr/>
          <p:nvPr/>
        </p:nvCxnSpPr>
        <p:spPr>
          <a:xfrm>
            <a:off x="3949053" y="1672709"/>
            <a:ext cx="1463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6" name="row:CoDel / fq_codel:start"/>
          <p:cNvSpPr/>
          <p:nvPr/>
        </p:nvSpPr>
        <p:spPr>
          <a:xfrm>
            <a:off x="3917049" y="16407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7" name="row:CoDel / fq_codel:release:3.5"/>
          <p:cNvSpPr/>
          <p:nvPr/>
        </p:nvSpPr>
        <p:spPr>
          <a:xfrm>
            <a:off x="4052003" y="162927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8" name="row:CoDel / fq_codel:label"/>
          <p:cNvSpPr txBox="1"/>
          <p:nvPr/>
        </p:nvSpPr>
        <p:spPr>
          <a:xfrm>
            <a:off x="4168589" y="15629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3.5</a:t>
            </a:r>
          </a:p>
        </p:txBody>
      </p:sp>
      <p:sp>
        <p:nvSpPr>
          <p:cNvPr id="450" name="row:TSQ:name"/>
          <p:cNvSpPr txBox="1"/>
          <p:nvPr/>
        </p:nvSpPr>
        <p:spPr>
          <a:xfrm>
            <a:off x="1325880" y="16600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TSQ</a:t>
            </a:r>
          </a:p>
        </p:txBody>
      </p:sp>
      <p:cxnSp>
        <p:nvCxnSpPr>
          <p:cNvPr id="451" name="row:TSQ:development"/>
          <p:cNvCxnSpPr/>
          <p:nvPr/>
        </p:nvCxnSpPr>
        <p:spPr>
          <a:xfrm>
            <a:off x="3698005" y="1769817"/>
            <a:ext cx="532884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2" name="row:TSQ:start"/>
          <p:cNvSpPr/>
          <p:nvPr/>
        </p:nvSpPr>
        <p:spPr>
          <a:xfrm>
            <a:off x="3666001" y="17378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3" name="row:TSQ:release:3.6"/>
          <p:cNvSpPr/>
          <p:nvPr/>
        </p:nvSpPr>
        <p:spPr>
          <a:xfrm>
            <a:off x="4187455" y="172638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4" name="row:TSQ:label"/>
          <p:cNvSpPr txBox="1"/>
          <p:nvPr/>
        </p:nvSpPr>
        <p:spPr>
          <a:xfrm>
            <a:off x="4304041" y="16600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3.6</a:t>
            </a:r>
          </a:p>
        </p:txBody>
      </p:sp>
      <p:sp>
        <p:nvSpPr>
          <p:cNvPr id="456" name="row:SO_BUSY_POLL:name"/>
          <p:cNvSpPr txBox="1"/>
          <p:nvPr/>
        </p:nvSpPr>
        <p:spPr>
          <a:xfrm>
            <a:off x="1325880" y="17571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SO_BUSY_POLL</a:t>
            </a:r>
          </a:p>
        </p:txBody>
      </p:sp>
      <p:cxnSp>
        <p:nvCxnSpPr>
          <p:cNvPr id="457" name="row:SO_BUSY_POLL:development"/>
          <p:cNvCxnSpPr/>
          <p:nvPr/>
        </p:nvCxnSpPr>
        <p:spPr>
          <a:xfrm>
            <a:off x="4392377" y="1866925"/>
            <a:ext cx="477753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8" name="row:SO_BUSY_POLL:start"/>
          <p:cNvSpPr/>
          <p:nvPr/>
        </p:nvSpPr>
        <p:spPr>
          <a:xfrm>
            <a:off x="4360373" y="18349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9" name="row:SO_BUSY_POLL:release:3.11"/>
          <p:cNvSpPr/>
          <p:nvPr/>
        </p:nvSpPr>
        <p:spPr>
          <a:xfrm>
            <a:off x="4826696" y="182349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0" name="row:SO_BUSY_POLL:label"/>
          <p:cNvSpPr txBox="1"/>
          <p:nvPr/>
        </p:nvSpPr>
        <p:spPr>
          <a:xfrm>
            <a:off x="4943282" y="175719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3.11</a:t>
            </a:r>
          </a:p>
        </p:txBody>
      </p:sp>
      <p:sp>
        <p:nvSpPr>
          <p:cNvPr id="462" name="row:sch_fq / TCP pacing:name"/>
          <p:cNvSpPr txBox="1"/>
          <p:nvPr/>
        </p:nvSpPr>
        <p:spPr>
          <a:xfrm>
            <a:off x="1325880" y="18543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sch_fq / TCP pacing</a:t>
            </a:r>
          </a:p>
        </p:txBody>
      </p:sp>
      <p:cxnSp>
        <p:nvCxnSpPr>
          <p:cNvPr id="463" name="row:sch_fq / TCP pacing:development"/>
          <p:cNvCxnSpPr/>
          <p:nvPr/>
        </p:nvCxnSpPr>
        <p:spPr>
          <a:xfrm>
            <a:off x="4253503" y="1964033"/>
            <a:ext cx="73449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4" name="row:sch_fq / TCP pacing:start"/>
          <p:cNvSpPr/>
          <p:nvPr/>
        </p:nvSpPr>
        <p:spPr>
          <a:xfrm>
            <a:off x="4221499" y="19320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5" name="row:sch_fq / TCP pacing:release:3.12"/>
          <p:cNvSpPr/>
          <p:nvPr/>
        </p:nvSpPr>
        <p:spPr>
          <a:xfrm>
            <a:off x="4944564" y="1920599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6" name="row:sch_fq / TCP pacing:label"/>
          <p:cNvSpPr txBox="1"/>
          <p:nvPr/>
        </p:nvSpPr>
        <p:spPr>
          <a:xfrm>
            <a:off x="5061150" y="185430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3.12</a:t>
            </a:r>
          </a:p>
        </p:txBody>
      </p:sp>
      <p:sp>
        <p:nvSpPr>
          <p:cNvPr id="468" name="row:SO_TXTIME / EDT / taprio:name"/>
          <p:cNvSpPr txBox="1"/>
          <p:nvPr/>
        </p:nvSpPr>
        <p:spPr>
          <a:xfrm>
            <a:off x="1325880" y="19514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SO_TXTIME / EDT / taprio</a:t>
            </a:r>
          </a:p>
        </p:txBody>
      </p:sp>
      <p:cxnSp>
        <p:nvCxnSpPr>
          <p:cNvPr id="469" name="row:SO_TXTIME / EDT / taprio:development"/>
          <p:cNvCxnSpPr/>
          <p:nvPr/>
        </p:nvCxnSpPr>
        <p:spPr>
          <a:xfrm>
            <a:off x="7308742" y="2061141"/>
            <a:ext cx="112830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0" name="row:SO_TXTIME / EDT / taprio:start"/>
          <p:cNvSpPr/>
          <p:nvPr/>
        </p:nvSpPr>
        <p:spPr>
          <a:xfrm>
            <a:off x="7276738" y="20291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471" name="row:SO_TXTIME / EDT / taprio:milestones"/>
          <p:cNvCxnSpPr/>
          <p:nvPr/>
        </p:nvCxnSpPr>
        <p:spPr>
          <a:xfrm>
            <a:off x="8437047" y="2061141"/>
            <a:ext cx="11786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2" name="row:SO_TXTIME / EDT / taprio:release:4.19"/>
          <p:cNvSpPr/>
          <p:nvPr/>
        </p:nvSpPr>
        <p:spPr>
          <a:xfrm>
            <a:off x="8393613" y="201770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3" name="row:SO_TXTIME / EDT / taprio:release:4.20"/>
          <p:cNvSpPr/>
          <p:nvPr/>
        </p:nvSpPr>
        <p:spPr>
          <a:xfrm>
            <a:off x="8511480" y="201770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4" name="row:SO_TXTIME / EDT / taprio:label"/>
          <p:cNvSpPr txBox="1"/>
          <p:nvPr/>
        </p:nvSpPr>
        <p:spPr>
          <a:xfrm>
            <a:off x="8628066" y="195141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4.19 / 4.20</a:t>
            </a:r>
          </a:p>
        </p:txBody>
      </p:sp>
      <p:sp>
        <p:nvSpPr>
          <p:cNvPr id="476" name="row:BIG TCP:name"/>
          <p:cNvSpPr txBox="1"/>
          <p:nvPr/>
        </p:nvSpPr>
        <p:spPr>
          <a:xfrm>
            <a:off x="1325880" y="204852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BIG TCP</a:t>
            </a:r>
          </a:p>
        </p:txBody>
      </p:sp>
      <p:cxnSp>
        <p:nvCxnSpPr>
          <p:cNvPr id="477" name="row:BIG TCP:development"/>
          <p:cNvCxnSpPr/>
          <p:nvPr/>
        </p:nvCxnSpPr>
        <p:spPr>
          <a:xfrm>
            <a:off x="10086232" y="2158249"/>
            <a:ext cx="970515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8" name="row:BIG TCP:start"/>
          <p:cNvSpPr/>
          <p:nvPr/>
        </p:nvSpPr>
        <p:spPr>
          <a:xfrm>
            <a:off x="10054228" y="212624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9" name="row:BIG TCP:release:5.19"/>
          <p:cNvSpPr/>
          <p:nvPr/>
        </p:nvSpPr>
        <p:spPr>
          <a:xfrm>
            <a:off x="11013313" y="2114815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0" name="row:BIG TCP:label"/>
          <p:cNvSpPr txBox="1"/>
          <p:nvPr/>
        </p:nvSpPr>
        <p:spPr>
          <a:xfrm>
            <a:off x="11129899" y="204852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482" name="row:BIG TCP extensions:name"/>
          <p:cNvSpPr txBox="1"/>
          <p:nvPr/>
        </p:nvSpPr>
        <p:spPr>
          <a:xfrm>
            <a:off x="1325880" y="214562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BIG TCP extensions</a:t>
            </a:r>
          </a:p>
        </p:txBody>
      </p:sp>
      <p:cxnSp>
        <p:nvCxnSpPr>
          <p:cNvPr id="483" name="row:BIG TCP extensions:milestones"/>
          <p:cNvCxnSpPr/>
          <p:nvPr/>
        </p:nvCxnSpPr>
        <p:spPr>
          <a:xfrm>
            <a:off x="11562911" y="2255357"/>
            <a:ext cx="2309347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4" name="row:BIG TCP extensions:release:6.3"/>
          <p:cNvSpPr/>
          <p:nvPr/>
        </p:nvSpPr>
        <p:spPr>
          <a:xfrm>
            <a:off x="11519477" y="221192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5" name="row:BIG TCP extensions:release:7.0"/>
          <p:cNvSpPr/>
          <p:nvPr/>
        </p:nvSpPr>
        <p:spPr>
          <a:xfrm>
            <a:off x="13581683" y="221192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6" name="row:BIG TCP extensions:release:7.3-rc"/>
          <p:cNvSpPr/>
          <p:nvPr/>
        </p:nvSpPr>
        <p:spPr>
          <a:xfrm>
            <a:off x="13828824" y="2211923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7" name="row:BIG TCP extensions:label"/>
          <p:cNvSpPr txBox="1"/>
          <p:nvPr/>
        </p:nvSpPr>
        <p:spPr>
          <a:xfrm>
            <a:off x="9813163" y="2145629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25" b="1" i="0">
                <a:solidFill>
                  <a:srgbClr val="1F2937"/>
                </a:solidFill>
              </a:rPr>
              <a:t>6.3 · 7.0 · 7.3-rc</a:t>
            </a:r>
          </a:p>
        </p:txBody>
      </p:sp>
      <p:sp>
        <p:nvSpPr>
          <p:cNvPr id="488" name="row:io_uring SEND_ZC / multishot recv:name"/>
          <p:cNvSpPr txBox="1"/>
          <p:nvPr/>
        </p:nvSpPr>
        <p:spPr>
          <a:xfrm>
            <a:off x="1325880" y="224273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io_uring SEND_ZC / multishot recv</a:t>
            </a:r>
          </a:p>
        </p:txBody>
      </p:sp>
      <p:cxnSp>
        <p:nvCxnSpPr>
          <p:cNvPr id="489" name="row:io_uring SEND_ZC / multishot recv:development"/>
          <p:cNvCxnSpPr/>
          <p:nvPr/>
        </p:nvCxnSpPr>
        <p:spPr>
          <a:xfrm>
            <a:off x="10597159" y="2352465"/>
            <a:ext cx="579356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0" name="row:io_uring SEND_ZC / multishot recv:start"/>
          <p:cNvSpPr/>
          <p:nvPr/>
        </p:nvSpPr>
        <p:spPr>
          <a:xfrm>
            <a:off x="10565155" y="232046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1" name="row:io_uring SEND_ZC / multishot recv:release:6.0"/>
          <p:cNvSpPr/>
          <p:nvPr/>
        </p:nvSpPr>
        <p:spPr>
          <a:xfrm>
            <a:off x="11133081" y="2309031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2" name="row:io_uring SEND_ZC / multishot recv:label"/>
          <p:cNvSpPr txBox="1"/>
          <p:nvPr/>
        </p:nvSpPr>
        <p:spPr>
          <a:xfrm>
            <a:off x="11249667" y="224273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6.0</a:t>
            </a:r>
          </a:p>
        </p:txBody>
      </p:sp>
      <p:sp>
        <p:nvSpPr>
          <p:cNvPr id="494" name="row:dev_queue_xmit() llist:name"/>
          <p:cNvSpPr txBox="1"/>
          <p:nvPr/>
        </p:nvSpPr>
        <p:spPr>
          <a:xfrm>
            <a:off x="1325880" y="233984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dev_queue_xmit() llist</a:t>
            </a:r>
          </a:p>
        </p:txBody>
      </p:sp>
      <p:cxnSp>
        <p:nvCxnSpPr>
          <p:cNvPr id="495" name="row:dev_queue_xmit() llist:development"/>
          <p:cNvCxnSpPr/>
          <p:nvPr/>
        </p:nvCxnSpPr>
        <p:spPr>
          <a:xfrm>
            <a:off x="13275792" y="2449573"/>
            <a:ext cx="230032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6" name="row:dev_queue_xmit() llist:start"/>
          <p:cNvSpPr/>
          <p:nvPr/>
        </p:nvSpPr>
        <p:spPr>
          <a:xfrm>
            <a:off x="13243788" y="241756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7" name="row:dev_queue_xmit() llist:release:6.19"/>
          <p:cNvSpPr/>
          <p:nvPr/>
        </p:nvSpPr>
        <p:spPr>
          <a:xfrm>
            <a:off x="13462390" y="2406139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8" name="row:dev_queue_xmit() llist:label"/>
          <p:cNvSpPr txBox="1"/>
          <p:nvPr/>
        </p:nvSpPr>
        <p:spPr>
          <a:xfrm>
            <a:off x="13578976" y="233984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6.19</a:t>
            </a:r>
          </a:p>
        </p:txBody>
      </p:sp>
      <p:sp>
        <p:nvSpPr>
          <p:cNvPr id="500" name="row:cake_mq:name"/>
          <p:cNvSpPr txBox="1"/>
          <p:nvPr/>
        </p:nvSpPr>
        <p:spPr>
          <a:xfrm>
            <a:off x="1325880" y="243695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cake_mq</a:t>
            </a:r>
          </a:p>
        </p:txBody>
      </p:sp>
      <p:cxnSp>
        <p:nvCxnSpPr>
          <p:cNvPr id="501" name="row:cake_mq:development"/>
          <p:cNvCxnSpPr/>
          <p:nvPr/>
        </p:nvCxnSpPr>
        <p:spPr>
          <a:xfrm>
            <a:off x="12724847" y="2546681"/>
            <a:ext cx="900270" cy="0"/>
          </a:xfrm>
          <a:prstGeom prst="line">
            <a:avLst/>
          </a:prstGeom>
          <a:ln w="12700">
            <a:solidFill>
              <a:srgbClr val="2563E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2" name="row:cake_mq:start"/>
          <p:cNvSpPr/>
          <p:nvPr/>
        </p:nvSpPr>
        <p:spPr>
          <a:xfrm>
            <a:off x="12692843" y="251467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3" name="row:cake_mq:release:7.0"/>
          <p:cNvSpPr/>
          <p:nvPr/>
        </p:nvSpPr>
        <p:spPr>
          <a:xfrm>
            <a:off x="13581683" y="2503247"/>
            <a:ext cx="86868" cy="8686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4" name="row:cake_mq:label"/>
          <p:cNvSpPr txBox="1"/>
          <p:nvPr/>
        </p:nvSpPr>
        <p:spPr>
          <a:xfrm>
            <a:off x="13698269" y="243695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139" name="band-label:PROGRAMMABILITY"/>
          <p:cNvSpPr txBox="1"/>
          <p:nvPr/>
        </p:nvSpPr>
        <p:spPr>
          <a:xfrm>
            <a:off x="384048" y="2668388"/>
            <a:ext cx="1051560" cy="1201871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EA580C"/>
                </a:solidFill>
              </a:rPr>
              <a:t>PROGRAM-
MABILITY</a:t>
            </a:r>
          </a:p>
        </p:txBody>
      </p:sp>
      <p:sp>
        <p:nvSpPr>
          <p:cNvPr id="506" name="row:eBPF foundation:name"/>
          <p:cNvSpPr txBox="1"/>
          <p:nvPr/>
        </p:nvSpPr>
        <p:spPr>
          <a:xfrm>
            <a:off x="1325880" y="262550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eBPF foundation</a:t>
            </a:r>
          </a:p>
        </p:txBody>
      </p:sp>
      <p:cxnSp>
        <p:nvCxnSpPr>
          <p:cNvPr id="507" name="row:eBPF foundation:development"/>
          <p:cNvCxnSpPr/>
          <p:nvPr/>
        </p:nvCxnSpPr>
        <p:spPr>
          <a:xfrm>
            <a:off x="4739563" y="2735229"/>
            <a:ext cx="66192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8" name="row:eBPF foundation:start"/>
          <p:cNvSpPr/>
          <p:nvPr/>
        </p:nvSpPr>
        <p:spPr>
          <a:xfrm>
            <a:off x="4707559" y="270322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09" name="row:eBPF foundation:milestones"/>
          <p:cNvCxnSpPr/>
          <p:nvPr/>
        </p:nvCxnSpPr>
        <p:spPr>
          <a:xfrm>
            <a:off x="5401485" y="2735229"/>
            <a:ext cx="345522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0" name="row:eBPF foundation:release:3.15"/>
          <p:cNvSpPr/>
          <p:nvPr/>
        </p:nvSpPr>
        <p:spPr>
          <a:xfrm>
            <a:off x="5358051" y="269179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1" name="row:eBPF foundation:release:3.18"/>
          <p:cNvSpPr/>
          <p:nvPr/>
        </p:nvSpPr>
        <p:spPr>
          <a:xfrm>
            <a:off x="5703573" y="269179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2" name="row:eBPF foundation:label"/>
          <p:cNvSpPr txBox="1"/>
          <p:nvPr/>
        </p:nvSpPr>
        <p:spPr>
          <a:xfrm>
            <a:off x="5820159" y="262550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3.15 · 3.18</a:t>
            </a:r>
          </a:p>
        </p:txBody>
      </p:sp>
      <p:sp>
        <p:nvSpPr>
          <p:cNvPr id="514" name="row:TC BPF:name"/>
          <p:cNvSpPr txBox="1"/>
          <p:nvPr/>
        </p:nvSpPr>
        <p:spPr>
          <a:xfrm>
            <a:off x="1325880" y="272260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TC BPF</a:t>
            </a:r>
          </a:p>
        </p:txBody>
      </p:sp>
      <p:cxnSp>
        <p:nvCxnSpPr>
          <p:cNvPr id="515" name="row:TC BPF:development"/>
          <p:cNvCxnSpPr/>
          <p:nvPr/>
        </p:nvCxnSpPr>
        <p:spPr>
          <a:xfrm>
            <a:off x="5642248" y="2832337"/>
            <a:ext cx="477848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6" name="row:TC BPF:start"/>
          <p:cNvSpPr/>
          <p:nvPr/>
        </p:nvSpPr>
        <p:spPr>
          <a:xfrm>
            <a:off x="5610244" y="28003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7" name="row:TC BPF:release:4.1"/>
          <p:cNvSpPr/>
          <p:nvPr/>
        </p:nvSpPr>
        <p:spPr>
          <a:xfrm>
            <a:off x="6076662" y="278890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8" name="row:TC BPF:label"/>
          <p:cNvSpPr txBox="1"/>
          <p:nvPr/>
        </p:nvSpPr>
        <p:spPr>
          <a:xfrm>
            <a:off x="6193248" y="272260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520" name="row:TCX:name"/>
          <p:cNvSpPr txBox="1"/>
          <p:nvPr/>
        </p:nvSpPr>
        <p:spPr>
          <a:xfrm>
            <a:off x="1325880" y="281971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TCX</a:t>
            </a:r>
          </a:p>
        </p:txBody>
      </p:sp>
      <p:cxnSp>
        <p:nvCxnSpPr>
          <p:cNvPr id="521" name="row:TCX:development"/>
          <p:cNvCxnSpPr/>
          <p:nvPr/>
        </p:nvCxnSpPr>
        <p:spPr>
          <a:xfrm>
            <a:off x="11058353" y="2929445"/>
            <a:ext cx="865765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row:TCX:start"/>
          <p:cNvSpPr/>
          <p:nvPr/>
        </p:nvSpPr>
        <p:spPr>
          <a:xfrm>
            <a:off x="11026349" y="289744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3" name="row:TCX:release:6.6"/>
          <p:cNvSpPr/>
          <p:nvPr/>
        </p:nvSpPr>
        <p:spPr>
          <a:xfrm>
            <a:off x="11880684" y="288601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4" name="row:TCX:label"/>
          <p:cNvSpPr txBox="1"/>
          <p:nvPr/>
        </p:nvSpPr>
        <p:spPr>
          <a:xfrm>
            <a:off x="11997270" y="281971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526" name="row:netkit:name"/>
          <p:cNvSpPr txBox="1"/>
          <p:nvPr/>
        </p:nvSpPr>
        <p:spPr>
          <a:xfrm>
            <a:off x="1325880" y="291682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netkit</a:t>
            </a:r>
          </a:p>
        </p:txBody>
      </p:sp>
      <p:cxnSp>
        <p:nvCxnSpPr>
          <p:cNvPr id="527" name="row:netkit:development"/>
          <p:cNvCxnSpPr/>
          <p:nvPr/>
        </p:nvCxnSpPr>
        <p:spPr>
          <a:xfrm>
            <a:off x="11197228" y="3026553"/>
            <a:ext cx="858541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8" name="row:netkit:start"/>
          <p:cNvSpPr/>
          <p:nvPr/>
        </p:nvSpPr>
        <p:spPr>
          <a:xfrm>
            <a:off x="11165224" y="299454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9" name="row:netkit:release:6.7"/>
          <p:cNvSpPr/>
          <p:nvPr/>
        </p:nvSpPr>
        <p:spPr>
          <a:xfrm>
            <a:off x="12012335" y="298311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0" name="row:netkit:label"/>
          <p:cNvSpPr txBox="1"/>
          <p:nvPr/>
        </p:nvSpPr>
        <p:spPr>
          <a:xfrm>
            <a:off x="12128921" y="291682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6.7</a:t>
            </a:r>
          </a:p>
        </p:txBody>
      </p:sp>
      <p:sp>
        <p:nvSpPr>
          <p:cNvPr id="532" name="row:cgroup / LWT BPF:name"/>
          <p:cNvSpPr txBox="1"/>
          <p:nvPr/>
        </p:nvSpPr>
        <p:spPr>
          <a:xfrm>
            <a:off x="1325880" y="301393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cgroup / LWT BPF</a:t>
            </a:r>
          </a:p>
        </p:txBody>
      </p:sp>
      <p:cxnSp>
        <p:nvCxnSpPr>
          <p:cNvPr id="533" name="row:cgroup / LWT BPF:development"/>
          <p:cNvCxnSpPr/>
          <p:nvPr/>
        </p:nvCxnSpPr>
        <p:spPr>
          <a:xfrm>
            <a:off x="6475495" y="3123661"/>
            <a:ext cx="80141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4" name="row:cgroup / LWT BPF:start"/>
          <p:cNvSpPr/>
          <p:nvPr/>
        </p:nvSpPr>
        <p:spPr>
          <a:xfrm>
            <a:off x="6443491" y="309165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5" name="row:cgroup / LWT BPF:release:4.10"/>
          <p:cNvSpPr/>
          <p:nvPr/>
        </p:nvSpPr>
        <p:spPr>
          <a:xfrm>
            <a:off x="7233474" y="308022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6" name="row:cgroup / LWT BPF:label"/>
          <p:cNvSpPr txBox="1"/>
          <p:nvPr/>
        </p:nvSpPr>
        <p:spPr>
          <a:xfrm>
            <a:off x="7350060" y="301393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4.10</a:t>
            </a:r>
          </a:p>
        </p:txBody>
      </p:sp>
      <p:sp>
        <p:nvSpPr>
          <p:cNvPr id="538" name="row:SOCK_OPS / SOCKMAP:name"/>
          <p:cNvSpPr txBox="1"/>
          <p:nvPr/>
        </p:nvSpPr>
        <p:spPr>
          <a:xfrm>
            <a:off x="1325880" y="311104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SOCK_OPS / SOCKMAP</a:t>
            </a:r>
          </a:p>
        </p:txBody>
      </p:sp>
      <p:cxnSp>
        <p:nvCxnSpPr>
          <p:cNvPr id="539" name="row:SOCK_OPS / SOCKMAP:development"/>
          <p:cNvCxnSpPr/>
          <p:nvPr/>
        </p:nvCxnSpPr>
        <p:spPr>
          <a:xfrm>
            <a:off x="6822681" y="3220769"/>
            <a:ext cx="82684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0" name="row:SOCK_OPS / SOCKMAP:start"/>
          <p:cNvSpPr/>
          <p:nvPr/>
        </p:nvSpPr>
        <p:spPr>
          <a:xfrm>
            <a:off x="6790677" y="318876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41" name="row:SOCK_OPS / SOCKMAP:milestones"/>
          <p:cNvCxnSpPr/>
          <p:nvPr/>
        </p:nvCxnSpPr>
        <p:spPr>
          <a:xfrm>
            <a:off x="7649521" y="3220769"/>
            <a:ext cx="133076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2" name="row:SOCK_OPS / SOCKMAP:release:4.13"/>
          <p:cNvSpPr/>
          <p:nvPr/>
        </p:nvSpPr>
        <p:spPr>
          <a:xfrm>
            <a:off x="7606087" y="317733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3" name="row:SOCK_OPS / SOCKMAP:release:4.14"/>
          <p:cNvSpPr/>
          <p:nvPr/>
        </p:nvSpPr>
        <p:spPr>
          <a:xfrm>
            <a:off x="7739163" y="317733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4" name="row:SOCK_OPS / SOCKMAP:label"/>
          <p:cNvSpPr txBox="1"/>
          <p:nvPr/>
        </p:nvSpPr>
        <p:spPr>
          <a:xfrm>
            <a:off x="7855749" y="311104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4.13 / 4.14</a:t>
            </a:r>
          </a:p>
        </p:txBody>
      </p:sp>
      <p:sp>
        <p:nvSpPr>
          <p:cNvPr id="546" name="row:BPF struct_ops:name"/>
          <p:cNvSpPr txBox="1"/>
          <p:nvPr/>
        </p:nvSpPr>
        <p:spPr>
          <a:xfrm>
            <a:off x="1325880" y="320814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BPF struct_ops</a:t>
            </a:r>
          </a:p>
        </p:txBody>
      </p:sp>
      <p:cxnSp>
        <p:nvCxnSpPr>
          <p:cNvPr id="547" name="row:BPF struct_ops:development"/>
          <p:cNvCxnSpPr/>
          <p:nvPr/>
        </p:nvCxnSpPr>
        <p:spPr>
          <a:xfrm>
            <a:off x="8419738" y="3317877"/>
            <a:ext cx="1014430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8" name="row:BPF struct_ops:start"/>
          <p:cNvSpPr/>
          <p:nvPr/>
        </p:nvSpPr>
        <p:spPr>
          <a:xfrm>
            <a:off x="8387734" y="328587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9" name="row:BPF struct_ops:release:5.6"/>
          <p:cNvSpPr/>
          <p:nvPr/>
        </p:nvSpPr>
        <p:spPr>
          <a:xfrm>
            <a:off x="9390734" y="327444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0" name="row:BPF struct_ops:label"/>
          <p:cNvSpPr txBox="1"/>
          <p:nvPr/>
        </p:nvSpPr>
        <p:spPr>
          <a:xfrm>
            <a:off x="9507320" y="320814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552" name="row:BPF qdisc:name"/>
          <p:cNvSpPr txBox="1"/>
          <p:nvPr/>
        </p:nvSpPr>
        <p:spPr>
          <a:xfrm>
            <a:off x="1325880" y="33052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BPF qdisc</a:t>
            </a:r>
          </a:p>
        </p:txBody>
      </p:sp>
      <p:cxnSp>
        <p:nvCxnSpPr>
          <p:cNvPr id="553" name="row:BPF qdisc:development"/>
          <p:cNvCxnSpPr/>
          <p:nvPr/>
        </p:nvCxnSpPr>
        <p:spPr>
          <a:xfrm>
            <a:off x="12308224" y="3414985"/>
            <a:ext cx="82403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4" name="row:BPF qdisc:start"/>
          <p:cNvSpPr/>
          <p:nvPr/>
        </p:nvSpPr>
        <p:spPr>
          <a:xfrm>
            <a:off x="12276220" y="33829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5" name="row:BPF qdisc:release:6.16"/>
          <p:cNvSpPr/>
          <p:nvPr/>
        </p:nvSpPr>
        <p:spPr>
          <a:xfrm>
            <a:off x="13088826" y="3371551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6" name="row:BPF qdisc:label"/>
          <p:cNvSpPr txBox="1"/>
          <p:nvPr/>
        </p:nvSpPr>
        <p:spPr>
          <a:xfrm>
            <a:off x="13205412" y="330525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558" name="row:SK_LOOKUP:name"/>
          <p:cNvSpPr txBox="1"/>
          <p:nvPr/>
        </p:nvSpPr>
        <p:spPr>
          <a:xfrm>
            <a:off x="1325880" y="340236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SK_LOOKUP</a:t>
            </a:r>
          </a:p>
        </p:txBody>
      </p:sp>
      <p:cxnSp>
        <p:nvCxnSpPr>
          <p:cNvPr id="559" name="row:SK_LOOKUP:development"/>
          <p:cNvCxnSpPr/>
          <p:nvPr/>
        </p:nvCxnSpPr>
        <p:spPr>
          <a:xfrm>
            <a:off x="8905798" y="3512093"/>
            <a:ext cx="90098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0" name="row:SK_LOOKUP:start"/>
          <p:cNvSpPr/>
          <p:nvPr/>
        </p:nvSpPr>
        <p:spPr>
          <a:xfrm>
            <a:off x="8873794" y="348008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1" name="row:SK_LOOKUP:release:5.9"/>
          <p:cNvSpPr/>
          <p:nvPr/>
        </p:nvSpPr>
        <p:spPr>
          <a:xfrm>
            <a:off x="9763347" y="3468659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2" name="row:SK_LOOKUP:label"/>
          <p:cNvSpPr txBox="1"/>
          <p:nvPr/>
        </p:nvSpPr>
        <p:spPr>
          <a:xfrm>
            <a:off x="9879933" y="340236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5.9</a:t>
            </a:r>
          </a:p>
        </p:txBody>
      </p:sp>
      <p:sp>
        <p:nvSpPr>
          <p:cNvPr id="564" name="row:XDP:name"/>
          <p:cNvSpPr txBox="1"/>
          <p:nvPr/>
        </p:nvSpPr>
        <p:spPr>
          <a:xfrm>
            <a:off x="1325880" y="34994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XDP</a:t>
            </a:r>
          </a:p>
        </p:txBody>
      </p:sp>
      <p:cxnSp>
        <p:nvCxnSpPr>
          <p:cNvPr id="565" name="row:XDP:development"/>
          <p:cNvCxnSpPr/>
          <p:nvPr/>
        </p:nvCxnSpPr>
        <p:spPr>
          <a:xfrm>
            <a:off x="6558819" y="3609201"/>
            <a:ext cx="453362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6" name="row:XDP:start"/>
          <p:cNvSpPr/>
          <p:nvPr/>
        </p:nvSpPr>
        <p:spPr>
          <a:xfrm>
            <a:off x="6526815" y="35771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7" name="row:XDP:release:4.8"/>
          <p:cNvSpPr/>
          <p:nvPr/>
        </p:nvSpPr>
        <p:spPr>
          <a:xfrm>
            <a:off x="6968747" y="3565767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8" name="row:XDP:label"/>
          <p:cNvSpPr txBox="1"/>
          <p:nvPr/>
        </p:nvSpPr>
        <p:spPr>
          <a:xfrm>
            <a:off x="7085333" y="34994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4.8</a:t>
            </a:r>
          </a:p>
        </p:txBody>
      </p:sp>
      <p:sp>
        <p:nvSpPr>
          <p:cNvPr id="570" name="row:XDP devmap / cpumap:name"/>
          <p:cNvSpPr txBox="1"/>
          <p:nvPr/>
        </p:nvSpPr>
        <p:spPr>
          <a:xfrm>
            <a:off x="1325880" y="35965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XDP devmap / cpumap</a:t>
            </a:r>
          </a:p>
        </p:txBody>
      </p:sp>
      <p:cxnSp>
        <p:nvCxnSpPr>
          <p:cNvPr id="571" name="row:XDP devmap / cpumap:development"/>
          <p:cNvCxnSpPr/>
          <p:nvPr/>
        </p:nvCxnSpPr>
        <p:spPr>
          <a:xfrm>
            <a:off x="7439451" y="3706309"/>
            <a:ext cx="343146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2" name="row:XDP devmap / cpumap:start"/>
          <p:cNvSpPr/>
          <p:nvPr/>
        </p:nvSpPr>
        <p:spPr>
          <a:xfrm>
            <a:off x="7407447" y="36743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573" name="row:XDP devmap / cpumap:milestones"/>
          <p:cNvCxnSpPr/>
          <p:nvPr/>
        </p:nvCxnSpPr>
        <p:spPr>
          <a:xfrm>
            <a:off x="7782597" y="3706309"/>
            <a:ext cx="147335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4" name="row:XDP devmap / cpumap:release:4.14"/>
          <p:cNvSpPr/>
          <p:nvPr/>
        </p:nvSpPr>
        <p:spPr>
          <a:xfrm>
            <a:off x="7739163" y="36628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5" name="row:XDP devmap / cpumap:release:4.15"/>
          <p:cNvSpPr/>
          <p:nvPr/>
        </p:nvSpPr>
        <p:spPr>
          <a:xfrm>
            <a:off x="7886498" y="3662875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6" name="row:XDP devmap / cpumap:label"/>
          <p:cNvSpPr txBox="1"/>
          <p:nvPr/>
        </p:nvSpPr>
        <p:spPr>
          <a:xfrm>
            <a:off x="8003084" y="35965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4.14 / 4.15</a:t>
            </a:r>
          </a:p>
        </p:txBody>
      </p:sp>
      <p:sp>
        <p:nvSpPr>
          <p:cNvPr id="578" name="row:XDP multi-buffer:name"/>
          <p:cNvSpPr txBox="1"/>
          <p:nvPr/>
        </p:nvSpPr>
        <p:spPr>
          <a:xfrm>
            <a:off x="1325880" y="36936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XDP multi-buffer</a:t>
            </a:r>
          </a:p>
        </p:txBody>
      </p:sp>
      <p:cxnSp>
        <p:nvCxnSpPr>
          <p:cNvPr id="579" name="row:XDP multi-buffer:development"/>
          <p:cNvCxnSpPr/>
          <p:nvPr/>
        </p:nvCxnSpPr>
        <p:spPr>
          <a:xfrm>
            <a:off x="9947357" y="3803417"/>
            <a:ext cx="976313" cy="0"/>
          </a:xfrm>
          <a:prstGeom prst="line">
            <a:avLst/>
          </a:prstGeom>
          <a:ln w="12700">
            <a:solidFill>
              <a:srgbClr val="EA580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0" name="row:XDP multi-buffer:start"/>
          <p:cNvSpPr/>
          <p:nvPr/>
        </p:nvSpPr>
        <p:spPr>
          <a:xfrm>
            <a:off x="9915353" y="37714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1" name="row:XDP multi-buffer:release:5.18"/>
          <p:cNvSpPr/>
          <p:nvPr/>
        </p:nvSpPr>
        <p:spPr>
          <a:xfrm>
            <a:off x="10880236" y="3759983"/>
            <a:ext cx="86868" cy="86868"/>
          </a:xfrm>
          <a:prstGeom prst="ellipse">
            <a:avLst/>
          </a:prstGeom>
          <a:solidFill>
            <a:srgbClr val="EA580C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2" name="row:XDP multi-buffer:label"/>
          <p:cNvSpPr txBox="1"/>
          <p:nvPr/>
        </p:nvSpPr>
        <p:spPr>
          <a:xfrm>
            <a:off x="10996822" y="36936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5.18</a:t>
            </a:r>
          </a:p>
        </p:txBody>
      </p:sp>
      <p:sp>
        <p:nvSpPr>
          <p:cNvPr id="192" name="band-label:MEMORY"/>
          <p:cNvSpPr txBox="1"/>
          <p:nvPr/>
        </p:nvSpPr>
        <p:spPr>
          <a:xfrm>
            <a:off x="384048" y="3925124"/>
            <a:ext cx="1051560" cy="100765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</a:rPr>
              <a:t>MEMORY</a:t>
            </a:r>
          </a:p>
        </p:txBody>
      </p:sp>
      <p:sp>
        <p:nvSpPr>
          <p:cNvPr id="584" name="row:AF_XDP:name"/>
          <p:cNvSpPr txBox="1"/>
          <p:nvPr/>
        </p:nvSpPr>
        <p:spPr>
          <a:xfrm>
            <a:off x="1325880" y="388223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AF_XDP</a:t>
            </a:r>
          </a:p>
        </p:txBody>
      </p:sp>
      <p:cxnSp>
        <p:nvCxnSpPr>
          <p:cNvPr id="585" name="row:AF_XDP:development"/>
          <p:cNvCxnSpPr/>
          <p:nvPr/>
        </p:nvCxnSpPr>
        <p:spPr>
          <a:xfrm>
            <a:off x="7169867" y="3991965"/>
            <a:ext cx="1132203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6" name="row:AF_XDP:start"/>
          <p:cNvSpPr/>
          <p:nvPr/>
        </p:nvSpPr>
        <p:spPr>
          <a:xfrm>
            <a:off x="7137863" y="395996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7" name="row:AF_XDP:release:4.18"/>
          <p:cNvSpPr/>
          <p:nvPr/>
        </p:nvSpPr>
        <p:spPr>
          <a:xfrm>
            <a:off x="8258636" y="394853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8" name="row:AF_XDP:label"/>
          <p:cNvSpPr txBox="1"/>
          <p:nvPr/>
        </p:nvSpPr>
        <p:spPr>
          <a:xfrm>
            <a:off x="8375222" y="388223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590" name="row:AF_XDP multi-buffer:name"/>
          <p:cNvSpPr txBox="1"/>
          <p:nvPr/>
        </p:nvSpPr>
        <p:spPr>
          <a:xfrm>
            <a:off x="1325880" y="397934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AF_XDP multi-buffer</a:t>
            </a:r>
          </a:p>
        </p:txBody>
      </p:sp>
      <p:cxnSp>
        <p:nvCxnSpPr>
          <p:cNvPr id="591" name="row:AF_XDP multi-buffer:development"/>
          <p:cNvCxnSpPr/>
          <p:nvPr/>
        </p:nvCxnSpPr>
        <p:spPr>
          <a:xfrm>
            <a:off x="10641730" y="4089073"/>
            <a:ext cx="128238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2" name="row:AF_XDP multi-buffer:start"/>
          <p:cNvSpPr/>
          <p:nvPr/>
        </p:nvSpPr>
        <p:spPr>
          <a:xfrm>
            <a:off x="10609726" y="405706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3" name="row:AF_XDP multi-buffer:release:6.6"/>
          <p:cNvSpPr/>
          <p:nvPr/>
        </p:nvSpPr>
        <p:spPr>
          <a:xfrm>
            <a:off x="11880684" y="404563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4" name="row:AF_XDP multi-buffer:label"/>
          <p:cNvSpPr txBox="1"/>
          <p:nvPr/>
        </p:nvSpPr>
        <p:spPr>
          <a:xfrm>
            <a:off x="11997270" y="397934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6.6</a:t>
            </a:r>
          </a:p>
        </p:txBody>
      </p:sp>
      <p:sp>
        <p:nvSpPr>
          <p:cNvPr id="596" name="row:page_pool:name"/>
          <p:cNvSpPr txBox="1"/>
          <p:nvPr/>
        </p:nvSpPr>
        <p:spPr>
          <a:xfrm>
            <a:off x="1325880" y="407645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page_pool</a:t>
            </a:r>
          </a:p>
        </p:txBody>
      </p:sp>
      <p:cxnSp>
        <p:nvCxnSpPr>
          <p:cNvPr id="597" name="row:page_pool:development"/>
          <p:cNvCxnSpPr/>
          <p:nvPr/>
        </p:nvCxnSpPr>
        <p:spPr>
          <a:xfrm>
            <a:off x="6614369" y="4186181"/>
            <a:ext cx="1687701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8" name="row:page_pool:start"/>
          <p:cNvSpPr/>
          <p:nvPr/>
        </p:nvSpPr>
        <p:spPr>
          <a:xfrm>
            <a:off x="6582365" y="415417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99" name="row:page_pool:release:4.18"/>
          <p:cNvSpPr/>
          <p:nvPr/>
        </p:nvSpPr>
        <p:spPr>
          <a:xfrm>
            <a:off x="8258636" y="414274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0" name="row:page_pool:label"/>
          <p:cNvSpPr txBox="1"/>
          <p:nvPr/>
        </p:nvSpPr>
        <p:spPr>
          <a:xfrm>
            <a:off x="8375222" y="407645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602" name="row:netmem:name"/>
          <p:cNvSpPr txBox="1"/>
          <p:nvPr/>
        </p:nvSpPr>
        <p:spPr>
          <a:xfrm>
            <a:off x="1325880" y="417356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netmem</a:t>
            </a:r>
          </a:p>
        </p:txBody>
      </p:sp>
      <p:cxnSp>
        <p:nvCxnSpPr>
          <p:cNvPr id="603" name="row:netmem:development"/>
          <p:cNvCxnSpPr/>
          <p:nvPr/>
        </p:nvCxnSpPr>
        <p:spPr>
          <a:xfrm>
            <a:off x="12002063" y="4283289"/>
            <a:ext cx="292768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4" name="row:netmem:start"/>
          <p:cNvSpPr/>
          <p:nvPr/>
        </p:nvSpPr>
        <p:spPr>
          <a:xfrm>
            <a:off x="11970059" y="425128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5" name="row:netmem:release:6.9"/>
          <p:cNvSpPr/>
          <p:nvPr/>
        </p:nvSpPr>
        <p:spPr>
          <a:xfrm>
            <a:off x="12251397" y="423985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06" name="row:netmem:label"/>
          <p:cNvSpPr txBox="1"/>
          <p:nvPr/>
        </p:nvSpPr>
        <p:spPr>
          <a:xfrm>
            <a:off x="12367983" y="417356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6.9</a:t>
            </a:r>
          </a:p>
        </p:txBody>
      </p:sp>
      <p:sp>
        <p:nvSpPr>
          <p:cNvPr id="608" name="row:Device Memory TCP RX:name"/>
          <p:cNvSpPr txBox="1"/>
          <p:nvPr/>
        </p:nvSpPr>
        <p:spPr>
          <a:xfrm>
            <a:off x="1325880" y="427066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Device Memory TCP RX</a:t>
            </a:r>
          </a:p>
        </p:txBody>
      </p:sp>
      <p:cxnSp>
        <p:nvCxnSpPr>
          <p:cNvPr id="609" name="row:Device Memory TCP RX:development"/>
          <p:cNvCxnSpPr/>
          <p:nvPr/>
        </p:nvCxnSpPr>
        <p:spPr>
          <a:xfrm>
            <a:off x="11405539" y="4380397"/>
            <a:ext cx="1249072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0" name="row:Device Memory TCP RX:start"/>
          <p:cNvSpPr/>
          <p:nvPr/>
        </p:nvSpPr>
        <p:spPr>
          <a:xfrm>
            <a:off x="11373535" y="43483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1" name="row:Device Memory TCP RX:release:6.12"/>
          <p:cNvSpPr/>
          <p:nvPr/>
        </p:nvSpPr>
        <p:spPr>
          <a:xfrm>
            <a:off x="12611177" y="433696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2" name="row:Device Memory TCP RX:label"/>
          <p:cNvSpPr txBox="1"/>
          <p:nvPr/>
        </p:nvSpPr>
        <p:spPr>
          <a:xfrm>
            <a:off x="12727763" y="427066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6.12</a:t>
            </a:r>
          </a:p>
        </p:txBody>
      </p:sp>
      <p:sp>
        <p:nvSpPr>
          <p:cNvPr id="614" name="row:Device Memory TCP TX:name"/>
          <p:cNvSpPr txBox="1"/>
          <p:nvPr/>
        </p:nvSpPr>
        <p:spPr>
          <a:xfrm>
            <a:off x="1325880" y="436777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Device Memory TCP TX</a:t>
            </a:r>
          </a:p>
        </p:txBody>
      </p:sp>
      <p:cxnSp>
        <p:nvCxnSpPr>
          <p:cNvPr id="615" name="row:Device Memory TCP TX:development"/>
          <p:cNvCxnSpPr/>
          <p:nvPr/>
        </p:nvCxnSpPr>
        <p:spPr>
          <a:xfrm>
            <a:off x="12030475" y="4477505"/>
            <a:ext cx="1101785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6" name="row:Device Memory TCP TX:start"/>
          <p:cNvSpPr/>
          <p:nvPr/>
        </p:nvSpPr>
        <p:spPr>
          <a:xfrm>
            <a:off x="11998471" y="444550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7" name="row:Device Memory TCP TX:release:6.16"/>
          <p:cNvSpPr/>
          <p:nvPr/>
        </p:nvSpPr>
        <p:spPr>
          <a:xfrm>
            <a:off x="13088826" y="4434071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18" name="row:Device Memory TCP TX:label"/>
          <p:cNvSpPr txBox="1"/>
          <p:nvPr/>
        </p:nvSpPr>
        <p:spPr>
          <a:xfrm>
            <a:off x="13205412" y="436777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6.16</a:t>
            </a:r>
          </a:p>
        </p:txBody>
      </p:sp>
      <p:sp>
        <p:nvSpPr>
          <p:cNvPr id="620" name="row:io_uring ZCRX / memory-provider hooks:name"/>
          <p:cNvSpPr txBox="1"/>
          <p:nvPr/>
        </p:nvSpPr>
        <p:spPr>
          <a:xfrm>
            <a:off x="1325880" y="446488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io_uring ZCRX / memory-provider hooks</a:t>
            </a:r>
          </a:p>
        </p:txBody>
      </p:sp>
      <p:cxnSp>
        <p:nvCxnSpPr>
          <p:cNvPr id="621" name="row:io_uring ZCRX / memory-provider hooks:development"/>
          <p:cNvCxnSpPr/>
          <p:nvPr/>
        </p:nvCxnSpPr>
        <p:spPr>
          <a:xfrm>
            <a:off x="11613851" y="4574613"/>
            <a:ext cx="139864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2" name="row:io_uring ZCRX / memory-provider hooks:start"/>
          <p:cNvSpPr/>
          <p:nvPr/>
        </p:nvSpPr>
        <p:spPr>
          <a:xfrm>
            <a:off x="11581847" y="454260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3" name="row:io_uring ZCRX / memory-provider hooks:release:6.15"/>
          <p:cNvSpPr/>
          <p:nvPr/>
        </p:nvSpPr>
        <p:spPr>
          <a:xfrm>
            <a:off x="12969057" y="4531179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4" name="row:io_uring ZCRX / memory-provider hooks:label"/>
          <p:cNvSpPr txBox="1"/>
          <p:nvPr/>
        </p:nvSpPr>
        <p:spPr>
          <a:xfrm>
            <a:off x="13085643" y="446488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626" name="row:large RX buffers (mem. providers):name"/>
          <p:cNvSpPr txBox="1"/>
          <p:nvPr/>
        </p:nvSpPr>
        <p:spPr>
          <a:xfrm>
            <a:off x="1325880" y="456199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large RX buffers (mem. providers)</a:t>
            </a:r>
          </a:p>
        </p:txBody>
      </p:sp>
      <p:cxnSp>
        <p:nvCxnSpPr>
          <p:cNvPr id="627" name="row:large RX buffers (mem. providers):development"/>
          <p:cNvCxnSpPr/>
          <p:nvPr/>
        </p:nvCxnSpPr>
        <p:spPr>
          <a:xfrm>
            <a:off x="12724847" y="4671721"/>
            <a:ext cx="900270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8" name="row:large RX buffers (mem. providers):start"/>
          <p:cNvSpPr/>
          <p:nvPr/>
        </p:nvSpPr>
        <p:spPr>
          <a:xfrm>
            <a:off x="12692843" y="46397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29" name="row:large RX buffers (mem. providers):release:7.0"/>
          <p:cNvSpPr/>
          <p:nvPr/>
        </p:nvSpPr>
        <p:spPr>
          <a:xfrm>
            <a:off x="13581683" y="4628287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0" name="row:large RX buffers (mem. providers):label"/>
          <p:cNvSpPr txBox="1"/>
          <p:nvPr/>
        </p:nvSpPr>
        <p:spPr>
          <a:xfrm>
            <a:off x="13698269" y="456199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7.0</a:t>
            </a:r>
          </a:p>
        </p:txBody>
      </p:sp>
      <p:sp>
        <p:nvSpPr>
          <p:cNvPr id="632" name="row:devmem buffers &gt; PAGE_SIZE:name"/>
          <p:cNvSpPr txBox="1"/>
          <p:nvPr/>
        </p:nvSpPr>
        <p:spPr>
          <a:xfrm>
            <a:off x="1325880" y="465910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devmem buffers &gt; PAGE_SIZE</a:t>
            </a:r>
          </a:p>
        </p:txBody>
      </p:sp>
      <p:sp>
        <p:nvSpPr>
          <p:cNvPr id="633" name="row:devmem buffers &gt; PAGE_SIZE:release:7.3-rc"/>
          <p:cNvSpPr/>
          <p:nvPr/>
        </p:nvSpPr>
        <p:spPr>
          <a:xfrm>
            <a:off x="13828824" y="4725395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4" name="row:devmem buffers &gt; PAGE_SIZE:label"/>
          <p:cNvSpPr txBox="1"/>
          <p:nvPr/>
        </p:nvSpPr>
        <p:spPr>
          <a:xfrm>
            <a:off x="13945410" y="465910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635" name="row:RX HW queue leasing:name"/>
          <p:cNvSpPr txBox="1"/>
          <p:nvPr/>
        </p:nvSpPr>
        <p:spPr>
          <a:xfrm>
            <a:off x="1325880" y="475620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RX HW queue leasing</a:t>
            </a:r>
          </a:p>
        </p:txBody>
      </p:sp>
      <p:cxnSp>
        <p:nvCxnSpPr>
          <p:cNvPr id="636" name="row:RX HW queue leasing:development"/>
          <p:cNvCxnSpPr/>
          <p:nvPr/>
        </p:nvCxnSpPr>
        <p:spPr>
          <a:xfrm>
            <a:off x="12377661" y="4865937"/>
            <a:ext cx="1367224" cy="0"/>
          </a:xfrm>
          <a:prstGeom prst="line">
            <a:avLst/>
          </a:prstGeom>
          <a:ln w="12700">
            <a:solidFill>
              <a:srgbClr val="16A34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7" name="row:RX HW queue leasing:start"/>
          <p:cNvSpPr/>
          <p:nvPr/>
        </p:nvSpPr>
        <p:spPr>
          <a:xfrm>
            <a:off x="12345657" y="483393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8" name="row:RX HW queue leasing:release:7.1"/>
          <p:cNvSpPr/>
          <p:nvPr/>
        </p:nvSpPr>
        <p:spPr>
          <a:xfrm>
            <a:off x="13701451" y="4822503"/>
            <a:ext cx="86868" cy="86868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39" name="row:RX HW queue leasing:label"/>
          <p:cNvSpPr txBox="1"/>
          <p:nvPr/>
        </p:nvSpPr>
        <p:spPr>
          <a:xfrm>
            <a:off x="13818037" y="475620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38" name="band-label:CONTROL PLANE"/>
          <p:cNvSpPr txBox="1"/>
          <p:nvPr/>
        </p:nvSpPr>
        <p:spPr>
          <a:xfrm>
            <a:off x="384048" y="4987644"/>
            <a:ext cx="1051560" cy="81343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</a:rPr>
              <a:t>CONTROL
PLANE</a:t>
            </a:r>
          </a:p>
        </p:txBody>
      </p:sp>
      <p:sp>
        <p:nvSpPr>
          <p:cNvPr id="641" name="row:namespace FD / setns():name"/>
          <p:cNvSpPr txBox="1"/>
          <p:nvPr/>
        </p:nvSpPr>
        <p:spPr>
          <a:xfrm>
            <a:off x="1325880" y="49447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namespace FD / setns()</a:t>
            </a:r>
          </a:p>
        </p:txBody>
      </p:sp>
      <p:cxnSp>
        <p:nvCxnSpPr>
          <p:cNvPr id="643" name="row:namespace FD / setns():development"/>
          <p:cNvCxnSpPr/>
          <p:nvPr/>
        </p:nvCxnSpPr>
        <p:spPr>
          <a:xfrm>
            <a:off x="3044951" y="5054485"/>
            <a:ext cx="35658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2" name="row:namespace FD / setns():start-offchart"/>
          <p:cNvSpPr/>
          <p:nvPr/>
        </p:nvSpPr>
        <p:spPr>
          <a:xfrm rot="16200000">
            <a:off x="2980944" y="5013337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4" name="row:namespace FD / setns():release:3.0"/>
          <p:cNvSpPr/>
          <p:nvPr/>
        </p:nvSpPr>
        <p:spPr>
          <a:xfrm>
            <a:off x="3358105" y="5011051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5" name="row:namespace FD / setns():label"/>
          <p:cNvSpPr txBox="1"/>
          <p:nvPr/>
        </p:nvSpPr>
        <p:spPr>
          <a:xfrm>
            <a:off x="3474691" y="494475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3.0</a:t>
            </a:r>
          </a:p>
        </p:txBody>
      </p:sp>
      <p:sp>
        <p:nvSpPr>
          <p:cNvPr id="646" name="row:nftables (dev. from 2008):name"/>
          <p:cNvSpPr txBox="1"/>
          <p:nvPr/>
        </p:nvSpPr>
        <p:spPr>
          <a:xfrm>
            <a:off x="1325880" y="504186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nftables (dev. from 2008)</a:t>
            </a:r>
          </a:p>
        </p:txBody>
      </p:sp>
      <p:cxnSp>
        <p:nvCxnSpPr>
          <p:cNvPr id="648" name="row:nftables (dev. from 2008):development"/>
          <p:cNvCxnSpPr/>
          <p:nvPr/>
        </p:nvCxnSpPr>
        <p:spPr>
          <a:xfrm>
            <a:off x="3044951" y="5151593"/>
            <a:ext cx="208990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7" name="row:nftables (dev. from 2008):start-offchart"/>
          <p:cNvSpPr/>
          <p:nvPr/>
        </p:nvSpPr>
        <p:spPr>
          <a:xfrm rot="16200000">
            <a:off x="2980944" y="5110445"/>
            <a:ext cx="82296" cy="82296"/>
          </a:xfrm>
          <a:prstGeom prst="triangl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9" name="row:nftables (dev. from 2008):release:3.13"/>
          <p:cNvSpPr/>
          <p:nvPr/>
        </p:nvSpPr>
        <p:spPr>
          <a:xfrm>
            <a:off x="5091423" y="510815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0" name="row:nftables (dev. from 2008):label"/>
          <p:cNvSpPr txBox="1"/>
          <p:nvPr/>
        </p:nvSpPr>
        <p:spPr>
          <a:xfrm>
            <a:off x="5208009" y="504186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3.13</a:t>
            </a:r>
          </a:p>
        </p:txBody>
      </p:sp>
      <p:sp>
        <p:nvSpPr>
          <p:cNvPr id="651" name="row:nexthop objects:name"/>
          <p:cNvSpPr txBox="1"/>
          <p:nvPr/>
        </p:nvSpPr>
        <p:spPr>
          <a:xfrm>
            <a:off x="1325880" y="51389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nexthop objects</a:t>
            </a:r>
          </a:p>
        </p:txBody>
      </p:sp>
      <p:cxnSp>
        <p:nvCxnSpPr>
          <p:cNvPr id="652" name="row:nexthop objects:development"/>
          <p:cNvCxnSpPr/>
          <p:nvPr/>
        </p:nvCxnSpPr>
        <p:spPr>
          <a:xfrm>
            <a:off x="7864240" y="5248701"/>
            <a:ext cx="1196839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3" name="row:nexthop objects:start"/>
          <p:cNvSpPr/>
          <p:nvPr/>
        </p:nvSpPr>
        <p:spPr>
          <a:xfrm>
            <a:off x="7832236" y="52166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4" name="row:nexthop objects:release:5.3"/>
          <p:cNvSpPr/>
          <p:nvPr/>
        </p:nvSpPr>
        <p:spPr>
          <a:xfrm>
            <a:off x="9017645" y="520526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5" name="row:nexthop objects:label"/>
          <p:cNvSpPr txBox="1"/>
          <p:nvPr/>
        </p:nvSpPr>
        <p:spPr>
          <a:xfrm>
            <a:off x="9134231" y="51389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5.3</a:t>
            </a:r>
          </a:p>
        </p:txBody>
      </p:sp>
      <p:sp>
        <p:nvSpPr>
          <p:cNvPr id="657" name="row:per-netns RTNL:name"/>
          <p:cNvSpPr txBox="1"/>
          <p:nvPr/>
        </p:nvSpPr>
        <p:spPr>
          <a:xfrm>
            <a:off x="1325880" y="52360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per-netns RTNL</a:t>
            </a:r>
          </a:p>
        </p:txBody>
      </p:sp>
      <p:cxnSp>
        <p:nvCxnSpPr>
          <p:cNvPr id="658" name="row:per-netns RTNL:development"/>
          <p:cNvCxnSpPr/>
          <p:nvPr/>
        </p:nvCxnSpPr>
        <p:spPr>
          <a:xfrm>
            <a:off x="11336102" y="5345809"/>
            <a:ext cx="1436852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9" name="row:per-netns RTNL:start"/>
          <p:cNvSpPr/>
          <p:nvPr/>
        </p:nvSpPr>
        <p:spPr>
          <a:xfrm>
            <a:off x="11304098" y="53138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0" name="row:per-netns RTNL:release:6.13"/>
          <p:cNvSpPr/>
          <p:nvPr/>
        </p:nvSpPr>
        <p:spPr>
          <a:xfrm>
            <a:off x="12729520" y="5302375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1" name="row:per-netns RTNL:label"/>
          <p:cNvSpPr txBox="1"/>
          <p:nvPr/>
        </p:nvSpPr>
        <p:spPr>
          <a:xfrm>
            <a:off x="12846106" y="52360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6.13</a:t>
            </a:r>
          </a:p>
        </p:txBody>
      </p:sp>
      <p:sp>
        <p:nvSpPr>
          <p:cNvPr id="663" name="row:further RTNL breakup:name"/>
          <p:cNvSpPr txBox="1"/>
          <p:nvPr/>
        </p:nvSpPr>
        <p:spPr>
          <a:xfrm>
            <a:off x="1325880" y="53331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further RTNL breakup</a:t>
            </a:r>
          </a:p>
        </p:txBody>
      </p:sp>
      <p:cxnSp>
        <p:nvCxnSpPr>
          <p:cNvPr id="664" name="row:further RTNL breakup:development"/>
          <p:cNvCxnSpPr/>
          <p:nvPr/>
        </p:nvCxnSpPr>
        <p:spPr>
          <a:xfrm>
            <a:off x="12030475" y="5442917"/>
            <a:ext cx="982016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5" name="row:further RTNL breakup:start"/>
          <p:cNvSpPr/>
          <p:nvPr/>
        </p:nvSpPr>
        <p:spPr>
          <a:xfrm>
            <a:off x="11998471" y="54109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6" name="row:further RTNL breakup:release:6.15"/>
          <p:cNvSpPr/>
          <p:nvPr/>
        </p:nvSpPr>
        <p:spPr>
          <a:xfrm>
            <a:off x="12969057" y="5399483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67" name="row:further RTNL breakup:label"/>
          <p:cNvSpPr txBox="1"/>
          <p:nvPr/>
        </p:nvSpPr>
        <p:spPr>
          <a:xfrm>
            <a:off x="13085643" y="53331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6.15</a:t>
            </a:r>
          </a:p>
        </p:txBody>
      </p:sp>
      <p:sp>
        <p:nvSpPr>
          <p:cNvPr id="669" name="row:RTNL-less FIB rules:name"/>
          <p:cNvSpPr txBox="1"/>
          <p:nvPr/>
        </p:nvSpPr>
        <p:spPr>
          <a:xfrm>
            <a:off x="1325880" y="54302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RTNL-less FIB rules</a:t>
            </a:r>
          </a:p>
        </p:txBody>
      </p:sp>
      <p:cxnSp>
        <p:nvCxnSpPr>
          <p:cNvPr id="670" name="row:RTNL-less FIB rules:development"/>
          <p:cNvCxnSpPr/>
          <p:nvPr/>
        </p:nvCxnSpPr>
        <p:spPr>
          <a:xfrm>
            <a:off x="12724847" y="5540025"/>
            <a:ext cx="1147411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1" name="row:RTNL-less FIB rules:start"/>
          <p:cNvSpPr/>
          <p:nvPr/>
        </p:nvSpPr>
        <p:spPr>
          <a:xfrm>
            <a:off x="12692843" y="55080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2" name="row:RTNL-less FIB rules:release:7.3-rc"/>
          <p:cNvSpPr/>
          <p:nvPr/>
        </p:nvSpPr>
        <p:spPr>
          <a:xfrm>
            <a:off x="13828824" y="5496591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3" name="row:RTNL-less FIB rules:label"/>
          <p:cNvSpPr txBox="1"/>
          <p:nvPr/>
        </p:nvSpPr>
        <p:spPr>
          <a:xfrm>
            <a:off x="13945410" y="543029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675" name="row:per-netns netdev unregistration:name"/>
          <p:cNvSpPr txBox="1"/>
          <p:nvPr/>
        </p:nvSpPr>
        <p:spPr>
          <a:xfrm>
            <a:off x="1325880" y="55274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per-netns netdev unregistration</a:t>
            </a:r>
          </a:p>
        </p:txBody>
      </p:sp>
      <p:sp>
        <p:nvSpPr>
          <p:cNvPr id="676" name="row:per-netns netdev unregistration:release:7.3-rc"/>
          <p:cNvSpPr/>
          <p:nvPr/>
        </p:nvSpPr>
        <p:spPr>
          <a:xfrm>
            <a:off x="13828824" y="5593699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7" name="row:per-netns netdev unregistration:label"/>
          <p:cNvSpPr txBox="1"/>
          <p:nvPr/>
        </p:nvSpPr>
        <p:spPr>
          <a:xfrm>
            <a:off x="13945410" y="552740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7.3-rc</a:t>
            </a:r>
          </a:p>
        </p:txBody>
      </p:sp>
      <p:sp>
        <p:nvSpPr>
          <p:cNvPr id="678" name="row:YNL tooling:name"/>
          <p:cNvSpPr txBox="1"/>
          <p:nvPr/>
        </p:nvSpPr>
        <p:spPr>
          <a:xfrm>
            <a:off x="1325880" y="56245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YNL tooling</a:t>
            </a:r>
          </a:p>
        </p:txBody>
      </p:sp>
      <p:cxnSp>
        <p:nvCxnSpPr>
          <p:cNvPr id="679" name="row:YNL tooling:development"/>
          <p:cNvCxnSpPr/>
          <p:nvPr/>
        </p:nvCxnSpPr>
        <p:spPr>
          <a:xfrm>
            <a:off x="10294543" y="5734241"/>
            <a:ext cx="1268368" cy="0"/>
          </a:xfrm>
          <a:prstGeom prst="line">
            <a:avLst/>
          </a:prstGeom>
          <a:ln w="12700">
            <a:solidFill>
              <a:srgbClr val="DC262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0" name="row:YNL tooling:start"/>
          <p:cNvSpPr/>
          <p:nvPr/>
        </p:nvSpPr>
        <p:spPr>
          <a:xfrm>
            <a:off x="10262539" y="57022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1" name="row:YNL tooling:release:6.3"/>
          <p:cNvSpPr/>
          <p:nvPr/>
        </p:nvSpPr>
        <p:spPr>
          <a:xfrm>
            <a:off x="11519477" y="5690807"/>
            <a:ext cx="86868" cy="86868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2" name="row:YNL tooling:label"/>
          <p:cNvSpPr txBox="1"/>
          <p:nvPr/>
        </p:nvSpPr>
        <p:spPr>
          <a:xfrm>
            <a:off x="11636063" y="562451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6.3</a:t>
            </a:r>
          </a:p>
        </p:txBody>
      </p:sp>
      <p:sp>
        <p:nvSpPr>
          <p:cNvPr id="269" name="band-label:OBSERVABILITY"/>
          <p:cNvSpPr txBox="1"/>
          <p:nvPr/>
        </p:nvSpPr>
        <p:spPr>
          <a:xfrm>
            <a:off x="384048" y="5855948"/>
            <a:ext cx="1051560" cy="61922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7C3AED"/>
                </a:solidFill>
              </a:rPr>
              <a:t>OBSERV-
ABILITY</a:t>
            </a:r>
          </a:p>
        </p:txBody>
      </p:sp>
      <p:sp>
        <p:nvSpPr>
          <p:cNvPr id="684" name="row:queue/NAPI/page_pool netdev-genl:name"/>
          <p:cNvSpPr txBox="1"/>
          <p:nvPr/>
        </p:nvSpPr>
        <p:spPr>
          <a:xfrm>
            <a:off x="1325880" y="581306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queue/NAPI/page_pool netdev-genl</a:t>
            </a:r>
          </a:p>
        </p:txBody>
      </p:sp>
      <p:cxnSp>
        <p:nvCxnSpPr>
          <p:cNvPr id="685" name="row:queue/NAPI/page_pool netdev-genl:development"/>
          <p:cNvCxnSpPr/>
          <p:nvPr/>
        </p:nvCxnSpPr>
        <p:spPr>
          <a:xfrm>
            <a:off x="11336102" y="5922789"/>
            <a:ext cx="83943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6" name="row:queue/NAPI/page_pool netdev-genl:start"/>
          <p:cNvSpPr/>
          <p:nvPr/>
        </p:nvSpPr>
        <p:spPr>
          <a:xfrm>
            <a:off x="11304098" y="589078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7" name="row:queue/NAPI/page_pool netdev-genl:release:6.8"/>
          <p:cNvSpPr/>
          <p:nvPr/>
        </p:nvSpPr>
        <p:spPr>
          <a:xfrm>
            <a:off x="12132103" y="587935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88" name="row:queue/NAPI/page_pool netdev-genl:label"/>
          <p:cNvSpPr txBox="1"/>
          <p:nvPr/>
        </p:nvSpPr>
        <p:spPr>
          <a:xfrm>
            <a:off x="12248689" y="581306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690" name="row:kprobe BPF:name"/>
          <p:cNvSpPr txBox="1"/>
          <p:nvPr/>
        </p:nvSpPr>
        <p:spPr>
          <a:xfrm>
            <a:off x="1325880" y="591016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kprobe BPF</a:t>
            </a:r>
          </a:p>
        </p:txBody>
      </p:sp>
      <p:cxnSp>
        <p:nvCxnSpPr>
          <p:cNvPr id="691" name="row:kprobe BPF:development"/>
          <p:cNvCxnSpPr/>
          <p:nvPr/>
        </p:nvCxnSpPr>
        <p:spPr>
          <a:xfrm>
            <a:off x="5225624" y="6019897"/>
            <a:ext cx="894472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2" name="row:kprobe BPF:start"/>
          <p:cNvSpPr/>
          <p:nvPr/>
        </p:nvSpPr>
        <p:spPr>
          <a:xfrm>
            <a:off x="5193620" y="598789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3" name="row:kprobe BPF:release:4.1"/>
          <p:cNvSpPr/>
          <p:nvPr/>
        </p:nvSpPr>
        <p:spPr>
          <a:xfrm>
            <a:off x="6076662" y="5976463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4" name="row:kprobe BPF:label"/>
          <p:cNvSpPr txBox="1"/>
          <p:nvPr/>
        </p:nvSpPr>
        <p:spPr>
          <a:xfrm>
            <a:off x="6193248" y="591016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</a:t>
            </a:r>
          </a:p>
        </p:txBody>
      </p:sp>
      <p:sp>
        <p:nvSpPr>
          <p:cNvPr id="696" name="row:BTF:name"/>
          <p:cNvSpPr txBox="1"/>
          <p:nvPr/>
        </p:nvSpPr>
        <p:spPr>
          <a:xfrm>
            <a:off x="1325880" y="600727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BTF</a:t>
            </a:r>
          </a:p>
        </p:txBody>
      </p:sp>
      <p:cxnSp>
        <p:nvCxnSpPr>
          <p:cNvPr id="697" name="row:BTF:development"/>
          <p:cNvCxnSpPr/>
          <p:nvPr/>
        </p:nvCxnSpPr>
        <p:spPr>
          <a:xfrm>
            <a:off x="8017382" y="6117005"/>
            <a:ext cx="28468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8" name="row:BTF:start"/>
          <p:cNvSpPr/>
          <p:nvPr/>
        </p:nvSpPr>
        <p:spPr>
          <a:xfrm>
            <a:off x="7985378" y="608500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99" name="row:BTF:release:4.18"/>
          <p:cNvSpPr/>
          <p:nvPr/>
        </p:nvSpPr>
        <p:spPr>
          <a:xfrm>
            <a:off x="8258636" y="6073571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0" name="row:BTF:label"/>
          <p:cNvSpPr txBox="1"/>
          <p:nvPr/>
        </p:nvSpPr>
        <p:spPr>
          <a:xfrm>
            <a:off x="8375222" y="600727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4.18</a:t>
            </a:r>
          </a:p>
        </p:txBody>
      </p:sp>
      <p:sp>
        <p:nvSpPr>
          <p:cNvPr id="702" name="row:structured drop reason:name"/>
          <p:cNvSpPr txBox="1"/>
          <p:nvPr/>
        </p:nvSpPr>
        <p:spPr>
          <a:xfrm>
            <a:off x="1325880" y="610438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structured drop reason</a:t>
            </a:r>
          </a:p>
        </p:txBody>
      </p:sp>
      <p:cxnSp>
        <p:nvCxnSpPr>
          <p:cNvPr id="703" name="row:structured drop reason:development"/>
          <p:cNvCxnSpPr/>
          <p:nvPr/>
        </p:nvCxnSpPr>
        <p:spPr>
          <a:xfrm>
            <a:off x="9947357" y="6214113"/>
            <a:ext cx="856545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4" name="row:structured drop reason:start"/>
          <p:cNvSpPr/>
          <p:nvPr/>
        </p:nvSpPr>
        <p:spPr>
          <a:xfrm>
            <a:off x="9915353" y="618210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5" name="row:structured drop reason:release:5.17"/>
          <p:cNvSpPr/>
          <p:nvPr/>
        </p:nvSpPr>
        <p:spPr>
          <a:xfrm>
            <a:off x="10760468" y="6170679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6" name="row:structured drop reason:label"/>
          <p:cNvSpPr txBox="1"/>
          <p:nvPr/>
        </p:nvSpPr>
        <p:spPr>
          <a:xfrm>
            <a:off x="10877054" y="610438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5.17</a:t>
            </a:r>
          </a:p>
        </p:txBody>
      </p:sp>
      <p:sp>
        <p:nvSpPr>
          <p:cNvPr id="708" name="row:drop-reason expansion:name"/>
          <p:cNvSpPr txBox="1"/>
          <p:nvPr/>
        </p:nvSpPr>
        <p:spPr>
          <a:xfrm>
            <a:off x="1325880" y="620149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drop-reason expansion</a:t>
            </a:r>
          </a:p>
        </p:txBody>
      </p:sp>
      <p:cxnSp>
        <p:nvCxnSpPr>
          <p:cNvPr id="709" name="row:drop-reason expansion:development"/>
          <p:cNvCxnSpPr/>
          <p:nvPr/>
        </p:nvCxnSpPr>
        <p:spPr>
          <a:xfrm>
            <a:off x="10780604" y="6311221"/>
            <a:ext cx="276143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0" name="row:drop-reason expansion:start"/>
          <p:cNvSpPr/>
          <p:nvPr/>
        </p:nvSpPr>
        <p:spPr>
          <a:xfrm>
            <a:off x="10748600" y="627921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1" name="row:drop-reason expansion:release:5.19"/>
          <p:cNvSpPr/>
          <p:nvPr/>
        </p:nvSpPr>
        <p:spPr>
          <a:xfrm>
            <a:off x="11013313" y="6267787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2" name="row:drop-reason expansion:label"/>
          <p:cNvSpPr txBox="1"/>
          <p:nvPr/>
        </p:nvSpPr>
        <p:spPr>
          <a:xfrm>
            <a:off x="11129899" y="620149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5.19</a:t>
            </a:r>
          </a:p>
        </p:txBody>
      </p:sp>
      <p:sp>
        <p:nvSpPr>
          <p:cNvPr id="714" name="row:qdisc-drop tracepoint:name"/>
          <p:cNvSpPr txBox="1"/>
          <p:nvPr/>
        </p:nvSpPr>
        <p:spPr>
          <a:xfrm>
            <a:off x="1325880" y="629860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qdisc-drop tracepoint</a:t>
            </a:r>
          </a:p>
        </p:txBody>
      </p:sp>
      <p:cxnSp>
        <p:nvCxnSpPr>
          <p:cNvPr id="715" name="row:qdisc-drop tracepoint:development"/>
          <p:cNvCxnSpPr/>
          <p:nvPr/>
        </p:nvCxnSpPr>
        <p:spPr>
          <a:xfrm>
            <a:off x="12724847" y="6408329"/>
            <a:ext cx="1020038" cy="0"/>
          </a:xfrm>
          <a:prstGeom prst="line">
            <a:avLst/>
          </a:prstGeom>
          <a:ln w="12700">
            <a:solidFill>
              <a:srgbClr val="7C3AE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6" name="row:qdisc-drop tracepoint:start"/>
          <p:cNvSpPr/>
          <p:nvPr/>
        </p:nvSpPr>
        <p:spPr>
          <a:xfrm>
            <a:off x="12692843" y="637632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7" name="row:qdisc-drop tracepoint:release:7.1"/>
          <p:cNvSpPr/>
          <p:nvPr/>
        </p:nvSpPr>
        <p:spPr>
          <a:xfrm>
            <a:off x="13701451" y="6364895"/>
            <a:ext cx="86868" cy="8686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8" name="row:qdisc-drop tracepoint:label"/>
          <p:cNvSpPr txBox="1"/>
          <p:nvPr/>
        </p:nvSpPr>
        <p:spPr>
          <a:xfrm>
            <a:off x="13818037" y="629860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7.1</a:t>
            </a:r>
          </a:p>
        </p:txBody>
      </p:sp>
      <p:sp>
        <p:nvSpPr>
          <p:cNvPr id="295" name="band-label:DRIVER FRAMEWORK"/>
          <p:cNvSpPr txBox="1"/>
          <p:nvPr/>
        </p:nvSpPr>
        <p:spPr>
          <a:xfrm>
            <a:off x="384048" y="6530036"/>
            <a:ext cx="1051560" cy="100765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A16207"/>
                </a:solidFill>
              </a:rPr>
              <a:t>DRIVER
FRAMEWORK</a:t>
            </a:r>
          </a:p>
        </p:txBody>
      </p:sp>
      <p:sp>
        <p:nvSpPr>
          <p:cNvPr id="720" name="row:switchdev:name"/>
          <p:cNvSpPr txBox="1"/>
          <p:nvPr/>
        </p:nvSpPr>
        <p:spPr>
          <a:xfrm>
            <a:off x="1325880" y="648714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switchdev</a:t>
            </a:r>
          </a:p>
        </p:txBody>
      </p:sp>
      <p:cxnSp>
        <p:nvCxnSpPr>
          <p:cNvPr id="721" name="row:switchdev:development"/>
          <p:cNvCxnSpPr/>
          <p:nvPr/>
        </p:nvCxnSpPr>
        <p:spPr>
          <a:xfrm>
            <a:off x="5086750" y="6596877"/>
            <a:ext cx="780501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2" name="row:switchdev:start"/>
          <p:cNvSpPr/>
          <p:nvPr/>
        </p:nvSpPr>
        <p:spPr>
          <a:xfrm>
            <a:off x="5054746" y="656487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3" name="row:switchdev:release:3.19"/>
          <p:cNvSpPr/>
          <p:nvPr/>
        </p:nvSpPr>
        <p:spPr>
          <a:xfrm>
            <a:off x="5823817" y="655344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4" name="row:switchdev:label"/>
          <p:cNvSpPr txBox="1"/>
          <p:nvPr/>
        </p:nvSpPr>
        <p:spPr>
          <a:xfrm>
            <a:off x="5940403" y="648714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3.19</a:t>
            </a:r>
          </a:p>
        </p:txBody>
      </p:sp>
      <p:sp>
        <p:nvSpPr>
          <p:cNvPr id="726" name="row:devlink:name"/>
          <p:cNvSpPr txBox="1"/>
          <p:nvPr/>
        </p:nvSpPr>
        <p:spPr>
          <a:xfrm>
            <a:off x="1325880" y="658425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devlink</a:t>
            </a:r>
          </a:p>
        </p:txBody>
      </p:sp>
      <p:cxnSp>
        <p:nvCxnSpPr>
          <p:cNvPr id="727" name="row:devlink:development"/>
          <p:cNvCxnSpPr/>
          <p:nvPr/>
        </p:nvCxnSpPr>
        <p:spPr>
          <a:xfrm>
            <a:off x="5781122" y="6693985"/>
            <a:ext cx="964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8" name="row:devlink:start"/>
          <p:cNvSpPr/>
          <p:nvPr/>
        </p:nvSpPr>
        <p:spPr>
          <a:xfrm>
            <a:off x="5749118" y="666198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9" name="row:devlink:release:4.6"/>
          <p:cNvSpPr/>
          <p:nvPr/>
        </p:nvSpPr>
        <p:spPr>
          <a:xfrm>
            <a:off x="6702595" y="665055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0" name="row:devlink:label"/>
          <p:cNvSpPr txBox="1"/>
          <p:nvPr/>
        </p:nvSpPr>
        <p:spPr>
          <a:xfrm>
            <a:off x="6819181" y="658425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4.6</a:t>
            </a:r>
          </a:p>
        </p:txBody>
      </p:sp>
      <p:sp>
        <p:nvSpPr>
          <p:cNvPr id="732" name="row:devlink health:name"/>
          <p:cNvSpPr txBox="1"/>
          <p:nvPr/>
        </p:nvSpPr>
        <p:spPr>
          <a:xfrm>
            <a:off x="1325880" y="668136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devlink health</a:t>
            </a:r>
          </a:p>
        </p:txBody>
      </p:sp>
      <p:cxnSp>
        <p:nvCxnSpPr>
          <p:cNvPr id="733" name="row:devlink health:development"/>
          <p:cNvCxnSpPr/>
          <p:nvPr/>
        </p:nvCxnSpPr>
        <p:spPr>
          <a:xfrm>
            <a:off x="7864240" y="6791093"/>
            <a:ext cx="943994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4" name="row:devlink health:start"/>
          <p:cNvSpPr/>
          <p:nvPr/>
        </p:nvSpPr>
        <p:spPr>
          <a:xfrm>
            <a:off x="7832236" y="675908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5" name="row:devlink health:release:5.1"/>
          <p:cNvSpPr/>
          <p:nvPr/>
        </p:nvSpPr>
        <p:spPr>
          <a:xfrm>
            <a:off x="8764800" y="674765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36" name="row:devlink health:label"/>
          <p:cNvSpPr txBox="1"/>
          <p:nvPr/>
        </p:nvSpPr>
        <p:spPr>
          <a:xfrm>
            <a:off x="8881386" y="668136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</a:t>
            </a:r>
          </a:p>
        </p:txBody>
      </p:sp>
      <p:sp>
        <p:nvSpPr>
          <p:cNvPr id="738" name="row:phylink:name"/>
          <p:cNvSpPr txBox="1"/>
          <p:nvPr/>
        </p:nvSpPr>
        <p:spPr>
          <a:xfrm>
            <a:off x="1325880" y="677847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phylink</a:t>
            </a:r>
          </a:p>
        </p:txBody>
      </p:sp>
      <p:cxnSp>
        <p:nvCxnSpPr>
          <p:cNvPr id="739" name="row:phylink:development"/>
          <p:cNvCxnSpPr/>
          <p:nvPr/>
        </p:nvCxnSpPr>
        <p:spPr>
          <a:xfrm>
            <a:off x="5919997" y="6888201"/>
            <a:ext cx="1862600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0" name="row:phylink:start"/>
          <p:cNvSpPr/>
          <p:nvPr/>
        </p:nvSpPr>
        <p:spPr>
          <a:xfrm>
            <a:off x="5887993" y="685619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1" name="row:phylink:release:4.14"/>
          <p:cNvSpPr/>
          <p:nvPr/>
        </p:nvSpPr>
        <p:spPr>
          <a:xfrm>
            <a:off x="7739163" y="684476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2" name="row:phylink:label"/>
          <p:cNvSpPr txBox="1"/>
          <p:nvPr/>
        </p:nvSpPr>
        <p:spPr>
          <a:xfrm>
            <a:off x="7855749" y="677847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4.14</a:t>
            </a:r>
          </a:p>
        </p:txBody>
      </p:sp>
      <p:sp>
        <p:nvSpPr>
          <p:cNvPr id="744" name="row:Net DIM:name"/>
          <p:cNvSpPr txBox="1"/>
          <p:nvPr/>
        </p:nvSpPr>
        <p:spPr>
          <a:xfrm>
            <a:off x="1325880" y="687558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 DIM</a:t>
            </a:r>
          </a:p>
        </p:txBody>
      </p:sp>
      <p:cxnSp>
        <p:nvCxnSpPr>
          <p:cNvPr id="745" name="row:Net DIM:development"/>
          <p:cNvCxnSpPr/>
          <p:nvPr/>
        </p:nvCxnSpPr>
        <p:spPr>
          <a:xfrm>
            <a:off x="7169867" y="6985309"/>
            <a:ext cx="87935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6" name="row:Net DIM:start"/>
          <p:cNvSpPr/>
          <p:nvPr/>
        </p:nvSpPr>
        <p:spPr>
          <a:xfrm>
            <a:off x="7137863" y="695330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747" name="row:Net DIM:milestones"/>
          <p:cNvCxnSpPr/>
          <p:nvPr/>
        </p:nvCxnSpPr>
        <p:spPr>
          <a:xfrm>
            <a:off x="8049225" y="6985309"/>
            <a:ext cx="1011854" cy="0"/>
          </a:xfrm>
          <a:prstGeom prst="line">
            <a:avLst/>
          </a:prstGeom>
          <a:ln w="19050">
            <a:solidFill>
              <a:srgbClr val="A1620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8" name="row:Net DIM:release:4.16"/>
          <p:cNvSpPr/>
          <p:nvPr/>
        </p:nvSpPr>
        <p:spPr>
          <a:xfrm>
            <a:off x="8005791" y="694187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9" name="row:Net DIM:release:5.3"/>
          <p:cNvSpPr/>
          <p:nvPr/>
        </p:nvSpPr>
        <p:spPr>
          <a:xfrm>
            <a:off x="9017645" y="694187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0" name="row:Net DIM:label"/>
          <p:cNvSpPr txBox="1"/>
          <p:nvPr/>
        </p:nvSpPr>
        <p:spPr>
          <a:xfrm>
            <a:off x="9134231" y="687558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4.16 · 5.3</a:t>
            </a:r>
          </a:p>
        </p:txBody>
      </p:sp>
      <p:sp>
        <p:nvSpPr>
          <p:cNvPr id="752" name="row:netdevsim:name"/>
          <p:cNvSpPr txBox="1"/>
          <p:nvPr/>
        </p:nvSpPr>
        <p:spPr>
          <a:xfrm>
            <a:off x="1325880" y="6972689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netdevsim</a:t>
            </a:r>
          </a:p>
        </p:txBody>
      </p:sp>
      <p:cxnSp>
        <p:nvCxnSpPr>
          <p:cNvPr id="753" name="row:netdevsim:development"/>
          <p:cNvCxnSpPr/>
          <p:nvPr/>
        </p:nvCxnSpPr>
        <p:spPr>
          <a:xfrm>
            <a:off x="7517053" y="7082417"/>
            <a:ext cx="532172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4" name="row:netdevsim:start"/>
          <p:cNvSpPr/>
          <p:nvPr/>
        </p:nvSpPr>
        <p:spPr>
          <a:xfrm>
            <a:off x="7485049" y="7050413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5" name="row:netdevsim:release:4.16"/>
          <p:cNvSpPr/>
          <p:nvPr/>
        </p:nvSpPr>
        <p:spPr>
          <a:xfrm>
            <a:off x="8005791" y="7038983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6" name="row:netdevsim:label"/>
          <p:cNvSpPr txBox="1"/>
          <p:nvPr/>
        </p:nvSpPr>
        <p:spPr>
          <a:xfrm>
            <a:off x="8122377" y="6972689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4.16</a:t>
            </a:r>
          </a:p>
        </p:txBody>
      </p:sp>
      <p:sp>
        <p:nvSpPr>
          <p:cNvPr id="758" name="row:ethtool netlink:name"/>
          <p:cNvSpPr txBox="1"/>
          <p:nvPr/>
        </p:nvSpPr>
        <p:spPr>
          <a:xfrm>
            <a:off x="1325880" y="7069797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ethtool netlink</a:t>
            </a:r>
          </a:p>
        </p:txBody>
      </p:sp>
      <p:cxnSp>
        <p:nvCxnSpPr>
          <p:cNvPr id="759" name="row:ethtool netlink:development"/>
          <p:cNvCxnSpPr/>
          <p:nvPr/>
        </p:nvCxnSpPr>
        <p:spPr>
          <a:xfrm>
            <a:off x="7864240" y="7179525"/>
            <a:ext cx="1569928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0" name="row:ethtool netlink:start"/>
          <p:cNvSpPr/>
          <p:nvPr/>
        </p:nvSpPr>
        <p:spPr>
          <a:xfrm>
            <a:off x="7832236" y="7147521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1" name="row:ethtool netlink:release:5.6"/>
          <p:cNvSpPr/>
          <p:nvPr/>
        </p:nvSpPr>
        <p:spPr>
          <a:xfrm>
            <a:off x="9390734" y="7136091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2" name="row:ethtool netlink:label"/>
          <p:cNvSpPr txBox="1"/>
          <p:nvPr/>
        </p:nvSpPr>
        <p:spPr>
          <a:xfrm>
            <a:off x="9507320" y="7069797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5.6</a:t>
            </a:r>
          </a:p>
        </p:txBody>
      </p:sp>
      <p:sp>
        <p:nvSpPr>
          <p:cNvPr id="764" name="row:auxiliary bus:name"/>
          <p:cNvSpPr txBox="1"/>
          <p:nvPr/>
        </p:nvSpPr>
        <p:spPr>
          <a:xfrm>
            <a:off x="1325880" y="7166905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auxiliary bus</a:t>
            </a:r>
          </a:p>
        </p:txBody>
      </p:sp>
      <p:cxnSp>
        <p:nvCxnSpPr>
          <p:cNvPr id="765" name="row:auxiliary bus:development"/>
          <p:cNvCxnSpPr/>
          <p:nvPr/>
        </p:nvCxnSpPr>
        <p:spPr>
          <a:xfrm>
            <a:off x="9252985" y="7276633"/>
            <a:ext cx="791907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6" name="row:auxiliary bus:start"/>
          <p:cNvSpPr/>
          <p:nvPr/>
        </p:nvSpPr>
        <p:spPr>
          <a:xfrm>
            <a:off x="9220981" y="7244629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7" name="row:auxiliary bus:release:5.11"/>
          <p:cNvSpPr/>
          <p:nvPr/>
        </p:nvSpPr>
        <p:spPr>
          <a:xfrm>
            <a:off x="10001458" y="7233199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68" name="row:auxiliary bus:label"/>
          <p:cNvSpPr txBox="1"/>
          <p:nvPr/>
        </p:nvSpPr>
        <p:spPr>
          <a:xfrm>
            <a:off x="10118044" y="7166905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5.11</a:t>
            </a:r>
          </a:p>
        </p:txBody>
      </p:sp>
      <p:sp>
        <p:nvSpPr>
          <p:cNvPr id="770" name="row:threaded NAPI:name"/>
          <p:cNvSpPr txBox="1"/>
          <p:nvPr/>
        </p:nvSpPr>
        <p:spPr>
          <a:xfrm>
            <a:off x="1325880" y="7264013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threaded NAPI</a:t>
            </a:r>
          </a:p>
        </p:txBody>
      </p:sp>
      <p:cxnSp>
        <p:nvCxnSpPr>
          <p:cNvPr id="771" name="row:threaded NAPI:development"/>
          <p:cNvCxnSpPr/>
          <p:nvPr/>
        </p:nvCxnSpPr>
        <p:spPr>
          <a:xfrm>
            <a:off x="9461296" y="7373741"/>
            <a:ext cx="716673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2" name="row:threaded NAPI:start"/>
          <p:cNvSpPr/>
          <p:nvPr/>
        </p:nvSpPr>
        <p:spPr>
          <a:xfrm>
            <a:off x="9429292" y="7341737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773" name="row:threaded NAPI:milestones"/>
          <p:cNvCxnSpPr/>
          <p:nvPr/>
        </p:nvCxnSpPr>
        <p:spPr>
          <a:xfrm>
            <a:off x="10177969" y="7373741"/>
            <a:ext cx="3327855" cy="0"/>
          </a:xfrm>
          <a:prstGeom prst="line">
            <a:avLst/>
          </a:prstGeom>
          <a:ln w="19050">
            <a:solidFill>
              <a:srgbClr val="A1620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4" name="row:threaded NAPI:release:5.12"/>
          <p:cNvSpPr/>
          <p:nvPr/>
        </p:nvSpPr>
        <p:spPr>
          <a:xfrm>
            <a:off x="10134535" y="733030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5" name="row:threaded NAPI:release:6.19"/>
          <p:cNvSpPr/>
          <p:nvPr/>
        </p:nvSpPr>
        <p:spPr>
          <a:xfrm>
            <a:off x="13462390" y="7330307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6" name="row:threaded NAPI:label"/>
          <p:cNvSpPr txBox="1"/>
          <p:nvPr/>
        </p:nvSpPr>
        <p:spPr>
          <a:xfrm>
            <a:off x="13578976" y="7264013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5.12 · 6.19</a:t>
            </a:r>
          </a:p>
        </p:txBody>
      </p:sp>
      <p:sp>
        <p:nvSpPr>
          <p:cNvPr id="778" name="row:Rust phylib:name"/>
          <p:cNvSpPr txBox="1"/>
          <p:nvPr/>
        </p:nvSpPr>
        <p:spPr>
          <a:xfrm>
            <a:off x="1325880" y="7361121"/>
            <a:ext cx="1572768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750" b="0" i="0">
                <a:solidFill>
                  <a:srgbClr val="1F2937"/>
                </a:solidFill>
              </a:rPr>
              <a:t>Rust phylib</a:t>
            </a:r>
          </a:p>
        </p:txBody>
      </p:sp>
      <p:cxnSp>
        <p:nvCxnSpPr>
          <p:cNvPr id="779" name="row:Rust phylib:development"/>
          <p:cNvCxnSpPr/>
          <p:nvPr/>
        </p:nvCxnSpPr>
        <p:spPr>
          <a:xfrm>
            <a:off x="11336102" y="7470849"/>
            <a:ext cx="839435" cy="0"/>
          </a:xfrm>
          <a:prstGeom prst="line">
            <a:avLst/>
          </a:prstGeom>
          <a:ln w="12700">
            <a:solidFill>
              <a:srgbClr val="A1620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0" name="row:Rust phylib:start"/>
          <p:cNvSpPr/>
          <p:nvPr/>
        </p:nvSpPr>
        <p:spPr>
          <a:xfrm>
            <a:off x="11304098" y="743884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1" name="row:Rust phylib:release:6.8"/>
          <p:cNvSpPr/>
          <p:nvPr/>
        </p:nvSpPr>
        <p:spPr>
          <a:xfrm>
            <a:off x="12132103" y="7427415"/>
            <a:ext cx="86868" cy="86868"/>
          </a:xfrm>
          <a:prstGeom prst="ellipse">
            <a:avLst/>
          </a:prstGeom>
          <a:solidFill>
            <a:srgbClr val="A16207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82" name="row:Rust phylib:label"/>
          <p:cNvSpPr txBox="1"/>
          <p:nvPr/>
        </p:nvSpPr>
        <p:spPr>
          <a:xfrm>
            <a:off x="12248689" y="7361121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725" b="1" i="0">
                <a:solidFill>
                  <a:srgbClr val="1F2937"/>
                </a:solidFill>
              </a:rPr>
              <a:t>6.8</a:t>
            </a:r>
          </a:p>
        </p:txBody>
      </p:sp>
      <p:sp>
        <p:nvSpPr>
          <p:cNvPr id="346" name="legend:title"/>
          <p:cNvSpPr txBox="1"/>
          <p:nvPr/>
        </p:nvSpPr>
        <p:spPr>
          <a:xfrm>
            <a:off x="384048" y="7619987"/>
            <a:ext cx="5486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50" b="1" i="0">
                <a:solidFill>
                  <a:srgbClr val="1F2937"/>
                </a:solidFill>
              </a:rPr>
              <a:t>Legend</a:t>
            </a:r>
          </a:p>
        </p:txBody>
      </p:sp>
      <p:sp>
        <p:nvSpPr>
          <p:cNvPr id="347" name="legend:start"/>
          <p:cNvSpPr/>
          <p:nvPr/>
        </p:nvSpPr>
        <p:spPr>
          <a:xfrm>
            <a:off x="946404" y="7661135"/>
            <a:ext cx="64008" cy="640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48" name="legend:dev"/>
          <p:cNvCxnSpPr/>
          <p:nvPr/>
        </p:nvCxnSpPr>
        <p:spPr>
          <a:xfrm>
            <a:off x="1014983" y="7693139"/>
            <a:ext cx="329185" cy="0"/>
          </a:xfrm>
          <a:prstGeom prst="line">
            <a:avLst/>
          </a:prstGeom>
          <a:ln w="12700">
            <a:solidFill>
              <a:srgbClr val="64748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legend:release"/>
          <p:cNvSpPr/>
          <p:nvPr/>
        </p:nvSpPr>
        <p:spPr>
          <a:xfrm>
            <a:off x="1337310" y="7649705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0" name="legend:t1"/>
          <p:cNvSpPr txBox="1"/>
          <p:nvPr/>
        </p:nvSpPr>
        <p:spPr>
          <a:xfrm>
            <a:off x="1481328" y="7619987"/>
            <a:ext cx="21945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>
                <a:solidFill>
                  <a:srgbClr val="64748B"/>
                </a:solidFill>
              </a:rPr>
              <a:t>approx. development start → first canonical release</a:t>
            </a:r>
          </a:p>
        </p:txBody>
      </p:sp>
      <p:sp>
        <p:nvSpPr>
          <p:cNvPr id="351" name="legend:m1"/>
          <p:cNvSpPr/>
          <p:nvPr/>
        </p:nvSpPr>
        <p:spPr>
          <a:xfrm>
            <a:off x="3952494" y="7649705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352" name="legend:m-line"/>
          <p:cNvCxnSpPr/>
          <p:nvPr/>
        </p:nvCxnSpPr>
        <p:spPr>
          <a:xfrm>
            <a:off x="3995928" y="7693139"/>
            <a:ext cx="274320" cy="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legend:m2"/>
          <p:cNvSpPr/>
          <p:nvPr/>
        </p:nvSpPr>
        <p:spPr>
          <a:xfrm>
            <a:off x="4226814" y="7649705"/>
            <a:ext cx="86868" cy="86868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4" name="legend:t2"/>
          <p:cNvSpPr txBox="1"/>
          <p:nvPr/>
        </p:nvSpPr>
        <p:spPr>
          <a:xfrm>
            <a:off x="4370832" y="7619987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successive milestones</a:t>
            </a:r>
          </a:p>
        </p:txBody>
      </p:sp>
      <p:sp>
        <p:nvSpPr>
          <p:cNvPr id="355" name="legend:era"/>
          <p:cNvSpPr/>
          <p:nvPr/>
        </p:nvSpPr>
        <p:spPr>
          <a:xfrm>
            <a:off x="5641848" y="7638275"/>
            <a:ext cx="274320" cy="109728"/>
          </a:xfrm>
          <a:prstGeom prst="rect">
            <a:avLst/>
          </a:prstGeom>
          <a:solidFill>
            <a:srgbClr val="475569">
              <a:alpha val="8000"/>
            </a:srgbClr>
          </a:solidFill>
          <a:ln w="63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6" name="legend:t3"/>
          <p:cNvSpPr txBox="1"/>
          <p:nvPr/>
        </p:nvSpPr>
        <p:spPr>
          <a:xfrm>
            <a:off x="5961888" y="7619987"/>
            <a:ext cx="100584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architecture era</a:t>
            </a:r>
          </a:p>
        </p:txBody>
      </p:sp>
      <p:cxnSp>
        <p:nvCxnSpPr>
          <p:cNvPr id="357" name="legend:ga"/>
          <p:cNvCxnSpPr/>
          <p:nvPr/>
        </p:nvCxnSpPr>
        <p:spPr>
          <a:xfrm>
            <a:off x="6967728" y="7629131"/>
            <a:ext cx="0" cy="128016"/>
          </a:xfrm>
          <a:prstGeom prst="line">
            <a:avLst/>
          </a:prstGeom>
          <a:ln w="9525">
            <a:solidFill>
              <a:srgbClr val="94A3B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8" name="legend:t4"/>
          <p:cNvSpPr txBox="1"/>
          <p:nvPr/>
        </p:nvSpPr>
        <p:spPr>
          <a:xfrm>
            <a:off x="7059168" y="7619987"/>
            <a:ext cx="9144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X.0 release</a:t>
            </a:r>
          </a:p>
        </p:txBody>
      </p:sp>
      <p:cxnSp>
        <p:nvCxnSpPr>
          <p:cNvPr id="359" name="legend:lineage-down"/>
          <p:cNvCxnSpPr/>
          <p:nvPr/>
        </p:nvCxnSpPr>
        <p:spPr>
          <a:xfrm>
            <a:off x="7927848" y="7629131"/>
            <a:ext cx="0" cy="64008"/>
          </a:xfrm>
          <a:prstGeom prst="line">
            <a:avLst/>
          </a:prstGeom>
          <a:ln w="1270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0" name="legend:lineage-across"/>
          <p:cNvCxnSpPr/>
          <p:nvPr/>
        </p:nvCxnSpPr>
        <p:spPr>
          <a:xfrm>
            <a:off x="7927848" y="7693139"/>
            <a:ext cx="320040" cy="0"/>
          </a:xfrm>
          <a:prstGeom prst="line">
            <a:avLst/>
          </a:prstGeom>
          <a:ln w="12700">
            <a:solidFill>
              <a:srgbClr val="47556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legend:t5"/>
          <p:cNvSpPr txBox="1"/>
          <p:nvPr/>
        </p:nvSpPr>
        <p:spPr>
          <a:xfrm>
            <a:off x="8339327" y="7619987"/>
            <a:ext cx="310896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lineage: release that a later feature builds on</a:t>
            </a:r>
          </a:p>
        </p:txBody>
      </p:sp>
      <p:sp>
        <p:nvSpPr>
          <p:cNvPr id="362" name="legend:offchart"/>
          <p:cNvSpPr/>
          <p:nvPr/>
        </p:nvSpPr>
        <p:spPr>
          <a:xfrm rot="16200000">
            <a:off x="11494008" y="7651991"/>
            <a:ext cx="82296" cy="82296"/>
          </a:xfrm>
          <a:prstGeom prst="triangle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3" name="legend:t6"/>
          <p:cNvSpPr txBox="1"/>
          <p:nvPr/>
        </p:nvSpPr>
        <p:spPr>
          <a:xfrm>
            <a:off x="11649456" y="7619987"/>
            <a:ext cx="1828800" cy="14630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development began before 2011</a:t>
            </a:r>
          </a:p>
        </p:txBody>
      </p:sp>
      <p:sp>
        <p:nvSpPr>
          <p:cNvPr id="364" name="notes:left"/>
          <p:cNvSpPr txBox="1"/>
          <p:nvPr/>
        </p:nvSpPr>
        <p:spPr>
          <a:xfrm>
            <a:off x="384048" y="7802867"/>
            <a:ext cx="681228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● First canonical release per Part VI (netmem 6.9: Part VII anchor); a feature keeps evolving after it. 7.3-rc = merged to mainline on 2026-08-20, final 7.3 pending.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○ and dashed line: approx. start of visible development (RFC / patch series); ~X.Y = kernel version then in development. Not audited; no ○ = no estimate.</a:t>
            </a:r>
          </a:p>
        </p:txBody>
      </p:sp>
      <p:sp>
        <p:nvSpPr>
          <p:cNvPr id="365" name="notes:right"/>
          <p:cNvSpPr txBox="1"/>
          <p:nvPr/>
        </p:nvSpPr>
        <p:spPr>
          <a:xfrm>
            <a:off x="7388352" y="7802867"/>
            <a:ext cx="6858000" cy="26517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800" b="0" i="0">
                <a:solidFill>
                  <a:srgbClr val="64748B"/>
                </a:solidFill>
              </a:rPr>
              <a:t>· Eras follow Part II: they are set by the dominant design problem, overlap, and are not X.0 boundaries.</a:t>
            </a:r>
          </a:p>
          <a:p>
            <a:pPr algn="l"/>
            <a:r>
              <a:rPr sz="800" b="0" i="0">
                <a:solidFill>
                  <a:srgbClr val="64748B"/>
                </a:solidFill>
              </a:rPr>
              <a:t>· Rows are grouped by Part VI axis. Cross-cutting-domain milestones (e.g. BBR, MPTCP, VXLAN, kTLS, WireGuard) and secondary Part VI milestones have no row.</a:t>
            </a:r>
          </a:p>
        </p:txBody>
      </p:sp>
      <p:sp>
        <p:nvSpPr>
          <p:cNvPr id="443" name="row:DQL / BQL:start-label"/>
          <p:cNvSpPr txBox="1"/>
          <p:nvPr/>
        </p:nvSpPr>
        <p:spPr>
          <a:xfrm>
            <a:off x="3257664" y="1507021"/>
            <a:ext cx="274320" cy="137160"/>
          </a:xfrm>
          <a:prstGeom prst="rect">
            <a:avLst/>
          </a:prstGeom>
          <a:solidFill>
            <a:srgbClr val="EEF4FF"/>
          </a:solidFill>
        </p:spPr>
        <p:txBody>
          <a:bodyPr wrap="square" lIns="0" tIns="0" rIns="0" bIns="0" anchor="ctr">
            <a:noAutofit/>
          </a:bodyPr>
          <a:lstStyle/>
          <a:p>
            <a:pPr algn="ct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~2.6.39</a:t>
            </a:r>
          </a:p>
        </p:txBody>
      </p:sp>
      <p:sp>
        <p:nvSpPr>
          <p:cNvPr id="449" name="row:CoDel / fq_codel:start-label"/>
          <p:cNvSpPr txBox="1"/>
          <p:nvPr/>
        </p:nvSpPr>
        <p:spPr>
          <a:xfrm>
            <a:off x="3702673" y="160412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~3.4</a:t>
            </a:r>
          </a:p>
        </p:txBody>
      </p:sp>
      <p:sp>
        <p:nvSpPr>
          <p:cNvPr id="455" name="row:TSQ:start-label"/>
          <p:cNvSpPr txBox="1"/>
          <p:nvPr/>
        </p:nvSpPr>
        <p:spPr>
          <a:xfrm>
            <a:off x="3451625" y="170123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~3.2</a:t>
            </a:r>
          </a:p>
        </p:txBody>
      </p:sp>
      <p:sp>
        <p:nvSpPr>
          <p:cNvPr id="461" name="row:SO_BUSY_POLL:start-label"/>
          <p:cNvSpPr txBox="1"/>
          <p:nvPr/>
        </p:nvSpPr>
        <p:spPr>
          <a:xfrm>
            <a:off x="4145997" y="1798345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~3.8</a:t>
            </a:r>
          </a:p>
        </p:txBody>
      </p:sp>
      <p:sp>
        <p:nvSpPr>
          <p:cNvPr id="467" name="row:sch_fq / TCP pacing:start-label"/>
          <p:cNvSpPr txBox="1"/>
          <p:nvPr/>
        </p:nvSpPr>
        <p:spPr>
          <a:xfrm>
            <a:off x="4007123" y="189545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~3.7</a:t>
            </a:r>
          </a:p>
        </p:txBody>
      </p:sp>
      <p:sp>
        <p:nvSpPr>
          <p:cNvPr id="475" name="row:SO_TXTIME / EDT / taprio:start-label"/>
          <p:cNvSpPr txBox="1"/>
          <p:nvPr/>
        </p:nvSpPr>
        <p:spPr>
          <a:xfrm>
            <a:off x="6921900" y="199256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~4.11</a:t>
            </a:r>
          </a:p>
        </p:txBody>
      </p:sp>
      <p:sp>
        <p:nvSpPr>
          <p:cNvPr id="481" name="row:BIG TCP:start-label"/>
          <p:cNvSpPr txBox="1"/>
          <p:nvPr/>
        </p:nvSpPr>
        <p:spPr>
          <a:xfrm>
            <a:off x="9795402" y="208966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~5.12</a:t>
            </a:r>
          </a:p>
        </p:txBody>
      </p:sp>
      <p:sp>
        <p:nvSpPr>
          <p:cNvPr id="493" name="row:io_uring SEND_ZC / multishot recv:start-label"/>
          <p:cNvSpPr txBox="1"/>
          <p:nvPr/>
        </p:nvSpPr>
        <p:spPr>
          <a:xfrm>
            <a:off x="10306329" y="228388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~5.16</a:t>
            </a:r>
          </a:p>
        </p:txBody>
      </p:sp>
      <p:sp>
        <p:nvSpPr>
          <p:cNvPr id="499" name="row:dev_queue_xmit() llist:start-label"/>
          <p:cNvSpPr txBox="1"/>
          <p:nvPr/>
        </p:nvSpPr>
        <p:spPr>
          <a:xfrm>
            <a:off x="12984962" y="238099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~6.18</a:t>
            </a:r>
          </a:p>
        </p:txBody>
      </p:sp>
      <p:sp>
        <p:nvSpPr>
          <p:cNvPr id="505" name="row:cake_mq:start-label"/>
          <p:cNvSpPr txBox="1"/>
          <p:nvPr/>
        </p:nvSpPr>
        <p:spPr>
          <a:xfrm>
            <a:off x="12434017" y="247810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513" name="row:eBPF foundation:start-label"/>
          <p:cNvSpPr txBox="1"/>
          <p:nvPr/>
        </p:nvSpPr>
        <p:spPr>
          <a:xfrm>
            <a:off x="4448733" y="266664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~3.10</a:t>
            </a:r>
          </a:p>
        </p:txBody>
      </p:sp>
      <p:sp>
        <p:nvSpPr>
          <p:cNvPr id="519" name="row:TC BPF:start-label"/>
          <p:cNvSpPr txBox="1"/>
          <p:nvPr/>
        </p:nvSpPr>
        <p:spPr>
          <a:xfrm>
            <a:off x="5351418" y="276375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~3.18</a:t>
            </a:r>
          </a:p>
        </p:txBody>
      </p:sp>
      <p:sp>
        <p:nvSpPr>
          <p:cNvPr id="525" name="row:TCX:start-label"/>
          <p:cNvSpPr txBox="1"/>
          <p:nvPr/>
        </p:nvSpPr>
        <p:spPr>
          <a:xfrm>
            <a:off x="10715961" y="2860865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~6.0</a:t>
            </a:r>
          </a:p>
        </p:txBody>
      </p:sp>
      <p:sp>
        <p:nvSpPr>
          <p:cNvPr id="531" name="row:netkit:start-label"/>
          <p:cNvSpPr txBox="1"/>
          <p:nvPr/>
        </p:nvSpPr>
        <p:spPr>
          <a:xfrm>
            <a:off x="10950848" y="295797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</a:t>
            </a:r>
          </a:p>
        </p:txBody>
      </p:sp>
      <p:sp>
        <p:nvSpPr>
          <p:cNvPr id="537" name="row:cgroup / LWT BPF:start-label"/>
          <p:cNvSpPr txBox="1"/>
          <p:nvPr/>
        </p:nvSpPr>
        <p:spPr>
          <a:xfrm>
            <a:off x="6133103" y="305508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~4.4</a:t>
            </a:r>
          </a:p>
        </p:txBody>
      </p:sp>
      <p:sp>
        <p:nvSpPr>
          <p:cNvPr id="545" name="row:SOCK_OPS / SOCKMAP:start-label"/>
          <p:cNvSpPr txBox="1"/>
          <p:nvPr/>
        </p:nvSpPr>
        <p:spPr>
          <a:xfrm>
            <a:off x="6480289" y="315218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~4.7</a:t>
            </a:r>
          </a:p>
        </p:txBody>
      </p:sp>
      <p:sp>
        <p:nvSpPr>
          <p:cNvPr id="551" name="row:BPF struct_ops:start-label"/>
          <p:cNvSpPr txBox="1"/>
          <p:nvPr/>
        </p:nvSpPr>
        <p:spPr>
          <a:xfrm>
            <a:off x="8128908" y="324929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~4.19</a:t>
            </a:r>
          </a:p>
        </p:txBody>
      </p:sp>
      <p:sp>
        <p:nvSpPr>
          <p:cNvPr id="557" name="row:BPF qdisc:start-label"/>
          <p:cNvSpPr txBox="1"/>
          <p:nvPr/>
        </p:nvSpPr>
        <p:spPr>
          <a:xfrm>
            <a:off x="11921382" y="334640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~6.10</a:t>
            </a:r>
          </a:p>
        </p:txBody>
      </p:sp>
      <p:sp>
        <p:nvSpPr>
          <p:cNvPr id="563" name="row:SK_LOOKUP:start-label"/>
          <p:cNvSpPr txBox="1"/>
          <p:nvPr/>
        </p:nvSpPr>
        <p:spPr>
          <a:xfrm>
            <a:off x="8659418" y="344351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~5.2</a:t>
            </a:r>
          </a:p>
        </p:txBody>
      </p:sp>
      <p:sp>
        <p:nvSpPr>
          <p:cNvPr id="569" name="row:XDP:start-label"/>
          <p:cNvSpPr txBox="1"/>
          <p:nvPr/>
        </p:nvSpPr>
        <p:spPr>
          <a:xfrm>
            <a:off x="6216427" y="354062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~4.5</a:t>
            </a:r>
          </a:p>
        </p:txBody>
      </p:sp>
      <p:sp>
        <p:nvSpPr>
          <p:cNvPr id="577" name="row:XDP devmap / cpumap:start-label"/>
          <p:cNvSpPr txBox="1"/>
          <p:nvPr/>
        </p:nvSpPr>
        <p:spPr>
          <a:xfrm>
            <a:off x="6744211" y="363772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~4.12</a:t>
            </a:r>
          </a:p>
        </p:txBody>
      </p:sp>
      <p:sp>
        <p:nvSpPr>
          <p:cNvPr id="583" name="row:XDP multi-buffer:start-label"/>
          <p:cNvSpPr txBox="1"/>
          <p:nvPr/>
        </p:nvSpPr>
        <p:spPr>
          <a:xfrm>
            <a:off x="9560515" y="373483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~5.11</a:t>
            </a:r>
          </a:p>
        </p:txBody>
      </p:sp>
      <p:sp>
        <p:nvSpPr>
          <p:cNvPr id="589" name="row:AF_XDP:start-label"/>
          <p:cNvSpPr txBox="1"/>
          <p:nvPr/>
        </p:nvSpPr>
        <p:spPr>
          <a:xfrm>
            <a:off x="6744211" y="392338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~4.10</a:t>
            </a:r>
          </a:p>
        </p:txBody>
      </p:sp>
      <p:sp>
        <p:nvSpPr>
          <p:cNvPr id="595" name="row:AF_XDP multi-buffer:start-label"/>
          <p:cNvSpPr txBox="1"/>
          <p:nvPr/>
        </p:nvSpPr>
        <p:spPr>
          <a:xfrm>
            <a:off x="10254888" y="402049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~5.16</a:t>
            </a:r>
          </a:p>
        </p:txBody>
      </p:sp>
      <p:sp>
        <p:nvSpPr>
          <p:cNvPr id="601" name="row:page_pool:start-label"/>
          <p:cNvSpPr txBox="1"/>
          <p:nvPr/>
        </p:nvSpPr>
        <p:spPr>
          <a:xfrm>
            <a:off x="6367989" y="411760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~4.5</a:t>
            </a:r>
          </a:p>
        </p:txBody>
      </p:sp>
      <p:sp>
        <p:nvSpPr>
          <p:cNvPr id="607" name="row:netmem:start-label"/>
          <p:cNvSpPr txBox="1"/>
          <p:nvPr/>
        </p:nvSpPr>
        <p:spPr>
          <a:xfrm>
            <a:off x="11659671" y="421470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~6.7</a:t>
            </a:r>
          </a:p>
        </p:txBody>
      </p:sp>
      <p:sp>
        <p:nvSpPr>
          <p:cNvPr id="613" name="row:Device Memory TCP RX:start-label"/>
          <p:cNvSpPr txBox="1"/>
          <p:nvPr/>
        </p:nvSpPr>
        <p:spPr>
          <a:xfrm>
            <a:off x="11159159" y="431181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619" name="row:Device Memory TCP TX:start-label"/>
          <p:cNvSpPr txBox="1"/>
          <p:nvPr/>
        </p:nvSpPr>
        <p:spPr>
          <a:xfrm>
            <a:off x="11784095" y="4408925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~6.7</a:t>
            </a:r>
          </a:p>
        </p:txBody>
      </p:sp>
      <p:sp>
        <p:nvSpPr>
          <p:cNvPr id="625" name="row:io_uring ZCRX / memory-provider hooks:start-label"/>
          <p:cNvSpPr txBox="1"/>
          <p:nvPr/>
        </p:nvSpPr>
        <p:spPr>
          <a:xfrm>
            <a:off x="11367471" y="450603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~6.4</a:t>
            </a:r>
          </a:p>
        </p:txBody>
      </p:sp>
      <p:sp>
        <p:nvSpPr>
          <p:cNvPr id="631" name="row:large RX buffers (mem. providers):start-label"/>
          <p:cNvSpPr txBox="1"/>
          <p:nvPr/>
        </p:nvSpPr>
        <p:spPr>
          <a:xfrm>
            <a:off x="12434017" y="460314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640" name="row:RX HW queue leasing:start-label"/>
          <p:cNvSpPr txBox="1"/>
          <p:nvPr/>
        </p:nvSpPr>
        <p:spPr>
          <a:xfrm>
            <a:off x="12086831" y="479735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~6.10</a:t>
            </a:r>
          </a:p>
        </p:txBody>
      </p:sp>
      <p:sp>
        <p:nvSpPr>
          <p:cNvPr id="656" name="row:nexthop objects:start-label"/>
          <p:cNvSpPr txBox="1"/>
          <p:nvPr/>
        </p:nvSpPr>
        <p:spPr>
          <a:xfrm>
            <a:off x="7573410" y="518012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662" name="row:per-netns RTNL:start-label"/>
          <p:cNvSpPr txBox="1"/>
          <p:nvPr/>
        </p:nvSpPr>
        <p:spPr>
          <a:xfrm>
            <a:off x="11089722" y="527722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668" name="row:further RTNL breakup:start-label"/>
          <p:cNvSpPr txBox="1"/>
          <p:nvPr/>
        </p:nvSpPr>
        <p:spPr>
          <a:xfrm>
            <a:off x="11784095" y="5374337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~6.7</a:t>
            </a:r>
          </a:p>
        </p:txBody>
      </p:sp>
      <p:sp>
        <p:nvSpPr>
          <p:cNvPr id="674" name="row:RTNL-less FIB rules:start-label"/>
          <p:cNvSpPr txBox="1"/>
          <p:nvPr/>
        </p:nvSpPr>
        <p:spPr>
          <a:xfrm>
            <a:off x="12434017" y="547144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683" name="row:YNL tooling:start-label"/>
          <p:cNvSpPr txBox="1"/>
          <p:nvPr/>
        </p:nvSpPr>
        <p:spPr>
          <a:xfrm>
            <a:off x="10003713" y="566566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~5.13</a:t>
            </a:r>
          </a:p>
        </p:txBody>
      </p:sp>
      <p:sp>
        <p:nvSpPr>
          <p:cNvPr id="689" name="row:queue/NAPI/page_pool netdev-genl:start-label"/>
          <p:cNvSpPr txBox="1"/>
          <p:nvPr/>
        </p:nvSpPr>
        <p:spPr>
          <a:xfrm>
            <a:off x="11089722" y="585420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sp>
        <p:nvSpPr>
          <p:cNvPr id="695" name="row:kprobe BPF:start-label"/>
          <p:cNvSpPr txBox="1"/>
          <p:nvPr/>
        </p:nvSpPr>
        <p:spPr>
          <a:xfrm>
            <a:off x="4934794" y="595131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~3.14</a:t>
            </a:r>
          </a:p>
        </p:txBody>
      </p:sp>
      <p:sp>
        <p:nvSpPr>
          <p:cNvPr id="701" name="row:BTF:start-label"/>
          <p:cNvSpPr txBox="1"/>
          <p:nvPr/>
        </p:nvSpPr>
        <p:spPr>
          <a:xfrm>
            <a:off x="7726552" y="604842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~4.16</a:t>
            </a:r>
          </a:p>
        </p:txBody>
      </p:sp>
      <p:sp>
        <p:nvSpPr>
          <p:cNvPr id="707" name="row:structured drop reason:start-label"/>
          <p:cNvSpPr txBox="1"/>
          <p:nvPr/>
        </p:nvSpPr>
        <p:spPr>
          <a:xfrm>
            <a:off x="9656527" y="614553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~5.11</a:t>
            </a:r>
          </a:p>
        </p:txBody>
      </p:sp>
      <p:sp>
        <p:nvSpPr>
          <p:cNvPr id="713" name="row:drop-reason expansion:start-label"/>
          <p:cNvSpPr txBox="1"/>
          <p:nvPr/>
        </p:nvSpPr>
        <p:spPr>
          <a:xfrm>
            <a:off x="10489774" y="6242641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~5.17</a:t>
            </a:r>
          </a:p>
        </p:txBody>
      </p:sp>
      <p:sp>
        <p:nvSpPr>
          <p:cNvPr id="719" name="row:qdisc-drop tracepoint:start-label"/>
          <p:cNvSpPr txBox="1"/>
          <p:nvPr/>
        </p:nvSpPr>
        <p:spPr>
          <a:xfrm>
            <a:off x="12434017" y="633974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~6.13</a:t>
            </a:r>
          </a:p>
        </p:txBody>
      </p:sp>
      <p:sp>
        <p:nvSpPr>
          <p:cNvPr id="725" name="row:switchdev:start-label"/>
          <p:cNvSpPr txBox="1"/>
          <p:nvPr/>
        </p:nvSpPr>
        <p:spPr>
          <a:xfrm>
            <a:off x="4795920" y="652829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~3.13</a:t>
            </a:r>
          </a:p>
        </p:txBody>
      </p:sp>
      <p:sp>
        <p:nvSpPr>
          <p:cNvPr id="731" name="row:devlink:start-label"/>
          <p:cNvSpPr txBox="1"/>
          <p:nvPr/>
        </p:nvSpPr>
        <p:spPr>
          <a:xfrm>
            <a:off x="5490292" y="662540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~3.19</a:t>
            </a:r>
          </a:p>
        </p:txBody>
      </p:sp>
      <p:sp>
        <p:nvSpPr>
          <p:cNvPr id="737" name="row:devlink health:start-label"/>
          <p:cNvSpPr txBox="1"/>
          <p:nvPr/>
        </p:nvSpPr>
        <p:spPr>
          <a:xfrm>
            <a:off x="7477398" y="6722513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743" name="row:phylink:start-label"/>
          <p:cNvSpPr txBox="1"/>
          <p:nvPr/>
        </p:nvSpPr>
        <p:spPr>
          <a:xfrm>
            <a:off x="5673617" y="681962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~4.0</a:t>
            </a:r>
          </a:p>
        </p:txBody>
      </p:sp>
      <p:sp>
        <p:nvSpPr>
          <p:cNvPr id="751" name="row:Net DIM:start-label"/>
          <p:cNvSpPr txBox="1"/>
          <p:nvPr/>
        </p:nvSpPr>
        <p:spPr>
          <a:xfrm>
            <a:off x="6879037" y="6916729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~4.10</a:t>
            </a:r>
          </a:p>
        </p:txBody>
      </p:sp>
      <p:sp>
        <p:nvSpPr>
          <p:cNvPr id="757" name="row:netdevsim:start-label"/>
          <p:cNvSpPr txBox="1"/>
          <p:nvPr/>
        </p:nvSpPr>
        <p:spPr>
          <a:xfrm>
            <a:off x="7226223" y="7013837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~4.12</a:t>
            </a:r>
          </a:p>
        </p:txBody>
      </p:sp>
      <p:sp>
        <p:nvSpPr>
          <p:cNvPr id="763" name="row:ethtool netlink:start-label"/>
          <p:cNvSpPr txBox="1"/>
          <p:nvPr/>
        </p:nvSpPr>
        <p:spPr>
          <a:xfrm>
            <a:off x="7573410" y="7110945"/>
            <a:ext cx="24968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~4.15</a:t>
            </a:r>
          </a:p>
        </p:txBody>
      </p:sp>
      <p:sp>
        <p:nvSpPr>
          <p:cNvPr id="769" name="row:auxiliary bus:start-label"/>
          <p:cNvSpPr txBox="1"/>
          <p:nvPr/>
        </p:nvSpPr>
        <p:spPr>
          <a:xfrm>
            <a:off x="9006605" y="7208053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~5.5</a:t>
            </a:r>
          </a:p>
        </p:txBody>
      </p:sp>
      <p:sp>
        <p:nvSpPr>
          <p:cNvPr id="777" name="row:threaded NAPI:start-label"/>
          <p:cNvSpPr txBox="1"/>
          <p:nvPr/>
        </p:nvSpPr>
        <p:spPr>
          <a:xfrm>
            <a:off x="9214916" y="7305161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~5.7</a:t>
            </a:r>
          </a:p>
        </p:txBody>
      </p:sp>
      <p:sp>
        <p:nvSpPr>
          <p:cNvPr id="783" name="row:Rust phylib:start-label"/>
          <p:cNvSpPr txBox="1"/>
          <p:nvPr/>
        </p:nvSpPr>
        <p:spPr>
          <a:xfrm>
            <a:off x="11089722" y="7402269"/>
            <a:ext cx="205232" cy="1371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defRPr sz="530" i="1">
                <a:solidFill>
                  <a:srgbClr val="475569"/>
                </a:solidFill>
              </a:defRPr>
            </a:pPr>
            <a:r>
              <a:rPr sz="650" i="1">
                <a:solidFill>
                  <a:srgbClr val="475569"/>
                </a:solidFill>
              </a:rPr>
              <a:t>~6.2</a:t>
            </a:r>
          </a:p>
        </p:txBody>
      </p:sp>
      <p:cxnSp>
        <p:nvCxnSpPr>
          <p:cNvPr id="421" name="era-span:2:left"/>
          <p:cNvCxnSpPr/>
          <p:nvPr/>
        </p:nvCxnSpPr>
        <p:spPr>
          <a:xfrm>
            <a:off x="5909309" y="880491"/>
            <a:ext cx="600076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2" name="era-span:2:right"/>
          <p:cNvCxnSpPr/>
          <p:nvPr/>
        </p:nvCxnSpPr>
        <p:spPr>
          <a:xfrm>
            <a:off x="7858125" y="880491"/>
            <a:ext cx="639841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3" name="era-span:3:left"/>
          <p:cNvCxnSpPr/>
          <p:nvPr/>
        </p:nvCxnSpPr>
        <p:spPr>
          <a:xfrm>
            <a:off x="8643057" y="880491"/>
            <a:ext cx="643817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4" name="era-span:3:right"/>
          <p:cNvCxnSpPr/>
          <p:nvPr/>
        </p:nvCxnSpPr>
        <p:spPr>
          <a:xfrm>
            <a:off x="10635614" y="880491"/>
            <a:ext cx="596100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5" name="era-span:4:left"/>
          <p:cNvCxnSpPr/>
          <p:nvPr/>
        </p:nvCxnSpPr>
        <p:spPr>
          <a:xfrm>
            <a:off x="11444405" y="880491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era-span:4:right"/>
          <p:cNvCxnSpPr/>
          <p:nvPr/>
        </p:nvCxnSpPr>
        <p:spPr>
          <a:xfrm>
            <a:off x="13287628" y="880491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9" name="era-span:1:left"/>
          <p:cNvCxnSpPr/>
          <p:nvPr/>
        </p:nvCxnSpPr>
        <p:spPr>
          <a:xfrm>
            <a:off x="3111935" y="880491"/>
            <a:ext cx="745435" cy="0"/>
          </a:xfrm>
          <a:prstGeom prst="line">
            <a:avLst/>
          </a:prstGeom>
          <a:ln w="6350">
            <a:solidFill>
              <a:srgbClr val="CBD5E1"/>
            </a:solidFill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0" name="era-span:1:right"/>
          <p:cNvCxnSpPr/>
          <p:nvPr/>
        </p:nvCxnSpPr>
        <p:spPr>
          <a:xfrm>
            <a:off x="4955158" y="880491"/>
            <a:ext cx="745434" cy="0"/>
          </a:xfrm>
          <a:prstGeom prst="line">
            <a:avLst/>
          </a:prstGeom>
          <a:ln w="6350">
            <a:solidFill>
              <a:srgbClr val="CBD5E1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era-label:1"/>
          <p:cNvSpPr txBox="1"/>
          <p:nvPr/>
        </p:nvSpPr>
        <p:spPr>
          <a:xfrm>
            <a:off x="3054096" y="813816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 dirty="0">
                <a:solidFill>
                  <a:srgbClr val="1F2937"/>
                </a:solidFill>
              </a:rPr>
              <a:t>Era 1  (~2014)</a:t>
            </a:r>
          </a:p>
          <a:p>
            <a:pPr algn="ctr"/>
            <a:r>
              <a:rPr sz="850" b="0" i="0" dirty="0">
                <a:solidFill>
                  <a:srgbClr val="64748B"/>
                </a:solidFill>
              </a:rPr>
              <a:t>Queue &amp; scalability foundation</a:t>
            </a:r>
          </a:p>
        </p:txBody>
      </p:sp>
      <p:sp>
        <p:nvSpPr>
          <p:cNvPr id="13" name="era-label:2"/>
          <p:cNvSpPr txBox="1"/>
          <p:nvPr/>
        </p:nvSpPr>
        <p:spPr>
          <a:xfrm>
            <a:off x="5831586" y="813816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2  (2015–2018)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Programmable datapath</a:t>
            </a:r>
          </a:p>
        </p:txBody>
      </p:sp>
      <p:sp>
        <p:nvSpPr>
          <p:cNvPr id="14" name="era-label:3"/>
          <p:cNvSpPr txBox="1"/>
          <p:nvPr/>
        </p:nvSpPr>
        <p:spPr>
          <a:xfrm>
            <a:off x="8609076" y="813816"/>
            <a:ext cx="2704337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3  (2019–2022)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Programmability becomes infrastructure</a:t>
            </a:r>
          </a:p>
        </p:txBody>
      </p:sp>
      <p:sp>
        <p:nvSpPr>
          <p:cNvPr id="16" name="era-label:4"/>
          <p:cNvSpPr txBox="1"/>
          <p:nvPr/>
        </p:nvSpPr>
        <p:spPr>
          <a:xfrm>
            <a:off x="11386565" y="813816"/>
            <a:ext cx="2704338" cy="3474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950" b="1" i="0">
                <a:solidFill>
                  <a:srgbClr val="1F2937"/>
                </a:solidFill>
              </a:rPr>
              <a:t>Era 4  (2023~)</a:t>
            </a:r>
          </a:p>
          <a:p>
            <a:pPr algn="ctr"/>
            <a:r>
              <a:rPr sz="850" b="0" i="0">
                <a:solidFill>
                  <a:srgbClr val="64748B"/>
                </a:solidFill>
              </a:rPr>
              <a:t>Explicit placement &amp; scoped control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1015</Words>
  <Application>Microsoft Macintosh PowerPoint</Application>
  <PresentationFormat>ユーザー設定</PresentationFormat>
  <Paragraphs>202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shownet_user01</cp:lastModifiedBy>
  <cp:revision>2</cp:revision>
  <dcterms:created xsi:type="dcterms:W3CDTF">2013-01-27T09:14:16Z</dcterms:created>
  <dcterms:modified xsi:type="dcterms:W3CDTF">2026-10-04T12:41:53Z</dcterms:modified>
  <cp:category/>
</cp:coreProperties>
</file>