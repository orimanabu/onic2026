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Editing notes</a:t>
            </a:r>
          </a:p>
          <a:p>
            <a:r>
              <a:t>- Every band, label, marker and line is a native, named PowerPoint object (row:&lt;feature&gt;:name / :start / :development / :release:&lt;ver&gt; / :label).</a:t>
            </a:r>
          </a:p>
          <a:p>
            <a:r>
              <a:t>- Release markers sit on the kernel release date of the canonical version; 7.3-rc sits on the net-next-7.3 mainline merge date.</a:t>
            </a:r>
          </a:p>
          <a:p>
            <a:r>
              <a:t>- Bundled rows show one marker per release (SO_TXTIME / EDT / taprio: 4.19 and 4.20; SOCK_OPS / SOCKMAP: 4.13 and 4.14).</a:t>
            </a:r>
          </a:p>
          <a:p>
            <a:r>
              <a:t>- BIG TCP extensions record IPv4 BIG TCP (6.3), IPv6 BIG TCP without HBH (7.0) and tunnel BIG TCP (7.3-rc) as successive milestones, not a development period.</a:t>
            </a:r>
          </a:p>
          <a:p>
            <a:r>
              <a:t>- Era shading uses calendar-year boundaries (2015, 2019, 2023) as an approximation of Part II.</a:t>
            </a:r>
          </a:p>
          <a:p>
            <a:r>
              <a:t>- Only X.0 releases are drawn as vertical lines.</a:t>
            </a:r>
          </a:p>
          <a:p>
            <a:r>
              <a:t>- Rows inside each band are ordered by lineage rather than strictly by date. A lineage trunk drops from a parent release (●); a horizontal arrow runs to the start (○) of a feature that began afterwards, the trunk ends on the dashed line of a feature already in development, and a small dot marks a child the trunk passes through.</a:t>
            </a:r>
          </a:p>
          <a:p>
            <a:r>
              <a:t>- Links: sch_fq / TCP pacing → SO_TXTIME / EDT / taprio; BIG TCP → BIG TCP extensions; eBPF foundation → TC BPF, XDP, cgroup / LWT BPF, SOCK_OPS / SOCKMAP; TC BPF → TCX → netkit (shared bpf_mprog attachment); BPF struct_ops → BPF qdisc; page_pool → Device Memory TCP RX → TX; page_pool → io_uring ZCRX → large RX buffers; AF_XDP and XDP multi-buffer → AF_XDP multi-buffer; per-netns RTNL → further RTNL breakup → RTNL-less FIB rules; structured drop reason → drop-reason expansion; switchdev → devlink → devlink health.</a:t>
            </a:r>
          </a:p>
          <a:p>
            <a:r>
              <a:t>- Across bands: eBPF foundation → kprobe BPF; XDP → page_pool (XDP was one of the pressures behind it, not its only origin), XDP → XDP multi-buffer, XDP → AF_XDP; YNL tooling → queue/NAPI netdev-genl (the netdev family is YNL-specified).</a:t>
            </a:r>
          </a:p>
          <a:p>
            <a:r>
              <a:t>- Deliberately not linked: the queueing layers (BQL, TSQ, CoDel, fq; parallel, not derived), RX HW queue leasing (interacts with AF_XDP / io_uring), and queue/NAPI netdev-genl → queue leasing / ZCRX (conceptual only).</a:t>
            </a:r>
          </a:p>
          <a:p>
            <a:r>
              <a:t>- Development starts revised from memory (not audited): nftables ~2008 (shown as off-chart), XDP ~early 2016.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320040" y="201168"/>
            <a:ext cx="1399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400" b="1" i="0">
                <a:solidFill>
                  <a:srgbClr val="1F2937"/>
                </a:solidFill>
              </a:rPr>
              <a:t>From programmable datapath to explicit memory and control contracts (2011–2026)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20040" y="621792"/>
            <a:ext cx="139903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Linux networking milestones by architecture axis, set against the four architecture eras and X.0 releases</a:t>
            </a:r>
          </a:p>
        </p:txBody>
      </p:sp>
      <p:sp>
        <p:nvSpPr>
          <p:cNvPr id="5" name="band:PERFORMANCE"/>
          <p:cNvSpPr/>
          <p:nvPr/>
        </p:nvSpPr>
        <p:spPr>
          <a:xfrm>
            <a:off x="228600" y="1591056"/>
            <a:ext cx="14173200" cy="911351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band:PROGRAMMABILITY"/>
          <p:cNvSpPr/>
          <p:nvPr/>
        </p:nvSpPr>
        <p:spPr>
          <a:xfrm>
            <a:off x="228600" y="2514600"/>
            <a:ext cx="14173200" cy="1225296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band:MEMORY"/>
          <p:cNvSpPr/>
          <p:nvPr/>
        </p:nvSpPr>
        <p:spPr>
          <a:xfrm>
            <a:off x="228600" y="3742182"/>
            <a:ext cx="14173200" cy="1020699"/>
          </a:xfrm>
          <a:prstGeom prst="roundRect">
            <a:avLst>
              <a:gd name="adj" fmla="val 8000"/>
            </a:avLst>
          </a:prstGeom>
          <a:solidFill>
            <a:srgbClr val="EC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and:CONTROL PLANE"/>
          <p:cNvSpPr/>
          <p:nvPr/>
        </p:nvSpPr>
        <p:spPr>
          <a:xfrm>
            <a:off x="228600" y="4817745"/>
            <a:ext cx="14173200" cy="692658"/>
          </a:xfrm>
          <a:prstGeom prst="roundRect">
            <a:avLst>
              <a:gd name="adj" fmla="val 8000"/>
            </a:avLst>
          </a:prstGeom>
          <a:solidFill>
            <a:srgbClr val="FE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band:OBSERVABILITY"/>
          <p:cNvSpPr/>
          <p:nvPr/>
        </p:nvSpPr>
        <p:spPr>
          <a:xfrm>
            <a:off x="228600" y="5565267"/>
            <a:ext cx="14173200" cy="583311"/>
          </a:xfrm>
          <a:prstGeom prst="roundRect">
            <a:avLst>
              <a:gd name="adj" fmla="val 8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and:DRIVER FRAMEWORK"/>
          <p:cNvSpPr/>
          <p:nvPr/>
        </p:nvSpPr>
        <p:spPr>
          <a:xfrm>
            <a:off x="228600" y="6203442"/>
            <a:ext cx="14173200" cy="1130046"/>
          </a:xfrm>
          <a:prstGeom prst="roundRect">
            <a:avLst>
              <a:gd name="adj" fmla="val 8000"/>
            </a:avLst>
          </a:prstGeom>
          <a:solidFill>
            <a:srgbClr val="FD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era-label:1"/>
          <p:cNvSpPr txBox="1"/>
          <p:nvPr/>
        </p:nvSpPr>
        <p:spPr>
          <a:xfrm>
            <a:off x="3054096" y="896112"/>
            <a:ext cx="2704337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1  (~2014)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Queue &amp; scalability foundation</a:t>
            </a:r>
          </a:p>
        </p:txBody>
      </p:sp>
      <p:sp>
        <p:nvSpPr>
          <p:cNvPr id="12" name="era-shade:2"/>
          <p:cNvSpPr/>
          <p:nvPr/>
        </p:nvSpPr>
        <p:spPr>
          <a:xfrm>
            <a:off x="5795009" y="896112"/>
            <a:ext cx="2777490" cy="6455663"/>
          </a:xfrm>
          <a:prstGeom prst="rect">
            <a:avLst/>
          </a:prstGeom>
          <a:solidFill>
            <a:srgbClr val="E8EEF5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era-label:2"/>
          <p:cNvSpPr txBox="1"/>
          <p:nvPr/>
        </p:nvSpPr>
        <p:spPr>
          <a:xfrm>
            <a:off x="5831586" y="896112"/>
            <a:ext cx="2704338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2  (2015–2018)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Programmable datapath</a:t>
            </a:r>
          </a:p>
        </p:txBody>
      </p:sp>
      <p:sp>
        <p:nvSpPr>
          <p:cNvPr id="14" name="era-label:3"/>
          <p:cNvSpPr txBox="1"/>
          <p:nvPr/>
        </p:nvSpPr>
        <p:spPr>
          <a:xfrm>
            <a:off x="8609076" y="896112"/>
            <a:ext cx="2704337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3  (2019–2022)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Programmability becomes infrastructure</a:t>
            </a:r>
          </a:p>
        </p:txBody>
      </p:sp>
      <p:sp>
        <p:nvSpPr>
          <p:cNvPr id="15" name="era-shade:4"/>
          <p:cNvSpPr/>
          <p:nvPr/>
        </p:nvSpPr>
        <p:spPr>
          <a:xfrm>
            <a:off x="11349989" y="896112"/>
            <a:ext cx="2777490" cy="6455663"/>
          </a:xfrm>
          <a:prstGeom prst="rect">
            <a:avLst/>
          </a:prstGeom>
          <a:solidFill>
            <a:srgbClr val="E8EEF5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era-label:4"/>
          <p:cNvSpPr txBox="1"/>
          <p:nvPr/>
        </p:nvSpPr>
        <p:spPr>
          <a:xfrm>
            <a:off x="11386565" y="896112"/>
            <a:ext cx="2704338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4  (2023~)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Explicit resource / control contracts</a:t>
            </a:r>
          </a:p>
        </p:txBody>
      </p:sp>
      <p:cxnSp>
        <p:nvCxnSpPr>
          <p:cNvPr id="17" name="era-boundary:2015"/>
          <p:cNvCxnSpPr/>
          <p:nvPr/>
        </p:nvCxnSpPr>
        <p:spPr>
          <a:xfrm>
            <a:off x="5795009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ra-boundary:2019"/>
          <p:cNvCxnSpPr/>
          <p:nvPr/>
        </p:nvCxnSpPr>
        <p:spPr>
          <a:xfrm>
            <a:off x="8572500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ra-boundary:2023"/>
          <p:cNvCxnSpPr/>
          <p:nvPr/>
        </p:nvCxnSpPr>
        <p:spPr>
          <a:xfrm>
            <a:off x="11349989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ga-label:3.0"/>
          <p:cNvSpPr txBox="1"/>
          <p:nvPr/>
        </p:nvSpPr>
        <p:spPr>
          <a:xfrm>
            <a:off x="3172939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3.0</a:t>
            </a:r>
          </a:p>
        </p:txBody>
      </p:sp>
      <p:cxnSp>
        <p:nvCxnSpPr>
          <p:cNvPr id="21" name="ga-line:3.0"/>
          <p:cNvCxnSpPr/>
          <p:nvPr/>
        </p:nvCxnSpPr>
        <p:spPr>
          <a:xfrm>
            <a:off x="3401539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ga-label:4.0"/>
          <p:cNvSpPr txBox="1"/>
          <p:nvPr/>
        </p:nvSpPr>
        <p:spPr>
          <a:xfrm>
            <a:off x="5758419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4.0</a:t>
            </a:r>
          </a:p>
        </p:txBody>
      </p:sp>
      <p:cxnSp>
        <p:nvCxnSpPr>
          <p:cNvPr id="23" name="ga-line:4.0"/>
          <p:cNvCxnSpPr/>
          <p:nvPr/>
        </p:nvCxnSpPr>
        <p:spPr>
          <a:xfrm>
            <a:off x="5987019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ga-label:5.0"/>
          <p:cNvSpPr txBox="1"/>
          <p:nvPr/>
        </p:nvSpPr>
        <p:spPr>
          <a:xfrm>
            <a:off x="8459866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5.0</a:t>
            </a:r>
          </a:p>
        </p:txBody>
      </p:sp>
      <p:cxnSp>
        <p:nvCxnSpPr>
          <p:cNvPr id="25" name="ga-line:5.0"/>
          <p:cNvCxnSpPr/>
          <p:nvPr/>
        </p:nvCxnSpPr>
        <p:spPr>
          <a:xfrm>
            <a:off x="8688466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ga-label:6.0"/>
          <p:cNvSpPr txBox="1"/>
          <p:nvPr/>
        </p:nvSpPr>
        <p:spPr>
          <a:xfrm>
            <a:off x="10947915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6.0</a:t>
            </a:r>
          </a:p>
        </p:txBody>
      </p:sp>
      <p:cxnSp>
        <p:nvCxnSpPr>
          <p:cNvPr id="27" name="ga-line:6.0"/>
          <p:cNvCxnSpPr/>
          <p:nvPr/>
        </p:nvCxnSpPr>
        <p:spPr>
          <a:xfrm>
            <a:off x="11176515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a-label:7.0"/>
          <p:cNvSpPr txBox="1"/>
          <p:nvPr/>
        </p:nvSpPr>
        <p:spPr>
          <a:xfrm>
            <a:off x="13396517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7.0</a:t>
            </a:r>
          </a:p>
        </p:txBody>
      </p:sp>
      <p:cxnSp>
        <p:nvCxnSpPr>
          <p:cNvPr id="29" name="ga-line:7.0"/>
          <p:cNvCxnSpPr/>
          <p:nvPr/>
        </p:nvCxnSpPr>
        <p:spPr>
          <a:xfrm>
            <a:off x="13625117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year:2011"/>
          <p:cNvSpPr txBox="1"/>
          <p:nvPr/>
        </p:nvSpPr>
        <p:spPr>
          <a:xfrm>
            <a:off x="2788920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2011</a:t>
            </a:r>
          </a:p>
        </p:txBody>
      </p:sp>
      <p:cxnSp>
        <p:nvCxnSpPr>
          <p:cNvPr id="31" name="year-tick:2011"/>
          <p:cNvCxnSpPr/>
          <p:nvPr/>
        </p:nvCxnSpPr>
        <p:spPr>
          <a:xfrm>
            <a:off x="3017520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year:2012"/>
          <p:cNvSpPr txBox="1"/>
          <p:nvPr/>
        </p:nvSpPr>
        <p:spPr>
          <a:xfrm>
            <a:off x="3483292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2012</a:t>
            </a:r>
          </a:p>
        </p:txBody>
      </p:sp>
      <p:cxnSp>
        <p:nvCxnSpPr>
          <p:cNvPr id="33" name="year-tick:2012"/>
          <p:cNvCxnSpPr/>
          <p:nvPr/>
        </p:nvCxnSpPr>
        <p:spPr>
          <a:xfrm>
            <a:off x="371189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year:2013"/>
          <p:cNvSpPr txBox="1"/>
          <p:nvPr/>
        </p:nvSpPr>
        <p:spPr>
          <a:xfrm>
            <a:off x="4177664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2013</a:t>
            </a:r>
          </a:p>
        </p:txBody>
      </p:sp>
      <p:cxnSp>
        <p:nvCxnSpPr>
          <p:cNvPr id="35" name="year-tick:2013"/>
          <p:cNvCxnSpPr/>
          <p:nvPr/>
        </p:nvCxnSpPr>
        <p:spPr>
          <a:xfrm>
            <a:off x="4406265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year:2014"/>
          <p:cNvSpPr txBox="1"/>
          <p:nvPr/>
        </p:nvSpPr>
        <p:spPr>
          <a:xfrm>
            <a:off x="4872037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2014</a:t>
            </a:r>
          </a:p>
        </p:txBody>
      </p:sp>
      <p:cxnSp>
        <p:nvCxnSpPr>
          <p:cNvPr id="37" name="year-tick:2014"/>
          <p:cNvCxnSpPr/>
          <p:nvPr/>
        </p:nvCxnSpPr>
        <p:spPr>
          <a:xfrm>
            <a:off x="510063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year:2015"/>
          <p:cNvSpPr txBox="1"/>
          <p:nvPr/>
        </p:nvSpPr>
        <p:spPr>
          <a:xfrm>
            <a:off x="5566409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2015</a:t>
            </a:r>
          </a:p>
        </p:txBody>
      </p:sp>
      <p:cxnSp>
        <p:nvCxnSpPr>
          <p:cNvPr id="39" name="year-tick:2015"/>
          <p:cNvCxnSpPr/>
          <p:nvPr/>
        </p:nvCxnSpPr>
        <p:spPr>
          <a:xfrm>
            <a:off x="5795009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year:2016"/>
          <p:cNvSpPr txBox="1"/>
          <p:nvPr/>
        </p:nvSpPr>
        <p:spPr>
          <a:xfrm>
            <a:off x="6260782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2016</a:t>
            </a:r>
          </a:p>
        </p:txBody>
      </p:sp>
      <p:cxnSp>
        <p:nvCxnSpPr>
          <p:cNvPr id="41" name="year-tick:2016"/>
          <p:cNvCxnSpPr/>
          <p:nvPr/>
        </p:nvCxnSpPr>
        <p:spPr>
          <a:xfrm>
            <a:off x="648938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year:2017"/>
          <p:cNvSpPr txBox="1"/>
          <p:nvPr/>
        </p:nvSpPr>
        <p:spPr>
          <a:xfrm>
            <a:off x="6955154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2017</a:t>
            </a:r>
          </a:p>
        </p:txBody>
      </p:sp>
      <p:cxnSp>
        <p:nvCxnSpPr>
          <p:cNvPr id="43" name="year-tick:2017"/>
          <p:cNvCxnSpPr/>
          <p:nvPr/>
        </p:nvCxnSpPr>
        <p:spPr>
          <a:xfrm>
            <a:off x="718375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year:2018"/>
          <p:cNvSpPr txBox="1"/>
          <p:nvPr/>
        </p:nvSpPr>
        <p:spPr>
          <a:xfrm>
            <a:off x="7649527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2018</a:t>
            </a:r>
          </a:p>
        </p:txBody>
      </p:sp>
      <p:cxnSp>
        <p:nvCxnSpPr>
          <p:cNvPr id="45" name="year-tick:2018"/>
          <p:cNvCxnSpPr/>
          <p:nvPr/>
        </p:nvCxnSpPr>
        <p:spPr>
          <a:xfrm>
            <a:off x="787812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year:2019"/>
          <p:cNvSpPr txBox="1"/>
          <p:nvPr/>
        </p:nvSpPr>
        <p:spPr>
          <a:xfrm>
            <a:off x="8343900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2019</a:t>
            </a:r>
          </a:p>
        </p:txBody>
      </p:sp>
      <p:cxnSp>
        <p:nvCxnSpPr>
          <p:cNvPr id="47" name="year-tick:2019"/>
          <p:cNvCxnSpPr/>
          <p:nvPr/>
        </p:nvCxnSpPr>
        <p:spPr>
          <a:xfrm>
            <a:off x="8572500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year:2020"/>
          <p:cNvSpPr txBox="1"/>
          <p:nvPr/>
        </p:nvSpPr>
        <p:spPr>
          <a:xfrm>
            <a:off x="9038272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2020</a:t>
            </a:r>
          </a:p>
        </p:txBody>
      </p:sp>
      <p:cxnSp>
        <p:nvCxnSpPr>
          <p:cNvPr id="49" name="year-tick:2020"/>
          <p:cNvCxnSpPr/>
          <p:nvPr/>
        </p:nvCxnSpPr>
        <p:spPr>
          <a:xfrm>
            <a:off x="926687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year:2021"/>
          <p:cNvSpPr txBox="1"/>
          <p:nvPr/>
        </p:nvSpPr>
        <p:spPr>
          <a:xfrm>
            <a:off x="9732644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2021</a:t>
            </a:r>
          </a:p>
        </p:txBody>
      </p:sp>
      <p:cxnSp>
        <p:nvCxnSpPr>
          <p:cNvPr id="51" name="year-tick:2021"/>
          <p:cNvCxnSpPr/>
          <p:nvPr/>
        </p:nvCxnSpPr>
        <p:spPr>
          <a:xfrm>
            <a:off x="996124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year:2022"/>
          <p:cNvSpPr txBox="1"/>
          <p:nvPr/>
        </p:nvSpPr>
        <p:spPr>
          <a:xfrm>
            <a:off x="10427017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2022</a:t>
            </a:r>
          </a:p>
        </p:txBody>
      </p:sp>
      <p:cxnSp>
        <p:nvCxnSpPr>
          <p:cNvPr id="53" name="year-tick:2022"/>
          <p:cNvCxnSpPr/>
          <p:nvPr/>
        </p:nvCxnSpPr>
        <p:spPr>
          <a:xfrm>
            <a:off x="1065561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year:2023"/>
          <p:cNvSpPr txBox="1"/>
          <p:nvPr/>
        </p:nvSpPr>
        <p:spPr>
          <a:xfrm>
            <a:off x="11121389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2023</a:t>
            </a:r>
          </a:p>
        </p:txBody>
      </p:sp>
      <p:cxnSp>
        <p:nvCxnSpPr>
          <p:cNvPr id="55" name="year-tick:2023"/>
          <p:cNvCxnSpPr/>
          <p:nvPr/>
        </p:nvCxnSpPr>
        <p:spPr>
          <a:xfrm>
            <a:off x="11349989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year:2024"/>
          <p:cNvSpPr txBox="1"/>
          <p:nvPr/>
        </p:nvSpPr>
        <p:spPr>
          <a:xfrm>
            <a:off x="11815762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2024</a:t>
            </a:r>
          </a:p>
        </p:txBody>
      </p:sp>
      <p:cxnSp>
        <p:nvCxnSpPr>
          <p:cNvPr id="57" name="year-tick:2024"/>
          <p:cNvCxnSpPr/>
          <p:nvPr/>
        </p:nvCxnSpPr>
        <p:spPr>
          <a:xfrm>
            <a:off x="1204436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year:2025"/>
          <p:cNvSpPr txBox="1"/>
          <p:nvPr/>
        </p:nvSpPr>
        <p:spPr>
          <a:xfrm>
            <a:off x="12510134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2025</a:t>
            </a:r>
          </a:p>
        </p:txBody>
      </p:sp>
      <p:cxnSp>
        <p:nvCxnSpPr>
          <p:cNvPr id="59" name="year-tick:2025"/>
          <p:cNvCxnSpPr/>
          <p:nvPr/>
        </p:nvCxnSpPr>
        <p:spPr>
          <a:xfrm>
            <a:off x="1273873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year:2026"/>
          <p:cNvSpPr txBox="1"/>
          <p:nvPr/>
        </p:nvSpPr>
        <p:spPr>
          <a:xfrm>
            <a:off x="13204507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2026</a:t>
            </a:r>
          </a:p>
        </p:txBody>
      </p:sp>
      <p:cxnSp>
        <p:nvCxnSpPr>
          <p:cNvPr id="61" name="year-tick:2026"/>
          <p:cNvCxnSpPr/>
          <p:nvPr/>
        </p:nvCxnSpPr>
        <p:spPr>
          <a:xfrm>
            <a:off x="1343310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lineage:sch_fq / TCP pacing:trunk"/>
          <p:cNvCxnSpPr/>
          <p:nvPr/>
        </p:nvCxnSpPr>
        <p:spPr>
          <a:xfrm>
            <a:off x="4987998" y="2037778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lineage:sch_fq / TCP pacing-&gt;SO_TXTIME / EDT / taprio:across"/>
          <p:cNvCxnSpPr/>
          <p:nvPr/>
        </p:nvCxnSpPr>
        <p:spPr>
          <a:xfrm>
            <a:off x="4987998" y="2101405"/>
            <a:ext cx="2279596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lineage:BIG TCP:trunk"/>
          <p:cNvCxnSpPr/>
          <p:nvPr/>
        </p:nvCxnSpPr>
        <p:spPr>
          <a:xfrm>
            <a:off x="11056747" y="2256472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lineage:BIG TCP-&gt;BIG TCP extensions:across"/>
          <p:cNvCxnSpPr/>
          <p:nvPr/>
        </p:nvCxnSpPr>
        <p:spPr>
          <a:xfrm>
            <a:off x="11056747" y="2320099"/>
            <a:ext cx="460444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lineage:eBPF foundation-&gt;TC BPF:junction"/>
          <p:cNvSpPr/>
          <p:nvPr/>
        </p:nvSpPr>
        <p:spPr>
          <a:xfrm>
            <a:off x="5726890" y="2719463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7" name="lineage:eBPF foundation-&gt;XDP:across"/>
          <p:cNvCxnSpPr/>
          <p:nvPr/>
        </p:nvCxnSpPr>
        <p:spPr>
          <a:xfrm>
            <a:off x="5747007" y="3614356"/>
            <a:ext cx="770664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lineage:eBPF foundation-&gt;cgroup / LWT BPF:across"/>
          <p:cNvCxnSpPr/>
          <p:nvPr/>
        </p:nvCxnSpPr>
        <p:spPr>
          <a:xfrm>
            <a:off x="5747007" y="3067621"/>
            <a:ext cx="68734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lineage:eBPF foundation-&gt;SOCK_OPS / SOCKMAP:across"/>
          <p:cNvCxnSpPr/>
          <p:nvPr/>
        </p:nvCxnSpPr>
        <p:spPr>
          <a:xfrm>
            <a:off x="5747007" y="3176968"/>
            <a:ext cx="1034526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lineage:eBPF foundation-&gt;kprobe BPF"/>
          <p:cNvCxnSpPr/>
          <p:nvPr/>
        </p:nvCxnSpPr>
        <p:spPr>
          <a:xfrm>
            <a:off x="5747007" y="2675953"/>
            <a:ext cx="0" cy="3062478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lineage:TC BPF:trunk"/>
          <p:cNvCxnSpPr/>
          <p:nvPr/>
        </p:nvCxnSpPr>
        <p:spPr>
          <a:xfrm>
            <a:off x="6120096" y="2785300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lineage:TC BPF-&gt;TCX:across"/>
          <p:cNvCxnSpPr/>
          <p:nvPr/>
        </p:nvCxnSpPr>
        <p:spPr>
          <a:xfrm>
            <a:off x="6120096" y="2848927"/>
            <a:ext cx="4897109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lineage:TCX-&gt;netkit"/>
          <p:cNvCxnSpPr/>
          <p:nvPr/>
        </p:nvCxnSpPr>
        <p:spPr>
          <a:xfrm>
            <a:off x="11924118" y="2894647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lineage:BPF struct_ops:trunk"/>
          <p:cNvCxnSpPr/>
          <p:nvPr/>
        </p:nvCxnSpPr>
        <p:spPr>
          <a:xfrm>
            <a:off x="9434168" y="3332035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lineage:BPF struct_ops-&gt;BPF qdisc:across"/>
          <p:cNvCxnSpPr/>
          <p:nvPr/>
        </p:nvCxnSpPr>
        <p:spPr>
          <a:xfrm>
            <a:off x="9434168" y="3395662"/>
            <a:ext cx="283290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lineage:page_pool-&gt;Device Memory TCP RX:across"/>
          <p:cNvCxnSpPr/>
          <p:nvPr/>
        </p:nvCxnSpPr>
        <p:spPr>
          <a:xfrm>
            <a:off x="8302070" y="3924490"/>
            <a:ext cx="3062321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lineage:page_pool:trunk"/>
          <p:cNvCxnSpPr/>
          <p:nvPr/>
        </p:nvCxnSpPr>
        <p:spPr>
          <a:xfrm>
            <a:off x="8302070" y="3860863"/>
            <a:ext cx="0" cy="282321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lineage:page_pool-&gt;io_uring ZCRX:across"/>
          <p:cNvCxnSpPr/>
          <p:nvPr/>
        </p:nvCxnSpPr>
        <p:spPr>
          <a:xfrm>
            <a:off x="8302070" y="4143184"/>
            <a:ext cx="3270633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lineage:Device Memory TCP RX-&gt;Device Memory TCP TX"/>
          <p:cNvCxnSpPr/>
          <p:nvPr/>
        </p:nvCxnSpPr>
        <p:spPr>
          <a:xfrm>
            <a:off x="12654611" y="3970210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lineage:io_uring ZCRX-&gt;large RX buffers (mem. providers)"/>
          <p:cNvCxnSpPr/>
          <p:nvPr/>
        </p:nvCxnSpPr>
        <p:spPr>
          <a:xfrm>
            <a:off x="13012491" y="4188904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lineage:AF_XDP:trunk"/>
          <p:cNvCxnSpPr/>
          <p:nvPr/>
        </p:nvCxnSpPr>
        <p:spPr>
          <a:xfrm>
            <a:off x="8302070" y="4516945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lineage:AF_XDP-&gt;AF_XDP multi-buffer:across"/>
          <p:cNvCxnSpPr/>
          <p:nvPr/>
        </p:nvCxnSpPr>
        <p:spPr>
          <a:xfrm>
            <a:off x="8302070" y="4580572"/>
            <a:ext cx="2298512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lineage:XDP multi-buffer-&gt;AF_XDP multi-buffer"/>
          <p:cNvCxnSpPr/>
          <p:nvPr/>
        </p:nvCxnSpPr>
        <p:spPr>
          <a:xfrm>
            <a:off x="10923670" y="4407598"/>
            <a:ext cx="0" cy="16383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lineage:per-netns RTNL-&gt;further RTNL breakup"/>
          <p:cNvCxnSpPr/>
          <p:nvPr/>
        </p:nvCxnSpPr>
        <p:spPr>
          <a:xfrm>
            <a:off x="12772954" y="5155120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lineage:further RTNL breakup-&gt;RTNL-less FIB rules"/>
          <p:cNvCxnSpPr/>
          <p:nvPr/>
        </p:nvCxnSpPr>
        <p:spPr>
          <a:xfrm>
            <a:off x="13012491" y="5264467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lineage:structured drop reason-&gt;drop-reason expansion"/>
          <p:cNvCxnSpPr/>
          <p:nvPr/>
        </p:nvCxnSpPr>
        <p:spPr>
          <a:xfrm>
            <a:off x="10803902" y="5902642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lineage:switchdev-&gt;devlink"/>
          <p:cNvCxnSpPr/>
          <p:nvPr/>
        </p:nvCxnSpPr>
        <p:spPr>
          <a:xfrm>
            <a:off x="5867251" y="6322123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lineage:devlink:trunk"/>
          <p:cNvCxnSpPr/>
          <p:nvPr/>
        </p:nvCxnSpPr>
        <p:spPr>
          <a:xfrm>
            <a:off x="6746029" y="6431470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lineage:devlink-&gt;devlink health:across"/>
          <p:cNvCxnSpPr/>
          <p:nvPr/>
        </p:nvCxnSpPr>
        <p:spPr>
          <a:xfrm>
            <a:off x="6746029" y="6495097"/>
            <a:ext cx="1077063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lineage:XDP-&gt;page_pool:junction"/>
          <p:cNvSpPr/>
          <p:nvPr/>
        </p:nvSpPr>
        <p:spPr>
          <a:xfrm>
            <a:off x="6992064" y="3795026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1" name="lineage:XDP-&gt;XDP multi-buffer:across"/>
          <p:cNvCxnSpPr/>
          <p:nvPr/>
        </p:nvCxnSpPr>
        <p:spPr>
          <a:xfrm>
            <a:off x="7012181" y="4361878"/>
            <a:ext cx="289402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lineage:XDP:trunk"/>
          <p:cNvCxnSpPr/>
          <p:nvPr/>
        </p:nvCxnSpPr>
        <p:spPr>
          <a:xfrm>
            <a:off x="7012181" y="3660076"/>
            <a:ext cx="0" cy="811149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lineage:XDP-&gt;AF_XDP:across"/>
          <p:cNvCxnSpPr/>
          <p:nvPr/>
        </p:nvCxnSpPr>
        <p:spPr>
          <a:xfrm>
            <a:off x="7012181" y="4471225"/>
            <a:ext cx="11653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lineage:YNL tooling-&gt;queue/NAPI netdev-genl"/>
          <p:cNvCxnSpPr/>
          <p:nvPr/>
        </p:nvCxnSpPr>
        <p:spPr>
          <a:xfrm>
            <a:off x="11562911" y="5483161"/>
            <a:ext cx="0" cy="14592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band-label:PERFORMANCE"/>
          <p:cNvSpPr txBox="1"/>
          <p:nvPr/>
        </p:nvSpPr>
        <p:spPr>
          <a:xfrm>
            <a:off x="384048" y="1591056"/>
            <a:ext cx="1051560" cy="91135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</a:rPr>
              <a:t>PERFORMANCE</a:t>
            </a:r>
          </a:p>
        </p:txBody>
      </p:sp>
      <p:sp>
        <p:nvSpPr>
          <p:cNvPr id="96" name="row:DQL / BQL:name"/>
          <p:cNvSpPr txBox="1"/>
          <p:nvPr/>
        </p:nvSpPr>
        <p:spPr>
          <a:xfrm>
            <a:off x="1325880" y="155428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DQL / BQL</a:t>
            </a:r>
          </a:p>
        </p:txBody>
      </p:sp>
      <p:cxnSp>
        <p:nvCxnSpPr>
          <p:cNvPr id="97" name="row:DQL / BQL:development"/>
          <p:cNvCxnSpPr/>
          <p:nvPr/>
        </p:nvCxnSpPr>
        <p:spPr>
          <a:xfrm>
            <a:off x="3211944" y="1664017"/>
            <a:ext cx="646332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w:DQL / BQL:start"/>
          <p:cNvSpPr/>
          <p:nvPr/>
        </p:nvSpPr>
        <p:spPr>
          <a:xfrm>
            <a:off x="3179940" y="16320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ow:DQL / BQL:release:3.3"/>
          <p:cNvSpPr/>
          <p:nvPr/>
        </p:nvSpPr>
        <p:spPr>
          <a:xfrm>
            <a:off x="3814842" y="162058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ow:DQL / BQL:label"/>
          <p:cNvSpPr txBox="1"/>
          <p:nvPr/>
        </p:nvSpPr>
        <p:spPr>
          <a:xfrm>
            <a:off x="3931428" y="155428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3.3</a:t>
            </a:r>
          </a:p>
        </p:txBody>
      </p:sp>
      <p:sp>
        <p:nvSpPr>
          <p:cNvPr id="101" name="row:TSQ:name"/>
          <p:cNvSpPr txBox="1"/>
          <p:nvPr/>
        </p:nvSpPr>
        <p:spPr>
          <a:xfrm>
            <a:off x="1325880" y="166363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TSQ</a:t>
            </a:r>
          </a:p>
        </p:txBody>
      </p:sp>
      <p:cxnSp>
        <p:nvCxnSpPr>
          <p:cNvPr id="102" name="row:TSQ:development"/>
          <p:cNvCxnSpPr/>
          <p:nvPr/>
        </p:nvCxnSpPr>
        <p:spPr>
          <a:xfrm>
            <a:off x="3698005" y="1773364"/>
            <a:ext cx="532884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w:TSQ:start"/>
          <p:cNvSpPr/>
          <p:nvPr/>
        </p:nvSpPr>
        <p:spPr>
          <a:xfrm>
            <a:off x="3666001" y="174136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ow:TSQ:release:3.6"/>
          <p:cNvSpPr/>
          <p:nvPr/>
        </p:nvSpPr>
        <p:spPr>
          <a:xfrm>
            <a:off x="4187455" y="1729930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row:TSQ:label"/>
          <p:cNvSpPr txBox="1"/>
          <p:nvPr/>
        </p:nvSpPr>
        <p:spPr>
          <a:xfrm>
            <a:off x="4304041" y="166363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3.6</a:t>
            </a:r>
          </a:p>
        </p:txBody>
      </p:sp>
      <p:sp>
        <p:nvSpPr>
          <p:cNvPr id="106" name="row:SO_BUSY_POLL:name"/>
          <p:cNvSpPr txBox="1"/>
          <p:nvPr/>
        </p:nvSpPr>
        <p:spPr>
          <a:xfrm>
            <a:off x="1325880" y="177298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SO_BUSY_POLL</a:t>
            </a:r>
          </a:p>
        </p:txBody>
      </p:sp>
      <p:cxnSp>
        <p:nvCxnSpPr>
          <p:cNvPr id="107" name="row:SO_BUSY_POLL:development"/>
          <p:cNvCxnSpPr/>
          <p:nvPr/>
        </p:nvCxnSpPr>
        <p:spPr>
          <a:xfrm>
            <a:off x="4392377" y="1882711"/>
            <a:ext cx="477753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w:SO_BUSY_POLL:start"/>
          <p:cNvSpPr/>
          <p:nvPr/>
        </p:nvSpPr>
        <p:spPr>
          <a:xfrm>
            <a:off x="4360373" y="185070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ow:SO_BUSY_POLL:release:3.11"/>
          <p:cNvSpPr/>
          <p:nvPr/>
        </p:nvSpPr>
        <p:spPr>
          <a:xfrm>
            <a:off x="4826696" y="183927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ow:SO_BUSY_POLL:label"/>
          <p:cNvSpPr txBox="1"/>
          <p:nvPr/>
        </p:nvSpPr>
        <p:spPr>
          <a:xfrm>
            <a:off x="4943282" y="177298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3.11</a:t>
            </a:r>
          </a:p>
        </p:txBody>
      </p:sp>
      <p:sp>
        <p:nvSpPr>
          <p:cNvPr id="111" name="row:sch_fq / TCP pacing:name"/>
          <p:cNvSpPr txBox="1"/>
          <p:nvPr/>
        </p:nvSpPr>
        <p:spPr>
          <a:xfrm>
            <a:off x="1325880" y="188233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sch_fq / TCP pacing</a:t>
            </a:r>
          </a:p>
        </p:txBody>
      </p:sp>
      <p:cxnSp>
        <p:nvCxnSpPr>
          <p:cNvPr id="112" name="row:sch_fq / TCP pacing:development"/>
          <p:cNvCxnSpPr/>
          <p:nvPr/>
        </p:nvCxnSpPr>
        <p:spPr>
          <a:xfrm>
            <a:off x="4253503" y="1992058"/>
            <a:ext cx="73449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w:sch_fq / TCP pacing:start"/>
          <p:cNvSpPr/>
          <p:nvPr/>
        </p:nvSpPr>
        <p:spPr>
          <a:xfrm>
            <a:off x="4221499" y="196005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row:sch_fq / TCP pacing:release:3.12"/>
          <p:cNvSpPr/>
          <p:nvPr/>
        </p:nvSpPr>
        <p:spPr>
          <a:xfrm>
            <a:off x="4944564" y="1948624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row:sch_fq / TCP pacing:label"/>
          <p:cNvSpPr txBox="1"/>
          <p:nvPr/>
        </p:nvSpPr>
        <p:spPr>
          <a:xfrm>
            <a:off x="5061150" y="188233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3.12</a:t>
            </a:r>
          </a:p>
        </p:txBody>
      </p:sp>
      <p:sp>
        <p:nvSpPr>
          <p:cNvPr id="116" name="row:SO_TXTIME / EDT / taprio:name"/>
          <p:cNvSpPr txBox="1"/>
          <p:nvPr/>
        </p:nvSpPr>
        <p:spPr>
          <a:xfrm>
            <a:off x="1325880" y="199167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SO_TXTIME / EDT / taprio</a:t>
            </a:r>
          </a:p>
        </p:txBody>
      </p:sp>
      <p:cxnSp>
        <p:nvCxnSpPr>
          <p:cNvPr id="117" name="row:SO_TXTIME / EDT / taprio:development"/>
          <p:cNvCxnSpPr/>
          <p:nvPr/>
        </p:nvCxnSpPr>
        <p:spPr>
          <a:xfrm>
            <a:off x="7308742" y="2101405"/>
            <a:ext cx="112830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w:SO_TXTIME / EDT / taprio:start"/>
          <p:cNvSpPr/>
          <p:nvPr/>
        </p:nvSpPr>
        <p:spPr>
          <a:xfrm>
            <a:off x="7276738" y="206940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9" name="row:SO_TXTIME / EDT / taprio:milestones"/>
          <p:cNvCxnSpPr/>
          <p:nvPr/>
        </p:nvCxnSpPr>
        <p:spPr>
          <a:xfrm>
            <a:off x="8437047" y="2101405"/>
            <a:ext cx="11786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w:SO_TXTIME / EDT / taprio:release:4.19"/>
          <p:cNvSpPr/>
          <p:nvPr/>
        </p:nvSpPr>
        <p:spPr>
          <a:xfrm>
            <a:off x="8393613" y="205797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ow:SO_TXTIME / EDT / taprio:release:4.20"/>
          <p:cNvSpPr/>
          <p:nvPr/>
        </p:nvSpPr>
        <p:spPr>
          <a:xfrm>
            <a:off x="8511480" y="205797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row:SO_TXTIME / EDT / taprio:label"/>
          <p:cNvSpPr txBox="1"/>
          <p:nvPr/>
        </p:nvSpPr>
        <p:spPr>
          <a:xfrm>
            <a:off x="8628066" y="199167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4.19 / 4.20</a:t>
            </a:r>
          </a:p>
        </p:txBody>
      </p:sp>
      <p:sp>
        <p:nvSpPr>
          <p:cNvPr id="123" name="row:BIG TCP:name"/>
          <p:cNvSpPr txBox="1"/>
          <p:nvPr/>
        </p:nvSpPr>
        <p:spPr>
          <a:xfrm>
            <a:off x="1325880" y="210102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BIG TCP</a:t>
            </a:r>
          </a:p>
        </p:txBody>
      </p:sp>
      <p:cxnSp>
        <p:nvCxnSpPr>
          <p:cNvPr id="124" name="row:BIG TCP:development"/>
          <p:cNvCxnSpPr/>
          <p:nvPr/>
        </p:nvCxnSpPr>
        <p:spPr>
          <a:xfrm>
            <a:off x="10086232" y="2210752"/>
            <a:ext cx="97051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ow:BIG TCP:start"/>
          <p:cNvSpPr/>
          <p:nvPr/>
        </p:nvSpPr>
        <p:spPr>
          <a:xfrm>
            <a:off x="10054228" y="217874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row:BIG TCP:release:5.19"/>
          <p:cNvSpPr/>
          <p:nvPr/>
        </p:nvSpPr>
        <p:spPr>
          <a:xfrm>
            <a:off x="11013313" y="2167318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ow:BIG TCP:label"/>
          <p:cNvSpPr txBox="1"/>
          <p:nvPr/>
        </p:nvSpPr>
        <p:spPr>
          <a:xfrm>
            <a:off x="11129899" y="210102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128" name="row:BIG TCP extensions:name"/>
          <p:cNvSpPr txBox="1"/>
          <p:nvPr/>
        </p:nvSpPr>
        <p:spPr>
          <a:xfrm>
            <a:off x="1325880" y="221037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BIG TCP extensions</a:t>
            </a:r>
          </a:p>
        </p:txBody>
      </p:sp>
      <p:cxnSp>
        <p:nvCxnSpPr>
          <p:cNvPr id="129" name="row:BIG TCP extensions:milestones"/>
          <p:cNvCxnSpPr/>
          <p:nvPr/>
        </p:nvCxnSpPr>
        <p:spPr>
          <a:xfrm>
            <a:off x="11562911" y="2320099"/>
            <a:ext cx="230934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w:BIG TCP extensions:release:6.3"/>
          <p:cNvSpPr/>
          <p:nvPr/>
        </p:nvSpPr>
        <p:spPr>
          <a:xfrm>
            <a:off x="11519477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ow:BIG TCP extensions:release:7.0"/>
          <p:cNvSpPr/>
          <p:nvPr/>
        </p:nvSpPr>
        <p:spPr>
          <a:xfrm>
            <a:off x="13581683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ow:BIG TCP extensions:release:7.3-rc"/>
          <p:cNvSpPr/>
          <p:nvPr/>
        </p:nvSpPr>
        <p:spPr>
          <a:xfrm>
            <a:off x="13828824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ow:BIG TCP extensions:label"/>
          <p:cNvSpPr txBox="1"/>
          <p:nvPr/>
        </p:nvSpPr>
        <p:spPr>
          <a:xfrm>
            <a:off x="9813163" y="2210371"/>
            <a:ext cx="11887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00" b="1" i="0">
                <a:solidFill>
                  <a:srgbClr val="1F2937"/>
                </a:solidFill>
              </a:rPr>
              <a:t>6.3 · 7.0 · 7.3-rc</a:t>
            </a:r>
          </a:p>
        </p:txBody>
      </p:sp>
      <p:sp>
        <p:nvSpPr>
          <p:cNvPr id="134" name="row:cake_mq:name"/>
          <p:cNvSpPr txBox="1"/>
          <p:nvPr/>
        </p:nvSpPr>
        <p:spPr>
          <a:xfrm>
            <a:off x="1325880" y="231971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cake_mq</a:t>
            </a:r>
          </a:p>
        </p:txBody>
      </p:sp>
      <p:cxnSp>
        <p:nvCxnSpPr>
          <p:cNvPr id="135" name="row:cake_mq:development"/>
          <p:cNvCxnSpPr/>
          <p:nvPr/>
        </p:nvCxnSpPr>
        <p:spPr>
          <a:xfrm>
            <a:off x="12724847" y="2429446"/>
            <a:ext cx="900270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ow:cake_mq:start"/>
          <p:cNvSpPr/>
          <p:nvPr/>
        </p:nvSpPr>
        <p:spPr>
          <a:xfrm>
            <a:off x="12692843" y="239744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row:cake_mq:release:7.0"/>
          <p:cNvSpPr/>
          <p:nvPr/>
        </p:nvSpPr>
        <p:spPr>
          <a:xfrm>
            <a:off x="13581683" y="2386012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row:cake_mq:label"/>
          <p:cNvSpPr txBox="1"/>
          <p:nvPr/>
        </p:nvSpPr>
        <p:spPr>
          <a:xfrm>
            <a:off x="13698269" y="231971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139" name="band-label:PROGRAMMABILITY"/>
          <p:cNvSpPr txBox="1"/>
          <p:nvPr/>
        </p:nvSpPr>
        <p:spPr>
          <a:xfrm>
            <a:off x="384048" y="2514600"/>
            <a:ext cx="1051560" cy="12252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</a:rPr>
              <a:t>PROGRAM-
MABILITY</a:t>
            </a:r>
          </a:p>
        </p:txBody>
      </p:sp>
      <p:sp>
        <p:nvSpPr>
          <p:cNvPr id="140" name="row:eBPF foundation:name"/>
          <p:cNvSpPr txBox="1"/>
          <p:nvPr/>
        </p:nvSpPr>
        <p:spPr>
          <a:xfrm>
            <a:off x="1325880" y="2520505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eBPF foundation</a:t>
            </a:r>
          </a:p>
        </p:txBody>
      </p:sp>
      <p:cxnSp>
        <p:nvCxnSpPr>
          <p:cNvPr id="141" name="row:eBPF foundation:development"/>
          <p:cNvCxnSpPr/>
          <p:nvPr/>
        </p:nvCxnSpPr>
        <p:spPr>
          <a:xfrm>
            <a:off x="4739563" y="2630233"/>
            <a:ext cx="1007444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w:eBPF foundation:start"/>
          <p:cNvSpPr/>
          <p:nvPr/>
        </p:nvSpPr>
        <p:spPr>
          <a:xfrm>
            <a:off x="4707559" y="259822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row:eBPF foundation:release:3.18"/>
          <p:cNvSpPr/>
          <p:nvPr/>
        </p:nvSpPr>
        <p:spPr>
          <a:xfrm>
            <a:off x="5703573" y="2586799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row:eBPF foundation:label"/>
          <p:cNvSpPr txBox="1"/>
          <p:nvPr/>
        </p:nvSpPr>
        <p:spPr>
          <a:xfrm>
            <a:off x="5820159" y="2520505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3.18</a:t>
            </a:r>
          </a:p>
        </p:txBody>
      </p:sp>
      <p:sp>
        <p:nvSpPr>
          <p:cNvPr id="145" name="row:TC BPF:name"/>
          <p:cNvSpPr txBox="1"/>
          <p:nvPr/>
        </p:nvSpPr>
        <p:spPr>
          <a:xfrm>
            <a:off x="1325880" y="2629852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TC BPF</a:t>
            </a:r>
          </a:p>
        </p:txBody>
      </p:sp>
      <p:cxnSp>
        <p:nvCxnSpPr>
          <p:cNvPr id="146" name="row:TC BPF:development"/>
          <p:cNvCxnSpPr/>
          <p:nvPr/>
        </p:nvCxnSpPr>
        <p:spPr>
          <a:xfrm>
            <a:off x="5642248" y="2739580"/>
            <a:ext cx="477848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ow:TC BPF:start"/>
          <p:cNvSpPr/>
          <p:nvPr/>
        </p:nvSpPr>
        <p:spPr>
          <a:xfrm>
            <a:off x="5610244" y="270757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row:TC BPF:release:4.1"/>
          <p:cNvSpPr/>
          <p:nvPr/>
        </p:nvSpPr>
        <p:spPr>
          <a:xfrm>
            <a:off x="6076662" y="2696146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row:TC BPF:label"/>
          <p:cNvSpPr txBox="1"/>
          <p:nvPr/>
        </p:nvSpPr>
        <p:spPr>
          <a:xfrm>
            <a:off x="6193248" y="2629852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150" name="row:TCX:name"/>
          <p:cNvSpPr txBox="1"/>
          <p:nvPr/>
        </p:nvSpPr>
        <p:spPr>
          <a:xfrm>
            <a:off x="1325880" y="273919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TCX</a:t>
            </a:r>
          </a:p>
        </p:txBody>
      </p:sp>
      <p:cxnSp>
        <p:nvCxnSpPr>
          <p:cNvPr id="151" name="row:TCX:development"/>
          <p:cNvCxnSpPr/>
          <p:nvPr/>
        </p:nvCxnSpPr>
        <p:spPr>
          <a:xfrm>
            <a:off x="11058353" y="2848927"/>
            <a:ext cx="865765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ow:TCX:start"/>
          <p:cNvSpPr/>
          <p:nvPr/>
        </p:nvSpPr>
        <p:spPr>
          <a:xfrm>
            <a:off x="11026349" y="281692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row:TCX:release:6.6"/>
          <p:cNvSpPr/>
          <p:nvPr/>
        </p:nvSpPr>
        <p:spPr>
          <a:xfrm>
            <a:off x="11880684" y="280549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row:TCX:label"/>
          <p:cNvSpPr txBox="1"/>
          <p:nvPr/>
        </p:nvSpPr>
        <p:spPr>
          <a:xfrm>
            <a:off x="11997270" y="273919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155" name="row:netkit:name"/>
          <p:cNvSpPr txBox="1"/>
          <p:nvPr/>
        </p:nvSpPr>
        <p:spPr>
          <a:xfrm>
            <a:off x="1325880" y="284854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netkit</a:t>
            </a:r>
          </a:p>
        </p:txBody>
      </p:sp>
      <p:cxnSp>
        <p:nvCxnSpPr>
          <p:cNvPr id="156" name="row:netkit:development"/>
          <p:cNvCxnSpPr/>
          <p:nvPr/>
        </p:nvCxnSpPr>
        <p:spPr>
          <a:xfrm>
            <a:off x="11197228" y="2958274"/>
            <a:ext cx="858541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w:netkit:start"/>
          <p:cNvSpPr/>
          <p:nvPr/>
        </p:nvSpPr>
        <p:spPr>
          <a:xfrm>
            <a:off x="11165224" y="292627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row:netkit:release:6.7"/>
          <p:cNvSpPr/>
          <p:nvPr/>
        </p:nvSpPr>
        <p:spPr>
          <a:xfrm>
            <a:off x="12012335" y="2914840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row:netkit:label"/>
          <p:cNvSpPr txBox="1"/>
          <p:nvPr/>
        </p:nvSpPr>
        <p:spPr>
          <a:xfrm>
            <a:off x="12128921" y="284854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6.7</a:t>
            </a:r>
          </a:p>
        </p:txBody>
      </p:sp>
      <p:sp>
        <p:nvSpPr>
          <p:cNvPr id="160" name="row:cgroup / LWT BPF:name"/>
          <p:cNvSpPr txBox="1"/>
          <p:nvPr/>
        </p:nvSpPr>
        <p:spPr>
          <a:xfrm>
            <a:off x="1325880" y="295789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cgroup / LWT BPF</a:t>
            </a:r>
          </a:p>
        </p:txBody>
      </p:sp>
      <p:cxnSp>
        <p:nvCxnSpPr>
          <p:cNvPr id="161" name="row:cgroup / LWT BPF:development"/>
          <p:cNvCxnSpPr/>
          <p:nvPr/>
        </p:nvCxnSpPr>
        <p:spPr>
          <a:xfrm>
            <a:off x="6475495" y="3067621"/>
            <a:ext cx="80141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ow:cgroup / LWT BPF:start"/>
          <p:cNvSpPr/>
          <p:nvPr/>
        </p:nvSpPr>
        <p:spPr>
          <a:xfrm>
            <a:off x="6443491" y="303561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row:cgroup / LWT BPF:release:4.10"/>
          <p:cNvSpPr/>
          <p:nvPr/>
        </p:nvSpPr>
        <p:spPr>
          <a:xfrm>
            <a:off x="7233474" y="3024187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row:cgroup / LWT BPF:label"/>
          <p:cNvSpPr txBox="1"/>
          <p:nvPr/>
        </p:nvSpPr>
        <p:spPr>
          <a:xfrm>
            <a:off x="7350060" y="295789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4.10</a:t>
            </a:r>
          </a:p>
        </p:txBody>
      </p:sp>
      <p:sp>
        <p:nvSpPr>
          <p:cNvPr id="165" name="row:SOCK_OPS / SOCKMAP:name"/>
          <p:cNvSpPr txBox="1"/>
          <p:nvPr/>
        </p:nvSpPr>
        <p:spPr>
          <a:xfrm>
            <a:off x="1325880" y="306724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SOCK_OPS / SOCKMAP</a:t>
            </a:r>
          </a:p>
        </p:txBody>
      </p:sp>
      <p:cxnSp>
        <p:nvCxnSpPr>
          <p:cNvPr id="166" name="row:SOCK_OPS / SOCKMAP:development"/>
          <p:cNvCxnSpPr/>
          <p:nvPr/>
        </p:nvCxnSpPr>
        <p:spPr>
          <a:xfrm>
            <a:off x="6822681" y="3176968"/>
            <a:ext cx="82684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w:SOCK_OPS / SOCKMAP:start"/>
          <p:cNvSpPr/>
          <p:nvPr/>
        </p:nvSpPr>
        <p:spPr>
          <a:xfrm>
            <a:off x="6790677" y="314496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68" name="row:SOCK_OPS / SOCKMAP:milestones"/>
          <p:cNvCxnSpPr/>
          <p:nvPr/>
        </p:nvCxnSpPr>
        <p:spPr>
          <a:xfrm>
            <a:off x="7649521" y="3176968"/>
            <a:ext cx="133076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row:SOCK_OPS / SOCKMAP:release:4.13"/>
          <p:cNvSpPr/>
          <p:nvPr/>
        </p:nvSpPr>
        <p:spPr>
          <a:xfrm>
            <a:off x="7606087" y="3133534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row:SOCK_OPS / SOCKMAP:release:4.14"/>
          <p:cNvSpPr/>
          <p:nvPr/>
        </p:nvSpPr>
        <p:spPr>
          <a:xfrm>
            <a:off x="7739163" y="3133534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row:SOCK_OPS / SOCKMAP:label"/>
          <p:cNvSpPr txBox="1"/>
          <p:nvPr/>
        </p:nvSpPr>
        <p:spPr>
          <a:xfrm>
            <a:off x="7855749" y="306724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4.13 / 4.14</a:t>
            </a:r>
          </a:p>
        </p:txBody>
      </p:sp>
      <p:sp>
        <p:nvSpPr>
          <p:cNvPr id="172" name="row:BPF struct_ops:name"/>
          <p:cNvSpPr txBox="1"/>
          <p:nvPr/>
        </p:nvSpPr>
        <p:spPr>
          <a:xfrm>
            <a:off x="1325880" y="317658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BPF struct_ops</a:t>
            </a:r>
          </a:p>
        </p:txBody>
      </p:sp>
      <p:cxnSp>
        <p:nvCxnSpPr>
          <p:cNvPr id="173" name="row:BPF struct_ops:development"/>
          <p:cNvCxnSpPr/>
          <p:nvPr/>
        </p:nvCxnSpPr>
        <p:spPr>
          <a:xfrm>
            <a:off x="8419738" y="3286315"/>
            <a:ext cx="101443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row:BPF struct_ops:start"/>
          <p:cNvSpPr/>
          <p:nvPr/>
        </p:nvSpPr>
        <p:spPr>
          <a:xfrm>
            <a:off x="8387734" y="325431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row:BPF struct_ops:release:5.6"/>
          <p:cNvSpPr/>
          <p:nvPr/>
        </p:nvSpPr>
        <p:spPr>
          <a:xfrm>
            <a:off x="9390734" y="3242881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row:BPF struct_ops:label"/>
          <p:cNvSpPr txBox="1"/>
          <p:nvPr/>
        </p:nvSpPr>
        <p:spPr>
          <a:xfrm>
            <a:off x="9507320" y="317658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177" name="row:BPF qdisc:name"/>
          <p:cNvSpPr txBox="1"/>
          <p:nvPr/>
        </p:nvSpPr>
        <p:spPr>
          <a:xfrm>
            <a:off x="1325880" y="328593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BPF qdisc</a:t>
            </a:r>
          </a:p>
        </p:txBody>
      </p:sp>
      <p:cxnSp>
        <p:nvCxnSpPr>
          <p:cNvPr id="178" name="row:BPF qdisc:development"/>
          <p:cNvCxnSpPr/>
          <p:nvPr/>
        </p:nvCxnSpPr>
        <p:spPr>
          <a:xfrm>
            <a:off x="12308224" y="3395662"/>
            <a:ext cx="824036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ow:BPF qdisc:start"/>
          <p:cNvSpPr/>
          <p:nvPr/>
        </p:nvSpPr>
        <p:spPr>
          <a:xfrm>
            <a:off x="12276220" y="336365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row:BPF qdisc:release:6.16"/>
          <p:cNvSpPr/>
          <p:nvPr/>
        </p:nvSpPr>
        <p:spPr>
          <a:xfrm>
            <a:off x="13088826" y="3352228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row:BPF qdisc:label"/>
          <p:cNvSpPr txBox="1"/>
          <p:nvPr/>
        </p:nvSpPr>
        <p:spPr>
          <a:xfrm>
            <a:off x="13205412" y="328593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182" name="row:SK_LOOKUP:name"/>
          <p:cNvSpPr txBox="1"/>
          <p:nvPr/>
        </p:nvSpPr>
        <p:spPr>
          <a:xfrm>
            <a:off x="1325880" y="339528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SK_LOOKUP</a:t>
            </a:r>
          </a:p>
        </p:txBody>
      </p:sp>
      <p:cxnSp>
        <p:nvCxnSpPr>
          <p:cNvPr id="183" name="row:SK_LOOKUP:development"/>
          <p:cNvCxnSpPr/>
          <p:nvPr/>
        </p:nvCxnSpPr>
        <p:spPr>
          <a:xfrm>
            <a:off x="8905798" y="3505009"/>
            <a:ext cx="90098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w:SK_LOOKUP:start"/>
          <p:cNvSpPr/>
          <p:nvPr/>
        </p:nvSpPr>
        <p:spPr>
          <a:xfrm>
            <a:off x="8873794" y="34730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row:SK_LOOKUP:release:5.9"/>
          <p:cNvSpPr/>
          <p:nvPr/>
        </p:nvSpPr>
        <p:spPr>
          <a:xfrm>
            <a:off x="9763347" y="346157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row:SK_LOOKUP:label"/>
          <p:cNvSpPr txBox="1"/>
          <p:nvPr/>
        </p:nvSpPr>
        <p:spPr>
          <a:xfrm>
            <a:off x="9879933" y="3395281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5.9</a:t>
            </a:r>
          </a:p>
        </p:txBody>
      </p:sp>
      <p:sp>
        <p:nvSpPr>
          <p:cNvPr id="187" name="row:XDP:name"/>
          <p:cNvSpPr txBox="1"/>
          <p:nvPr/>
        </p:nvSpPr>
        <p:spPr>
          <a:xfrm>
            <a:off x="1325880" y="350462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XDP</a:t>
            </a:r>
          </a:p>
        </p:txBody>
      </p:sp>
      <p:cxnSp>
        <p:nvCxnSpPr>
          <p:cNvPr id="188" name="row:XDP:development"/>
          <p:cNvCxnSpPr/>
          <p:nvPr/>
        </p:nvCxnSpPr>
        <p:spPr>
          <a:xfrm>
            <a:off x="6558819" y="3614356"/>
            <a:ext cx="453362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row:XDP:start"/>
          <p:cNvSpPr/>
          <p:nvPr/>
        </p:nvSpPr>
        <p:spPr>
          <a:xfrm>
            <a:off x="6526815" y="358235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row:XDP:release:4.8"/>
          <p:cNvSpPr/>
          <p:nvPr/>
        </p:nvSpPr>
        <p:spPr>
          <a:xfrm>
            <a:off x="6968747" y="3570922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row:XDP:label"/>
          <p:cNvSpPr txBox="1"/>
          <p:nvPr/>
        </p:nvSpPr>
        <p:spPr>
          <a:xfrm>
            <a:off x="7085333" y="350462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4.8</a:t>
            </a:r>
          </a:p>
        </p:txBody>
      </p:sp>
      <p:sp>
        <p:nvSpPr>
          <p:cNvPr id="192" name="band-label:MEMORY"/>
          <p:cNvSpPr txBox="1"/>
          <p:nvPr/>
        </p:nvSpPr>
        <p:spPr>
          <a:xfrm>
            <a:off x="384048" y="3742182"/>
            <a:ext cx="1051560" cy="102069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</a:rPr>
              <a:t>MEMORY</a:t>
            </a:r>
          </a:p>
        </p:txBody>
      </p:sp>
      <p:sp>
        <p:nvSpPr>
          <p:cNvPr id="193" name="row:page_pool:name"/>
          <p:cNvSpPr txBox="1"/>
          <p:nvPr/>
        </p:nvSpPr>
        <p:spPr>
          <a:xfrm>
            <a:off x="1325880" y="3705415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page_pool</a:t>
            </a:r>
          </a:p>
        </p:txBody>
      </p:sp>
      <p:cxnSp>
        <p:nvCxnSpPr>
          <p:cNvPr id="194" name="row:page_pool:development"/>
          <p:cNvCxnSpPr/>
          <p:nvPr/>
        </p:nvCxnSpPr>
        <p:spPr>
          <a:xfrm>
            <a:off x="6614369" y="3815143"/>
            <a:ext cx="1687701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w:page_pool:start"/>
          <p:cNvSpPr/>
          <p:nvPr/>
        </p:nvSpPr>
        <p:spPr>
          <a:xfrm>
            <a:off x="6582365" y="378313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row:page_pool:release:4.18"/>
          <p:cNvSpPr/>
          <p:nvPr/>
        </p:nvSpPr>
        <p:spPr>
          <a:xfrm>
            <a:off x="8258636" y="3771709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row:page_pool:label"/>
          <p:cNvSpPr txBox="1"/>
          <p:nvPr/>
        </p:nvSpPr>
        <p:spPr>
          <a:xfrm>
            <a:off x="8375222" y="3705415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198" name="row:Device Memory TCP RX:name"/>
          <p:cNvSpPr txBox="1"/>
          <p:nvPr/>
        </p:nvSpPr>
        <p:spPr>
          <a:xfrm>
            <a:off x="1325880" y="3814762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Device Memory TCP RX</a:t>
            </a:r>
          </a:p>
        </p:txBody>
      </p:sp>
      <p:cxnSp>
        <p:nvCxnSpPr>
          <p:cNvPr id="199" name="row:Device Memory TCP RX:development"/>
          <p:cNvCxnSpPr/>
          <p:nvPr/>
        </p:nvCxnSpPr>
        <p:spPr>
          <a:xfrm>
            <a:off x="11405539" y="3924490"/>
            <a:ext cx="1249072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row:Device Memory TCP RX:start"/>
          <p:cNvSpPr/>
          <p:nvPr/>
        </p:nvSpPr>
        <p:spPr>
          <a:xfrm>
            <a:off x="11373535" y="389248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row:Device Memory TCP RX:release:6.12"/>
          <p:cNvSpPr/>
          <p:nvPr/>
        </p:nvSpPr>
        <p:spPr>
          <a:xfrm>
            <a:off x="12611177" y="3881056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row:Device Memory TCP RX:label"/>
          <p:cNvSpPr txBox="1"/>
          <p:nvPr/>
        </p:nvSpPr>
        <p:spPr>
          <a:xfrm>
            <a:off x="12727763" y="3814762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6.12</a:t>
            </a:r>
          </a:p>
        </p:txBody>
      </p:sp>
      <p:sp>
        <p:nvSpPr>
          <p:cNvPr id="203" name="row:Device Memory TCP TX:name"/>
          <p:cNvSpPr txBox="1"/>
          <p:nvPr/>
        </p:nvSpPr>
        <p:spPr>
          <a:xfrm>
            <a:off x="1325880" y="392410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Device Memory TCP TX</a:t>
            </a:r>
          </a:p>
        </p:txBody>
      </p:sp>
      <p:cxnSp>
        <p:nvCxnSpPr>
          <p:cNvPr id="204" name="row:Device Memory TCP TX:development"/>
          <p:cNvCxnSpPr/>
          <p:nvPr/>
        </p:nvCxnSpPr>
        <p:spPr>
          <a:xfrm>
            <a:off x="12030475" y="4033837"/>
            <a:ext cx="1101785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row:Device Memory TCP TX:start"/>
          <p:cNvSpPr/>
          <p:nvPr/>
        </p:nvSpPr>
        <p:spPr>
          <a:xfrm>
            <a:off x="11998471" y="400183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row:Device Memory TCP TX:release:6.16"/>
          <p:cNvSpPr/>
          <p:nvPr/>
        </p:nvSpPr>
        <p:spPr>
          <a:xfrm>
            <a:off x="13088826" y="399040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row:Device Memory TCP TX:label"/>
          <p:cNvSpPr txBox="1"/>
          <p:nvPr/>
        </p:nvSpPr>
        <p:spPr>
          <a:xfrm>
            <a:off x="13205412" y="392410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208" name="row:io_uring ZCRX:name"/>
          <p:cNvSpPr txBox="1"/>
          <p:nvPr/>
        </p:nvSpPr>
        <p:spPr>
          <a:xfrm>
            <a:off x="1325880" y="403345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io_uring ZCRX</a:t>
            </a:r>
          </a:p>
        </p:txBody>
      </p:sp>
      <p:cxnSp>
        <p:nvCxnSpPr>
          <p:cNvPr id="209" name="row:io_uring ZCRX:development"/>
          <p:cNvCxnSpPr/>
          <p:nvPr/>
        </p:nvCxnSpPr>
        <p:spPr>
          <a:xfrm>
            <a:off x="11613851" y="4143184"/>
            <a:ext cx="139864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ow:io_uring ZCRX:start"/>
          <p:cNvSpPr/>
          <p:nvPr/>
        </p:nvSpPr>
        <p:spPr>
          <a:xfrm>
            <a:off x="11581847" y="411118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row:io_uring ZCRX:release:6.15"/>
          <p:cNvSpPr/>
          <p:nvPr/>
        </p:nvSpPr>
        <p:spPr>
          <a:xfrm>
            <a:off x="12969057" y="4099750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row:io_uring ZCRX:label"/>
          <p:cNvSpPr txBox="1"/>
          <p:nvPr/>
        </p:nvSpPr>
        <p:spPr>
          <a:xfrm>
            <a:off x="13085643" y="403345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213" name="row:large RX buffers (mem. providers):name"/>
          <p:cNvSpPr txBox="1"/>
          <p:nvPr/>
        </p:nvSpPr>
        <p:spPr>
          <a:xfrm>
            <a:off x="1325880" y="414280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large RX buffers (mem. providers)</a:t>
            </a:r>
          </a:p>
        </p:txBody>
      </p:sp>
      <p:cxnSp>
        <p:nvCxnSpPr>
          <p:cNvPr id="214" name="row:large RX buffers (mem. providers):development"/>
          <p:cNvCxnSpPr/>
          <p:nvPr/>
        </p:nvCxnSpPr>
        <p:spPr>
          <a:xfrm>
            <a:off x="12724847" y="4252531"/>
            <a:ext cx="90027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row:large RX buffers (mem. providers):start"/>
          <p:cNvSpPr/>
          <p:nvPr/>
        </p:nvSpPr>
        <p:spPr>
          <a:xfrm>
            <a:off x="12692843" y="422052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row:large RX buffers (mem. providers):release:7.0"/>
          <p:cNvSpPr/>
          <p:nvPr/>
        </p:nvSpPr>
        <p:spPr>
          <a:xfrm>
            <a:off x="13581683" y="4209097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row:large RX buffers (mem. providers):label"/>
          <p:cNvSpPr txBox="1"/>
          <p:nvPr/>
        </p:nvSpPr>
        <p:spPr>
          <a:xfrm>
            <a:off x="13698269" y="414280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218" name="row:XDP multi-buffer:name"/>
          <p:cNvSpPr txBox="1"/>
          <p:nvPr/>
        </p:nvSpPr>
        <p:spPr>
          <a:xfrm>
            <a:off x="1325880" y="425215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XDP multi-buffer</a:t>
            </a:r>
          </a:p>
        </p:txBody>
      </p:sp>
      <p:cxnSp>
        <p:nvCxnSpPr>
          <p:cNvPr id="219" name="row:XDP multi-buffer:development"/>
          <p:cNvCxnSpPr/>
          <p:nvPr/>
        </p:nvCxnSpPr>
        <p:spPr>
          <a:xfrm>
            <a:off x="9947357" y="4361878"/>
            <a:ext cx="976313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row:XDP multi-buffer:start"/>
          <p:cNvSpPr/>
          <p:nvPr/>
        </p:nvSpPr>
        <p:spPr>
          <a:xfrm>
            <a:off x="9915353" y="432987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row:XDP multi-buffer:release:5.18"/>
          <p:cNvSpPr/>
          <p:nvPr/>
        </p:nvSpPr>
        <p:spPr>
          <a:xfrm>
            <a:off x="10880236" y="4318444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row:XDP multi-buffer:label"/>
          <p:cNvSpPr txBox="1"/>
          <p:nvPr/>
        </p:nvSpPr>
        <p:spPr>
          <a:xfrm>
            <a:off x="10996822" y="425215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5.18</a:t>
            </a:r>
          </a:p>
        </p:txBody>
      </p:sp>
      <p:sp>
        <p:nvSpPr>
          <p:cNvPr id="223" name="row:AF_XDP:name"/>
          <p:cNvSpPr txBox="1"/>
          <p:nvPr/>
        </p:nvSpPr>
        <p:spPr>
          <a:xfrm>
            <a:off x="1325880" y="436149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AF_XDP</a:t>
            </a:r>
          </a:p>
        </p:txBody>
      </p:sp>
      <p:cxnSp>
        <p:nvCxnSpPr>
          <p:cNvPr id="224" name="row:AF_XDP:development"/>
          <p:cNvCxnSpPr/>
          <p:nvPr/>
        </p:nvCxnSpPr>
        <p:spPr>
          <a:xfrm>
            <a:off x="7169867" y="4471225"/>
            <a:ext cx="1132203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ow:AF_XDP:start"/>
          <p:cNvSpPr/>
          <p:nvPr/>
        </p:nvSpPr>
        <p:spPr>
          <a:xfrm>
            <a:off x="7137863" y="44392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row:AF_XDP:release:4.18"/>
          <p:cNvSpPr/>
          <p:nvPr/>
        </p:nvSpPr>
        <p:spPr>
          <a:xfrm>
            <a:off x="8258636" y="4427791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row:AF_XDP:label"/>
          <p:cNvSpPr txBox="1"/>
          <p:nvPr/>
        </p:nvSpPr>
        <p:spPr>
          <a:xfrm>
            <a:off x="8375222" y="436149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228" name="row:AF_XDP multi-buffer:name"/>
          <p:cNvSpPr txBox="1"/>
          <p:nvPr/>
        </p:nvSpPr>
        <p:spPr>
          <a:xfrm>
            <a:off x="1325880" y="447084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AF_XDP multi-buffer</a:t>
            </a:r>
          </a:p>
        </p:txBody>
      </p:sp>
      <p:cxnSp>
        <p:nvCxnSpPr>
          <p:cNvPr id="229" name="row:AF_XDP multi-buffer:development"/>
          <p:cNvCxnSpPr/>
          <p:nvPr/>
        </p:nvCxnSpPr>
        <p:spPr>
          <a:xfrm>
            <a:off x="10641730" y="4580572"/>
            <a:ext cx="1282388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row:AF_XDP multi-buffer:start"/>
          <p:cNvSpPr/>
          <p:nvPr/>
        </p:nvSpPr>
        <p:spPr>
          <a:xfrm>
            <a:off x="10609726" y="454856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row:AF_XDP multi-buffer:release:6.6"/>
          <p:cNvSpPr/>
          <p:nvPr/>
        </p:nvSpPr>
        <p:spPr>
          <a:xfrm>
            <a:off x="11880684" y="4537138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row:AF_XDP multi-buffer:label"/>
          <p:cNvSpPr txBox="1"/>
          <p:nvPr/>
        </p:nvSpPr>
        <p:spPr>
          <a:xfrm>
            <a:off x="11997270" y="447084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233" name="row:RX HW queue leasing:name"/>
          <p:cNvSpPr txBox="1"/>
          <p:nvPr/>
        </p:nvSpPr>
        <p:spPr>
          <a:xfrm>
            <a:off x="1325880" y="458019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RX HW queue leasing</a:t>
            </a:r>
          </a:p>
        </p:txBody>
      </p:sp>
      <p:cxnSp>
        <p:nvCxnSpPr>
          <p:cNvPr id="234" name="row:RX HW queue leasing:development"/>
          <p:cNvCxnSpPr/>
          <p:nvPr/>
        </p:nvCxnSpPr>
        <p:spPr>
          <a:xfrm>
            <a:off x="12377661" y="4689919"/>
            <a:ext cx="1367224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row:RX HW queue leasing:start"/>
          <p:cNvSpPr/>
          <p:nvPr/>
        </p:nvSpPr>
        <p:spPr>
          <a:xfrm>
            <a:off x="12345657" y="465791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row:RX HW queue leasing:release:7.1"/>
          <p:cNvSpPr/>
          <p:nvPr/>
        </p:nvSpPr>
        <p:spPr>
          <a:xfrm>
            <a:off x="13701451" y="4646485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row:RX HW queue leasing:label"/>
          <p:cNvSpPr txBox="1"/>
          <p:nvPr/>
        </p:nvSpPr>
        <p:spPr>
          <a:xfrm>
            <a:off x="13818037" y="4580191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38" name="band-label:CONTROL PLANE"/>
          <p:cNvSpPr txBox="1"/>
          <p:nvPr/>
        </p:nvSpPr>
        <p:spPr>
          <a:xfrm>
            <a:off x="384048" y="4817745"/>
            <a:ext cx="1051560" cy="69265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</a:rPr>
              <a:t>CONTROL
PLANE</a:t>
            </a:r>
          </a:p>
        </p:txBody>
      </p:sp>
      <p:sp>
        <p:nvSpPr>
          <p:cNvPr id="239" name="row:nftables (dev. from 2008):name"/>
          <p:cNvSpPr txBox="1"/>
          <p:nvPr/>
        </p:nvSpPr>
        <p:spPr>
          <a:xfrm>
            <a:off x="1325880" y="478097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nftables (dev. from 2008)</a:t>
            </a:r>
          </a:p>
        </p:txBody>
      </p:sp>
      <p:cxnSp>
        <p:nvCxnSpPr>
          <p:cNvPr id="240" name="row:nftables (dev. from 2008):development"/>
          <p:cNvCxnSpPr/>
          <p:nvPr/>
        </p:nvCxnSpPr>
        <p:spPr>
          <a:xfrm>
            <a:off x="3044951" y="4890706"/>
            <a:ext cx="208990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row:nftables (dev. from 2008):start-offchart"/>
          <p:cNvSpPr/>
          <p:nvPr/>
        </p:nvSpPr>
        <p:spPr>
          <a:xfrm rot="16200000">
            <a:off x="2980944" y="4849558"/>
            <a:ext cx="82296" cy="82296"/>
          </a:xfrm>
          <a:prstGeom prst="triangl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row:nftables (dev. from 2008):release:3.13"/>
          <p:cNvSpPr/>
          <p:nvPr/>
        </p:nvSpPr>
        <p:spPr>
          <a:xfrm>
            <a:off x="5091423" y="4847272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row:nftables (dev. from 2008):label"/>
          <p:cNvSpPr txBox="1"/>
          <p:nvPr/>
        </p:nvSpPr>
        <p:spPr>
          <a:xfrm>
            <a:off x="5208009" y="478097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3.13</a:t>
            </a:r>
          </a:p>
        </p:txBody>
      </p:sp>
      <p:sp>
        <p:nvSpPr>
          <p:cNvPr id="244" name="row:nexthop objects:name"/>
          <p:cNvSpPr txBox="1"/>
          <p:nvPr/>
        </p:nvSpPr>
        <p:spPr>
          <a:xfrm>
            <a:off x="1325880" y="4890325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nexthop objects</a:t>
            </a:r>
          </a:p>
        </p:txBody>
      </p:sp>
      <p:cxnSp>
        <p:nvCxnSpPr>
          <p:cNvPr id="245" name="row:nexthop objects:development"/>
          <p:cNvCxnSpPr/>
          <p:nvPr/>
        </p:nvCxnSpPr>
        <p:spPr>
          <a:xfrm>
            <a:off x="7864240" y="5000053"/>
            <a:ext cx="1196839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row:nexthop objects:start"/>
          <p:cNvSpPr/>
          <p:nvPr/>
        </p:nvSpPr>
        <p:spPr>
          <a:xfrm>
            <a:off x="7832236" y="496804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row:nexthop objects:release:5.3"/>
          <p:cNvSpPr/>
          <p:nvPr/>
        </p:nvSpPr>
        <p:spPr>
          <a:xfrm>
            <a:off x="9017645" y="4956619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row:nexthop objects:label"/>
          <p:cNvSpPr txBox="1"/>
          <p:nvPr/>
        </p:nvSpPr>
        <p:spPr>
          <a:xfrm>
            <a:off x="9134231" y="4890325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5.3</a:t>
            </a:r>
          </a:p>
        </p:txBody>
      </p:sp>
      <p:sp>
        <p:nvSpPr>
          <p:cNvPr id="249" name="row:per-netns RTNL:name"/>
          <p:cNvSpPr txBox="1"/>
          <p:nvPr/>
        </p:nvSpPr>
        <p:spPr>
          <a:xfrm>
            <a:off x="1325880" y="4999672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per-netns RTNL</a:t>
            </a:r>
          </a:p>
        </p:txBody>
      </p:sp>
      <p:cxnSp>
        <p:nvCxnSpPr>
          <p:cNvPr id="250" name="row:per-netns RTNL:development"/>
          <p:cNvCxnSpPr/>
          <p:nvPr/>
        </p:nvCxnSpPr>
        <p:spPr>
          <a:xfrm>
            <a:off x="11336102" y="5109400"/>
            <a:ext cx="1436852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1" name="row:per-netns RTNL:start"/>
          <p:cNvSpPr/>
          <p:nvPr/>
        </p:nvSpPr>
        <p:spPr>
          <a:xfrm>
            <a:off x="11304098" y="507739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row:per-netns RTNL:release:6.13"/>
          <p:cNvSpPr/>
          <p:nvPr/>
        </p:nvSpPr>
        <p:spPr>
          <a:xfrm>
            <a:off x="12729520" y="5065966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row:per-netns RTNL:label"/>
          <p:cNvSpPr txBox="1"/>
          <p:nvPr/>
        </p:nvSpPr>
        <p:spPr>
          <a:xfrm>
            <a:off x="12846106" y="4999672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6.13</a:t>
            </a:r>
          </a:p>
        </p:txBody>
      </p:sp>
      <p:sp>
        <p:nvSpPr>
          <p:cNvPr id="254" name="row:further RTNL breakup:name"/>
          <p:cNvSpPr txBox="1"/>
          <p:nvPr/>
        </p:nvSpPr>
        <p:spPr>
          <a:xfrm>
            <a:off x="1325880" y="510901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further RTNL breakup</a:t>
            </a:r>
          </a:p>
        </p:txBody>
      </p:sp>
      <p:cxnSp>
        <p:nvCxnSpPr>
          <p:cNvPr id="255" name="row:further RTNL breakup:development"/>
          <p:cNvCxnSpPr/>
          <p:nvPr/>
        </p:nvCxnSpPr>
        <p:spPr>
          <a:xfrm>
            <a:off x="12030475" y="5218747"/>
            <a:ext cx="98201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w:further RTNL breakup:start"/>
          <p:cNvSpPr/>
          <p:nvPr/>
        </p:nvSpPr>
        <p:spPr>
          <a:xfrm>
            <a:off x="11998471" y="518674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row:further RTNL breakup:release:6.15"/>
          <p:cNvSpPr/>
          <p:nvPr/>
        </p:nvSpPr>
        <p:spPr>
          <a:xfrm>
            <a:off x="12969057" y="5175313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row:further RTNL breakup:label"/>
          <p:cNvSpPr txBox="1"/>
          <p:nvPr/>
        </p:nvSpPr>
        <p:spPr>
          <a:xfrm>
            <a:off x="13085643" y="510901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259" name="row:RTNL-less FIB rules:name"/>
          <p:cNvSpPr txBox="1"/>
          <p:nvPr/>
        </p:nvSpPr>
        <p:spPr>
          <a:xfrm>
            <a:off x="1325880" y="521836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RTNL-less FIB rules</a:t>
            </a:r>
          </a:p>
        </p:txBody>
      </p:sp>
      <p:cxnSp>
        <p:nvCxnSpPr>
          <p:cNvPr id="260" name="row:RTNL-less FIB rules:development"/>
          <p:cNvCxnSpPr/>
          <p:nvPr/>
        </p:nvCxnSpPr>
        <p:spPr>
          <a:xfrm>
            <a:off x="12724847" y="5328094"/>
            <a:ext cx="1147411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1" name="row:RTNL-less FIB rules:start"/>
          <p:cNvSpPr/>
          <p:nvPr/>
        </p:nvSpPr>
        <p:spPr>
          <a:xfrm>
            <a:off x="12692843" y="529609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row:RTNL-less FIB rules:release:7.3-rc"/>
          <p:cNvSpPr/>
          <p:nvPr/>
        </p:nvSpPr>
        <p:spPr>
          <a:xfrm>
            <a:off x="13828824" y="5284660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row:RTNL-less FIB rules:label"/>
          <p:cNvSpPr txBox="1"/>
          <p:nvPr/>
        </p:nvSpPr>
        <p:spPr>
          <a:xfrm>
            <a:off x="13945410" y="521836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264" name="row:YNL tooling:name"/>
          <p:cNvSpPr txBox="1"/>
          <p:nvPr/>
        </p:nvSpPr>
        <p:spPr>
          <a:xfrm>
            <a:off x="1325880" y="532771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YNL tooling</a:t>
            </a:r>
          </a:p>
        </p:txBody>
      </p:sp>
      <p:cxnSp>
        <p:nvCxnSpPr>
          <p:cNvPr id="265" name="row:YNL tooling:development"/>
          <p:cNvCxnSpPr/>
          <p:nvPr/>
        </p:nvCxnSpPr>
        <p:spPr>
          <a:xfrm>
            <a:off x="10294543" y="5437441"/>
            <a:ext cx="1268368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6" name="row:YNL tooling:start"/>
          <p:cNvSpPr/>
          <p:nvPr/>
        </p:nvSpPr>
        <p:spPr>
          <a:xfrm>
            <a:off x="10262539" y="54054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row:YNL tooling:release:6.3"/>
          <p:cNvSpPr/>
          <p:nvPr/>
        </p:nvSpPr>
        <p:spPr>
          <a:xfrm>
            <a:off x="11519477" y="5394007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row:YNL tooling:label"/>
          <p:cNvSpPr txBox="1"/>
          <p:nvPr/>
        </p:nvSpPr>
        <p:spPr>
          <a:xfrm>
            <a:off x="11636063" y="532771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6.3</a:t>
            </a:r>
          </a:p>
        </p:txBody>
      </p:sp>
      <p:sp>
        <p:nvSpPr>
          <p:cNvPr id="269" name="band-label:OBSERVABILITY"/>
          <p:cNvSpPr txBox="1"/>
          <p:nvPr/>
        </p:nvSpPr>
        <p:spPr>
          <a:xfrm>
            <a:off x="384048" y="5565267"/>
            <a:ext cx="1051560" cy="58331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OBSERV-
ABILITY</a:t>
            </a:r>
          </a:p>
        </p:txBody>
      </p:sp>
      <p:sp>
        <p:nvSpPr>
          <p:cNvPr id="270" name="row:queue/NAPI netdev-genl:name"/>
          <p:cNvSpPr txBox="1"/>
          <p:nvPr/>
        </p:nvSpPr>
        <p:spPr>
          <a:xfrm>
            <a:off x="1325880" y="552850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queue/NAPI netdev-genl</a:t>
            </a:r>
          </a:p>
        </p:txBody>
      </p:sp>
      <p:cxnSp>
        <p:nvCxnSpPr>
          <p:cNvPr id="271" name="row:queue/NAPI netdev-genl:development"/>
          <p:cNvCxnSpPr/>
          <p:nvPr/>
        </p:nvCxnSpPr>
        <p:spPr>
          <a:xfrm>
            <a:off x="11336102" y="5638228"/>
            <a:ext cx="83943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row:queue/NAPI netdev-genl:start"/>
          <p:cNvSpPr/>
          <p:nvPr/>
        </p:nvSpPr>
        <p:spPr>
          <a:xfrm>
            <a:off x="11304098" y="560622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row:queue/NAPI netdev-genl:release:6.8"/>
          <p:cNvSpPr/>
          <p:nvPr/>
        </p:nvSpPr>
        <p:spPr>
          <a:xfrm>
            <a:off x="12132103" y="5594794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row:queue/NAPI netdev-genl:label"/>
          <p:cNvSpPr txBox="1"/>
          <p:nvPr/>
        </p:nvSpPr>
        <p:spPr>
          <a:xfrm>
            <a:off x="12248689" y="552850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275" name="row:kprobe BPF:name"/>
          <p:cNvSpPr txBox="1"/>
          <p:nvPr/>
        </p:nvSpPr>
        <p:spPr>
          <a:xfrm>
            <a:off x="1325880" y="563784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kprobe BPF</a:t>
            </a:r>
          </a:p>
        </p:txBody>
      </p:sp>
      <p:cxnSp>
        <p:nvCxnSpPr>
          <p:cNvPr id="276" name="row:kprobe BPF:development"/>
          <p:cNvCxnSpPr/>
          <p:nvPr/>
        </p:nvCxnSpPr>
        <p:spPr>
          <a:xfrm>
            <a:off x="5225624" y="5747575"/>
            <a:ext cx="894472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7" name="row:kprobe BPF:start"/>
          <p:cNvSpPr/>
          <p:nvPr/>
        </p:nvSpPr>
        <p:spPr>
          <a:xfrm>
            <a:off x="5193620" y="571557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row:kprobe BPF:release:4.1"/>
          <p:cNvSpPr/>
          <p:nvPr/>
        </p:nvSpPr>
        <p:spPr>
          <a:xfrm>
            <a:off x="6076662" y="5704141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row:kprobe BPF:label"/>
          <p:cNvSpPr txBox="1"/>
          <p:nvPr/>
        </p:nvSpPr>
        <p:spPr>
          <a:xfrm>
            <a:off x="6193248" y="563784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280" name="row:structured drop reason:name"/>
          <p:cNvSpPr txBox="1"/>
          <p:nvPr/>
        </p:nvSpPr>
        <p:spPr>
          <a:xfrm>
            <a:off x="1325880" y="574719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structured drop reason</a:t>
            </a:r>
          </a:p>
        </p:txBody>
      </p:sp>
      <p:cxnSp>
        <p:nvCxnSpPr>
          <p:cNvPr id="281" name="row:structured drop reason:development"/>
          <p:cNvCxnSpPr/>
          <p:nvPr/>
        </p:nvCxnSpPr>
        <p:spPr>
          <a:xfrm>
            <a:off x="9947357" y="5856922"/>
            <a:ext cx="85654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row:structured drop reason:start"/>
          <p:cNvSpPr/>
          <p:nvPr/>
        </p:nvSpPr>
        <p:spPr>
          <a:xfrm>
            <a:off x="9915353" y="582491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row:structured drop reason:release:5.17"/>
          <p:cNvSpPr/>
          <p:nvPr/>
        </p:nvSpPr>
        <p:spPr>
          <a:xfrm>
            <a:off x="10760468" y="5813488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row:structured drop reason:label"/>
          <p:cNvSpPr txBox="1"/>
          <p:nvPr/>
        </p:nvSpPr>
        <p:spPr>
          <a:xfrm>
            <a:off x="10877054" y="574719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5.17</a:t>
            </a:r>
          </a:p>
        </p:txBody>
      </p:sp>
      <p:sp>
        <p:nvSpPr>
          <p:cNvPr id="285" name="row:drop-reason expansion:name"/>
          <p:cNvSpPr txBox="1"/>
          <p:nvPr/>
        </p:nvSpPr>
        <p:spPr>
          <a:xfrm>
            <a:off x="1325880" y="585654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drop-reason expansion</a:t>
            </a:r>
          </a:p>
        </p:txBody>
      </p:sp>
      <p:cxnSp>
        <p:nvCxnSpPr>
          <p:cNvPr id="286" name="row:drop-reason expansion:development"/>
          <p:cNvCxnSpPr/>
          <p:nvPr/>
        </p:nvCxnSpPr>
        <p:spPr>
          <a:xfrm>
            <a:off x="10780604" y="5966269"/>
            <a:ext cx="276143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7" name="row:drop-reason expansion:start"/>
          <p:cNvSpPr/>
          <p:nvPr/>
        </p:nvSpPr>
        <p:spPr>
          <a:xfrm>
            <a:off x="10748600" y="593426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8" name="row:drop-reason expansion:release:5.19"/>
          <p:cNvSpPr/>
          <p:nvPr/>
        </p:nvSpPr>
        <p:spPr>
          <a:xfrm>
            <a:off x="11013313" y="5922835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9" name="row:drop-reason expansion:label"/>
          <p:cNvSpPr txBox="1"/>
          <p:nvPr/>
        </p:nvSpPr>
        <p:spPr>
          <a:xfrm>
            <a:off x="11129899" y="5856541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290" name="row:qdisc-drop tracepoint:name"/>
          <p:cNvSpPr txBox="1"/>
          <p:nvPr/>
        </p:nvSpPr>
        <p:spPr>
          <a:xfrm>
            <a:off x="1325880" y="596588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qdisc-drop tracepoint</a:t>
            </a:r>
          </a:p>
        </p:txBody>
      </p:sp>
      <p:cxnSp>
        <p:nvCxnSpPr>
          <p:cNvPr id="291" name="row:qdisc-drop tracepoint:development"/>
          <p:cNvCxnSpPr/>
          <p:nvPr/>
        </p:nvCxnSpPr>
        <p:spPr>
          <a:xfrm>
            <a:off x="12724847" y="6075616"/>
            <a:ext cx="1020038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2" name="row:qdisc-drop tracepoint:start"/>
          <p:cNvSpPr/>
          <p:nvPr/>
        </p:nvSpPr>
        <p:spPr>
          <a:xfrm>
            <a:off x="12692843" y="604361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3" name="row:qdisc-drop tracepoint:release:7.1"/>
          <p:cNvSpPr/>
          <p:nvPr/>
        </p:nvSpPr>
        <p:spPr>
          <a:xfrm>
            <a:off x="13701451" y="6032182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4" name="row:qdisc-drop tracepoint:label"/>
          <p:cNvSpPr txBox="1"/>
          <p:nvPr/>
        </p:nvSpPr>
        <p:spPr>
          <a:xfrm>
            <a:off x="13818037" y="596588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95" name="band-label:DRIVER FRAMEWORK"/>
          <p:cNvSpPr txBox="1"/>
          <p:nvPr/>
        </p:nvSpPr>
        <p:spPr>
          <a:xfrm>
            <a:off x="384048" y="6203442"/>
            <a:ext cx="1051560" cy="113004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A16207"/>
                </a:solidFill>
              </a:rPr>
              <a:t>DRIVER
FRAMEWORK</a:t>
            </a:r>
          </a:p>
        </p:txBody>
      </p:sp>
      <p:sp>
        <p:nvSpPr>
          <p:cNvPr id="296" name="row:switchdev:name"/>
          <p:cNvSpPr txBox="1"/>
          <p:nvPr/>
        </p:nvSpPr>
        <p:spPr>
          <a:xfrm>
            <a:off x="1325880" y="6166675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switchdev</a:t>
            </a:r>
          </a:p>
        </p:txBody>
      </p:sp>
      <p:cxnSp>
        <p:nvCxnSpPr>
          <p:cNvPr id="297" name="row:switchdev:development"/>
          <p:cNvCxnSpPr/>
          <p:nvPr/>
        </p:nvCxnSpPr>
        <p:spPr>
          <a:xfrm>
            <a:off x="5086750" y="6276403"/>
            <a:ext cx="780501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w:switchdev:start"/>
          <p:cNvSpPr/>
          <p:nvPr/>
        </p:nvSpPr>
        <p:spPr>
          <a:xfrm>
            <a:off x="5054746" y="624439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9" name="row:switchdev:release:3.19"/>
          <p:cNvSpPr/>
          <p:nvPr/>
        </p:nvSpPr>
        <p:spPr>
          <a:xfrm>
            <a:off x="5823817" y="6232969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row:switchdev:label"/>
          <p:cNvSpPr txBox="1"/>
          <p:nvPr/>
        </p:nvSpPr>
        <p:spPr>
          <a:xfrm>
            <a:off x="5940403" y="6166675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3.19</a:t>
            </a:r>
          </a:p>
        </p:txBody>
      </p:sp>
      <p:sp>
        <p:nvSpPr>
          <p:cNvPr id="301" name="row:devlink:name"/>
          <p:cNvSpPr txBox="1"/>
          <p:nvPr/>
        </p:nvSpPr>
        <p:spPr>
          <a:xfrm>
            <a:off x="1325880" y="6276022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devlink</a:t>
            </a:r>
          </a:p>
        </p:txBody>
      </p:sp>
      <p:cxnSp>
        <p:nvCxnSpPr>
          <p:cNvPr id="302" name="row:devlink:development"/>
          <p:cNvCxnSpPr/>
          <p:nvPr/>
        </p:nvCxnSpPr>
        <p:spPr>
          <a:xfrm>
            <a:off x="5781122" y="6385750"/>
            <a:ext cx="964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ow:devlink:start"/>
          <p:cNvSpPr/>
          <p:nvPr/>
        </p:nvSpPr>
        <p:spPr>
          <a:xfrm>
            <a:off x="5749118" y="635374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4" name="row:devlink:release:4.6"/>
          <p:cNvSpPr/>
          <p:nvPr/>
        </p:nvSpPr>
        <p:spPr>
          <a:xfrm>
            <a:off x="6702595" y="6342316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5" name="row:devlink:label"/>
          <p:cNvSpPr txBox="1"/>
          <p:nvPr/>
        </p:nvSpPr>
        <p:spPr>
          <a:xfrm>
            <a:off x="6819181" y="6276022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4.6</a:t>
            </a:r>
          </a:p>
        </p:txBody>
      </p:sp>
      <p:sp>
        <p:nvSpPr>
          <p:cNvPr id="306" name="row:devlink health:name"/>
          <p:cNvSpPr txBox="1"/>
          <p:nvPr/>
        </p:nvSpPr>
        <p:spPr>
          <a:xfrm>
            <a:off x="1325880" y="638536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devlink health</a:t>
            </a:r>
          </a:p>
        </p:txBody>
      </p:sp>
      <p:cxnSp>
        <p:nvCxnSpPr>
          <p:cNvPr id="307" name="row:devlink health:development"/>
          <p:cNvCxnSpPr/>
          <p:nvPr/>
        </p:nvCxnSpPr>
        <p:spPr>
          <a:xfrm>
            <a:off x="7864240" y="6495097"/>
            <a:ext cx="943994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" name="row:devlink health:start"/>
          <p:cNvSpPr/>
          <p:nvPr/>
        </p:nvSpPr>
        <p:spPr>
          <a:xfrm>
            <a:off x="7832236" y="646309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9" name="row:devlink health:release:5.1"/>
          <p:cNvSpPr/>
          <p:nvPr/>
        </p:nvSpPr>
        <p:spPr>
          <a:xfrm>
            <a:off x="8764800" y="6451663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0" name="row:devlink health:label"/>
          <p:cNvSpPr txBox="1"/>
          <p:nvPr/>
        </p:nvSpPr>
        <p:spPr>
          <a:xfrm>
            <a:off x="8881386" y="638536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</a:t>
            </a:r>
          </a:p>
        </p:txBody>
      </p:sp>
      <p:sp>
        <p:nvSpPr>
          <p:cNvPr id="311" name="row:phylink:name"/>
          <p:cNvSpPr txBox="1"/>
          <p:nvPr/>
        </p:nvSpPr>
        <p:spPr>
          <a:xfrm>
            <a:off x="1325880" y="649471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phylink</a:t>
            </a:r>
          </a:p>
        </p:txBody>
      </p:sp>
      <p:cxnSp>
        <p:nvCxnSpPr>
          <p:cNvPr id="312" name="row:phylink:development"/>
          <p:cNvCxnSpPr/>
          <p:nvPr/>
        </p:nvCxnSpPr>
        <p:spPr>
          <a:xfrm>
            <a:off x="5919997" y="6604444"/>
            <a:ext cx="1862600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row:phylink:start"/>
          <p:cNvSpPr/>
          <p:nvPr/>
        </p:nvSpPr>
        <p:spPr>
          <a:xfrm>
            <a:off x="5887993" y="657244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4" name="row:phylink:release:4.14"/>
          <p:cNvSpPr/>
          <p:nvPr/>
        </p:nvSpPr>
        <p:spPr>
          <a:xfrm>
            <a:off x="7739163" y="6561010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5" name="row:phylink:label"/>
          <p:cNvSpPr txBox="1"/>
          <p:nvPr/>
        </p:nvSpPr>
        <p:spPr>
          <a:xfrm>
            <a:off x="7855749" y="649471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4.14</a:t>
            </a:r>
          </a:p>
        </p:txBody>
      </p:sp>
      <p:sp>
        <p:nvSpPr>
          <p:cNvPr id="316" name="row:Net DIM:name"/>
          <p:cNvSpPr txBox="1"/>
          <p:nvPr/>
        </p:nvSpPr>
        <p:spPr>
          <a:xfrm>
            <a:off x="1325880" y="660406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 DIM</a:t>
            </a:r>
          </a:p>
        </p:txBody>
      </p:sp>
      <p:cxnSp>
        <p:nvCxnSpPr>
          <p:cNvPr id="317" name="row:Net DIM:development"/>
          <p:cNvCxnSpPr/>
          <p:nvPr/>
        </p:nvCxnSpPr>
        <p:spPr>
          <a:xfrm>
            <a:off x="7169867" y="6713791"/>
            <a:ext cx="87935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ow:Net DIM:start"/>
          <p:cNvSpPr/>
          <p:nvPr/>
        </p:nvSpPr>
        <p:spPr>
          <a:xfrm>
            <a:off x="7137863" y="668178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9" name="row:Net DIM:release:4.16"/>
          <p:cNvSpPr/>
          <p:nvPr/>
        </p:nvSpPr>
        <p:spPr>
          <a:xfrm>
            <a:off x="8005791" y="667035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0" name="row:Net DIM:label"/>
          <p:cNvSpPr txBox="1"/>
          <p:nvPr/>
        </p:nvSpPr>
        <p:spPr>
          <a:xfrm>
            <a:off x="8122377" y="660406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321" name="row:netdevsim:name"/>
          <p:cNvSpPr txBox="1"/>
          <p:nvPr/>
        </p:nvSpPr>
        <p:spPr>
          <a:xfrm>
            <a:off x="1325880" y="671341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netdevsim</a:t>
            </a:r>
          </a:p>
        </p:txBody>
      </p:sp>
      <p:cxnSp>
        <p:nvCxnSpPr>
          <p:cNvPr id="322" name="row:netdevsim:development"/>
          <p:cNvCxnSpPr/>
          <p:nvPr/>
        </p:nvCxnSpPr>
        <p:spPr>
          <a:xfrm>
            <a:off x="7517053" y="6823138"/>
            <a:ext cx="532172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row:netdevsim:start"/>
          <p:cNvSpPr/>
          <p:nvPr/>
        </p:nvSpPr>
        <p:spPr>
          <a:xfrm>
            <a:off x="7485049" y="679113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row:netdevsim:release:4.16"/>
          <p:cNvSpPr/>
          <p:nvPr/>
        </p:nvSpPr>
        <p:spPr>
          <a:xfrm>
            <a:off x="8005791" y="6779704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5" name="row:netdevsim:label"/>
          <p:cNvSpPr txBox="1"/>
          <p:nvPr/>
        </p:nvSpPr>
        <p:spPr>
          <a:xfrm>
            <a:off x="8122377" y="671341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326" name="row:ethtool netlink:name"/>
          <p:cNvSpPr txBox="1"/>
          <p:nvPr/>
        </p:nvSpPr>
        <p:spPr>
          <a:xfrm>
            <a:off x="1325880" y="682275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ethtool netlink</a:t>
            </a:r>
          </a:p>
        </p:txBody>
      </p:sp>
      <p:cxnSp>
        <p:nvCxnSpPr>
          <p:cNvPr id="327" name="row:ethtool netlink:development"/>
          <p:cNvCxnSpPr/>
          <p:nvPr/>
        </p:nvCxnSpPr>
        <p:spPr>
          <a:xfrm>
            <a:off x="7864240" y="6932485"/>
            <a:ext cx="156992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w:ethtool netlink:start"/>
          <p:cNvSpPr/>
          <p:nvPr/>
        </p:nvSpPr>
        <p:spPr>
          <a:xfrm>
            <a:off x="7832236" y="690048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9" name="row:ethtool netlink:release:5.6"/>
          <p:cNvSpPr/>
          <p:nvPr/>
        </p:nvSpPr>
        <p:spPr>
          <a:xfrm>
            <a:off x="9390734" y="6889051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0" name="row:ethtool netlink:label"/>
          <p:cNvSpPr txBox="1"/>
          <p:nvPr/>
        </p:nvSpPr>
        <p:spPr>
          <a:xfrm>
            <a:off x="9507320" y="682275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331" name="row:auxiliary bus:name"/>
          <p:cNvSpPr txBox="1"/>
          <p:nvPr/>
        </p:nvSpPr>
        <p:spPr>
          <a:xfrm>
            <a:off x="1325880" y="693210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auxiliary bus</a:t>
            </a:r>
          </a:p>
        </p:txBody>
      </p:sp>
      <p:cxnSp>
        <p:nvCxnSpPr>
          <p:cNvPr id="332" name="row:auxiliary bus:development"/>
          <p:cNvCxnSpPr/>
          <p:nvPr/>
        </p:nvCxnSpPr>
        <p:spPr>
          <a:xfrm>
            <a:off x="9252985" y="7041832"/>
            <a:ext cx="791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3" name="row:auxiliary bus:start"/>
          <p:cNvSpPr/>
          <p:nvPr/>
        </p:nvSpPr>
        <p:spPr>
          <a:xfrm>
            <a:off x="9220981" y="700982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4" name="row:auxiliary bus:release:5.11"/>
          <p:cNvSpPr/>
          <p:nvPr/>
        </p:nvSpPr>
        <p:spPr>
          <a:xfrm>
            <a:off x="10001458" y="6998398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5" name="row:auxiliary bus:label"/>
          <p:cNvSpPr txBox="1"/>
          <p:nvPr/>
        </p:nvSpPr>
        <p:spPr>
          <a:xfrm>
            <a:off x="10118044" y="693210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5.11</a:t>
            </a:r>
          </a:p>
        </p:txBody>
      </p:sp>
      <p:sp>
        <p:nvSpPr>
          <p:cNvPr id="336" name="row:threaded NAPI:name"/>
          <p:cNvSpPr txBox="1"/>
          <p:nvPr/>
        </p:nvSpPr>
        <p:spPr>
          <a:xfrm>
            <a:off x="1325880" y="704145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threaded NAPI</a:t>
            </a:r>
          </a:p>
        </p:txBody>
      </p:sp>
      <p:cxnSp>
        <p:nvCxnSpPr>
          <p:cNvPr id="337" name="row:threaded NAPI:development"/>
          <p:cNvCxnSpPr/>
          <p:nvPr/>
        </p:nvCxnSpPr>
        <p:spPr>
          <a:xfrm>
            <a:off x="9461296" y="7151179"/>
            <a:ext cx="716673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ow:threaded NAPI:start"/>
          <p:cNvSpPr/>
          <p:nvPr/>
        </p:nvSpPr>
        <p:spPr>
          <a:xfrm>
            <a:off x="9429292" y="711917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9" name="row:threaded NAPI:release:5.12"/>
          <p:cNvSpPr/>
          <p:nvPr/>
        </p:nvSpPr>
        <p:spPr>
          <a:xfrm>
            <a:off x="10134535" y="710774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0" name="row:threaded NAPI:label"/>
          <p:cNvSpPr txBox="1"/>
          <p:nvPr/>
        </p:nvSpPr>
        <p:spPr>
          <a:xfrm>
            <a:off x="10251121" y="7041451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5.12</a:t>
            </a:r>
          </a:p>
        </p:txBody>
      </p:sp>
      <p:sp>
        <p:nvSpPr>
          <p:cNvPr id="341" name="row:Rust phylib:name"/>
          <p:cNvSpPr txBox="1"/>
          <p:nvPr/>
        </p:nvSpPr>
        <p:spPr>
          <a:xfrm>
            <a:off x="1325880" y="715079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Rust phylib</a:t>
            </a:r>
          </a:p>
        </p:txBody>
      </p:sp>
      <p:cxnSp>
        <p:nvCxnSpPr>
          <p:cNvPr id="342" name="row:Rust phylib:development"/>
          <p:cNvCxnSpPr/>
          <p:nvPr/>
        </p:nvCxnSpPr>
        <p:spPr>
          <a:xfrm>
            <a:off x="11336102" y="7260526"/>
            <a:ext cx="839435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row:Rust phylib:start"/>
          <p:cNvSpPr/>
          <p:nvPr/>
        </p:nvSpPr>
        <p:spPr>
          <a:xfrm>
            <a:off x="11304098" y="722852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4" name="row:Rust phylib:release:6.8"/>
          <p:cNvSpPr/>
          <p:nvPr/>
        </p:nvSpPr>
        <p:spPr>
          <a:xfrm>
            <a:off x="12132103" y="7217092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5" name="row:Rust phylib:label"/>
          <p:cNvSpPr txBox="1"/>
          <p:nvPr/>
        </p:nvSpPr>
        <p:spPr>
          <a:xfrm>
            <a:off x="12248689" y="715079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346" name="legend:title"/>
          <p:cNvSpPr txBox="1"/>
          <p:nvPr/>
        </p:nvSpPr>
        <p:spPr>
          <a:xfrm>
            <a:off x="384048" y="7434072"/>
            <a:ext cx="54864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50" b="1" i="0">
                <a:solidFill>
                  <a:srgbClr val="1F2937"/>
                </a:solidFill>
              </a:rPr>
              <a:t>Legend</a:t>
            </a:r>
          </a:p>
        </p:txBody>
      </p:sp>
      <p:sp>
        <p:nvSpPr>
          <p:cNvPr id="347" name="legend:start"/>
          <p:cNvSpPr/>
          <p:nvPr/>
        </p:nvSpPr>
        <p:spPr>
          <a:xfrm>
            <a:off x="946404" y="747522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48" name="legend:dev"/>
          <p:cNvCxnSpPr/>
          <p:nvPr/>
        </p:nvCxnSpPr>
        <p:spPr>
          <a:xfrm>
            <a:off x="1014983" y="7507224"/>
            <a:ext cx="329185" cy="0"/>
          </a:xfrm>
          <a:prstGeom prst="line">
            <a:avLst/>
          </a:prstGeom>
          <a:ln w="12700">
            <a:solidFill>
              <a:srgbClr val="64748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legend:release"/>
          <p:cNvSpPr/>
          <p:nvPr/>
        </p:nvSpPr>
        <p:spPr>
          <a:xfrm>
            <a:off x="1337310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legend:t1"/>
          <p:cNvSpPr txBox="1"/>
          <p:nvPr/>
        </p:nvSpPr>
        <p:spPr>
          <a:xfrm>
            <a:off x="1481328" y="7434072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650">
                <a:solidFill>
                  <a:srgbClr val="475569"/>
                </a:solidFill>
              </a:rPr>
              <a:t>~X.Y  ○  approx. development start → ● first canonical release</a:t>
            </a:r>
          </a:p>
        </p:txBody>
      </p:sp>
      <p:sp>
        <p:nvSpPr>
          <p:cNvPr id="351" name="legend:m1"/>
          <p:cNvSpPr/>
          <p:nvPr/>
        </p:nvSpPr>
        <p:spPr>
          <a:xfrm>
            <a:off x="3952494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52" name="legend:m-line"/>
          <p:cNvCxnSpPr/>
          <p:nvPr/>
        </p:nvCxnSpPr>
        <p:spPr>
          <a:xfrm>
            <a:off x="3995928" y="7507224"/>
            <a:ext cx="274320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3" name="legend:m2"/>
          <p:cNvSpPr/>
          <p:nvPr/>
        </p:nvSpPr>
        <p:spPr>
          <a:xfrm>
            <a:off x="4226814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4" name="legend:t2"/>
          <p:cNvSpPr txBox="1"/>
          <p:nvPr/>
        </p:nvSpPr>
        <p:spPr>
          <a:xfrm>
            <a:off x="4370832" y="7434072"/>
            <a:ext cx="146304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successive milestones</a:t>
            </a:r>
          </a:p>
        </p:txBody>
      </p:sp>
      <p:sp>
        <p:nvSpPr>
          <p:cNvPr id="355" name="legend:era"/>
          <p:cNvSpPr/>
          <p:nvPr/>
        </p:nvSpPr>
        <p:spPr>
          <a:xfrm>
            <a:off x="5641848" y="7452360"/>
            <a:ext cx="274320" cy="109728"/>
          </a:xfrm>
          <a:prstGeom prst="rect">
            <a:avLst/>
          </a:prstGeom>
          <a:solidFill>
            <a:srgbClr val="334155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6" name="legend:t3"/>
          <p:cNvSpPr txBox="1"/>
          <p:nvPr/>
        </p:nvSpPr>
        <p:spPr>
          <a:xfrm>
            <a:off x="5961888" y="7434072"/>
            <a:ext cx="100584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architecture era</a:t>
            </a:r>
          </a:p>
        </p:txBody>
      </p:sp>
      <p:cxnSp>
        <p:nvCxnSpPr>
          <p:cNvPr id="357" name="legend:ga"/>
          <p:cNvCxnSpPr/>
          <p:nvPr/>
        </p:nvCxnSpPr>
        <p:spPr>
          <a:xfrm>
            <a:off x="6967728" y="7443216"/>
            <a:ext cx="0" cy="128016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8" name="legend:t4"/>
          <p:cNvSpPr txBox="1"/>
          <p:nvPr/>
        </p:nvSpPr>
        <p:spPr>
          <a:xfrm>
            <a:off x="7059168" y="7434072"/>
            <a:ext cx="9144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X.0 release</a:t>
            </a:r>
          </a:p>
        </p:txBody>
      </p:sp>
      <p:cxnSp>
        <p:nvCxnSpPr>
          <p:cNvPr id="359" name="legend:lineage-down"/>
          <p:cNvCxnSpPr/>
          <p:nvPr/>
        </p:nvCxnSpPr>
        <p:spPr>
          <a:xfrm>
            <a:off x="7927848" y="7443216"/>
            <a:ext cx="0" cy="6400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legend:lineage-across"/>
          <p:cNvCxnSpPr/>
          <p:nvPr/>
        </p:nvCxnSpPr>
        <p:spPr>
          <a:xfrm>
            <a:off x="7927848" y="7507224"/>
            <a:ext cx="32004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legend:t5"/>
          <p:cNvSpPr txBox="1"/>
          <p:nvPr/>
        </p:nvSpPr>
        <p:spPr>
          <a:xfrm>
            <a:off x="8339327" y="7434072"/>
            <a:ext cx="310896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lineage: release that a later feature builds on</a:t>
            </a:r>
          </a:p>
        </p:txBody>
      </p:sp>
      <p:sp>
        <p:nvSpPr>
          <p:cNvPr id="362" name="legend:offchart"/>
          <p:cNvSpPr/>
          <p:nvPr/>
        </p:nvSpPr>
        <p:spPr>
          <a:xfrm rot="16200000">
            <a:off x="11494008" y="7466076"/>
            <a:ext cx="82296" cy="82296"/>
          </a:xfrm>
          <a:prstGeom prst="triangle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3" name="legend:t6"/>
          <p:cNvSpPr txBox="1"/>
          <p:nvPr/>
        </p:nvSpPr>
        <p:spPr>
          <a:xfrm>
            <a:off x="11649456" y="7434072"/>
            <a:ext cx="18288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development began before 2011</a:t>
            </a:r>
          </a:p>
        </p:txBody>
      </p:sp>
      <p:sp>
        <p:nvSpPr>
          <p:cNvPr id="364" name="notes:left"/>
          <p:cNvSpPr txBox="1"/>
          <p:nvPr/>
        </p:nvSpPr>
        <p:spPr>
          <a:xfrm>
            <a:off x="384048" y="7616952"/>
            <a:ext cx="68122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● First canonical release in Part VI; a feature keeps evolving after it. 7.3-rc = merged to mainline on 2026-08-20, final 7.3 pending.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○ and dashed line: approximate start of visible development (RFC / patch series). Not audited.</a:t>
            </a:r>
          </a:p>
        </p:txBody>
      </p:sp>
      <p:sp>
        <p:nvSpPr>
          <p:cNvPr id="365" name="notes:right"/>
          <p:cNvSpPr txBox="1"/>
          <p:nvPr/>
        </p:nvSpPr>
        <p:spPr>
          <a:xfrm>
            <a:off x="7388352" y="7616952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Eras follow Part II: they are set by the dominant design problem, overlap, and are not X.0 boundaries.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Rows are grouped by architecture axis. Cross-cutting domains (e.g. BBR, MPTCP, kTLS) and netmem / memory providers (provenance still open) have no row.</a:t>
            </a:r>
          </a:p>
        </p:txBody>
      </p:sp>
      <p:sp>
        <p:nvSpPr>
          <p:cNvPr id="366" name="row:DQL / BQL:start-label"/>
          <p:cNvSpPr txBox="1"/>
          <p:nvPr/>
        </p:nvSpPr>
        <p:spPr>
          <a:xfrm>
            <a:off x="3026664" y="1581721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~pre-3.0</a:t>
            </a:r>
          </a:p>
        </p:txBody>
      </p:sp>
      <p:sp>
        <p:nvSpPr>
          <p:cNvPr id="367" name="row:TSQ:start-label"/>
          <p:cNvSpPr txBox="1"/>
          <p:nvPr/>
        </p:nvSpPr>
        <p:spPr>
          <a:xfrm>
            <a:off x="3272809" y="1691068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</a:t>
            </a:r>
          </a:p>
        </p:txBody>
      </p:sp>
      <p:sp>
        <p:nvSpPr>
          <p:cNvPr id="368" name="row:SO_BUSY_POLL:start-label"/>
          <p:cNvSpPr txBox="1"/>
          <p:nvPr/>
        </p:nvSpPr>
        <p:spPr>
          <a:xfrm>
            <a:off x="3967181" y="1800415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~3.7</a:t>
            </a:r>
          </a:p>
        </p:txBody>
      </p:sp>
      <p:sp>
        <p:nvSpPr>
          <p:cNvPr id="369" name="row:sch_fq / TCP pacing:start-label"/>
          <p:cNvSpPr txBox="1"/>
          <p:nvPr/>
        </p:nvSpPr>
        <p:spPr>
          <a:xfrm>
            <a:off x="3828307" y="1909761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~3.6</a:t>
            </a:r>
          </a:p>
        </p:txBody>
      </p:sp>
      <p:sp>
        <p:nvSpPr>
          <p:cNvPr id="370" name="row:SO_TXTIME / EDT / taprio:start-label"/>
          <p:cNvSpPr txBox="1"/>
          <p:nvPr/>
        </p:nvSpPr>
        <p:spPr>
          <a:xfrm>
            <a:off x="6883546" y="2019108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~4.10</a:t>
            </a:r>
          </a:p>
        </p:txBody>
      </p:sp>
      <p:sp>
        <p:nvSpPr>
          <p:cNvPr id="371" name="row:BIG TCP:start-label"/>
          <p:cNvSpPr txBox="1"/>
          <p:nvPr/>
        </p:nvSpPr>
        <p:spPr>
          <a:xfrm>
            <a:off x="9661036" y="2128456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~5.12</a:t>
            </a:r>
          </a:p>
        </p:txBody>
      </p:sp>
      <p:sp>
        <p:nvSpPr>
          <p:cNvPr id="372" name="row:cake_mq:start-label"/>
          <p:cNvSpPr txBox="1"/>
          <p:nvPr/>
        </p:nvSpPr>
        <p:spPr>
          <a:xfrm>
            <a:off x="12299651" y="2347150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~6.13</a:t>
            </a:r>
          </a:p>
        </p:txBody>
      </p:sp>
      <p:sp>
        <p:nvSpPr>
          <p:cNvPr id="373" name="row:eBPF foundation:start-label"/>
          <p:cNvSpPr txBox="1"/>
          <p:nvPr/>
        </p:nvSpPr>
        <p:spPr>
          <a:xfrm>
            <a:off x="4314367" y="2547937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~3.10</a:t>
            </a:r>
          </a:p>
        </p:txBody>
      </p:sp>
      <p:sp>
        <p:nvSpPr>
          <p:cNvPr id="374" name="row:TC BPF:start-label"/>
          <p:cNvSpPr txBox="1"/>
          <p:nvPr/>
        </p:nvSpPr>
        <p:spPr>
          <a:xfrm>
            <a:off x="5217052" y="2657283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~3.17</a:t>
            </a:r>
          </a:p>
        </p:txBody>
      </p:sp>
      <p:sp>
        <p:nvSpPr>
          <p:cNvPr id="375" name="row:TCX:start-label"/>
          <p:cNvSpPr txBox="1"/>
          <p:nvPr/>
        </p:nvSpPr>
        <p:spPr>
          <a:xfrm>
            <a:off x="10633157" y="2766630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~6.0</a:t>
            </a:r>
          </a:p>
        </p:txBody>
      </p:sp>
      <p:sp>
        <p:nvSpPr>
          <p:cNvPr id="376" name="row:netkit:start-label"/>
          <p:cNvSpPr txBox="1"/>
          <p:nvPr/>
        </p:nvSpPr>
        <p:spPr>
          <a:xfrm>
            <a:off x="10772032" y="2875977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</a:t>
            </a:r>
          </a:p>
        </p:txBody>
      </p:sp>
      <p:sp>
        <p:nvSpPr>
          <p:cNvPr id="377" name="row:cgroup / LWT BPF:start-label"/>
          <p:cNvSpPr txBox="1"/>
          <p:nvPr/>
        </p:nvSpPr>
        <p:spPr>
          <a:xfrm>
            <a:off x="6050299" y="2985325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~4.4</a:t>
            </a:r>
          </a:p>
        </p:txBody>
      </p:sp>
      <p:sp>
        <p:nvSpPr>
          <p:cNvPr id="378" name="row:SOCK_OPS / SOCKMAP:start-label"/>
          <p:cNvSpPr txBox="1"/>
          <p:nvPr/>
        </p:nvSpPr>
        <p:spPr>
          <a:xfrm>
            <a:off x="6397485" y="3094672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~4.7</a:t>
            </a:r>
          </a:p>
        </p:txBody>
      </p:sp>
      <p:sp>
        <p:nvSpPr>
          <p:cNvPr id="379" name="row:BPF struct_ops:start-label"/>
          <p:cNvSpPr txBox="1"/>
          <p:nvPr/>
        </p:nvSpPr>
        <p:spPr>
          <a:xfrm>
            <a:off x="7994542" y="3204019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~4.19</a:t>
            </a:r>
          </a:p>
        </p:txBody>
      </p:sp>
      <p:sp>
        <p:nvSpPr>
          <p:cNvPr id="380" name="row:BPF qdisc:start-label"/>
          <p:cNvSpPr txBox="1"/>
          <p:nvPr/>
        </p:nvSpPr>
        <p:spPr>
          <a:xfrm>
            <a:off x="11883028" y="3313366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~6.10</a:t>
            </a:r>
          </a:p>
        </p:txBody>
      </p:sp>
      <p:sp>
        <p:nvSpPr>
          <p:cNvPr id="381" name="row:SK_LOOKUP:start-label"/>
          <p:cNvSpPr txBox="1"/>
          <p:nvPr/>
        </p:nvSpPr>
        <p:spPr>
          <a:xfrm>
            <a:off x="8480602" y="3422713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~5.2</a:t>
            </a:r>
          </a:p>
        </p:txBody>
      </p:sp>
      <p:sp>
        <p:nvSpPr>
          <p:cNvPr id="382" name="row:XDP:start-label"/>
          <p:cNvSpPr txBox="1"/>
          <p:nvPr/>
        </p:nvSpPr>
        <p:spPr>
          <a:xfrm>
            <a:off x="6133623" y="3532060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~4.4</a:t>
            </a:r>
          </a:p>
        </p:txBody>
      </p:sp>
      <p:sp>
        <p:nvSpPr>
          <p:cNvPr id="383" name="row:page_pool:start-label"/>
          <p:cNvSpPr txBox="1"/>
          <p:nvPr/>
        </p:nvSpPr>
        <p:spPr>
          <a:xfrm>
            <a:off x="6189173" y="3732847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~4.5</a:t>
            </a:r>
          </a:p>
        </p:txBody>
      </p:sp>
      <p:sp>
        <p:nvSpPr>
          <p:cNvPr id="384" name="row:Device Memory TCP RX:start-label"/>
          <p:cNvSpPr txBox="1"/>
          <p:nvPr/>
        </p:nvSpPr>
        <p:spPr>
          <a:xfrm>
            <a:off x="10980343" y="3842194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~6.2</a:t>
            </a:r>
          </a:p>
        </p:txBody>
      </p:sp>
      <p:sp>
        <p:nvSpPr>
          <p:cNvPr id="385" name="row:Device Memory TCP TX:start-label"/>
          <p:cNvSpPr txBox="1"/>
          <p:nvPr/>
        </p:nvSpPr>
        <p:spPr>
          <a:xfrm>
            <a:off x="11605279" y="3951541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~6.8</a:t>
            </a:r>
          </a:p>
        </p:txBody>
      </p:sp>
      <p:sp>
        <p:nvSpPr>
          <p:cNvPr id="386" name="row:io_uring ZCRX:start-label"/>
          <p:cNvSpPr txBox="1"/>
          <p:nvPr/>
        </p:nvSpPr>
        <p:spPr>
          <a:xfrm>
            <a:off x="11188655" y="4060888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~6.4</a:t>
            </a:r>
          </a:p>
        </p:txBody>
      </p:sp>
      <p:sp>
        <p:nvSpPr>
          <p:cNvPr id="387" name="row:large RX buffers (mem. providers):start-label"/>
          <p:cNvSpPr txBox="1"/>
          <p:nvPr/>
        </p:nvSpPr>
        <p:spPr>
          <a:xfrm>
            <a:off x="12299651" y="4170235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~6.13</a:t>
            </a:r>
          </a:p>
        </p:txBody>
      </p:sp>
      <p:sp>
        <p:nvSpPr>
          <p:cNvPr id="388" name="row:XDP multi-buffer:start-label"/>
          <p:cNvSpPr txBox="1"/>
          <p:nvPr/>
        </p:nvSpPr>
        <p:spPr>
          <a:xfrm>
            <a:off x="9522161" y="4279582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~5.11</a:t>
            </a:r>
          </a:p>
        </p:txBody>
      </p:sp>
      <p:sp>
        <p:nvSpPr>
          <p:cNvPr id="389" name="row:AF_XDP:start-label"/>
          <p:cNvSpPr txBox="1"/>
          <p:nvPr/>
        </p:nvSpPr>
        <p:spPr>
          <a:xfrm>
            <a:off x="6744671" y="4388929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~4.9</a:t>
            </a:r>
          </a:p>
        </p:txBody>
      </p:sp>
      <p:sp>
        <p:nvSpPr>
          <p:cNvPr id="390" name="row:AF_XDP multi-buffer:start-label"/>
          <p:cNvSpPr txBox="1"/>
          <p:nvPr/>
        </p:nvSpPr>
        <p:spPr>
          <a:xfrm>
            <a:off x="10216534" y="4498276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~5.16</a:t>
            </a:r>
          </a:p>
        </p:txBody>
      </p:sp>
      <p:sp>
        <p:nvSpPr>
          <p:cNvPr id="391" name="row:RX HW queue leasing:start-label"/>
          <p:cNvSpPr txBox="1"/>
          <p:nvPr/>
        </p:nvSpPr>
        <p:spPr>
          <a:xfrm>
            <a:off x="11952465" y="4607623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~6.11</a:t>
            </a:r>
          </a:p>
        </p:txBody>
      </p:sp>
      <p:sp>
        <p:nvSpPr>
          <p:cNvPr id="392" name="row:nexthop objects:start-label"/>
          <p:cNvSpPr txBox="1"/>
          <p:nvPr/>
        </p:nvSpPr>
        <p:spPr>
          <a:xfrm>
            <a:off x="7439044" y="4917757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~4.15</a:t>
            </a:r>
          </a:p>
        </p:txBody>
      </p:sp>
      <p:sp>
        <p:nvSpPr>
          <p:cNvPr id="393" name="row:per-netns RTNL:start-label"/>
          <p:cNvSpPr txBox="1"/>
          <p:nvPr/>
        </p:nvSpPr>
        <p:spPr>
          <a:xfrm>
            <a:off x="10910906" y="5027104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~6.2</a:t>
            </a:r>
          </a:p>
        </p:txBody>
      </p:sp>
      <p:sp>
        <p:nvSpPr>
          <p:cNvPr id="394" name="row:further RTNL breakup:start-label"/>
          <p:cNvSpPr txBox="1"/>
          <p:nvPr/>
        </p:nvSpPr>
        <p:spPr>
          <a:xfrm>
            <a:off x="11605279" y="5136451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~6.8</a:t>
            </a:r>
          </a:p>
        </p:txBody>
      </p:sp>
      <p:sp>
        <p:nvSpPr>
          <p:cNvPr id="395" name="row:RTNL-less FIB rules:start-label"/>
          <p:cNvSpPr txBox="1"/>
          <p:nvPr/>
        </p:nvSpPr>
        <p:spPr>
          <a:xfrm>
            <a:off x="12299651" y="5245798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~6.13</a:t>
            </a:r>
          </a:p>
        </p:txBody>
      </p:sp>
      <p:sp>
        <p:nvSpPr>
          <p:cNvPr id="396" name="row:YNL tooling:start-label"/>
          <p:cNvSpPr txBox="1"/>
          <p:nvPr/>
        </p:nvSpPr>
        <p:spPr>
          <a:xfrm>
            <a:off x="9869347" y="5355145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~5.13</a:t>
            </a:r>
          </a:p>
        </p:txBody>
      </p:sp>
      <p:sp>
        <p:nvSpPr>
          <p:cNvPr id="397" name="row:queue/NAPI netdev-genl:start-label"/>
          <p:cNvSpPr txBox="1"/>
          <p:nvPr/>
        </p:nvSpPr>
        <p:spPr>
          <a:xfrm>
            <a:off x="10910906" y="5555932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~6.2</a:t>
            </a:r>
          </a:p>
        </p:txBody>
      </p:sp>
      <p:sp>
        <p:nvSpPr>
          <p:cNvPr id="398" name="row:kprobe BPF:start-label"/>
          <p:cNvSpPr txBox="1"/>
          <p:nvPr/>
        </p:nvSpPr>
        <p:spPr>
          <a:xfrm>
            <a:off x="4800428" y="5665279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~3.13</a:t>
            </a:r>
          </a:p>
        </p:txBody>
      </p:sp>
      <p:sp>
        <p:nvSpPr>
          <p:cNvPr id="399" name="row:structured drop reason:start-label"/>
          <p:cNvSpPr txBox="1"/>
          <p:nvPr/>
        </p:nvSpPr>
        <p:spPr>
          <a:xfrm>
            <a:off x="9522161" y="5774626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~5.11</a:t>
            </a:r>
          </a:p>
        </p:txBody>
      </p:sp>
      <p:sp>
        <p:nvSpPr>
          <p:cNvPr id="400" name="row:drop-reason expansion:start-label"/>
          <p:cNvSpPr txBox="1"/>
          <p:nvPr/>
        </p:nvSpPr>
        <p:spPr>
          <a:xfrm>
            <a:off x="10355408" y="5883973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~5.17</a:t>
            </a:r>
          </a:p>
        </p:txBody>
      </p:sp>
      <p:sp>
        <p:nvSpPr>
          <p:cNvPr id="401" name="row:qdisc-drop tracepoint:start-label"/>
          <p:cNvSpPr txBox="1"/>
          <p:nvPr/>
        </p:nvSpPr>
        <p:spPr>
          <a:xfrm>
            <a:off x="12299651" y="5993320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~6.13</a:t>
            </a:r>
          </a:p>
        </p:txBody>
      </p:sp>
      <p:sp>
        <p:nvSpPr>
          <p:cNvPr id="402" name="row:switchdev:start-label"/>
          <p:cNvSpPr txBox="1"/>
          <p:nvPr/>
        </p:nvSpPr>
        <p:spPr>
          <a:xfrm>
            <a:off x="4661554" y="6194107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~3.12</a:t>
            </a:r>
          </a:p>
        </p:txBody>
      </p:sp>
      <p:sp>
        <p:nvSpPr>
          <p:cNvPr id="403" name="row:devlink:start-label"/>
          <p:cNvSpPr txBox="1"/>
          <p:nvPr/>
        </p:nvSpPr>
        <p:spPr>
          <a:xfrm>
            <a:off x="5355926" y="6303454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~3.18</a:t>
            </a:r>
          </a:p>
        </p:txBody>
      </p:sp>
      <p:sp>
        <p:nvSpPr>
          <p:cNvPr id="404" name="row:devlink health:start-label"/>
          <p:cNvSpPr txBox="1"/>
          <p:nvPr/>
        </p:nvSpPr>
        <p:spPr>
          <a:xfrm>
            <a:off x="7439044" y="6412801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~4.15</a:t>
            </a:r>
          </a:p>
        </p:txBody>
      </p:sp>
      <p:sp>
        <p:nvSpPr>
          <p:cNvPr id="405" name="row:phylink:start-label"/>
          <p:cNvSpPr txBox="1"/>
          <p:nvPr/>
        </p:nvSpPr>
        <p:spPr>
          <a:xfrm>
            <a:off x="5494801" y="6522148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~3.19</a:t>
            </a:r>
          </a:p>
        </p:txBody>
      </p:sp>
      <p:sp>
        <p:nvSpPr>
          <p:cNvPr id="406" name="row:Net DIM:start-label"/>
          <p:cNvSpPr txBox="1"/>
          <p:nvPr/>
        </p:nvSpPr>
        <p:spPr>
          <a:xfrm>
            <a:off x="6744671" y="6631495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~4.9</a:t>
            </a:r>
          </a:p>
        </p:txBody>
      </p:sp>
      <p:sp>
        <p:nvSpPr>
          <p:cNvPr id="407" name="row:netdevsim:start-label"/>
          <p:cNvSpPr txBox="1"/>
          <p:nvPr/>
        </p:nvSpPr>
        <p:spPr>
          <a:xfrm>
            <a:off x="7091857" y="6740842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~4.12</a:t>
            </a:r>
          </a:p>
        </p:txBody>
      </p:sp>
      <p:sp>
        <p:nvSpPr>
          <p:cNvPr id="408" name="row:ethtool netlink:start-label"/>
          <p:cNvSpPr txBox="1"/>
          <p:nvPr/>
        </p:nvSpPr>
        <p:spPr>
          <a:xfrm>
            <a:off x="7439044" y="6850189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~4.15</a:t>
            </a:r>
          </a:p>
        </p:txBody>
      </p:sp>
      <p:sp>
        <p:nvSpPr>
          <p:cNvPr id="409" name="row:auxiliary bus:start-label"/>
          <p:cNvSpPr txBox="1"/>
          <p:nvPr/>
        </p:nvSpPr>
        <p:spPr>
          <a:xfrm>
            <a:off x="8827789" y="6959536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~5.5</a:t>
            </a:r>
          </a:p>
        </p:txBody>
      </p:sp>
      <p:sp>
        <p:nvSpPr>
          <p:cNvPr id="410" name="row:threaded NAPI:start-label"/>
          <p:cNvSpPr txBox="1"/>
          <p:nvPr/>
        </p:nvSpPr>
        <p:spPr>
          <a:xfrm>
            <a:off x="9036100" y="7068883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~5.7</a:t>
            </a:r>
          </a:p>
        </p:txBody>
      </p:sp>
      <p:sp>
        <p:nvSpPr>
          <p:cNvPr id="411" name="row:Rust phylib:start-label"/>
          <p:cNvSpPr txBox="1"/>
          <p:nvPr/>
        </p:nvSpPr>
        <p:spPr>
          <a:xfrm>
            <a:off x="10910906" y="7178230"/>
            <a:ext cx="3474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