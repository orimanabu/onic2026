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4"/>
  </p:notesMasterIdLst>
  <p:sldIdLst>
    <p:sldId id="256" r:id="rId63"/>
    <p:sldId id="257" r:id="rId64"/>
    <p:sldId id="258" r:id="rId65"/>
    <p:sldId id="259" r:id="rId66"/>
    <p:sldId id="260" r:id="rId67"/>
    <p:sldId id="261" r:id="rId68"/>
    <p:sldId id="262" r:id="rId69"/>
    <p:sldId id="263" r:id="rId70"/>
    <p:sldId id="264" r:id="rId71"/>
    <p:sldId id="265" r:id="rId72"/>
    <p:sldId id="266" r:id="rId73"/>
    <p:sldId id="267" r:id="rId74"/>
    <p:sldId id="268" r:id="rId75"/>
    <p:sldId id="269" r:id="rId76"/>
    <p:sldId id="270" r:id="rId77"/>
    <p:sldId id="271" r:id="rId78"/>
    <p:sldId id="272" r:id="rId79"/>
    <p:sldId id="273" r:id="rId80"/>
    <p:sldId id="274" r:id="rId81"/>
    <p:sldId id="275" r:id="rId82"/>
    <p:sldId id="276" r:id="rId83"/>
    <p:sldId id="277" r:id="rId84"/>
    <p:sldId id="278" r:id="rId85"/>
    <p:sldId id="279" r:id="rId86"/>
    <p:sldId id="280" r:id="rId87"/>
    <p:sldId id="281" r:id="rId88"/>
    <p:sldId id="282" r:id="rId89"/>
    <p:sldId id="283" r:id="rId90"/>
    <p:sldId id="284" r:id="rId91"/>
    <p:sldId id="285" r:id="rId92"/>
    <p:sldId id="286" r:id="rId93"/>
    <p:sldId id="287" r:id="rId94"/>
    <p:sldId id="288" r:id="rId95"/>
    <p:sldId id="289" r:id="rId96"/>
  </p:sldIdLst>
  <p:sldSz cx="9144000" cy="5143500" type="screen16x9"/>
  <p:notesSz cx="6858000" cy="9144000"/>
  <p:embeddedFontLst>
    <p:embeddedFont>
      <p:font typeface="Overpass" pitchFamily="2" charset="0"/>
      <p:regular r:id="rId125"/>
      <p:bold r:id="rId126"/>
      <p:italic r:id="rId127"/>
      <p:boldItalic r:id="rId128"/>
    </p:embeddedFont>
    <p:embeddedFont>
      <p:font typeface="Overpass Light" pitchFamily="2" charset="0"/>
      <p:regular r:id="rId129"/>
      <p:bold r:id="rId130"/>
      <p:italic r:id="rId131"/>
      <p:boldItalic r:id="rId132"/>
    </p:embeddedFont>
    <p:embeddedFont>
      <p:font typeface="Overpass SemiBold" pitchFamily="2" charset="0"/>
      <p:regular r:id="rId133"/>
      <p:bold r:id="rId134"/>
      <p:italic r:id="rId135"/>
      <p:boldItalic r:id="rId136"/>
    </p:embeddedFont>
    <p:embeddedFont>
      <p:font typeface="Proxima Nova" panose="02000506030000020004" pitchFamily="2" charset="0"/>
      <p:regular r:id="rId137"/>
      <p:bold r:id="rId138"/>
      <p:italic r:id="rId139"/>
      <p:boldItalic r:id="rId140"/>
    </p:embeddedFont>
    <p:embeddedFont>
      <p:font typeface="Red Hat Display" panose="02010303040201060303" pitchFamily="2" charset="0"/>
      <p:regular r:id="rId141"/>
      <p:bold r:id="rId142"/>
      <p:italic r:id="rId143"/>
      <p:boldItalic r:id="rId144"/>
    </p:embeddedFont>
    <p:embeddedFont>
      <p:font typeface="Red Hat Display Black" panose="02010303040201060303" pitchFamily="2" charset="0"/>
      <p:bold r:id="rId145"/>
      <p:italic r:id="rId146"/>
      <p:boldItalic r:id="rId147"/>
    </p:embeddedFont>
    <p:embeddedFont>
      <p:font typeface="Red Hat Display ExtraBold" panose="02010303040201060303" pitchFamily="2" charset="0"/>
      <p:bold r:id="rId148"/>
      <p:italic r:id="rId149"/>
      <p:boldItalic r:id="rId150"/>
    </p:embeddedFont>
    <p:embeddedFont>
      <p:font typeface="Red Hat Display Medium" panose="02010303040201060303" pitchFamily="2" charset="0"/>
      <p:regular r:id="rId151"/>
      <p:bold r:id="rId152"/>
      <p:italic r:id="rId153"/>
      <p:boldItalic r:id="rId154"/>
    </p:embeddedFont>
    <p:embeddedFont>
      <p:font typeface="Red Hat Display SemiBold" panose="02010303040201060303" pitchFamily="2" charset="0"/>
      <p:regular r:id="rId155"/>
      <p:bold r:id="rId156"/>
      <p:italic r:id="rId157"/>
      <p:boldItalic r:id="rId158"/>
    </p:embeddedFont>
    <p:embeddedFont>
      <p:font typeface="Red Hat Text" panose="02010503040201060303" pitchFamily="2" charset="0"/>
      <p:regular r:id="rId159"/>
      <p:bold r:id="rId160"/>
      <p:italic r:id="rId161"/>
      <p:boldItalic r:id="rId162"/>
    </p:embeddedFont>
    <p:embeddedFont>
      <p:font typeface="Red Hat Text Light" panose="02010503040201060303" pitchFamily="2" charset="0"/>
      <p:regular r:id="rId163"/>
      <p:bold r:id="rId164"/>
      <p:italic r:id="rId165"/>
      <p:boldItalic r:id="rId166"/>
    </p:embeddedFont>
    <p:embeddedFont>
      <p:font typeface="Red Hat Text Medium" panose="02010503040201060303" pitchFamily="2" charset="0"/>
      <p:regular r:id="rId167"/>
      <p:bold r:id="rId168"/>
      <p:italic r:id="rId169"/>
      <p:boldItalic r:id="rId170"/>
    </p:embeddedFont>
    <p:embeddedFont>
      <p:font typeface="Red Hat Text SemiBold" panose="02010503040201060303" pitchFamily="2" charset="0"/>
      <p:regular r:id="rId171"/>
      <p:bold r:id="rId172"/>
      <p:italic r:id="rId173"/>
      <p:boldItalic r:id="rId174"/>
    </p:embeddedFont>
    <p:embeddedFont>
      <p:font typeface="Roboto" panose="02000000000000000000" pitchFamily="2" charset="0"/>
      <p:regular r:id="rId175"/>
      <p:bold r:id="rId176"/>
      <p:italic r:id="rId177"/>
      <p:boldItalic r:id="rId17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2" roundtripDataSignature="AMtx7mggItRyF/M6Lac3xm6+05QSfIy1q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 Aleszczyk" initials="" lastIdx="12" clrIdx="0"/>
  <p:cmAuthor id="1" name="Jamie Bainbridge" initials="" lastIdx="1" clrIdx="1"/>
  <p:cmAuthor id="2" name="Vrinda Punj" initials="" lastIdx="2" clrIdx="2"/>
  <p:cmAuthor id="3" name="Gurpreet Singh" initials="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41122ED-C58B-4D6F-A3E8-FEB46EA13A1F}">
  <a:tblStyle styleId="{341122ED-C58B-4D6F-A3E8-FEB46EA13A1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0700BD1-130C-4097-AF04-998BC94A12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63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071136E-2C2D-4B0A-99D1-7F44F3407FB6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3" Type="http://schemas.openxmlformats.org/officeDocument/2006/relationships/slide" Target="slides/slide1.xml"/><Relationship Id="rId64" Type="http://schemas.openxmlformats.org/officeDocument/2006/relationships/slide" Target="slides/slide2.xml"/><Relationship Id="rId65" Type="http://schemas.openxmlformats.org/officeDocument/2006/relationships/slide" Target="slides/slide3.xml"/><Relationship Id="rId66" Type="http://schemas.openxmlformats.org/officeDocument/2006/relationships/slide" Target="slides/slide4.xml"/><Relationship Id="rId67" Type="http://schemas.openxmlformats.org/officeDocument/2006/relationships/slide" Target="slides/slide5.xml"/><Relationship Id="rId68" Type="http://schemas.openxmlformats.org/officeDocument/2006/relationships/slide" Target="slides/slide6.xml"/><Relationship Id="rId69" Type="http://schemas.openxmlformats.org/officeDocument/2006/relationships/slide" Target="slides/slide7.xml"/><Relationship Id="rId70" Type="http://schemas.openxmlformats.org/officeDocument/2006/relationships/slide" Target="slides/slide8.xml"/><Relationship Id="rId71" Type="http://schemas.openxmlformats.org/officeDocument/2006/relationships/slide" Target="slides/slide9.xml"/><Relationship Id="rId72" Type="http://schemas.openxmlformats.org/officeDocument/2006/relationships/slide" Target="slides/slide10.xml"/><Relationship Id="rId73" Type="http://schemas.openxmlformats.org/officeDocument/2006/relationships/slide" Target="slides/slide11.xml"/><Relationship Id="rId74" Type="http://schemas.openxmlformats.org/officeDocument/2006/relationships/slide" Target="slides/slide12.xml"/><Relationship Id="rId75" Type="http://schemas.openxmlformats.org/officeDocument/2006/relationships/slide" Target="slides/slide13.xml"/><Relationship Id="rId76" Type="http://schemas.openxmlformats.org/officeDocument/2006/relationships/slide" Target="slides/slide14.xml"/><Relationship Id="rId77" Type="http://schemas.openxmlformats.org/officeDocument/2006/relationships/slide" Target="slides/slide15.xml"/><Relationship Id="rId78" Type="http://schemas.openxmlformats.org/officeDocument/2006/relationships/slide" Target="slides/slide16.xml"/><Relationship Id="rId79" Type="http://schemas.openxmlformats.org/officeDocument/2006/relationships/slide" Target="slides/slide17.xml"/><Relationship Id="rId80" Type="http://schemas.openxmlformats.org/officeDocument/2006/relationships/slide" Target="slides/slide18.xml"/><Relationship Id="rId81" Type="http://schemas.openxmlformats.org/officeDocument/2006/relationships/slide" Target="slides/slide19.xml"/><Relationship Id="rId82" Type="http://schemas.openxmlformats.org/officeDocument/2006/relationships/slide" Target="slides/slide20.xml"/><Relationship Id="rId83" Type="http://schemas.openxmlformats.org/officeDocument/2006/relationships/slide" Target="slides/slide21.xml"/><Relationship Id="rId84" Type="http://schemas.openxmlformats.org/officeDocument/2006/relationships/slide" Target="slides/slide22.xml"/><Relationship Id="rId85" Type="http://schemas.openxmlformats.org/officeDocument/2006/relationships/slide" Target="slides/slide23.xml"/><Relationship Id="rId86" Type="http://schemas.openxmlformats.org/officeDocument/2006/relationships/slide" Target="slides/slide24.xml"/><Relationship Id="rId87" Type="http://schemas.openxmlformats.org/officeDocument/2006/relationships/slide" Target="slides/slide25.xml"/><Relationship Id="rId88" Type="http://schemas.openxmlformats.org/officeDocument/2006/relationships/slide" Target="slides/slide26.xml"/><Relationship Id="rId89" Type="http://schemas.openxmlformats.org/officeDocument/2006/relationships/slide" Target="slides/slide27.xml"/><Relationship Id="rId90" Type="http://schemas.openxmlformats.org/officeDocument/2006/relationships/slide" Target="slides/slide28.xml"/><Relationship Id="rId91" Type="http://schemas.openxmlformats.org/officeDocument/2006/relationships/slide" Target="slides/slide29.xml"/><Relationship Id="rId92" Type="http://schemas.openxmlformats.org/officeDocument/2006/relationships/slide" Target="slides/slide30.xml"/><Relationship Id="rId93" Type="http://schemas.openxmlformats.org/officeDocument/2006/relationships/slide" Target="slides/slide31.xml"/><Relationship Id="rId94" Type="http://schemas.openxmlformats.org/officeDocument/2006/relationships/slide" Target="slides/slide32.xml"/><Relationship Id="rId95" Type="http://schemas.openxmlformats.org/officeDocument/2006/relationships/slide" Target="slides/slide33.xml"/><Relationship Id="rId96" Type="http://schemas.openxmlformats.org/officeDocument/2006/relationships/slide" Target="slides/slide34.xml"/><Relationship Id="rId124" Type="http://schemas.openxmlformats.org/officeDocument/2006/relationships/notesMaster" Target="notesMasters/notesMaster1.xml"/><Relationship Id="rId125" Type="http://schemas.openxmlformats.org/officeDocument/2006/relationships/font" Target="fonts/font1.fntdata"/><Relationship Id="rId126" Type="http://schemas.openxmlformats.org/officeDocument/2006/relationships/font" Target="fonts/font2.fntdata"/><Relationship Id="rId127" Type="http://schemas.openxmlformats.org/officeDocument/2006/relationships/font" Target="fonts/font3.fntdata"/><Relationship Id="rId128" Type="http://schemas.openxmlformats.org/officeDocument/2006/relationships/font" Target="fonts/font4.fntdata"/><Relationship Id="rId129" Type="http://schemas.openxmlformats.org/officeDocument/2006/relationships/font" Target="fonts/font5.fntdata"/><Relationship Id="rId130" Type="http://schemas.openxmlformats.org/officeDocument/2006/relationships/font" Target="fonts/font6.fntdata"/><Relationship Id="rId131" Type="http://schemas.openxmlformats.org/officeDocument/2006/relationships/font" Target="fonts/font7.fntdata"/><Relationship Id="rId132" Type="http://schemas.openxmlformats.org/officeDocument/2006/relationships/font" Target="fonts/font8.fntdata"/><Relationship Id="rId133" Type="http://schemas.openxmlformats.org/officeDocument/2006/relationships/font" Target="fonts/font9.fntdata"/><Relationship Id="rId134" Type="http://schemas.openxmlformats.org/officeDocument/2006/relationships/font" Target="fonts/font10.fntdata"/><Relationship Id="rId135" Type="http://schemas.openxmlformats.org/officeDocument/2006/relationships/font" Target="fonts/font11.fntdata"/><Relationship Id="rId136" Type="http://schemas.openxmlformats.org/officeDocument/2006/relationships/font" Target="fonts/font12.fntdata"/><Relationship Id="rId137" Type="http://schemas.openxmlformats.org/officeDocument/2006/relationships/font" Target="fonts/font13.fntdata"/><Relationship Id="rId138" Type="http://schemas.openxmlformats.org/officeDocument/2006/relationships/font" Target="fonts/font14.fntdata"/><Relationship Id="rId139" Type="http://schemas.openxmlformats.org/officeDocument/2006/relationships/font" Target="fonts/font15.fntdata"/><Relationship Id="rId140" Type="http://schemas.openxmlformats.org/officeDocument/2006/relationships/font" Target="fonts/font16.fntdata"/><Relationship Id="rId141" Type="http://schemas.openxmlformats.org/officeDocument/2006/relationships/font" Target="fonts/font17.fntdata"/><Relationship Id="rId142" Type="http://schemas.openxmlformats.org/officeDocument/2006/relationships/font" Target="fonts/font18.fntdata"/><Relationship Id="rId143" Type="http://schemas.openxmlformats.org/officeDocument/2006/relationships/font" Target="fonts/font19.fntdata"/><Relationship Id="rId144" Type="http://schemas.openxmlformats.org/officeDocument/2006/relationships/font" Target="fonts/font20.fntdata"/><Relationship Id="rId145" Type="http://schemas.openxmlformats.org/officeDocument/2006/relationships/font" Target="fonts/font21.fntdata"/><Relationship Id="rId146" Type="http://schemas.openxmlformats.org/officeDocument/2006/relationships/font" Target="fonts/font22.fntdata"/><Relationship Id="rId147" Type="http://schemas.openxmlformats.org/officeDocument/2006/relationships/font" Target="fonts/font23.fntdata"/><Relationship Id="rId148" Type="http://schemas.openxmlformats.org/officeDocument/2006/relationships/font" Target="fonts/font24.fntdata"/><Relationship Id="rId149" Type="http://schemas.openxmlformats.org/officeDocument/2006/relationships/font" Target="fonts/font25.fntdata"/><Relationship Id="rId150" Type="http://schemas.openxmlformats.org/officeDocument/2006/relationships/font" Target="fonts/font26.fntdata"/><Relationship Id="rId151" Type="http://schemas.openxmlformats.org/officeDocument/2006/relationships/font" Target="fonts/font27.fntdata"/><Relationship Id="rId152" Type="http://schemas.openxmlformats.org/officeDocument/2006/relationships/font" Target="fonts/font28.fntdata"/><Relationship Id="rId153" Type="http://schemas.openxmlformats.org/officeDocument/2006/relationships/font" Target="fonts/font29.fntdata"/><Relationship Id="rId154" Type="http://schemas.openxmlformats.org/officeDocument/2006/relationships/font" Target="fonts/font30.fntdata"/><Relationship Id="rId155" Type="http://schemas.openxmlformats.org/officeDocument/2006/relationships/font" Target="fonts/font31.fntdata"/><Relationship Id="rId156" Type="http://schemas.openxmlformats.org/officeDocument/2006/relationships/font" Target="fonts/font32.fntdata"/><Relationship Id="rId157" Type="http://schemas.openxmlformats.org/officeDocument/2006/relationships/font" Target="fonts/font33.fntdata"/><Relationship Id="rId158" Type="http://schemas.openxmlformats.org/officeDocument/2006/relationships/font" Target="fonts/font34.fntdata"/><Relationship Id="rId159" Type="http://schemas.openxmlformats.org/officeDocument/2006/relationships/font" Target="fonts/font35.fntdata"/><Relationship Id="rId160" Type="http://schemas.openxmlformats.org/officeDocument/2006/relationships/font" Target="fonts/font36.fntdata"/><Relationship Id="rId161" Type="http://schemas.openxmlformats.org/officeDocument/2006/relationships/font" Target="fonts/font37.fntdata"/><Relationship Id="rId162" Type="http://schemas.openxmlformats.org/officeDocument/2006/relationships/font" Target="fonts/font38.fntdata"/><Relationship Id="rId163" Type="http://schemas.openxmlformats.org/officeDocument/2006/relationships/font" Target="fonts/font39.fntdata"/><Relationship Id="rId164" Type="http://schemas.openxmlformats.org/officeDocument/2006/relationships/font" Target="fonts/font40.fntdata"/><Relationship Id="rId165" Type="http://schemas.openxmlformats.org/officeDocument/2006/relationships/font" Target="fonts/font41.fntdata"/><Relationship Id="rId166" Type="http://schemas.openxmlformats.org/officeDocument/2006/relationships/font" Target="fonts/font42.fntdata"/><Relationship Id="rId167" Type="http://schemas.openxmlformats.org/officeDocument/2006/relationships/font" Target="fonts/font43.fntdata"/><Relationship Id="rId168" Type="http://schemas.openxmlformats.org/officeDocument/2006/relationships/font" Target="fonts/font44.fntdata"/><Relationship Id="rId169" Type="http://schemas.openxmlformats.org/officeDocument/2006/relationships/font" Target="fonts/font45.fntdata"/><Relationship Id="rId170" Type="http://schemas.openxmlformats.org/officeDocument/2006/relationships/font" Target="fonts/font46.fntdata"/><Relationship Id="rId171" Type="http://schemas.openxmlformats.org/officeDocument/2006/relationships/font" Target="fonts/font47.fntdata"/><Relationship Id="rId172" Type="http://schemas.openxmlformats.org/officeDocument/2006/relationships/font" Target="fonts/font48.fntdata"/><Relationship Id="rId173" Type="http://schemas.openxmlformats.org/officeDocument/2006/relationships/font" Target="fonts/font49.fntdata"/><Relationship Id="rId174" Type="http://schemas.openxmlformats.org/officeDocument/2006/relationships/font" Target="fonts/font50.fntdata"/><Relationship Id="rId175" Type="http://schemas.openxmlformats.org/officeDocument/2006/relationships/font" Target="fonts/font51.fntdata"/><Relationship Id="rId176" Type="http://schemas.openxmlformats.org/officeDocument/2006/relationships/font" Target="fonts/font52.fntdata"/><Relationship Id="rId177" Type="http://schemas.openxmlformats.org/officeDocument/2006/relationships/font" Target="fonts/font53.fntdata"/><Relationship Id="rId178" Type="http://schemas.openxmlformats.org/officeDocument/2006/relationships/font" Target="fonts/font54.fntdata"/><Relationship Id="rId182" Type="http://customschemas.google.com/relationships/presentationmetadata" Target="metadata"/><Relationship Id="rId183" Type="http://schemas.openxmlformats.org/officeDocument/2006/relationships/commentAuthors" Target="commentAuthors.xml"/><Relationship Id="rId184" Type="http://schemas.openxmlformats.org/officeDocument/2006/relationships/presProps" Target="presProps.xml"/><Relationship Id="rId185" Type="http://schemas.openxmlformats.org/officeDocument/2006/relationships/viewProps" Target="viewProps.xml"/><Relationship Id="rId186" Type="http://schemas.openxmlformats.org/officeDocument/2006/relationships/theme" Target="theme/theme1.xml"/><Relationship Id="rId18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wired / host networking を中心に扱う。RDMA、Wi-Fi 全般、QUIC は対象外。SECURITY は kTLS / XFRM / WireGuard / TCP-AO のように networking architecture と交差する範囲のみ。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重要なのは旧 path が消えたことではない。CPU が system RAM 上の skb を処理するモデルは今も広く維持されている。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Era 1 は accounting / API の基礎、Era 2–3 は reusable object / programmability、Era 4 は assignment / lifetime / synchronization の明示化が目立つ。各 Era は重なりを許し、厳密な periodization ではない。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境界は重なり、ある era で始まった仕組みは後続 era でも継続して発展する。矢印は feature dependency ではなく支配的な設計課題の変化。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下段は上段の単純な後継ではなく、5.x〜6.x にかけて適用範囲と attachment point が独立・並行して追加された。SOCK_OPS は packet hook ではなく transport lifecycle hook。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Device Memory TCP RX (6.12) は専用経路で先行し、6.15 で provider API を一般化 (consumer-specific path の先行 → provider API の一般化)。7.0 large RX buffers / 7.3-rc devmem buffers &gt; PAGE_SIZE は buffer geometry を control-plane contract にした。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per-netns RTNL は 6.13 で完成した機能ではなく、複数 release にまたがる migration。7.3 を「完了」と呼ぶ根拠ではない。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これらは別々の subsystem で、一つの framework が他を置き換えた歴史ではない。netdevsim (4.16) は hardware なしに framework API を検証する test device、auxiliary bus (5.11) は driver composition / lifetime contract。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各行は「一つの contract が後続機能を直接生んだ」という因果ではなく、共存を可能にした architecture 上の接続点。OBSERVABILITY は独立した行ではなく、全行にかかる evidence layer。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Part VI の canonical milestone を 6 軸 × 4 era で俯瞰した年表 (別添スライド)。cross-cutting domain の milestone (BBR, MPTCP, VXLAN, kTLS など) には行がない。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red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subTitle" idx="1"/>
          </p:nvPr>
        </p:nvSpPr>
        <p:spPr>
          <a:xfrm>
            <a:off x="1562794" y="2641369"/>
            <a:ext cx="56499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2" name="Google Shape;12;p85"/>
          <p:cNvSpPr txBox="1">
            <a:spLocks noGrp="1"/>
          </p:cNvSpPr>
          <p:nvPr>
            <p:ph type="title"/>
          </p:nvPr>
        </p:nvSpPr>
        <p:spPr>
          <a:xfrm>
            <a:off x="1562906" y="1307719"/>
            <a:ext cx="56499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lt1"/>
                </a:solidFill>
              </a:defRPr>
            </a:lvl1pPr>
            <a:lvl2pPr lvl="1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lt1"/>
                </a:solidFill>
              </a:defRPr>
            </a:lvl2pPr>
            <a:lvl3pPr lvl="2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lt1"/>
                </a:solidFill>
              </a:defRPr>
            </a:lvl3pPr>
            <a:lvl4pPr lvl="3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lt1"/>
                </a:solidFill>
              </a:defRPr>
            </a:lvl4pPr>
            <a:lvl5pPr lvl="4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lt1"/>
                </a:solidFill>
              </a:defRPr>
            </a:lvl5pPr>
            <a:lvl6pPr lvl="5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lt1"/>
                </a:solidFill>
              </a:defRPr>
            </a:lvl6pPr>
            <a:lvl7pPr lvl="6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lt1"/>
                </a:solidFill>
              </a:defRPr>
            </a:lvl7pPr>
            <a:lvl8pPr lvl="7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lt1"/>
                </a:solidFill>
              </a:defRPr>
            </a:lvl8pPr>
            <a:lvl9pPr lvl="8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85"/>
          <p:cNvSpPr txBox="1">
            <a:spLocks noGrp="1"/>
          </p:cNvSpPr>
          <p:nvPr>
            <p:ph type="subTitle" idx="2"/>
          </p:nvPr>
        </p:nvSpPr>
        <p:spPr>
          <a:xfrm>
            <a:off x="1562794" y="3511275"/>
            <a:ext cx="15303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85"/>
          <p:cNvSpPr txBox="1">
            <a:spLocks noGrp="1"/>
          </p:cNvSpPr>
          <p:nvPr>
            <p:ph type="subTitle" idx="3"/>
          </p:nvPr>
        </p:nvSpPr>
        <p:spPr>
          <a:xfrm>
            <a:off x="3353888" y="3511275"/>
            <a:ext cx="15303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2pPr>
            <a:lvl3pPr lvl="2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lvl="3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lvl="4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5pPr>
            <a:lvl6pPr lvl="5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6pPr>
            <a:lvl7pPr lvl="6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7pPr>
            <a:lvl8pPr lvl="7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8pPr>
            <a:lvl9pPr lvl="8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15" name="Google Shape;15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" name="Google Shape;16;p8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8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">
  <p:cSld name="CUSTOM_4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0" name="Google Shape;20;p8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8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22" name="Google Shape;22;p8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8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88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 b="1" i="0" u="none" strike="noStrike" cap="none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INTERNAL USE ONLY</a:t>
            </a:r>
            <a:endParaRPr sz="500" b="1" i="0" u="none" strike="noStrike" cap="none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25" name="Google Shape;25;p88"/>
          <p:cNvPicPr preferRelativeResize="0"/>
          <p:nvPr/>
        </p:nvPicPr>
        <p:blipFill rotWithShape="1">
          <a:blip r:embed="rId2">
            <a:alphaModFix/>
          </a:blip>
          <a:srcRect t="326" b="315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88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500">
                <a:solidFill>
                  <a:srgbClr val="4D4D4F"/>
                </a:solidFill>
              </a:defRPr>
            </a:lvl1pPr>
            <a:lvl2pPr lvl="1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2pPr>
            <a:lvl3pPr lvl="2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3pPr>
            <a:lvl4pPr lvl="3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4pPr>
            <a:lvl5pPr lvl="4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5pPr>
            <a:lvl6pPr lvl="5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6pPr>
            <a:lvl7pPr lvl="6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7pPr>
            <a:lvl8pPr lvl="7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8pPr>
            <a:lvl9pPr lvl="8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large quote white">
  <p:cSld name="CUSTOM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9"/>
          <p:cNvSpPr txBox="1">
            <a:spLocks noGrp="1"/>
          </p:cNvSpPr>
          <p:nvPr>
            <p:ph type="title"/>
          </p:nvPr>
        </p:nvSpPr>
        <p:spPr>
          <a:xfrm>
            <a:off x="1557019" y="1412438"/>
            <a:ext cx="5994000" cy="23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100">
                <a:solidFill>
                  <a:srgbClr val="EE0000"/>
                </a:solidFill>
              </a:defRPr>
            </a:lvl1pPr>
            <a:lvl2pPr lvl="1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100">
                <a:solidFill>
                  <a:srgbClr val="EE0000"/>
                </a:solidFill>
              </a:defRPr>
            </a:lvl2pPr>
            <a:lvl3pPr lvl="2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100">
                <a:solidFill>
                  <a:srgbClr val="EE0000"/>
                </a:solidFill>
              </a:defRPr>
            </a:lvl3pPr>
            <a:lvl4pPr lvl="3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100">
                <a:solidFill>
                  <a:srgbClr val="EE0000"/>
                </a:solidFill>
              </a:defRPr>
            </a:lvl4pPr>
            <a:lvl5pPr lvl="4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100">
                <a:solidFill>
                  <a:srgbClr val="EE0000"/>
                </a:solidFill>
              </a:defRPr>
            </a:lvl5pPr>
            <a:lvl6pPr lvl="5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100">
                <a:solidFill>
                  <a:srgbClr val="EE0000"/>
                </a:solidFill>
              </a:defRPr>
            </a:lvl6pPr>
            <a:lvl7pPr lvl="6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100">
                <a:solidFill>
                  <a:srgbClr val="EE0000"/>
                </a:solidFill>
              </a:defRPr>
            </a:lvl7pPr>
            <a:lvl8pPr lvl="7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100">
                <a:solidFill>
                  <a:srgbClr val="EE0000"/>
                </a:solidFill>
              </a:defRPr>
            </a:lvl8pPr>
            <a:lvl9pPr lvl="8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100">
                <a:solidFill>
                  <a:srgbClr val="EE0000"/>
                </a:solidFill>
              </a:defRPr>
            </a:lvl9pPr>
          </a:lstStyle>
          <a:p>
            <a:endParaRPr/>
          </a:p>
        </p:txBody>
      </p:sp>
      <p:cxnSp>
        <p:nvCxnSpPr>
          <p:cNvPr id="29" name="Google Shape;29;p8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8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89"/>
          <p:cNvSpPr txBox="1">
            <a:spLocks noGrp="1"/>
          </p:cNvSpPr>
          <p:nvPr>
            <p:ph type="subTitle" idx="1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7175" tIns="68575" rIns="68575" bIns="685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pic>
        <p:nvPicPr>
          <p:cNvPr id="32" name="Google Shape;32;p89"/>
          <p:cNvPicPr preferRelativeResize="0"/>
          <p:nvPr/>
        </p:nvPicPr>
        <p:blipFill rotWithShape="1">
          <a:blip r:embed="rId3">
            <a:alphaModFix/>
          </a:blip>
          <a:srcRect t="326" b="315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" name="Google Shape;33;p89"/>
          <p:cNvCxnSpPr/>
          <p:nvPr/>
        </p:nvCxnSpPr>
        <p:spPr>
          <a:xfrm>
            <a:off x="1557019" y="1240275"/>
            <a:ext cx="1043100" cy="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5">
  <p:cSld name="CUSTOM_4_40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4a581e2aca_0_16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36" name="Google Shape;36;g34a581e2aca_0_16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g34a581e2aca_0_16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38" name="Google Shape;38;g34a581e2aca_0_16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g34a581e2aca_0_168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 b="1" i="0" u="none" strike="noStrike" cap="none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INTERNAL USE ONLY</a:t>
            </a:r>
            <a:endParaRPr sz="500" b="1" i="0" u="none" strike="noStrike" cap="none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41" name="Google Shape;41;g34a581e2aca_0_168"/>
          <p:cNvPicPr preferRelativeResize="0"/>
          <p:nvPr/>
        </p:nvPicPr>
        <p:blipFill rotWithShape="1">
          <a:blip r:embed="rId2">
            <a:alphaModFix/>
          </a:blip>
          <a:srcRect t="327" b="316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g34a581e2aca_0_168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500">
                <a:solidFill>
                  <a:srgbClr val="4D4D4F"/>
                </a:solidFill>
              </a:defRPr>
            </a:lvl1pPr>
            <a:lvl2pPr lvl="1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2pPr>
            <a:lvl3pPr lvl="2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3pPr>
            <a:lvl4pPr lvl="3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4pPr>
            <a:lvl5pPr lvl="4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5pPr>
            <a:lvl6pPr lvl="5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6pPr>
            <a:lvl7pPr lvl="6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7pPr>
            <a:lvl8pPr lvl="7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8pPr>
            <a:lvl9pPr lvl="8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6">
  <p:cSld name="CUSTOM_4_4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4a581e2aca_0_353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45" name="Google Shape;45;g34a581e2aca_0_35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g34a581e2aca_0_35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47" name="Google Shape;47;g34a581e2aca_0_35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g34a581e2aca_0_35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g34a581e2aca_0_353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1" i="0" u="none" strike="noStrike" cap="none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50" name="Google Shape;50;g34a581e2aca_0_353"/>
          <p:cNvPicPr preferRelativeResize="0"/>
          <p:nvPr/>
        </p:nvPicPr>
        <p:blipFill rotWithShape="1">
          <a:blip r:embed="rId2">
            <a:alphaModFix/>
          </a:blip>
          <a:srcRect t="327" b="316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g34a581e2aca_0_353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500">
                <a:solidFill>
                  <a:srgbClr val="4D4D4F"/>
                </a:solidFill>
              </a:defRPr>
            </a:lvl1pPr>
            <a:lvl2pPr lvl="1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2pPr>
            <a:lvl3pPr lvl="2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3pPr>
            <a:lvl4pPr lvl="3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4pPr>
            <a:lvl5pPr lvl="4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5pPr>
            <a:lvl6pPr lvl="5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6pPr>
            <a:lvl7pPr lvl="6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7pPr>
            <a:lvl8pPr lvl="7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8pPr>
            <a:lvl9pPr lvl="8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8" name="Google Shape;58;p1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9" name="Google Shape;59;p1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3 1">
  <p:cSld name="CUSTOM_4_30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2"/>
          <p:cNvSpPr txBox="1">
            <a:spLocks noGrp="1"/>
          </p:cNvSpPr>
          <p:nvPr>
            <p:ph type="title"/>
          </p:nvPr>
        </p:nvSpPr>
        <p:spPr>
          <a:xfrm>
            <a:off x="1314450" y="366600"/>
            <a:ext cx="65151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cxnSp>
        <p:nvCxnSpPr>
          <p:cNvPr id="62" name="Google Shape;62;p12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3" name="Google Shape;63;p12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4" name="Google Shape;64;p12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" name="Google Shape;65;p122"/>
          <p:cNvPicPr preferRelativeResize="0"/>
          <p:nvPr/>
        </p:nvPicPr>
        <p:blipFill rotWithShape="1">
          <a:blip r:embed="rId2">
            <a:alphaModFix/>
          </a:blip>
          <a:srcRect t="326" b="315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22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500">
                <a:solidFill>
                  <a:srgbClr val="4D4D4F"/>
                </a:solidFill>
              </a:defRPr>
            </a:lvl1pPr>
            <a:lvl2pPr lvl="1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2pPr>
            <a:lvl3pPr lvl="2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3pPr>
            <a:lvl4pPr lvl="3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4pPr>
            <a:lvl5pPr lvl="4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5pPr>
            <a:lvl6pPr lvl="5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6pPr>
            <a:lvl7pPr lvl="6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7pPr>
            <a:lvl8pPr lvl="7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8pPr>
            <a:lvl9pPr lvl="8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22"/>
          <p:cNvSpPr txBox="1">
            <a:spLocks noGrp="1"/>
          </p:cNvSpPr>
          <p:nvPr>
            <p:ph type="body" idx="2"/>
          </p:nvPr>
        </p:nvSpPr>
        <p:spPr>
          <a:xfrm>
            <a:off x="610256" y="1151606"/>
            <a:ext cx="7933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verpass Light"/>
              <a:buChar char="●"/>
              <a:defRPr sz="1400">
                <a:solidFill>
                  <a:srgbClr val="434343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verpass Light"/>
              <a:buChar char="○"/>
              <a:defRPr sz="1400">
                <a:solidFill>
                  <a:srgbClr val="434343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verpass Light"/>
              <a:buChar char="■"/>
              <a:defRPr sz="1400">
                <a:solidFill>
                  <a:srgbClr val="434343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verpass Light"/>
              <a:buChar char="●"/>
              <a:defRPr sz="1400">
                <a:solidFill>
                  <a:srgbClr val="434343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verpass Light"/>
              <a:buChar char="○"/>
              <a:defRPr sz="1400">
                <a:solidFill>
                  <a:srgbClr val="434343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verpass Light"/>
              <a:buChar char="■"/>
              <a:defRPr sz="1400">
                <a:solidFill>
                  <a:srgbClr val="434343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verpass Light"/>
              <a:buChar char="●"/>
              <a:defRPr sz="1400">
                <a:solidFill>
                  <a:srgbClr val="434343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verpass Light"/>
              <a:buChar char="○"/>
              <a:defRPr sz="1400">
                <a:solidFill>
                  <a:srgbClr val="434343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Overpass Light"/>
              <a:buChar char="■"/>
              <a:defRPr sz="1400">
                <a:solidFill>
                  <a:srgbClr val="434343"/>
                </a:solidFill>
                <a:latin typeface="Overpass Light"/>
                <a:ea typeface="Overpass Light"/>
                <a:cs typeface="Overpass Light"/>
                <a:sym typeface="Overpas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">
  <p:cSld name="CUSTOM_4_37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7e04dc416_1_215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70" name="Google Shape;70;g327e04dc416_1_21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71;g327e04dc416_1_21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72" name="Google Shape;72;g327e04dc416_1_21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" name="Google Shape;73;g327e04dc416_1_21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g327e04dc416_1_215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 b="1" i="0" u="none" strike="noStrike" cap="none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INTERNAL USE ONLY</a:t>
            </a:r>
            <a:endParaRPr sz="500" b="1" i="0" u="none" strike="noStrike" cap="none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75" name="Google Shape;75;g327e04dc416_1_215"/>
          <p:cNvPicPr preferRelativeResize="0"/>
          <p:nvPr/>
        </p:nvPicPr>
        <p:blipFill rotWithShape="1">
          <a:blip r:embed="rId2">
            <a:alphaModFix/>
          </a:blip>
          <a:srcRect t="326" b="316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27e04dc416_1_215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500">
                <a:solidFill>
                  <a:srgbClr val="4D4D4F"/>
                </a:solidFill>
              </a:defRPr>
            </a:lvl1pPr>
            <a:lvl2pPr lvl="1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2pPr>
            <a:lvl3pPr lvl="2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3pPr>
            <a:lvl4pPr lvl="3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4pPr>
            <a:lvl5pPr lvl="4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5pPr>
            <a:lvl6pPr lvl="5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6pPr>
            <a:lvl7pPr lvl="6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7pPr>
            <a:lvl8pPr lvl="7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8pPr>
            <a:lvl9pPr lvl="8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">
  <p:cSld name="CUSTOM_4_38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27e04dc416_1_439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79" name="Google Shape;79;g327e04dc416_1_43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0" name="Google Shape;80;g327e04dc416_1_439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81" name="Google Shape;81;g327e04dc416_1_43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Google Shape;82;g327e04dc416_1_43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g327e04dc416_1_439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 b="1" i="0" u="none" strike="noStrike" cap="none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INTERNAL USE ONLY</a:t>
            </a:r>
            <a:endParaRPr sz="500" b="1" i="0" u="none" strike="noStrike" cap="none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84" name="Google Shape;84;g327e04dc416_1_439"/>
          <p:cNvPicPr preferRelativeResize="0"/>
          <p:nvPr/>
        </p:nvPicPr>
        <p:blipFill rotWithShape="1">
          <a:blip r:embed="rId2">
            <a:alphaModFix/>
          </a:blip>
          <a:srcRect t="326" b="316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27e04dc416_1_439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500">
                <a:solidFill>
                  <a:srgbClr val="4D4D4F"/>
                </a:solidFill>
              </a:defRPr>
            </a:lvl1pPr>
            <a:lvl2pPr lvl="1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2pPr>
            <a:lvl3pPr lvl="2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3pPr>
            <a:lvl4pPr lvl="3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4pPr>
            <a:lvl5pPr lvl="4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5pPr>
            <a:lvl6pPr lvl="5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6pPr>
            <a:lvl7pPr lvl="6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7pPr>
            <a:lvl8pPr lvl="7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8pPr>
            <a:lvl9pPr lvl="8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">
  <p:cSld name="CUSTOM_4_39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27e04dc416_1_663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88" name="Google Shape;88;g327e04dc416_1_66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9" name="Google Shape;89;g327e04dc416_1_66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90" name="Google Shape;90;g327e04dc416_1_66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1" name="Google Shape;91;g327e04dc416_1_66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g327e04dc416_1_663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500" b="1" i="0" u="none" strike="noStrike" cap="none">
                <a:solidFill>
                  <a:schemeClr val="lt1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chemeClr val="lt1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 b="1" i="0" u="none" strike="noStrike" cap="none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INTERNAL USE ONLY</a:t>
            </a:r>
            <a:endParaRPr sz="500" b="1" i="0" u="none" strike="noStrike" cap="none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93" name="Google Shape;93;g327e04dc416_1_663"/>
          <p:cNvPicPr preferRelativeResize="0"/>
          <p:nvPr/>
        </p:nvPicPr>
        <p:blipFill rotWithShape="1">
          <a:blip r:embed="rId2">
            <a:alphaModFix/>
          </a:blip>
          <a:srcRect t="326" b="316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g327e04dc416_1_663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500">
                <a:solidFill>
                  <a:srgbClr val="4D4D4F"/>
                </a:solidFill>
              </a:defRPr>
            </a:lvl1pPr>
            <a:lvl2pPr lvl="1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2pPr>
            <a:lvl3pPr lvl="2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3pPr>
            <a:lvl4pPr lvl="3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4pPr>
            <a:lvl5pPr lvl="4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5pPr>
            <a:lvl6pPr lvl="5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6pPr>
            <a:lvl7pPr lvl="6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7pPr>
            <a:lvl8pPr lvl="7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8pPr>
            <a:lvl9pPr lvl="8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1 1 1">
  <p:cSld name="CUSTOM_4_26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6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97" name="Google Shape;97;p9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8" name="Google Shape;98;p9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99" name="Google Shape;99;p9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0" name="Google Shape;100;p9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96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6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500">
                <a:solidFill>
                  <a:srgbClr val="4D4D4F"/>
                </a:solidFill>
              </a:defRPr>
            </a:lvl1pPr>
            <a:lvl2pPr lvl="1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2pPr>
            <a:lvl3pPr lvl="2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3pPr>
            <a:lvl4pPr lvl="3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4pPr>
            <a:lvl5pPr lvl="4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5pPr>
            <a:lvl6pPr lvl="5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6pPr>
            <a:lvl7pPr lvl="6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7pPr>
            <a:lvl8pPr lvl="7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8pPr>
            <a:lvl9pPr lvl="8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96"/>
          <p:cNvSpPr txBox="1"/>
          <p:nvPr/>
        </p:nvSpPr>
        <p:spPr>
          <a:xfrm>
            <a:off x="791400" y="1556975"/>
            <a:ext cx="7655700" cy="29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04" name="Google Shape;104;p96"/>
          <p:cNvSpPr/>
          <p:nvPr/>
        </p:nvSpPr>
        <p:spPr>
          <a:xfrm>
            <a:off x="7911550" y="278300"/>
            <a:ext cx="904500" cy="303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6"/>
          <p:cNvSpPr/>
          <p:nvPr/>
        </p:nvSpPr>
        <p:spPr>
          <a:xfrm>
            <a:off x="7059350" y="4707875"/>
            <a:ext cx="974100" cy="25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3">
  <p:cSld name="CUSTOM_4_2_6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7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08" name="Google Shape;108;p9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" name="Google Shape;109;p97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10" name="Google Shape;110;p9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9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97"/>
          <p:cNvSpPr txBox="1"/>
          <p:nvPr/>
        </p:nvSpPr>
        <p:spPr>
          <a:xfrm>
            <a:off x="478519" y="4886775"/>
            <a:ext cx="1214400" cy="1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 b="1" i="0" u="none" strike="noStrike" cap="none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 b="0" i="0" u="none" strike="noStrike" cap="none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Internal Use Only</a:t>
            </a:r>
            <a:endParaRPr sz="500" b="0" i="0" u="none" strike="noStrike" cap="none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pic>
        <p:nvPicPr>
          <p:cNvPr id="113" name="Google Shape;113;p97"/>
          <p:cNvPicPr preferRelativeResize="0"/>
          <p:nvPr/>
        </p:nvPicPr>
        <p:blipFill rotWithShape="1">
          <a:blip r:embed="rId2">
            <a:alphaModFix/>
          </a:blip>
          <a:srcRect t="326" b="315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, subhead, and body">
  <p:cSld name="CUSTOM_4_17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16" name="Google Shape;116;p98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cxnSp>
        <p:nvCxnSpPr>
          <p:cNvPr id="117" name="Google Shape;117;p9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8" name="Google Shape;118;p9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9" name="Google Shape;119;p9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" name="Google Shape;120;p98"/>
          <p:cNvPicPr preferRelativeResize="0"/>
          <p:nvPr/>
        </p:nvPicPr>
        <p:blipFill rotWithShape="1">
          <a:blip r:embed="rId2">
            <a:alphaModFix/>
          </a:blip>
          <a:srcRect t="326" b="315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98"/>
          <p:cNvSpPr txBox="1">
            <a:spLocks noGrp="1"/>
          </p:cNvSpPr>
          <p:nvPr>
            <p:ph type="subTitle" idx="2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98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98"/>
          <p:cNvSpPr txBox="1">
            <a:spLocks noGrp="1"/>
          </p:cNvSpPr>
          <p:nvPr>
            <p:ph type="body" idx="4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">
  <p:cSld name="CUSTOM_4_36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9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26" name="Google Shape;126;p99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cxnSp>
        <p:nvCxnSpPr>
          <p:cNvPr id="127" name="Google Shape;127;p9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" name="Google Shape;128;p9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" name="Google Shape;129;p9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" name="Google Shape;130;p99"/>
          <p:cNvPicPr preferRelativeResize="0"/>
          <p:nvPr/>
        </p:nvPicPr>
        <p:blipFill rotWithShape="1">
          <a:blip r:embed="rId2">
            <a:alphaModFix/>
          </a:blip>
          <a:srcRect t="326" b="315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99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99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">
  <p:cSld name="CUSTOM_4_35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35" name="Google Shape;135;p100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cxnSp>
        <p:nvCxnSpPr>
          <p:cNvPr id="136" name="Google Shape;136;p10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7" name="Google Shape;137;p10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p10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9" name="Google Shape;139;p100"/>
          <p:cNvPicPr preferRelativeResize="0"/>
          <p:nvPr/>
        </p:nvPicPr>
        <p:blipFill rotWithShape="1">
          <a:blip r:embed="rId2">
            <a:alphaModFix/>
          </a:blip>
          <a:srcRect t="326" b="315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00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500">
                <a:solidFill>
                  <a:srgbClr val="4D4D4F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41" name="Google Shape;141;p100"/>
          <p:cNvSpPr txBox="1">
            <a:spLocks noGrp="1"/>
          </p:cNvSpPr>
          <p:nvPr>
            <p:ph type="subTitle" idx="3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100"/>
          <p:cNvSpPr txBox="1"/>
          <p:nvPr/>
        </p:nvSpPr>
        <p:spPr>
          <a:xfrm>
            <a:off x="7443056" y="4874719"/>
            <a:ext cx="3184500" cy="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0" i="0" u="none" strike="noStrike" cap="none">
                <a:solidFill>
                  <a:srgbClr val="FF0000"/>
                </a:solidFill>
                <a:latin typeface="Red Hat Text"/>
                <a:ea typeface="Red Hat Text"/>
                <a:cs typeface="Red Hat Text"/>
                <a:sym typeface="Red Hat Text"/>
              </a:rPr>
              <a:t>Red Hat Confidential - Internal Only</a:t>
            </a:r>
            <a:endParaRPr sz="700" b="0" i="0" u="none" strike="noStrike" cap="none">
              <a:solidFill>
                <a:srgbClr val="FF0000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and body">
  <p:cSld name="CUSTOM_4_17_2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45" name="Google Shape;145;p101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cxnSp>
        <p:nvCxnSpPr>
          <p:cNvPr id="146" name="Google Shape;146;p10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47" name="Google Shape;147;p10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8" name="Google Shape;148;p10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9" name="Google Shape;149;p101"/>
          <p:cNvPicPr preferRelativeResize="0"/>
          <p:nvPr/>
        </p:nvPicPr>
        <p:blipFill rotWithShape="1">
          <a:blip r:embed="rId2">
            <a:alphaModFix/>
          </a:blip>
          <a:srcRect t="326" b="315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01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600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101"/>
          <p:cNvSpPr txBox="1">
            <a:spLocks noGrp="1"/>
          </p:cNvSpPr>
          <p:nvPr>
            <p:ph type="body" idx="3"/>
          </p:nvPr>
        </p:nvSpPr>
        <p:spPr>
          <a:xfrm>
            <a:off x="1828800" y="137160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8575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 algn="l">
              <a:lnSpc>
                <a:spcPct val="140000"/>
              </a:lnSpc>
              <a:spcBef>
                <a:spcPts val="800"/>
              </a:spcBef>
              <a:spcAft>
                <a:spcPts val="80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4" name="Google Shape;154;p1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8" name="Google Shape;158;p1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9" name="Google Shape;159;p1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65" name="Google Shape;165;p1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66" name="Google Shape;166;p1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69" name="Google Shape;169;p1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3" name="Google Shape;173;p1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74" name="Google Shape;174;p1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5" name="Google Shape;175;p1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78" name="Google Shape;178;p1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1" name="Google Shape;181;p1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2" name="Google Shape;182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1">
  <p:cSld name="CUSTOM_4_42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2a04e07b1_0_81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cxnSp>
        <p:nvCxnSpPr>
          <p:cNvPr id="187" name="Google Shape;187;g3a2a04e07b1_0_81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8" name="Google Shape;188;g3a2a04e07b1_0_81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" name="Google Shape;189;g3a2a04e07b1_0_81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0" name="Google Shape;190;g3a2a04e07b1_0_815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g3a2a04e07b1_0_815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192" name="Google Shape;192;g3a2a04e07b1_0_815"/>
          <p:cNvSpPr txBox="1">
            <a:spLocks noGrp="1"/>
          </p:cNvSpPr>
          <p:nvPr>
            <p:ph type="subTitle" idx="3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pic>
        <p:nvPicPr>
          <p:cNvPr id="193" name="Google Shape;193;g3a2a04e07b1_0_8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91906" y="4682963"/>
            <a:ext cx="295350" cy="223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7">
  <p:cSld name="CUSTOM_4_43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5584e5112_4_8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96" name="Google Shape;196;g3a5584e5112_4_8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" name="Google Shape;197;g3a5584e5112_4_8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98" name="Google Shape;198;g3a5584e5112_4_8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g3a5584e5112_4_8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0" name="Google Shape;200;g3a5584e5112_4_88"/>
          <p:cNvPicPr preferRelativeResize="0"/>
          <p:nvPr/>
        </p:nvPicPr>
        <p:blipFill rotWithShape="1">
          <a:blip r:embed="rId2">
            <a:alphaModFix/>
          </a:blip>
          <a:srcRect t="328" b="31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a5584e5112_4_88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8">
  <p:cSld name="CUSTOM_4_44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5584e5112_4_184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04" name="Google Shape;204;g3a5584e5112_4_18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5" name="Google Shape;205;g3a5584e5112_4_18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206" name="Google Shape;206;g3a5584e5112_4_18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g3a5584e5112_4_18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8" name="Google Shape;208;g3a5584e5112_4_184"/>
          <p:cNvPicPr preferRelativeResize="0"/>
          <p:nvPr/>
        </p:nvPicPr>
        <p:blipFill rotWithShape="1">
          <a:blip r:embed="rId2">
            <a:alphaModFix/>
          </a:blip>
          <a:srcRect t="328" b="318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a5584e5112_4_184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8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4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Linux v3.0 から 7.x まで — 15 年間でカーネルネットワークは何が変わったか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b"/>
          <a:lstStyle/>
          <a:p>
            <a:pPr algn="l" marL="0" indent="0">
              <a:spcAft>
                <a:spcPts val="0"/>
              </a:spcAft>
              <a:buNone/>
            </a:pPr>
            <a:r>
              <a:rPr sz="34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Linux Networking Evolution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ext cx="4500000" cy="0"/>
          </a:xfrm>
        </p:spPr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0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2026 年 10 月   ·   調査基準日 2026-10-02 / 構成 r55</a:t>
            </a:r>
          </a:p>
        </p:txBody>
      </p:sp>
      <p:sp>
        <p:nvSpPr>
          <p:cNvPr id="17" name="Google Shape;17;p8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82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本講演の構成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Agenda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240000"/>
            <a:ext cx="2623200" cy="13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0000" rIns="130000" tIns="130000" bIns="130000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</a:t>
            </a:r>
          </a:p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中心命題</a:t>
            </a:r>
          </a:p>
          <a:p>
            <a:pPr algn="l"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複数の execution / memory-ownership model の共存と explicit contracts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60400" y="1240000"/>
            <a:ext cx="2623200" cy="13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0000" rIns="130000" tIns="130000" bIns="130000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</a:t>
            </a:r>
          </a:p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4 つの architecture era</a:t>
            </a:r>
          </a:p>
          <a:p>
            <a:pPr algn="l"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外部の圧力に対して何を解こうとしたか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63600" y="1240000"/>
            <a:ext cx="2623200" cy="13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0000" rIns="130000" tIns="130000" bIns="130000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III</a:t>
            </a:r>
          </a:p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長期 lineage</a:t>
            </a:r>
          </a:p>
          <a:p>
            <a:pPr algn="l"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PERFORMANCE / PROGRAMMABILITY / MEMORY / CONTROL PLANE + cross-cutting domain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2740000"/>
            <a:ext cx="2623200" cy="13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0000" rIns="130000" tIns="130000" bIns="130000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IV</a:t>
            </a:r>
          </a:p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Driver framework</a:t>
            </a:r>
          </a:p>
          <a:p>
            <a:pPr algn="l"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driver-local convention が共通 contract へ移った経緯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60400" y="2740000"/>
            <a:ext cx="2623200" cy="13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0000" rIns="130000" tIns="130000" bIns="130000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V</a:t>
            </a:r>
          </a:p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Observability</a:t>
            </a:r>
          </a:p>
          <a:p>
            <a:pPr algn="l"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複雑化した path を説明可能にする evidence layer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63600" y="2740000"/>
            <a:ext cx="2623200" cy="13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30000" rIns="130000" tIns="130000" bIns="130000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Synthesis</a:t>
            </a:r>
          </a:p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5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まとめと未完の仕事</a:t>
            </a:r>
          </a:p>
          <a:p>
            <a:pPr algn="l"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sz="10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接続点の整理と contract がまだ届いていない箇所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250000"/>
            <a:ext cx="82296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対象範囲: wired / host networking。RDMA・Wi-Fi 全般・QUIC・security protocol の網羅的な歴史は扱わない。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7019" y="1412438"/>
            <a:ext cx="5994000" cy="1200000"/>
          </a:xfrm>
        </p:spPr>
        <p:txBody>
          <a:bodyPr wrap="square" anchor="b"/>
          <a:lstStyle/>
          <a:p>
            <a:pPr algn="l" marL="0" indent="0">
              <a:spcAft>
                <a:spcPts val="0"/>
              </a:spcAft>
              <a:buNone/>
            </a:pPr>
            <a:r>
              <a:rPr sz="30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 — 中心命題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7019" y="2650000"/>
            <a:ext cx="5994000" cy="900000"/>
          </a:xfrm>
        </p:spPr>
        <p:txBody>
          <a:bodyPr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Linux networking は何が変わったのか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「高速化」でも「skb path の置き換え」でもない</a:t>
            </a:r>
          </a:p>
        </p:txBody>
      </p:sp>
      <p:sp>
        <p:nvSpPr>
          <p:cNvPr id="30" name="Google Shape;30;p8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82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skb path は残り、複数の execution / memory model が共存する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 — 中心命題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TextBox 39"/>
          <p:cNvSpPr txBox="1"/>
          <p:nvPr/>
        </p:nvSpPr>
        <p:spPr>
          <a:xfrm>
            <a:off x="457200" y="1180000"/>
            <a:ext cx="37000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2011 年頃 (v3.0)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7200" y="1510000"/>
            <a:ext cx="3100000" cy="486666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NIC RX queue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307200" y="2011666"/>
            <a:ext cx="0" cy="9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7200" y="2116666"/>
            <a:ext cx="3100000" cy="486666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system RAM 上の page / skb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307200" y="2618333"/>
            <a:ext cx="0" cy="9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57200" y="2723333"/>
            <a:ext cx="3100000" cy="486666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NAPI → kernel network stack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3300000"/>
            <a:ext cx="37000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RX queue と system RAM / skb / stack の対応を暗黙に想定しやすかった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7200" y="1180000"/>
            <a:ext cx="4129600" cy="2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3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2026 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57200" y="1510000"/>
            <a:ext cx="1200000" cy="170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12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RX queue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7200" y="1511000"/>
            <a:ext cx="2429600" cy="29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kernel stack / skb</a:t>
            </a:r>
          </a:p>
        </p:txBody>
      </p:sp>
      <p:cxnSp>
        <p:nvCxnSpPr>
          <p:cNvPr id="50" name="Connector 49"/>
          <p:cNvCxnSpPr/>
          <p:nvPr/>
        </p:nvCxnSpPr>
        <p:spPr>
          <a:xfrm flipV="1">
            <a:off x="5757200" y="1656000"/>
            <a:ext cx="500000" cy="704000"/>
          </a:xfrm>
          <a:prstGeom prst="line">
            <a:avLst/>
          </a:prstGeom>
          <a:ln w="15875">
            <a:solidFill>
              <a:srgbClr val="EE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6257200" y="1863000"/>
            <a:ext cx="2429600" cy="29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XDP → AF_XDP / redirect</a:t>
            </a:r>
          </a:p>
        </p:txBody>
      </p:sp>
      <p:cxnSp>
        <p:nvCxnSpPr>
          <p:cNvPr id="52" name="Connector 51"/>
          <p:cNvCxnSpPr/>
          <p:nvPr/>
        </p:nvCxnSpPr>
        <p:spPr>
          <a:xfrm flipV="1">
            <a:off x="5757200" y="2008000"/>
            <a:ext cx="500000" cy="352000"/>
          </a:xfrm>
          <a:prstGeom prst="line">
            <a:avLst/>
          </a:prstGeom>
          <a:ln w="15875">
            <a:solidFill>
              <a:srgbClr val="EE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257200" y="2215000"/>
            <a:ext cx="2429600" cy="29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io_uring ZCRX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757200" y="2360000"/>
            <a:ext cx="500000" cy="0"/>
          </a:xfrm>
          <a:prstGeom prst="line">
            <a:avLst/>
          </a:prstGeom>
          <a:ln w="15875">
            <a:solidFill>
              <a:srgbClr val="EE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257200" y="2567000"/>
            <a:ext cx="2429600" cy="29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device-memory backed receive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757200" y="2360000"/>
            <a:ext cx="500000" cy="352000"/>
          </a:xfrm>
          <a:prstGeom prst="line">
            <a:avLst/>
          </a:prstGeom>
          <a:ln w="15875">
            <a:solidFill>
              <a:srgbClr val="EE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6257200" y="2919000"/>
            <a:ext cx="2429600" cy="29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leased queue → virtual / delegated consumer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757200" y="2360000"/>
            <a:ext cx="500000" cy="704000"/>
          </a:xfrm>
          <a:prstGeom prst="line">
            <a:avLst/>
          </a:prstGeom>
          <a:ln w="15875">
            <a:solidFill>
              <a:srgbClr val="EE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4557200" y="3300000"/>
            <a:ext cx="4129600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同じ「RX queue」が、通常 stack / XDP / io_uring / device memory / virtual device への入口になり得る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4100000"/>
            <a:ext cx="82296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queue identity・memory provider・consumer・lifetime・synchronization を明示し、複数モデルを同じ device 上で選択・共存できるようにしたことが中心命題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82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変化は 6 つの軸で並行して進んだ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 — 6 軸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180000"/>
            <a:ext cx="2636533" cy="1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57200" y="1280000"/>
            <a:ext cx="1500000" cy="230000"/>
          </a:xfrm>
          <a:prstGeom prst="roundRect">
            <a:avLst>
              <a:gd name="adj" fmla="val 8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PERFORMANCE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7200" y="1580000"/>
            <a:ext cx="2436533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queueing / pacing / aggregation / zero-copy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7200" y="2040000"/>
            <a:ext cx="2436533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implicit queueing → explicit accounting / multi-layer scheduling / larger processing units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53733" y="1180000"/>
            <a:ext cx="2636533" cy="1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3353733" y="1280000"/>
            <a:ext cx="1500000" cy="230000"/>
          </a:xfrm>
          <a:prstGeom prst="roundRect">
            <a:avLst>
              <a:gd name="adj" fmla="val 8000"/>
            </a:avLst>
          </a:prstGeom>
          <a:solidFill>
            <a:srgbClr val="E0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PROGRAMMABILITY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53733" y="1580000"/>
            <a:ext cx="2436533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BPF / XDP / socket / protocol / qdisc extension points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53733" y="2040000"/>
            <a:ext cx="2436533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fixed path → verified extension points → reusable programmable infrastructure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50266" y="1180000"/>
            <a:ext cx="2636533" cy="1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150266" y="1280000"/>
            <a:ext cx="1500000" cy="230000"/>
          </a:xfrm>
          <a:prstGeom prst="roundRect">
            <a:avLst>
              <a:gd name="adj" fmla="val 8000"/>
            </a:avLst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MEMORY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50266" y="1580000"/>
            <a:ext cx="2436533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page_pool / netmem / memory providers / device memory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50266" y="2040000"/>
            <a:ext cx="2436533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driver-local page handling → common lifetime / provider / assignment model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2760000"/>
            <a:ext cx="2636533" cy="1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57200" y="2860000"/>
            <a:ext cx="1500000" cy="230000"/>
          </a:xfrm>
          <a:prstGeom prst="roundRect">
            <a:avLst>
              <a:gd name="adj" fmla="val 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CONTROL PLANE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7200" y="3160000"/>
            <a:ext cx="2436533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Netlink object model / YNL / RTNL scope reduction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7200" y="3620000"/>
            <a:ext cx="2436533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embedded / global state → reusable objects / schema / narrower lock scope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253733" y="2760000"/>
            <a:ext cx="2636533" cy="1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353733" y="2860000"/>
            <a:ext cx="1500000" cy="230000"/>
          </a:xfrm>
          <a:prstGeom prst="roundRect">
            <a:avLst>
              <a:gd name="adj" fmla="val 8000"/>
            </a:avLst>
          </a:prstGeom>
          <a:solidFill>
            <a:srgbClr val="6A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OBSERVABILITY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353733" y="3160000"/>
            <a:ext cx="2436533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typed tracing / drop reason / queue-NAPI-memory identity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53733" y="3620000"/>
            <a:ext cx="2436533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opaque outcome → typed reason / identity / correlation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50266" y="2760000"/>
            <a:ext cx="2636533" cy="1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150266" y="2860000"/>
            <a:ext cx="1500000" cy="230000"/>
          </a:xfrm>
          <a:prstGeom prst="roundRect">
            <a:avLst>
              <a:gd name="adj" fmla="val 8000"/>
            </a:avLst>
          </a:prstGeom>
          <a:solidFill>
            <a:srgbClr val="9A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DRIVER FRAMEWORK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50266" y="3160000"/>
            <a:ext cx="2436533" cy="4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switchdev / devlink / phylink / DIM / common driver contracts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150266" y="3620000"/>
            <a:ext cx="2436533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driver-local convention → reusable kernel framework / device-wide object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57200" y="4400000"/>
            <a:ext cx="82296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TRANSPORT / VIRTUAL-OVERLAY / SECURITY は 7 番目以降の軸ではなく、複数の軸を横断する cross-cutting domain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82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共存を可能にした mechanism: explicit contracts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 — contract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180000"/>
            <a:ext cx="1288266" cy="56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object</a:t>
            </a:r>
          </a:p>
          <a:p>
            <a:pPr algn="ctr" marL="0" indent="0">
              <a:spcAft>
                <a:spcPts val="100"/>
              </a:spcAft>
              <a:buNone/>
            </a:pPr>
            <a:r>
              <a:rPr sz="7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再利用可能な named object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45466" y="1180000"/>
            <a:ext cx="1288266" cy="56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accounting</a:t>
            </a:r>
          </a:p>
          <a:p>
            <a:pPr algn="ctr" marL="0" indent="0">
              <a:spcAft>
                <a:spcPts val="100"/>
              </a:spcAft>
              <a:buNone/>
            </a:pPr>
            <a:r>
              <a:rPr sz="7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queued / completed bytes 等の計量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33733" y="1180000"/>
            <a:ext cx="1288266" cy="56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API</a:t>
            </a:r>
          </a:p>
          <a:p>
            <a:pPr algn="ctr" marL="0" indent="0">
              <a:spcAft>
                <a:spcPts val="100"/>
              </a:spcAft>
              <a:buNone/>
            </a:pPr>
            <a:r>
              <a:rPr sz="7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verified / schema-driven interface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22000" y="1180000"/>
            <a:ext cx="1288266" cy="56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assignment</a:t>
            </a:r>
          </a:p>
          <a:p>
            <a:pPr algn="ctr" marL="0" indent="0">
              <a:spcAft>
                <a:spcPts val="100"/>
              </a:spcAft>
              <a:buNone/>
            </a:pPr>
            <a:r>
              <a:rPr sz="7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queue・memory を誰が使うか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10266" y="1180000"/>
            <a:ext cx="1288266" cy="56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lifetime</a:t>
            </a:r>
          </a:p>
          <a:p>
            <a:pPr algn="ctr" marL="0" indent="0">
              <a:spcAft>
                <a:spcPts val="100"/>
              </a:spcAft>
              <a:buNone/>
            </a:pPr>
            <a:r>
              <a:rPr sz="7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allocation / recycle / release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98533" y="1180000"/>
            <a:ext cx="1288266" cy="56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100"/>
              </a:spcAft>
              <a:buNone/>
            </a:pPr>
            <a:r>
              <a:rPr sz="10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synchronization</a:t>
            </a:r>
          </a:p>
          <a:p>
            <a:pPr algn="ctr" marL="0" indent="0">
              <a:spcAft>
                <a:spcPts val="100"/>
              </a:spcAft>
              <a:buNone/>
            </a:pPr>
            <a:r>
              <a:rPr sz="7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lock scope・HW state 同期</a:t>
            </a:r>
          </a:p>
        </p:txBody>
      </p:sp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457200" y="1860000"/>
          <a:ext cx="8229598" cy="2475000"/>
        </p:xfrm>
        <a:graphic>
          <a:graphicData uri="http://schemas.openxmlformats.org/drawingml/2006/table">
            <a:tbl>
              <a:tblPr firstRow="0" bandRow="0"/>
              <a:tblGrid>
                <a:gridCol w="1708030"/>
                <a:gridCol w="2173856"/>
                <a:gridCol w="2484407"/>
                <a:gridCol w="1397479"/>
                <a:gridCol w="465826"/>
              </a:tblGrid>
              <a:tr h="225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Milestone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以前の状態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主に明示化したもの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Contract form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Era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</a:tr>
              <a:tr h="225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DQL/BQL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driver-local TX ring tuning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queued / completed byte accounting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accounting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1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bpf() / maps / verifier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fixed kernel behavior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verified program + map interface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API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1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  <a:tr h="225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switchdev / devlink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vendor-local forwarding / device state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forwarding / device / resource objects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object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2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page_pool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driver-local page recycle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allocation / recycle / DMA lifetime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lifetime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2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  <a:tr h="225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AF_XDP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kernel-centric queue / buffer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queue / UMEM binding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assignment + lifetime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2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nexthop objects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route に埋め込まれた nexthop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reusable nexthop object / group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object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3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  <a:tr h="225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YNL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handwritten Netlink family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machine-readable Netlink schema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API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4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Device Memory TCP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payload は system RAM 前提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non-system-RAM memory in networking path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assignment + lifetime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4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  <a:tr h="225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per-netns RTNL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global RTNL scope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namespace-scoped synchronization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synchronization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4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RX HW queue leasing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HW queue は physical netdev に固定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hardware queue assignment / leasing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assignment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4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82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Snapshot: v3.0 / v5.0 /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 — 中間観測点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457200" y="1180000"/>
          <a:ext cx="8229599" cy="2660000"/>
        </p:xfrm>
        <a:graphic>
          <a:graphicData uri="http://schemas.openxmlformats.org/drawingml/2006/table">
            <a:tbl>
              <a:tblPr firstRow="0" bandRow="0"/>
              <a:tblGrid>
                <a:gridCol w="1431234"/>
                <a:gridCol w="2057400"/>
                <a:gridCol w="2057400"/>
                <a:gridCol w="2683565"/>
              </a:tblGrid>
              <a:tr h="3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観点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v3.0 前後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v5.0 前後 (中間観測点)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2026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PERFORMANCE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driver-local tuning が大きい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BQL / TSQ / fq / pacing が定着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multi-layer control + cake_mq / scalable TX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PROGRAMMABILITY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classic BPF 中心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XDP / AF_XDP・TC BPF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struct_ops / TCX / BPF qdisc / netkit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MEMORY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page-centric driver-local recycle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page_pool が利用可能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netmem / memory providers / device memory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DRIVER FRAMEWORK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net_device 中心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switchdev / devlink / phylink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queue/NAPI objects・YNL-described APIs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CONTROL PLANE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global RTNL 依存が大きい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global RTNL が依然中心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per-netns / fine-grained / RTNL-less paths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OBSERVABILITY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logs / counters / tracing の個別利用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BPF / BTF ecosystem が拡大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10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typed drop reason + queue/NAPI/memory identity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457200" y="4000000"/>
            <a:ext cx="82296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v5.0 は第 2 の起点ではなく、XDP / AF_XDP、switchdev / devlink、page_pool など programmable / offload / memory infrastructure がすでに成立した中間観測点として置く。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7019" y="1412438"/>
            <a:ext cx="5994000" cy="1200000"/>
          </a:xfrm>
        </p:spPr>
        <p:txBody>
          <a:bodyPr wrap="square" anchor="b"/>
          <a:lstStyle/>
          <a:p>
            <a:pPr algn="l" marL="0" indent="0">
              <a:spcAft>
                <a:spcPts val="0"/>
              </a:spcAft>
              <a:buNone/>
            </a:pPr>
            <a:r>
              <a:rPr sz="30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 — 4 つの architecture era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7019" y="2650000"/>
            <a:ext cx="5994000" cy="900000"/>
          </a:xfrm>
        </p:spPr>
        <p:txBody>
          <a:bodyPr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kernel major version ではなく、外部の圧力に対して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何を解こうとしたかで区切る</a:t>
            </a:r>
          </a:p>
        </p:txBody>
      </p:sp>
      <p:sp>
        <p:nvSpPr>
          <p:cNvPr id="30" name="Google Shape;30;p8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82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外部の圧力から architecture response 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 — Era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180000"/>
            <a:ext cx="1967400" cy="42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Era 1  </a:t>
            </a:r>
            <a:r>
              <a:rPr sz="10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～2014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1650000"/>
            <a:ext cx="1967400" cy="205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0000" rIns="90000" tIns="90000" bIns="90000" wrap="square"/>
          <a:lstStyle/>
          <a:p>
            <a:pPr algn="l" marL="0" indent="0">
              <a:spcAft>
                <a:spcPts val="1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Queue &amp; scalability foundation</a:t>
            </a:r>
          </a:p>
          <a:p>
            <a:pPr algn="l" marL="0" indent="0">
              <a:spcBef>
                <a:spcPts val="600"/>
              </a:spcBef>
              <a:spcAft>
                <a:spcPts val="100"/>
              </a:spcAft>
              <a:buNone/>
            </a:pPr>
            <a:r>
              <a:rPr sz="8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圧力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10/40GbE・multicore・container・datacenter latency</a:t>
            </a:r>
          </a:p>
          <a:p>
            <a:pPr algn="l" marL="0" indent="0">
              <a:spcBef>
                <a:spcPts val="600"/>
              </a:spcBef>
              <a:spcAft>
                <a:spcPts val="100"/>
              </a:spcAft>
              <a:buNone/>
            </a:pPr>
            <a:r>
              <a:rPr sz="8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代表 milestone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85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BQL, CoDel/fq_codel, TSQ, pacing, namespace/setns, VXLAN, nftables, eBPF foundation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44600" y="1180000"/>
            <a:ext cx="1967400" cy="42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Era 2  </a:t>
            </a:r>
            <a:r>
              <a:rPr sz="10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2015–2018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544600" y="1650000"/>
            <a:ext cx="1967400" cy="205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0000" rIns="90000" tIns="90000" bIns="90000" wrap="square"/>
          <a:lstStyle/>
          <a:p>
            <a:pPr algn="l" marL="0" indent="0">
              <a:spcAft>
                <a:spcPts val="1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Programmable datapath</a:t>
            </a:r>
          </a:p>
          <a:p>
            <a:pPr algn="l" marL="0" indent="0">
              <a:spcBef>
                <a:spcPts val="600"/>
              </a:spcBef>
              <a:spcAft>
                <a:spcPts val="100"/>
              </a:spcAft>
              <a:buNone/>
            </a:pPr>
            <a:r>
              <a:rPr sz="8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圧力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cloud networking・high packet rate・SmartNIC/offload・kernel-bypass pressure</a:t>
            </a:r>
          </a:p>
          <a:p>
            <a:pPr algn="l" marL="0" indent="0">
              <a:spcBef>
                <a:spcPts val="600"/>
              </a:spcBef>
              <a:spcAft>
                <a:spcPts val="100"/>
              </a:spcAft>
              <a:buNone/>
            </a:pPr>
            <a:r>
              <a:rPr sz="8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代表 milestone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85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TC BPF, XDP, cgroup/LWT BPF, SOCKMAP, switchdev, devlink, AF_XDP, page_pool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632000" y="1180000"/>
            <a:ext cx="1967400" cy="42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Era 3  </a:t>
            </a:r>
            <a:r>
              <a:rPr sz="10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2019–2022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632000" y="1650000"/>
            <a:ext cx="1967400" cy="205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0000" rIns="90000" tIns="90000" bIns="90000" wrap="square"/>
          <a:lstStyle/>
          <a:p>
            <a:pPr algn="l" marL="0" indent="0">
              <a:spcAft>
                <a:spcPts val="1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Programmability becomes infrastructure</a:t>
            </a:r>
          </a:p>
          <a:p>
            <a:pPr algn="l" marL="0" indent="0">
              <a:spcBef>
                <a:spcPts val="600"/>
              </a:spcBef>
              <a:spcAft>
                <a:spcPts val="100"/>
              </a:spcAft>
              <a:buNone/>
            </a:pPr>
            <a:r>
              <a:rPr sz="8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圧力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hyperscale operations・protocol experimentation・100GbE 級・typed tooling</a:t>
            </a:r>
          </a:p>
          <a:p>
            <a:pPr algn="l" marL="0" indent="0">
              <a:spcBef>
                <a:spcPts val="600"/>
              </a:spcBef>
              <a:spcAft>
                <a:spcPts val="100"/>
              </a:spcAft>
              <a:buNone/>
            </a:pPr>
            <a:r>
              <a:rPr sz="8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代表 milestone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85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BTF ecosystem, struct_ops, SK_LOOKUP, MPTCP, BIG TCP, io_uring networking, drop reason, devlink health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19400" y="1180000"/>
            <a:ext cx="1967400" cy="420000"/>
          </a:xfrm>
          <a:prstGeom prst="roundRect">
            <a:avLst>
              <a:gd name="adj" fmla="val 8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Era 4  </a:t>
            </a:r>
            <a:r>
              <a:rPr sz="10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2023～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719400" y="1650000"/>
            <a:ext cx="1967400" cy="205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0000" rIns="90000" tIns="90000" bIns="90000" wrap="square"/>
          <a:lstStyle/>
          <a:p>
            <a:pPr algn="l" marL="0" indent="0">
              <a:spcAft>
                <a:spcPts val="1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Explicit placement &amp; scoped control</a:t>
            </a:r>
          </a:p>
          <a:p>
            <a:pPr algn="l" marL="0" indent="0">
              <a:spcBef>
                <a:spcPts val="600"/>
              </a:spcBef>
              <a:spcAft>
                <a:spcPts val="100"/>
              </a:spcAft>
              <a:buNone/>
            </a:pPr>
            <a:r>
              <a:rPr sz="8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圧力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accelerator/device memory・400GbE 級・heterogeneous execution・global-lock scalability</a:t>
            </a:r>
          </a:p>
          <a:p>
            <a:pPr algn="l" marL="0" indent="0">
              <a:spcBef>
                <a:spcPts val="600"/>
              </a:spcBef>
              <a:spcAft>
                <a:spcPts val="100"/>
              </a:spcAft>
              <a:buNone/>
            </a:pPr>
            <a:r>
              <a:rPr sz="8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代表 milestone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85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netmem, memory providers, Device Memory TCP, netdev-genl queue/NAPI, queue leasing, per-netns RTNL, BPF qdisc, YNL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800000"/>
            <a:ext cx="82296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Era 間で変わった設計上の問い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050000"/>
            <a:ext cx="1937400" cy="4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How much should we queue?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414600" y="4290000"/>
            <a:ext cx="12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554600" y="4050000"/>
            <a:ext cx="1937400" cy="4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Where can we program the datapath?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512000" y="4290000"/>
            <a:ext cx="12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4652000" y="4050000"/>
            <a:ext cx="1937400" cy="4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How do those mechanisms become reusable infrastructure?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609400" y="4290000"/>
            <a:ext cx="12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6749400" y="4050000"/>
            <a:ext cx="1937400" cy="4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How explicitly can placement, lifetime and synchronization be controlled?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4" name="Google Shape;184;p1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101" name="background"/>
          <p:cNvSpPr/>
          <p:nvPr/>
        </p:nvSpPr>
        <p:spPr>
          <a:xfrm>
            <a:off x="512063" y="0"/>
            <a:ext cx="8119872" cy="4567428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2" name="title"/>
          <p:cNvSpPr txBox="1"/>
          <p:nvPr/>
        </p:nvSpPr>
        <p:spPr>
          <a:xfrm>
            <a:off x="689685" y="76123"/>
            <a:ext cx="7764627" cy="25374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332" b="1" i="0">
                <a:solidFill>
                  <a:srgbClr val="1F2937"/>
                </a:solidFill>
              </a:rPr>
              <a:t>Explicit resource / control contracts let execution and memory models coexist (2011–2026)</a:t>
            </a:r>
          </a:p>
        </p:txBody>
      </p:sp>
      <p:sp>
        <p:nvSpPr>
          <p:cNvPr id="103" name="subtitle"/>
          <p:cNvSpPr txBox="1"/>
          <p:nvPr/>
        </p:nvSpPr>
        <p:spPr>
          <a:xfrm>
            <a:off x="689685" y="309570"/>
            <a:ext cx="7764627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10" b="0" i="0">
                <a:solidFill>
                  <a:srgbClr val="64748B"/>
                </a:solidFill>
              </a:rPr>
              <a:t>Linux networking milestones by architecture axis, set against the four architecture eras and X.0 releases · canonical edition r52</a:t>
            </a:r>
          </a:p>
        </p:txBody>
      </p:sp>
      <p:sp>
        <p:nvSpPr>
          <p:cNvPr id="104" name="band:PERFORMANCE"/>
          <p:cNvSpPr/>
          <p:nvPr/>
        </p:nvSpPr>
        <p:spPr>
          <a:xfrm>
            <a:off x="638936" y="837361"/>
            <a:ext cx="7866126" cy="613143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5" name="band:PROGRAMMABILITY"/>
          <p:cNvSpPr/>
          <p:nvPr/>
        </p:nvSpPr>
        <p:spPr>
          <a:xfrm>
            <a:off x="638936" y="1480955"/>
            <a:ext cx="7866126" cy="667038"/>
          </a:xfrm>
          <a:prstGeom prst="roundRect">
            <a:avLst>
              <a:gd name="adj" fmla="val 8000"/>
            </a:avLst>
          </a:prstGeom>
          <a:solidFill>
            <a:srgbClr val="FFF3EA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6" name="band:MEMORY"/>
          <p:cNvSpPr/>
          <p:nvPr/>
        </p:nvSpPr>
        <p:spPr>
          <a:xfrm>
            <a:off x="638936" y="2178443"/>
            <a:ext cx="7866126" cy="559248"/>
          </a:xfrm>
          <a:prstGeom prst="roundRect">
            <a:avLst>
              <a:gd name="adj" fmla="val 8000"/>
            </a:avLst>
          </a:prstGeom>
          <a:solidFill>
            <a:srgbClr val="ECF8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7" name="band:CONTROL PLANE"/>
          <p:cNvSpPr/>
          <p:nvPr/>
        </p:nvSpPr>
        <p:spPr>
          <a:xfrm>
            <a:off x="638936" y="2768142"/>
            <a:ext cx="7866126" cy="451458"/>
          </a:xfrm>
          <a:prstGeom prst="roundRect">
            <a:avLst>
              <a:gd name="adj" fmla="val 8000"/>
            </a:avLst>
          </a:prstGeom>
          <a:solidFill>
            <a:srgbClr val="FEF0F0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8" name="band:OBSERVABILITY"/>
          <p:cNvSpPr/>
          <p:nvPr/>
        </p:nvSpPr>
        <p:spPr>
          <a:xfrm>
            <a:off x="638936" y="3250051"/>
            <a:ext cx="7866126" cy="343668"/>
          </a:xfrm>
          <a:prstGeom prst="roundRect">
            <a:avLst>
              <a:gd name="adj" fmla="val 8000"/>
            </a:avLst>
          </a:prstGeom>
          <a:solidFill>
            <a:srgbClr val="F3EFFE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9" name="band:DRIVER FRAMEWORK"/>
          <p:cNvSpPr/>
          <p:nvPr/>
        </p:nvSpPr>
        <p:spPr>
          <a:xfrm>
            <a:off x="638936" y="3624169"/>
            <a:ext cx="7866126" cy="559248"/>
          </a:xfrm>
          <a:prstGeom prst="roundRect">
            <a:avLst>
              <a:gd name="adj" fmla="val 8000"/>
            </a:avLst>
          </a:prstGeom>
          <a:solidFill>
            <a:srgbClr val="FDF8E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10" name="era-shade:2"/>
          <p:cNvSpPr/>
          <p:nvPr/>
        </p:nvSpPr>
        <p:spPr>
          <a:xfrm>
            <a:off x="3728292" y="451667"/>
            <a:ext cx="1541506" cy="3741900"/>
          </a:xfrm>
          <a:prstGeom prst="rect">
            <a:avLst/>
          </a:prstGeom>
          <a:solidFill>
            <a:srgbClr val="475569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11" name="era-shade:4"/>
          <p:cNvSpPr/>
          <p:nvPr/>
        </p:nvSpPr>
        <p:spPr>
          <a:xfrm>
            <a:off x="6811306" y="451667"/>
            <a:ext cx="1541506" cy="3741900"/>
          </a:xfrm>
          <a:prstGeom prst="rect">
            <a:avLst/>
          </a:prstGeom>
          <a:solidFill>
            <a:srgbClr val="475569">
              <a:alpha val="8000"/>
            </a:srgbClr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cxnSp>
        <p:nvCxnSpPr>
          <p:cNvPr id="112" name="era-boundary:2015"/>
          <p:cNvCxnSpPr/>
          <p:nvPr/>
        </p:nvCxnSpPr>
        <p:spPr>
          <a:xfrm>
            <a:off x="3728292" y="451667"/>
            <a:ext cx="0" cy="3741900"/>
          </a:xfrm>
          <a:prstGeom prst="line">
            <a:avLst/>
          </a:prstGeom>
          <a:ln w="3524">
            <a:solidFill>
              <a:srgbClr val="CBD5E1"/>
            </a:solidFill>
          </a:ln>
        </p:spPr>
      </p:cxnSp>
      <p:cxnSp>
        <p:nvCxnSpPr>
          <p:cNvPr id="113" name="era-boundary:2019"/>
          <p:cNvCxnSpPr/>
          <p:nvPr/>
        </p:nvCxnSpPr>
        <p:spPr>
          <a:xfrm>
            <a:off x="5269800" y="451667"/>
            <a:ext cx="0" cy="3741900"/>
          </a:xfrm>
          <a:prstGeom prst="line">
            <a:avLst/>
          </a:prstGeom>
          <a:ln w="3524">
            <a:solidFill>
              <a:srgbClr val="CBD5E1"/>
            </a:solidFill>
          </a:ln>
        </p:spPr>
      </p:cxnSp>
      <p:cxnSp>
        <p:nvCxnSpPr>
          <p:cNvPr id="114" name="era-boundary:2023"/>
          <p:cNvCxnSpPr/>
          <p:nvPr/>
        </p:nvCxnSpPr>
        <p:spPr>
          <a:xfrm>
            <a:off x="6811306" y="451667"/>
            <a:ext cx="0" cy="3741900"/>
          </a:xfrm>
          <a:prstGeom prst="line">
            <a:avLst/>
          </a:prstGeom>
          <a:ln w="3524">
            <a:solidFill>
              <a:srgbClr val="CBD5E1"/>
            </a:solidFill>
          </a:ln>
        </p:spPr>
      </p:cxnSp>
      <p:sp>
        <p:nvSpPr>
          <p:cNvPr id="115" name="ga-label:3.0"/>
          <p:cNvSpPr txBox="1"/>
          <p:nvPr/>
        </p:nvSpPr>
        <p:spPr>
          <a:xfrm>
            <a:off x="2273044" y="654664"/>
            <a:ext cx="253746" cy="811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00" b="1" i="0">
                <a:solidFill>
                  <a:srgbClr val="1F2937"/>
                </a:solidFill>
              </a:rPr>
              <a:t>3.0</a:t>
            </a:r>
          </a:p>
        </p:txBody>
      </p:sp>
      <p:cxnSp>
        <p:nvCxnSpPr>
          <p:cNvPr id="116" name="ga-line:3.0"/>
          <p:cNvCxnSpPr/>
          <p:nvPr/>
        </p:nvCxnSpPr>
        <p:spPr>
          <a:xfrm>
            <a:off x="2399917" y="740938"/>
            <a:ext cx="0" cy="3452630"/>
          </a:xfrm>
          <a:prstGeom prst="line">
            <a:avLst/>
          </a:prstGeom>
          <a:ln w="5286">
            <a:solidFill>
              <a:srgbClr val="94A3B8"/>
            </a:solidFill>
            <a:prstDash val="sysDash"/>
          </a:ln>
        </p:spPr>
      </p:cxnSp>
      <p:sp>
        <p:nvSpPr>
          <p:cNvPr id="117" name="ga-label:4.0"/>
          <p:cNvSpPr txBox="1"/>
          <p:nvPr/>
        </p:nvSpPr>
        <p:spPr>
          <a:xfrm>
            <a:off x="3707985" y="654664"/>
            <a:ext cx="253746" cy="811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00" b="1" i="0">
                <a:solidFill>
                  <a:srgbClr val="1F2937"/>
                </a:solidFill>
              </a:rPr>
              <a:t>4.0</a:t>
            </a:r>
          </a:p>
        </p:txBody>
      </p:sp>
      <p:cxnSp>
        <p:nvCxnSpPr>
          <p:cNvPr id="118" name="ga-line:4.0"/>
          <p:cNvCxnSpPr/>
          <p:nvPr/>
        </p:nvCxnSpPr>
        <p:spPr>
          <a:xfrm>
            <a:off x="3834858" y="740938"/>
            <a:ext cx="0" cy="3452630"/>
          </a:xfrm>
          <a:prstGeom prst="line">
            <a:avLst/>
          </a:prstGeom>
          <a:ln w="5286">
            <a:solidFill>
              <a:srgbClr val="94A3B8"/>
            </a:solidFill>
            <a:prstDash val="sysDash"/>
          </a:ln>
        </p:spPr>
      </p:cxnSp>
      <p:sp>
        <p:nvSpPr>
          <p:cNvPr id="119" name="ga-label:5.0"/>
          <p:cNvSpPr txBox="1"/>
          <p:nvPr/>
        </p:nvSpPr>
        <p:spPr>
          <a:xfrm>
            <a:off x="5207288" y="654664"/>
            <a:ext cx="253746" cy="811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00" b="1" i="0">
                <a:solidFill>
                  <a:srgbClr val="1F2937"/>
                </a:solidFill>
              </a:rPr>
              <a:t>5.0</a:t>
            </a:r>
          </a:p>
        </p:txBody>
      </p:sp>
      <p:cxnSp>
        <p:nvCxnSpPr>
          <p:cNvPr id="120" name="ga-line:5.0"/>
          <p:cNvCxnSpPr/>
          <p:nvPr/>
        </p:nvCxnSpPr>
        <p:spPr>
          <a:xfrm>
            <a:off x="5334161" y="740938"/>
            <a:ext cx="0" cy="3452630"/>
          </a:xfrm>
          <a:prstGeom prst="line">
            <a:avLst/>
          </a:prstGeom>
          <a:ln w="5286">
            <a:solidFill>
              <a:srgbClr val="94A3B8"/>
            </a:solidFill>
            <a:prstDash val="sysDash"/>
          </a:ln>
        </p:spPr>
      </p:cxnSp>
      <p:sp>
        <p:nvSpPr>
          <p:cNvPr id="121" name="ga-label:6.0"/>
          <p:cNvSpPr txBox="1"/>
          <p:nvPr/>
        </p:nvSpPr>
        <p:spPr>
          <a:xfrm>
            <a:off x="6588155" y="654664"/>
            <a:ext cx="253746" cy="811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00" b="1" i="0">
                <a:solidFill>
                  <a:srgbClr val="1F2937"/>
                </a:solidFill>
              </a:rPr>
              <a:t>6.0</a:t>
            </a:r>
          </a:p>
        </p:txBody>
      </p:sp>
      <p:cxnSp>
        <p:nvCxnSpPr>
          <p:cNvPr id="122" name="ga-line:6.0"/>
          <p:cNvCxnSpPr/>
          <p:nvPr/>
        </p:nvCxnSpPr>
        <p:spPr>
          <a:xfrm>
            <a:off x="6715028" y="740938"/>
            <a:ext cx="0" cy="3452630"/>
          </a:xfrm>
          <a:prstGeom prst="line">
            <a:avLst/>
          </a:prstGeom>
          <a:ln w="5286">
            <a:solidFill>
              <a:srgbClr val="94A3B8"/>
            </a:solidFill>
            <a:prstDash val="sysDash"/>
          </a:ln>
        </p:spPr>
      </p:cxnSp>
      <p:sp>
        <p:nvSpPr>
          <p:cNvPr id="123" name="ga-label:7.0"/>
          <p:cNvSpPr txBox="1"/>
          <p:nvPr/>
        </p:nvSpPr>
        <p:spPr>
          <a:xfrm>
            <a:off x="7947129" y="654664"/>
            <a:ext cx="253746" cy="811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00" b="1" i="0">
                <a:solidFill>
                  <a:srgbClr val="1F2937"/>
                </a:solidFill>
              </a:rPr>
              <a:t>7.0</a:t>
            </a:r>
          </a:p>
        </p:txBody>
      </p:sp>
      <p:cxnSp>
        <p:nvCxnSpPr>
          <p:cNvPr id="124" name="ga-line:7.0"/>
          <p:cNvCxnSpPr/>
          <p:nvPr/>
        </p:nvCxnSpPr>
        <p:spPr>
          <a:xfrm>
            <a:off x="8074002" y="740938"/>
            <a:ext cx="0" cy="3452630"/>
          </a:xfrm>
          <a:prstGeom prst="line">
            <a:avLst/>
          </a:prstGeom>
          <a:ln w="5286">
            <a:solidFill>
              <a:srgbClr val="94A3B8"/>
            </a:solidFill>
            <a:prstDash val="sysDash"/>
          </a:ln>
        </p:spPr>
      </p:cxnSp>
      <p:sp>
        <p:nvSpPr>
          <p:cNvPr id="125" name="year:2011"/>
          <p:cNvSpPr txBox="1"/>
          <p:nvPr/>
        </p:nvSpPr>
        <p:spPr>
          <a:xfrm>
            <a:off x="2059913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2011</a:t>
            </a:r>
          </a:p>
        </p:txBody>
      </p:sp>
      <p:cxnSp>
        <p:nvCxnSpPr>
          <p:cNvPr id="126" name="year-tick:2011"/>
          <p:cNvCxnSpPr/>
          <p:nvPr/>
        </p:nvCxnSpPr>
        <p:spPr>
          <a:xfrm>
            <a:off x="2186786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sp>
        <p:nvSpPr>
          <p:cNvPr id="127" name="year:2012"/>
          <p:cNvSpPr txBox="1"/>
          <p:nvPr/>
        </p:nvSpPr>
        <p:spPr>
          <a:xfrm>
            <a:off x="2445290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2012</a:t>
            </a:r>
          </a:p>
        </p:txBody>
      </p:sp>
      <p:cxnSp>
        <p:nvCxnSpPr>
          <p:cNvPr id="128" name="year-tick:2012"/>
          <p:cNvCxnSpPr/>
          <p:nvPr/>
        </p:nvCxnSpPr>
        <p:spPr>
          <a:xfrm>
            <a:off x="2572163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sp>
        <p:nvSpPr>
          <p:cNvPr id="129" name="year:2013"/>
          <p:cNvSpPr txBox="1"/>
          <p:nvPr/>
        </p:nvSpPr>
        <p:spPr>
          <a:xfrm>
            <a:off x="2830666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2013</a:t>
            </a:r>
          </a:p>
        </p:txBody>
      </p:sp>
      <p:cxnSp>
        <p:nvCxnSpPr>
          <p:cNvPr id="130" name="year-tick:2013"/>
          <p:cNvCxnSpPr/>
          <p:nvPr/>
        </p:nvCxnSpPr>
        <p:spPr>
          <a:xfrm>
            <a:off x="2957540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sp>
        <p:nvSpPr>
          <p:cNvPr id="131" name="year:2014"/>
          <p:cNvSpPr txBox="1"/>
          <p:nvPr/>
        </p:nvSpPr>
        <p:spPr>
          <a:xfrm>
            <a:off x="3216043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2014</a:t>
            </a:r>
          </a:p>
        </p:txBody>
      </p:sp>
      <p:cxnSp>
        <p:nvCxnSpPr>
          <p:cNvPr id="132" name="year-tick:2014"/>
          <p:cNvCxnSpPr/>
          <p:nvPr/>
        </p:nvCxnSpPr>
        <p:spPr>
          <a:xfrm>
            <a:off x="3342916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sp>
        <p:nvSpPr>
          <p:cNvPr id="133" name="year:2015"/>
          <p:cNvSpPr txBox="1"/>
          <p:nvPr/>
        </p:nvSpPr>
        <p:spPr>
          <a:xfrm>
            <a:off x="3601419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2015</a:t>
            </a:r>
          </a:p>
        </p:txBody>
      </p:sp>
      <p:cxnSp>
        <p:nvCxnSpPr>
          <p:cNvPr id="134" name="year-tick:2015"/>
          <p:cNvCxnSpPr/>
          <p:nvPr/>
        </p:nvCxnSpPr>
        <p:spPr>
          <a:xfrm>
            <a:off x="3728292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sp>
        <p:nvSpPr>
          <p:cNvPr id="135" name="year:2016"/>
          <p:cNvSpPr txBox="1"/>
          <p:nvPr/>
        </p:nvSpPr>
        <p:spPr>
          <a:xfrm>
            <a:off x="3986797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2016</a:t>
            </a:r>
          </a:p>
        </p:txBody>
      </p:sp>
      <p:cxnSp>
        <p:nvCxnSpPr>
          <p:cNvPr id="136" name="year-tick:2016"/>
          <p:cNvCxnSpPr/>
          <p:nvPr/>
        </p:nvCxnSpPr>
        <p:spPr>
          <a:xfrm>
            <a:off x="4113670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sp>
        <p:nvSpPr>
          <p:cNvPr id="137" name="year:2017"/>
          <p:cNvSpPr txBox="1"/>
          <p:nvPr/>
        </p:nvSpPr>
        <p:spPr>
          <a:xfrm>
            <a:off x="4372173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2017</a:t>
            </a:r>
          </a:p>
        </p:txBody>
      </p:sp>
      <p:cxnSp>
        <p:nvCxnSpPr>
          <p:cNvPr id="138" name="year-tick:2017"/>
          <p:cNvCxnSpPr/>
          <p:nvPr/>
        </p:nvCxnSpPr>
        <p:spPr>
          <a:xfrm>
            <a:off x="4499046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sp>
        <p:nvSpPr>
          <p:cNvPr id="139" name="year:2018"/>
          <p:cNvSpPr txBox="1"/>
          <p:nvPr/>
        </p:nvSpPr>
        <p:spPr>
          <a:xfrm>
            <a:off x="4757550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2018</a:t>
            </a:r>
          </a:p>
        </p:txBody>
      </p:sp>
      <p:cxnSp>
        <p:nvCxnSpPr>
          <p:cNvPr id="140" name="year-tick:2018"/>
          <p:cNvCxnSpPr/>
          <p:nvPr/>
        </p:nvCxnSpPr>
        <p:spPr>
          <a:xfrm>
            <a:off x="4884423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sp>
        <p:nvSpPr>
          <p:cNvPr id="141" name="year:2019"/>
          <p:cNvSpPr txBox="1"/>
          <p:nvPr/>
        </p:nvSpPr>
        <p:spPr>
          <a:xfrm>
            <a:off x="5142927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2019</a:t>
            </a:r>
          </a:p>
        </p:txBody>
      </p:sp>
      <p:cxnSp>
        <p:nvCxnSpPr>
          <p:cNvPr id="142" name="year-tick:2019"/>
          <p:cNvCxnSpPr/>
          <p:nvPr/>
        </p:nvCxnSpPr>
        <p:spPr>
          <a:xfrm>
            <a:off x="5269800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sp>
        <p:nvSpPr>
          <p:cNvPr id="143" name="year:2020"/>
          <p:cNvSpPr txBox="1"/>
          <p:nvPr/>
        </p:nvSpPr>
        <p:spPr>
          <a:xfrm>
            <a:off x="5528303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2020</a:t>
            </a:r>
          </a:p>
        </p:txBody>
      </p:sp>
      <p:cxnSp>
        <p:nvCxnSpPr>
          <p:cNvPr id="144" name="year-tick:2020"/>
          <p:cNvCxnSpPr/>
          <p:nvPr/>
        </p:nvCxnSpPr>
        <p:spPr>
          <a:xfrm>
            <a:off x="5655176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sp>
        <p:nvSpPr>
          <p:cNvPr id="145" name="year:2021"/>
          <p:cNvSpPr txBox="1"/>
          <p:nvPr/>
        </p:nvSpPr>
        <p:spPr>
          <a:xfrm>
            <a:off x="5913680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2021</a:t>
            </a:r>
          </a:p>
        </p:txBody>
      </p:sp>
      <p:cxnSp>
        <p:nvCxnSpPr>
          <p:cNvPr id="146" name="year-tick:2021"/>
          <p:cNvCxnSpPr/>
          <p:nvPr/>
        </p:nvCxnSpPr>
        <p:spPr>
          <a:xfrm>
            <a:off x="6040553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sp>
        <p:nvSpPr>
          <p:cNvPr id="147" name="year:2022"/>
          <p:cNvSpPr txBox="1"/>
          <p:nvPr/>
        </p:nvSpPr>
        <p:spPr>
          <a:xfrm>
            <a:off x="6299057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2022</a:t>
            </a:r>
          </a:p>
        </p:txBody>
      </p:sp>
      <p:cxnSp>
        <p:nvCxnSpPr>
          <p:cNvPr id="148" name="year-tick:2022"/>
          <p:cNvCxnSpPr/>
          <p:nvPr/>
        </p:nvCxnSpPr>
        <p:spPr>
          <a:xfrm>
            <a:off x="6425930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sp>
        <p:nvSpPr>
          <p:cNvPr id="149" name="year:2023"/>
          <p:cNvSpPr txBox="1"/>
          <p:nvPr/>
        </p:nvSpPr>
        <p:spPr>
          <a:xfrm>
            <a:off x="6684433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2023</a:t>
            </a:r>
          </a:p>
        </p:txBody>
      </p:sp>
      <p:cxnSp>
        <p:nvCxnSpPr>
          <p:cNvPr id="150" name="year-tick:2023"/>
          <p:cNvCxnSpPr/>
          <p:nvPr/>
        </p:nvCxnSpPr>
        <p:spPr>
          <a:xfrm>
            <a:off x="6811306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sp>
        <p:nvSpPr>
          <p:cNvPr id="151" name="year:2024"/>
          <p:cNvSpPr txBox="1"/>
          <p:nvPr/>
        </p:nvSpPr>
        <p:spPr>
          <a:xfrm>
            <a:off x="7069810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2024</a:t>
            </a:r>
          </a:p>
        </p:txBody>
      </p:sp>
      <p:cxnSp>
        <p:nvCxnSpPr>
          <p:cNvPr id="152" name="year-tick:2024"/>
          <p:cNvCxnSpPr/>
          <p:nvPr/>
        </p:nvCxnSpPr>
        <p:spPr>
          <a:xfrm>
            <a:off x="7196683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sp>
        <p:nvSpPr>
          <p:cNvPr id="153" name="year:2025"/>
          <p:cNvSpPr txBox="1"/>
          <p:nvPr/>
        </p:nvSpPr>
        <p:spPr>
          <a:xfrm>
            <a:off x="7455187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2025</a:t>
            </a:r>
          </a:p>
        </p:txBody>
      </p:sp>
      <p:cxnSp>
        <p:nvCxnSpPr>
          <p:cNvPr id="154" name="year-tick:2025"/>
          <p:cNvCxnSpPr/>
          <p:nvPr/>
        </p:nvCxnSpPr>
        <p:spPr>
          <a:xfrm>
            <a:off x="7582060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sp>
        <p:nvSpPr>
          <p:cNvPr id="155" name="year:2026"/>
          <p:cNvSpPr txBox="1"/>
          <p:nvPr/>
        </p:nvSpPr>
        <p:spPr>
          <a:xfrm>
            <a:off x="7840564" y="740938"/>
            <a:ext cx="253746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416" b="0" i="0">
                <a:solidFill>
                  <a:srgbClr val="64748B"/>
                </a:solidFill>
              </a:rPr>
              <a:t>2026</a:t>
            </a:r>
          </a:p>
        </p:txBody>
      </p:sp>
      <p:cxnSp>
        <p:nvCxnSpPr>
          <p:cNvPr id="156" name="year-tick:2026"/>
          <p:cNvCxnSpPr/>
          <p:nvPr/>
        </p:nvCxnSpPr>
        <p:spPr>
          <a:xfrm>
            <a:off x="7967437" y="811987"/>
            <a:ext cx="0" cy="20299"/>
          </a:xfrm>
          <a:prstGeom prst="line">
            <a:avLst/>
          </a:prstGeom>
          <a:ln w="3524">
            <a:solidFill>
              <a:srgbClr val="94A3B8"/>
            </a:solidFill>
          </a:ln>
        </p:spPr>
      </p:cxnSp>
      <p:cxnSp>
        <p:nvCxnSpPr>
          <p:cNvPr id="157" name="lineage:sch_fq / TCP pacing:trunk"/>
          <p:cNvCxnSpPr/>
          <p:nvPr/>
        </p:nvCxnSpPr>
        <p:spPr>
          <a:xfrm>
            <a:off x="3280401" y="1115412"/>
            <a:ext cx="0" cy="28520"/>
          </a:xfrm>
          <a:prstGeom prst="line">
            <a:avLst/>
          </a:prstGeom>
          <a:ln w="7048">
            <a:solidFill>
              <a:srgbClr val="475569"/>
            </a:solidFill>
          </a:ln>
        </p:spPr>
      </p:cxnSp>
      <p:cxnSp>
        <p:nvCxnSpPr>
          <p:cNvPr id="158" name="lineage:sch_fq / TCP pacing-&gt;SO_TXTIME / EDT / taprio:across"/>
          <p:cNvCxnSpPr/>
          <p:nvPr/>
        </p:nvCxnSpPr>
        <p:spPr>
          <a:xfrm>
            <a:off x="3280401" y="1143933"/>
            <a:ext cx="1265175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59" name="lineage:BIG TCP:trunk"/>
          <p:cNvCxnSpPr/>
          <p:nvPr/>
        </p:nvCxnSpPr>
        <p:spPr>
          <a:xfrm>
            <a:off x="6648557" y="1223202"/>
            <a:ext cx="0" cy="28520"/>
          </a:xfrm>
          <a:prstGeom prst="line">
            <a:avLst/>
          </a:prstGeom>
          <a:ln w="7048">
            <a:solidFill>
              <a:srgbClr val="475569"/>
            </a:solidFill>
          </a:ln>
        </p:spPr>
      </p:cxnSp>
      <p:cxnSp>
        <p:nvCxnSpPr>
          <p:cNvPr id="160" name="lineage:BIG TCP-&gt;BIG TCP extensions:across"/>
          <p:cNvCxnSpPr/>
          <p:nvPr/>
        </p:nvCxnSpPr>
        <p:spPr>
          <a:xfrm>
            <a:off x="6648557" y="1251723"/>
            <a:ext cx="255546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61" name="lineage:eBPF foundation:trunk"/>
          <p:cNvCxnSpPr/>
          <p:nvPr/>
        </p:nvCxnSpPr>
        <p:spPr>
          <a:xfrm>
            <a:off x="3701651" y="1543426"/>
            <a:ext cx="0" cy="1792541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sp>
        <p:nvSpPr>
          <p:cNvPr id="162" name="lineage:eBPF foundation-&gt;TC BPF:junction"/>
          <p:cNvSpPr/>
          <p:nvPr/>
        </p:nvSpPr>
        <p:spPr>
          <a:xfrm>
            <a:off x="3690486" y="1560782"/>
            <a:ext cx="22329" cy="22329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cxnSp>
        <p:nvCxnSpPr>
          <p:cNvPr id="163" name="lineage:eBPF foundation-&gt;cgroup / LWT BPF:across"/>
          <p:cNvCxnSpPr/>
          <p:nvPr/>
        </p:nvCxnSpPr>
        <p:spPr>
          <a:xfrm>
            <a:off x="3701651" y="1733631"/>
            <a:ext cx="381473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64" name="lineage:eBPF foundation-&gt;SOCK_OPS / SOCKMAP:across"/>
          <p:cNvCxnSpPr/>
          <p:nvPr/>
        </p:nvCxnSpPr>
        <p:spPr>
          <a:xfrm>
            <a:off x="3701651" y="1787526"/>
            <a:ext cx="574161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65" name="lineage:eBPF foundation-&gt;XDP:across"/>
          <p:cNvCxnSpPr/>
          <p:nvPr/>
        </p:nvCxnSpPr>
        <p:spPr>
          <a:xfrm>
            <a:off x="3701651" y="2003106"/>
            <a:ext cx="427718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66" name="lineage:TC BPF:trunk"/>
          <p:cNvCxnSpPr/>
          <p:nvPr/>
        </p:nvCxnSpPr>
        <p:spPr>
          <a:xfrm>
            <a:off x="3908716" y="1597321"/>
            <a:ext cx="0" cy="28520"/>
          </a:xfrm>
          <a:prstGeom prst="line">
            <a:avLst/>
          </a:prstGeom>
          <a:ln w="7048">
            <a:solidFill>
              <a:srgbClr val="475569"/>
            </a:solidFill>
          </a:ln>
        </p:spPr>
      </p:cxnSp>
      <p:cxnSp>
        <p:nvCxnSpPr>
          <p:cNvPr id="167" name="lineage:TC BPF-&gt;TCX:across"/>
          <p:cNvCxnSpPr/>
          <p:nvPr/>
        </p:nvCxnSpPr>
        <p:spPr>
          <a:xfrm>
            <a:off x="3908716" y="1625841"/>
            <a:ext cx="2717895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68" name="lineage:TCX-&gt;netkit"/>
          <p:cNvCxnSpPr/>
          <p:nvPr/>
        </p:nvCxnSpPr>
        <p:spPr>
          <a:xfrm>
            <a:off x="7129948" y="1651216"/>
            <a:ext cx="0" cy="23445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69" name="lineage:BPF struct_ops:trunk"/>
          <p:cNvCxnSpPr/>
          <p:nvPr/>
        </p:nvCxnSpPr>
        <p:spPr>
          <a:xfrm>
            <a:off x="5748026" y="1866796"/>
            <a:ext cx="0" cy="28520"/>
          </a:xfrm>
          <a:prstGeom prst="line">
            <a:avLst/>
          </a:prstGeom>
          <a:ln w="7048">
            <a:solidFill>
              <a:srgbClr val="475569"/>
            </a:solidFill>
          </a:ln>
        </p:spPr>
      </p:cxnSp>
      <p:cxnSp>
        <p:nvCxnSpPr>
          <p:cNvPr id="170" name="lineage:BPF struct_ops-&gt;BPF qdisc:across"/>
          <p:cNvCxnSpPr/>
          <p:nvPr/>
        </p:nvCxnSpPr>
        <p:spPr>
          <a:xfrm>
            <a:off x="5748026" y="1895316"/>
            <a:ext cx="1572263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71" name="lineage:XDP:trunk"/>
          <p:cNvCxnSpPr/>
          <p:nvPr/>
        </p:nvCxnSpPr>
        <p:spPr>
          <a:xfrm>
            <a:off x="4403823" y="2028481"/>
            <a:ext cx="0" cy="289774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72" name="lineage:XDP-&gt;XDP devmap / cpumap:across"/>
          <p:cNvCxnSpPr/>
          <p:nvPr/>
        </p:nvCxnSpPr>
        <p:spPr>
          <a:xfrm>
            <a:off x="4403823" y="2057001"/>
            <a:ext cx="214297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73" name="lineage:XDP-&gt;XDP multi-buffer:across"/>
          <p:cNvCxnSpPr/>
          <p:nvPr/>
        </p:nvCxnSpPr>
        <p:spPr>
          <a:xfrm>
            <a:off x="4403823" y="2110896"/>
            <a:ext cx="1606185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74" name="lineage:XDP-&gt;AF_XDP:across"/>
          <p:cNvCxnSpPr/>
          <p:nvPr/>
        </p:nvCxnSpPr>
        <p:spPr>
          <a:xfrm>
            <a:off x="4403823" y="2215540"/>
            <a:ext cx="64678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75" name="lineage:XDP multi-buffer-&gt;AF_XDP multi-buffer"/>
          <p:cNvCxnSpPr/>
          <p:nvPr/>
        </p:nvCxnSpPr>
        <p:spPr>
          <a:xfrm>
            <a:off x="6574699" y="2136271"/>
            <a:ext cx="0" cy="128089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76" name="lineage:AF_XDP:trunk"/>
          <p:cNvCxnSpPr/>
          <p:nvPr/>
        </p:nvCxnSpPr>
        <p:spPr>
          <a:xfrm>
            <a:off x="5119711" y="2240915"/>
            <a:ext cx="0" cy="28520"/>
          </a:xfrm>
          <a:prstGeom prst="line">
            <a:avLst/>
          </a:prstGeom>
          <a:ln w="7048">
            <a:solidFill>
              <a:srgbClr val="475569"/>
            </a:solidFill>
          </a:ln>
        </p:spPr>
      </p:cxnSp>
      <p:cxnSp>
        <p:nvCxnSpPr>
          <p:cNvPr id="177" name="lineage:AF_XDP-&gt;AF_XDP multi-buffer:across"/>
          <p:cNvCxnSpPr/>
          <p:nvPr/>
        </p:nvCxnSpPr>
        <p:spPr>
          <a:xfrm>
            <a:off x="5119711" y="2269435"/>
            <a:ext cx="1275674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78" name="lineage:page_pool:trunk"/>
          <p:cNvCxnSpPr/>
          <p:nvPr/>
        </p:nvCxnSpPr>
        <p:spPr>
          <a:xfrm>
            <a:off x="5119711" y="2348705"/>
            <a:ext cx="0" cy="28520"/>
          </a:xfrm>
          <a:prstGeom prst="line">
            <a:avLst/>
          </a:prstGeom>
          <a:ln w="7048">
            <a:solidFill>
              <a:srgbClr val="475569"/>
            </a:solidFill>
          </a:ln>
        </p:spPr>
      </p:cxnSp>
      <p:cxnSp>
        <p:nvCxnSpPr>
          <p:cNvPr id="179" name="lineage:page_pool-&gt;netmem:across"/>
          <p:cNvCxnSpPr/>
          <p:nvPr/>
        </p:nvCxnSpPr>
        <p:spPr>
          <a:xfrm>
            <a:off x="5119711" y="2377225"/>
            <a:ext cx="2030658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80" name="lineage:netmem-&gt;Device Memory TCP RX · TX"/>
          <p:cNvCxnSpPr/>
          <p:nvPr/>
        </p:nvCxnSpPr>
        <p:spPr>
          <a:xfrm>
            <a:off x="7335694" y="2402599"/>
            <a:ext cx="0" cy="23445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81" name="lineage:Device Memory TCP RX · TX:trunk"/>
          <p:cNvCxnSpPr/>
          <p:nvPr/>
        </p:nvCxnSpPr>
        <p:spPr>
          <a:xfrm>
            <a:off x="7535372" y="2456494"/>
            <a:ext cx="0" cy="82415"/>
          </a:xfrm>
          <a:prstGeom prst="line">
            <a:avLst/>
          </a:prstGeom>
          <a:ln w="7048">
            <a:solidFill>
              <a:srgbClr val="475569"/>
            </a:solidFill>
          </a:ln>
        </p:spPr>
      </p:cxnSp>
      <p:cxnSp>
        <p:nvCxnSpPr>
          <p:cNvPr id="182" name="lineage:Device Memory TCP RX · TX-&gt;devmem RX buffers &gt; PAGE_SIZE:across"/>
          <p:cNvCxnSpPr/>
          <p:nvPr/>
        </p:nvCxnSpPr>
        <p:spPr>
          <a:xfrm>
            <a:off x="7535372" y="2485015"/>
            <a:ext cx="650419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83" name="lineage:Device Memory TCP RX · TX-&gt;page_pool memory-provider hooks:across"/>
          <p:cNvCxnSpPr/>
          <p:nvPr/>
        </p:nvCxnSpPr>
        <p:spPr>
          <a:xfrm>
            <a:off x="7535372" y="2538910"/>
            <a:ext cx="173248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84" name="lineage:page_pool memory-provider hooks:trunk"/>
          <p:cNvCxnSpPr/>
          <p:nvPr/>
        </p:nvCxnSpPr>
        <p:spPr>
          <a:xfrm>
            <a:off x="7733995" y="2564284"/>
            <a:ext cx="0" cy="55771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sp>
        <p:nvSpPr>
          <p:cNvPr id="185" name="lineage:page_pool memory-provider hooks-&gt;large RX buffers (providers / ZCRX):junction"/>
          <p:cNvSpPr/>
          <p:nvPr/>
        </p:nvSpPr>
        <p:spPr>
          <a:xfrm>
            <a:off x="7722830" y="2581640"/>
            <a:ext cx="22329" cy="22329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cxnSp>
        <p:nvCxnSpPr>
          <p:cNvPr id="186" name="lineage:per-netns RTNL-&gt;further RTNL breakup"/>
          <p:cNvCxnSpPr/>
          <p:nvPr/>
        </p:nvCxnSpPr>
        <p:spPr>
          <a:xfrm>
            <a:off x="7601052" y="2992298"/>
            <a:ext cx="0" cy="23445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87" name="lineage:further RTNL breakup:trunk"/>
          <p:cNvCxnSpPr/>
          <p:nvPr/>
        </p:nvCxnSpPr>
        <p:spPr>
          <a:xfrm>
            <a:off x="7733995" y="3046193"/>
            <a:ext cx="0" cy="82415"/>
          </a:xfrm>
          <a:prstGeom prst="line">
            <a:avLst/>
          </a:prstGeom>
          <a:ln w="7048">
            <a:solidFill>
              <a:srgbClr val="475569"/>
            </a:solidFill>
          </a:ln>
        </p:spPr>
      </p:cxnSp>
      <p:sp>
        <p:nvSpPr>
          <p:cNvPr id="188" name="lineage:further RTNL breakup-&gt;RTNL-less FIB rules:junction"/>
          <p:cNvSpPr/>
          <p:nvPr/>
        </p:nvSpPr>
        <p:spPr>
          <a:xfrm>
            <a:off x="7722830" y="3063548"/>
            <a:ext cx="22329" cy="22329"/>
          </a:xfrm>
          <a:prstGeom prst="ellipse">
            <a:avLst/>
          </a:prstGeom>
          <a:solidFill>
            <a:srgbClr val="47556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cxnSp>
        <p:nvCxnSpPr>
          <p:cNvPr id="189" name="lineage:further RTNL breakup-&gt;per-netns netdev unregistration:across"/>
          <p:cNvCxnSpPr/>
          <p:nvPr/>
        </p:nvCxnSpPr>
        <p:spPr>
          <a:xfrm>
            <a:off x="7733995" y="3128608"/>
            <a:ext cx="451796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90" name="lineage:structured drop reason-&gt;drop-reason expansion"/>
          <p:cNvCxnSpPr/>
          <p:nvPr/>
        </p:nvCxnSpPr>
        <p:spPr>
          <a:xfrm>
            <a:off x="6508228" y="3474207"/>
            <a:ext cx="0" cy="23445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91" name="lineage:switchdev-&gt;devlink"/>
          <p:cNvCxnSpPr/>
          <p:nvPr/>
        </p:nvCxnSpPr>
        <p:spPr>
          <a:xfrm>
            <a:off x="3768387" y="3686641"/>
            <a:ext cx="0" cy="23445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92" name="lineage:devlink:trunk"/>
          <p:cNvCxnSpPr/>
          <p:nvPr/>
        </p:nvCxnSpPr>
        <p:spPr>
          <a:xfrm>
            <a:off x="4256109" y="3740536"/>
            <a:ext cx="0" cy="28520"/>
          </a:xfrm>
          <a:prstGeom prst="line">
            <a:avLst/>
          </a:prstGeom>
          <a:ln w="7048">
            <a:solidFill>
              <a:srgbClr val="475569"/>
            </a:solidFill>
          </a:ln>
        </p:spPr>
      </p:cxnSp>
      <p:cxnSp>
        <p:nvCxnSpPr>
          <p:cNvPr id="193" name="lineage:devlink-&gt;devlink health:across"/>
          <p:cNvCxnSpPr/>
          <p:nvPr/>
        </p:nvCxnSpPr>
        <p:spPr>
          <a:xfrm>
            <a:off x="4256109" y="3769056"/>
            <a:ext cx="597769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cxnSp>
        <p:nvCxnSpPr>
          <p:cNvPr id="194" name="lineage:YNL tooling-&gt;queue/NAPI/page_pool netdev-genl"/>
          <p:cNvCxnSpPr/>
          <p:nvPr/>
        </p:nvCxnSpPr>
        <p:spPr>
          <a:xfrm>
            <a:off x="6929478" y="3207878"/>
            <a:ext cx="0" cy="74194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sp>
        <p:nvSpPr>
          <p:cNvPr id="195" name="band-label:PERFORMANCE"/>
          <p:cNvSpPr txBox="1"/>
          <p:nvPr/>
        </p:nvSpPr>
        <p:spPr>
          <a:xfrm>
            <a:off x="725209" y="837361"/>
            <a:ext cx="583615" cy="61314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555" b="1" i="0">
                <a:solidFill>
                  <a:srgbClr val="2563EB"/>
                </a:solidFill>
              </a:rPr>
              <a:t>PERFORMANCE</a:t>
            </a:r>
          </a:p>
        </p:txBody>
      </p:sp>
      <p:sp>
        <p:nvSpPr>
          <p:cNvPr id="196" name="row:DQL / BQL:name"/>
          <p:cNvSpPr txBox="1"/>
          <p:nvPr/>
        </p:nvSpPr>
        <p:spPr>
          <a:xfrm>
            <a:off x="1247926" y="813559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DQL / BQL</a:t>
            </a:r>
          </a:p>
        </p:txBody>
      </p:sp>
      <p:cxnSp>
        <p:nvCxnSpPr>
          <p:cNvPr id="197" name="row:DQL / BQL:development"/>
          <p:cNvCxnSpPr/>
          <p:nvPr/>
        </p:nvCxnSpPr>
        <p:spPr>
          <a:xfrm>
            <a:off x="2474129" y="874458"/>
            <a:ext cx="179276" cy="0"/>
          </a:xfrm>
          <a:prstGeom prst="line">
            <a:avLst/>
          </a:prstGeom>
          <a:ln w="7048">
            <a:solidFill>
              <a:srgbClr val="2563EB"/>
            </a:solidFill>
            <a:prstDash val="dash"/>
          </a:ln>
        </p:spPr>
      </p:cxnSp>
      <p:sp>
        <p:nvSpPr>
          <p:cNvPr id="198" name="row:DQL / BQL:start"/>
          <p:cNvSpPr/>
          <p:nvPr/>
        </p:nvSpPr>
        <p:spPr>
          <a:xfrm>
            <a:off x="2276929" y="856696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9" name="row:DQL / BQL:release:3.3"/>
          <p:cNvSpPr/>
          <p:nvPr/>
        </p:nvSpPr>
        <p:spPr>
          <a:xfrm>
            <a:off x="2629300" y="850352"/>
            <a:ext cx="48211" cy="48211"/>
          </a:xfrm>
          <a:prstGeom prst="ellipse">
            <a:avLst/>
          </a:prstGeom>
          <a:solidFill>
            <a:srgbClr val="2563EB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0" name="row:DQL / BQL:label"/>
          <p:cNvSpPr txBox="1"/>
          <p:nvPr/>
        </p:nvSpPr>
        <p:spPr>
          <a:xfrm>
            <a:off x="2694005" y="813559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3.3</a:t>
            </a:r>
          </a:p>
        </p:txBody>
      </p:sp>
      <p:sp>
        <p:nvSpPr>
          <p:cNvPr id="201" name="row:CoDel / fq_codel:name"/>
          <p:cNvSpPr txBox="1"/>
          <p:nvPr/>
        </p:nvSpPr>
        <p:spPr>
          <a:xfrm>
            <a:off x="1247926" y="867454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CoDel / fq_codel</a:t>
            </a:r>
          </a:p>
        </p:txBody>
      </p:sp>
      <p:cxnSp>
        <p:nvCxnSpPr>
          <p:cNvPr id="202" name="row:CoDel / fq_codel:development"/>
          <p:cNvCxnSpPr/>
          <p:nvPr/>
        </p:nvCxnSpPr>
        <p:spPr>
          <a:xfrm>
            <a:off x="2703787" y="928353"/>
            <a:ext cx="81243" cy="0"/>
          </a:xfrm>
          <a:prstGeom prst="line">
            <a:avLst/>
          </a:prstGeom>
          <a:ln w="7048">
            <a:solidFill>
              <a:srgbClr val="2563EB"/>
            </a:solidFill>
            <a:prstDash val="dash"/>
          </a:ln>
        </p:spPr>
      </p:cxnSp>
      <p:sp>
        <p:nvSpPr>
          <p:cNvPr id="203" name="row:CoDel / fq_codel:start"/>
          <p:cNvSpPr/>
          <p:nvPr/>
        </p:nvSpPr>
        <p:spPr>
          <a:xfrm>
            <a:off x="2686025" y="910591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4" name="row:CoDel / fq_codel:release:3.5"/>
          <p:cNvSpPr/>
          <p:nvPr/>
        </p:nvSpPr>
        <p:spPr>
          <a:xfrm>
            <a:off x="2760924" y="904247"/>
            <a:ext cx="48211" cy="48211"/>
          </a:xfrm>
          <a:prstGeom prst="ellipse">
            <a:avLst/>
          </a:prstGeom>
          <a:solidFill>
            <a:srgbClr val="2563EB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5" name="row:CoDel / fq_codel:label"/>
          <p:cNvSpPr txBox="1"/>
          <p:nvPr/>
        </p:nvSpPr>
        <p:spPr>
          <a:xfrm>
            <a:off x="2825629" y="867454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3.5</a:t>
            </a:r>
          </a:p>
        </p:txBody>
      </p:sp>
      <p:sp>
        <p:nvSpPr>
          <p:cNvPr id="206" name="row:TSQ:name"/>
          <p:cNvSpPr txBox="1"/>
          <p:nvPr/>
        </p:nvSpPr>
        <p:spPr>
          <a:xfrm>
            <a:off x="1247926" y="921349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TSQ</a:t>
            </a:r>
          </a:p>
        </p:txBody>
      </p:sp>
      <p:cxnSp>
        <p:nvCxnSpPr>
          <p:cNvPr id="207" name="row:TSQ:development"/>
          <p:cNvCxnSpPr/>
          <p:nvPr/>
        </p:nvCxnSpPr>
        <p:spPr>
          <a:xfrm>
            <a:off x="2564455" y="982248"/>
            <a:ext cx="295750" cy="0"/>
          </a:xfrm>
          <a:prstGeom prst="line">
            <a:avLst/>
          </a:prstGeom>
          <a:ln w="7048">
            <a:solidFill>
              <a:srgbClr val="2563EB"/>
            </a:solidFill>
            <a:prstDash val="dash"/>
          </a:ln>
        </p:spPr>
      </p:cxnSp>
      <p:sp>
        <p:nvSpPr>
          <p:cNvPr id="208" name="row:TSQ:start"/>
          <p:cNvSpPr/>
          <p:nvPr/>
        </p:nvSpPr>
        <p:spPr>
          <a:xfrm>
            <a:off x="2546693" y="964486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9" name="row:TSQ:release:3.6"/>
          <p:cNvSpPr/>
          <p:nvPr/>
        </p:nvSpPr>
        <p:spPr>
          <a:xfrm>
            <a:off x="2836100" y="958142"/>
            <a:ext cx="48211" cy="48211"/>
          </a:xfrm>
          <a:prstGeom prst="ellipse">
            <a:avLst/>
          </a:prstGeom>
          <a:solidFill>
            <a:srgbClr val="2563EB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0" name="row:TSQ:label"/>
          <p:cNvSpPr txBox="1"/>
          <p:nvPr/>
        </p:nvSpPr>
        <p:spPr>
          <a:xfrm>
            <a:off x="2900805" y="921349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3.6</a:t>
            </a:r>
          </a:p>
        </p:txBody>
      </p:sp>
      <p:sp>
        <p:nvSpPr>
          <p:cNvPr id="211" name="row:SO_BUSY_POLL:name"/>
          <p:cNvSpPr txBox="1"/>
          <p:nvPr/>
        </p:nvSpPr>
        <p:spPr>
          <a:xfrm>
            <a:off x="1247926" y="975244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SO_BUSY_POLL</a:t>
            </a:r>
          </a:p>
        </p:txBody>
      </p:sp>
      <p:cxnSp>
        <p:nvCxnSpPr>
          <p:cNvPr id="212" name="row:SO_BUSY_POLL:development"/>
          <p:cNvCxnSpPr/>
          <p:nvPr/>
        </p:nvCxnSpPr>
        <p:spPr>
          <a:xfrm>
            <a:off x="2949832" y="1036143"/>
            <a:ext cx="265152" cy="0"/>
          </a:xfrm>
          <a:prstGeom prst="line">
            <a:avLst/>
          </a:prstGeom>
          <a:ln w="7048">
            <a:solidFill>
              <a:srgbClr val="2563EB"/>
            </a:solidFill>
            <a:prstDash val="dash"/>
          </a:ln>
        </p:spPr>
      </p:cxnSp>
      <p:sp>
        <p:nvSpPr>
          <p:cNvPr id="213" name="row:SO_BUSY_POLL:start"/>
          <p:cNvSpPr/>
          <p:nvPr/>
        </p:nvSpPr>
        <p:spPr>
          <a:xfrm>
            <a:off x="2932070" y="1018381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4" name="row:SO_BUSY_POLL:release:3.11"/>
          <p:cNvSpPr/>
          <p:nvPr/>
        </p:nvSpPr>
        <p:spPr>
          <a:xfrm>
            <a:off x="3190879" y="1012037"/>
            <a:ext cx="48211" cy="48211"/>
          </a:xfrm>
          <a:prstGeom prst="ellipse">
            <a:avLst/>
          </a:prstGeom>
          <a:solidFill>
            <a:srgbClr val="2563EB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5" name="row:SO_BUSY_POLL:label"/>
          <p:cNvSpPr txBox="1"/>
          <p:nvPr/>
        </p:nvSpPr>
        <p:spPr>
          <a:xfrm>
            <a:off x="3255584" y="975244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3.11</a:t>
            </a:r>
          </a:p>
        </p:txBody>
      </p:sp>
      <p:sp>
        <p:nvSpPr>
          <p:cNvPr id="216" name="row:sch_fq / TCP pacing:name"/>
          <p:cNvSpPr txBox="1"/>
          <p:nvPr/>
        </p:nvSpPr>
        <p:spPr>
          <a:xfrm>
            <a:off x="1247926" y="1029139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sch_fq / TCP pacing</a:t>
            </a:r>
          </a:p>
        </p:txBody>
      </p:sp>
      <p:cxnSp>
        <p:nvCxnSpPr>
          <p:cNvPr id="217" name="row:sch_fq / TCP pacing:development"/>
          <p:cNvCxnSpPr/>
          <p:nvPr/>
        </p:nvCxnSpPr>
        <p:spPr>
          <a:xfrm>
            <a:off x="2872757" y="1090038"/>
            <a:ext cx="407644" cy="0"/>
          </a:xfrm>
          <a:prstGeom prst="line">
            <a:avLst/>
          </a:prstGeom>
          <a:ln w="7048">
            <a:solidFill>
              <a:srgbClr val="2563EB"/>
            </a:solidFill>
            <a:prstDash val="dash"/>
          </a:ln>
        </p:spPr>
      </p:cxnSp>
      <p:sp>
        <p:nvSpPr>
          <p:cNvPr id="218" name="row:sch_fq / TCP pacing:start"/>
          <p:cNvSpPr/>
          <p:nvPr/>
        </p:nvSpPr>
        <p:spPr>
          <a:xfrm>
            <a:off x="2854994" y="1072276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19" name="row:sch_fq / TCP pacing:release:3.12"/>
          <p:cNvSpPr/>
          <p:nvPr/>
        </p:nvSpPr>
        <p:spPr>
          <a:xfrm>
            <a:off x="3256296" y="1065932"/>
            <a:ext cx="48211" cy="48211"/>
          </a:xfrm>
          <a:prstGeom prst="ellipse">
            <a:avLst/>
          </a:prstGeom>
          <a:solidFill>
            <a:srgbClr val="2563EB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20" name="row:sch_fq / TCP pacing:label"/>
          <p:cNvSpPr txBox="1"/>
          <p:nvPr/>
        </p:nvSpPr>
        <p:spPr>
          <a:xfrm>
            <a:off x="3321001" y="1029139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3.12</a:t>
            </a:r>
          </a:p>
        </p:txBody>
      </p:sp>
      <p:sp>
        <p:nvSpPr>
          <p:cNvPr id="221" name="row:SO_TXTIME / EDT / taprio:name"/>
          <p:cNvSpPr txBox="1"/>
          <p:nvPr/>
        </p:nvSpPr>
        <p:spPr>
          <a:xfrm>
            <a:off x="1247926" y="1083034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SO_TXTIME / EDT / taprio</a:t>
            </a:r>
          </a:p>
        </p:txBody>
      </p:sp>
      <p:cxnSp>
        <p:nvCxnSpPr>
          <p:cNvPr id="222" name="row:SO_TXTIME / EDT / taprio:development"/>
          <p:cNvCxnSpPr/>
          <p:nvPr/>
        </p:nvCxnSpPr>
        <p:spPr>
          <a:xfrm>
            <a:off x="4713065" y="1143933"/>
            <a:ext cx="481559" cy="0"/>
          </a:xfrm>
          <a:prstGeom prst="line">
            <a:avLst/>
          </a:prstGeom>
          <a:ln w="7048">
            <a:solidFill>
              <a:srgbClr val="2563EB"/>
            </a:solidFill>
            <a:prstDash val="dash"/>
          </a:ln>
        </p:spPr>
      </p:cxnSp>
      <p:sp>
        <p:nvSpPr>
          <p:cNvPr id="223" name="row:SO_TXTIME / EDT / taprio:start"/>
          <p:cNvSpPr/>
          <p:nvPr/>
        </p:nvSpPr>
        <p:spPr>
          <a:xfrm>
            <a:off x="4550652" y="1126171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cxnSp>
        <p:nvCxnSpPr>
          <p:cNvPr id="224" name="row:SO_TXTIME / EDT / taprio:milestones"/>
          <p:cNvCxnSpPr/>
          <p:nvPr/>
        </p:nvCxnSpPr>
        <p:spPr>
          <a:xfrm>
            <a:off x="5194624" y="1143933"/>
            <a:ext cx="65416" cy="0"/>
          </a:xfrm>
          <a:prstGeom prst="line">
            <a:avLst/>
          </a:prstGeom>
          <a:ln w="10572">
            <a:solidFill>
              <a:srgbClr val="2563EB"/>
            </a:solidFill>
          </a:ln>
        </p:spPr>
      </p:cxnSp>
      <p:sp>
        <p:nvSpPr>
          <p:cNvPr id="225" name="row:SO_TXTIME / EDT / taprio:release:4.19"/>
          <p:cNvSpPr/>
          <p:nvPr/>
        </p:nvSpPr>
        <p:spPr>
          <a:xfrm>
            <a:off x="5170518" y="1119827"/>
            <a:ext cx="48211" cy="48211"/>
          </a:xfrm>
          <a:prstGeom prst="ellipse">
            <a:avLst/>
          </a:prstGeom>
          <a:solidFill>
            <a:srgbClr val="2563EB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26" name="row:SO_TXTIME / EDT / taprio:release:4.20"/>
          <p:cNvSpPr/>
          <p:nvPr/>
        </p:nvSpPr>
        <p:spPr>
          <a:xfrm>
            <a:off x="5235934" y="1119827"/>
            <a:ext cx="48211" cy="48211"/>
          </a:xfrm>
          <a:prstGeom prst="ellipse">
            <a:avLst/>
          </a:prstGeom>
          <a:solidFill>
            <a:srgbClr val="2563EB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27" name="row:SO_TXTIME / EDT / taprio:label"/>
          <p:cNvSpPr txBox="1"/>
          <p:nvPr/>
        </p:nvSpPr>
        <p:spPr>
          <a:xfrm>
            <a:off x="5300639" y="1083034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4.19 / 4.20</a:t>
            </a:r>
          </a:p>
        </p:txBody>
      </p:sp>
      <p:sp>
        <p:nvSpPr>
          <p:cNvPr id="228" name="row:BIG TCP:name"/>
          <p:cNvSpPr txBox="1"/>
          <p:nvPr/>
        </p:nvSpPr>
        <p:spPr>
          <a:xfrm>
            <a:off x="1247926" y="1136929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BIG TCP</a:t>
            </a:r>
          </a:p>
        </p:txBody>
      </p:sp>
      <p:cxnSp>
        <p:nvCxnSpPr>
          <p:cNvPr id="229" name="row:BIG TCP:development"/>
          <p:cNvCxnSpPr/>
          <p:nvPr/>
        </p:nvCxnSpPr>
        <p:spPr>
          <a:xfrm>
            <a:off x="6109921" y="1197828"/>
            <a:ext cx="538635" cy="0"/>
          </a:xfrm>
          <a:prstGeom prst="line">
            <a:avLst/>
          </a:prstGeom>
          <a:ln w="7048">
            <a:solidFill>
              <a:srgbClr val="2563EB"/>
            </a:solidFill>
            <a:prstDash val="dash"/>
          </a:ln>
        </p:spPr>
      </p:cxnSp>
      <p:sp>
        <p:nvSpPr>
          <p:cNvPr id="230" name="row:BIG TCP:start"/>
          <p:cNvSpPr/>
          <p:nvPr/>
        </p:nvSpPr>
        <p:spPr>
          <a:xfrm>
            <a:off x="6092159" y="1180065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1" name="row:BIG TCP:release:5.19"/>
          <p:cNvSpPr/>
          <p:nvPr/>
        </p:nvSpPr>
        <p:spPr>
          <a:xfrm>
            <a:off x="6624451" y="1173722"/>
            <a:ext cx="48211" cy="48211"/>
          </a:xfrm>
          <a:prstGeom prst="ellipse">
            <a:avLst/>
          </a:prstGeom>
          <a:solidFill>
            <a:srgbClr val="2563EB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2" name="row:BIG TCP:label"/>
          <p:cNvSpPr txBox="1"/>
          <p:nvPr/>
        </p:nvSpPr>
        <p:spPr>
          <a:xfrm>
            <a:off x="6689156" y="1136929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5.19</a:t>
            </a:r>
          </a:p>
        </p:txBody>
      </p:sp>
      <p:sp>
        <p:nvSpPr>
          <p:cNvPr id="233" name="row:BIG TCP extensions:name"/>
          <p:cNvSpPr txBox="1"/>
          <p:nvPr/>
        </p:nvSpPr>
        <p:spPr>
          <a:xfrm>
            <a:off x="1247926" y="1190824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BIG TCP extensions</a:t>
            </a:r>
          </a:p>
        </p:txBody>
      </p:sp>
      <p:cxnSp>
        <p:nvCxnSpPr>
          <p:cNvPr id="234" name="row:BIG TCP extensions:milestones"/>
          <p:cNvCxnSpPr/>
          <p:nvPr/>
        </p:nvCxnSpPr>
        <p:spPr>
          <a:xfrm>
            <a:off x="6929478" y="1251723"/>
            <a:ext cx="1281687" cy="0"/>
          </a:xfrm>
          <a:prstGeom prst="line">
            <a:avLst/>
          </a:prstGeom>
          <a:ln w="10572">
            <a:solidFill>
              <a:srgbClr val="2563EB"/>
            </a:solidFill>
          </a:ln>
        </p:spPr>
      </p:cxnSp>
      <p:sp>
        <p:nvSpPr>
          <p:cNvPr id="235" name="row:BIG TCP extensions:release:6.3"/>
          <p:cNvSpPr/>
          <p:nvPr/>
        </p:nvSpPr>
        <p:spPr>
          <a:xfrm>
            <a:off x="6905372" y="1227617"/>
            <a:ext cx="48211" cy="48211"/>
          </a:xfrm>
          <a:prstGeom prst="ellipse">
            <a:avLst/>
          </a:prstGeom>
          <a:solidFill>
            <a:srgbClr val="2563EB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6" name="row:BIG TCP extensions:release:7.0"/>
          <p:cNvSpPr/>
          <p:nvPr/>
        </p:nvSpPr>
        <p:spPr>
          <a:xfrm>
            <a:off x="8049897" y="1227617"/>
            <a:ext cx="48211" cy="48211"/>
          </a:xfrm>
          <a:prstGeom prst="ellipse">
            <a:avLst/>
          </a:prstGeom>
          <a:solidFill>
            <a:srgbClr val="2563EB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7" name="row:BIG TCP extensions:release:7.3-rc"/>
          <p:cNvSpPr/>
          <p:nvPr/>
        </p:nvSpPr>
        <p:spPr>
          <a:xfrm>
            <a:off x="8187060" y="1227617"/>
            <a:ext cx="48211" cy="48211"/>
          </a:xfrm>
          <a:prstGeom prst="ellipse">
            <a:avLst/>
          </a:prstGeom>
          <a:solidFill>
            <a:srgbClr val="2563EB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8" name="row:BIG TCP extensions:label"/>
          <p:cNvSpPr txBox="1"/>
          <p:nvPr/>
        </p:nvSpPr>
        <p:spPr>
          <a:xfrm>
            <a:off x="5958368" y="1190824"/>
            <a:ext cx="659739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02" b="1" i="0">
                <a:solidFill>
                  <a:srgbClr val="1F2937"/>
                </a:solidFill>
              </a:rPr>
              <a:t>6.3 · 7.0 · 7.3-rc</a:t>
            </a:r>
          </a:p>
        </p:txBody>
      </p:sp>
      <p:sp>
        <p:nvSpPr>
          <p:cNvPr id="239" name="row:io_uring SEND_ZC / multishot recv:name"/>
          <p:cNvSpPr txBox="1"/>
          <p:nvPr/>
        </p:nvSpPr>
        <p:spPr>
          <a:xfrm>
            <a:off x="1247926" y="1244719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io_uring SEND_ZC / multishot recv</a:t>
            </a:r>
          </a:p>
        </p:txBody>
      </p:sp>
      <p:cxnSp>
        <p:nvCxnSpPr>
          <p:cNvPr id="240" name="row:io_uring SEND_ZC / multishot recv:development"/>
          <p:cNvCxnSpPr/>
          <p:nvPr/>
        </p:nvCxnSpPr>
        <p:spPr>
          <a:xfrm>
            <a:off x="6393486" y="1305618"/>
            <a:ext cx="321542" cy="0"/>
          </a:xfrm>
          <a:prstGeom prst="line">
            <a:avLst/>
          </a:prstGeom>
          <a:ln w="7048">
            <a:solidFill>
              <a:srgbClr val="2563EB"/>
            </a:solidFill>
            <a:prstDash val="dash"/>
          </a:ln>
        </p:spPr>
      </p:cxnSp>
      <p:sp>
        <p:nvSpPr>
          <p:cNvPr id="241" name="row:io_uring SEND_ZC / multishot recv:start"/>
          <p:cNvSpPr/>
          <p:nvPr/>
        </p:nvSpPr>
        <p:spPr>
          <a:xfrm>
            <a:off x="6375724" y="1287855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42" name="row:io_uring SEND_ZC / multishot recv:release:6.0"/>
          <p:cNvSpPr/>
          <p:nvPr/>
        </p:nvSpPr>
        <p:spPr>
          <a:xfrm>
            <a:off x="6690922" y="1281512"/>
            <a:ext cx="48211" cy="48211"/>
          </a:xfrm>
          <a:prstGeom prst="ellipse">
            <a:avLst/>
          </a:prstGeom>
          <a:solidFill>
            <a:srgbClr val="2563EB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43" name="row:io_uring SEND_ZC / multishot recv:label"/>
          <p:cNvSpPr txBox="1"/>
          <p:nvPr/>
        </p:nvSpPr>
        <p:spPr>
          <a:xfrm>
            <a:off x="6755628" y="1244719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6.0</a:t>
            </a:r>
          </a:p>
        </p:txBody>
      </p:sp>
      <p:sp>
        <p:nvSpPr>
          <p:cNvPr id="244" name="row:dev_queue_xmit() llist:name"/>
          <p:cNvSpPr txBox="1"/>
          <p:nvPr/>
        </p:nvSpPr>
        <p:spPr>
          <a:xfrm>
            <a:off x="1247926" y="1298613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dev_queue_xmit() llist</a:t>
            </a:r>
          </a:p>
        </p:txBody>
      </p:sp>
      <p:cxnSp>
        <p:nvCxnSpPr>
          <p:cNvPr id="245" name="row:dev_queue_xmit() llist:development"/>
          <p:cNvCxnSpPr/>
          <p:nvPr/>
        </p:nvCxnSpPr>
        <p:spPr>
          <a:xfrm>
            <a:off x="7880127" y="1359513"/>
            <a:ext cx="127667" cy="0"/>
          </a:xfrm>
          <a:prstGeom prst="line">
            <a:avLst/>
          </a:prstGeom>
          <a:ln w="7048">
            <a:solidFill>
              <a:srgbClr val="2563EB"/>
            </a:solidFill>
            <a:prstDash val="dash"/>
          </a:ln>
        </p:spPr>
      </p:cxnSp>
      <p:sp>
        <p:nvSpPr>
          <p:cNvPr id="246" name="row:dev_queue_xmit() llist:start"/>
          <p:cNvSpPr/>
          <p:nvPr/>
        </p:nvSpPr>
        <p:spPr>
          <a:xfrm>
            <a:off x="7862365" y="1341750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47" name="row:dev_queue_xmit() llist:release:6.19"/>
          <p:cNvSpPr/>
          <p:nvPr/>
        </p:nvSpPr>
        <p:spPr>
          <a:xfrm>
            <a:off x="7983689" y="1335407"/>
            <a:ext cx="48211" cy="48211"/>
          </a:xfrm>
          <a:prstGeom prst="ellipse">
            <a:avLst/>
          </a:prstGeom>
          <a:solidFill>
            <a:srgbClr val="2563EB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48" name="row:dev_queue_xmit() llist:label"/>
          <p:cNvSpPr txBox="1"/>
          <p:nvPr/>
        </p:nvSpPr>
        <p:spPr>
          <a:xfrm>
            <a:off x="8048394" y="1298613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6.19</a:t>
            </a:r>
          </a:p>
        </p:txBody>
      </p:sp>
      <p:sp>
        <p:nvSpPr>
          <p:cNvPr id="249" name="row:cake_mq:name"/>
          <p:cNvSpPr txBox="1"/>
          <p:nvPr/>
        </p:nvSpPr>
        <p:spPr>
          <a:xfrm>
            <a:off x="1247926" y="1352508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cake_mq</a:t>
            </a:r>
          </a:p>
        </p:txBody>
      </p:sp>
      <p:cxnSp>
        <p:nvCxnSpPr>
          <p:cNvPr id="250" name="row:cake_mq:development"/>
          <p:cNvCxnSpPr/>
          <p:nvPr/>
        </p:nvCxnSpPr>
        <p:spPr>
          <a:xfrm>
            <a:off x="7574353" y="1413407"/>
            <a:ext cx="499649" cy="0"/>
          </a:xfrm>
          <a:prstGeom prst="line">
            <a:avLst/>
          </a:prstGeom>
          <a:ln w="7048">
            <a:solidFill>
              <a:srgbClr val="2563EB"/>
            </a:solidFill>
            <a:prstDash val="dash"/>
          </a:ln>
        </p:spPr>
      </p:cxnSp>
      <p:sp>
        <p:nvSpPr>
          <p:cNvPr id="251" name="row:cake_mq:start"/>
          <p:cNvSpPr/>
          <p:nvPr/>
        </p:nvSpPr>
        <p:spPr>
          <a:xfrm>
            <a:off x="7556590" y="1395645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2" name="row:cake_mq:release:7.0"/>
          <p:cNvSpPr/>
          <p:nvPr/>
        </p:nvSpPr>
        <p:spPr>
          <a:xfrm>
            <a:off x="8049897" y="1389302"/>
            <a:ext cx="48211" cy="48211"/>
          </a:xfrm>
          <a:prstGeom prst="ellipse">
            <a:avLst/>
          </a:prstGeom>
          <a:solidFill>
            <a:srgbClr val="2563EB"/>
          </a:solidFill>
          <a:ln w="7048">
            <a:solidFill>
              <a:srgbClr val="2563E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53" name="row:cake_mq:label"/>
          <p:cNvSpPr txBox="1"/>
          <p:nvPr/>
        </p:nvSpPr>
        <p:spPr>
          <a:xfrm>
            <a:off x="8114602" y="1352508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7.0</a:t>
            </a:r>
          </a:p>
        </p:txBody>
      </p:sp>
      <p:sp>
        <p:nvSpPr>
          <p:cNvPr id="254" name="band-label:PROGRAMMABILITY"/>
          <p:cNvSpPr txBox="1"/>
          <p:nvPr/>
        </p:nvSpPr>
        <p:spPr>
          <a:xfrm>
            <a:off x="725209" y="1480955"/>
            <a:ext cx="583615" cy="66703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555" b="1" i="0">
                <a:solidFill>
                  <a:srgbClr val="EA580C"/>
                </a:solidFill>
              </a:rPr>
              <a:t>PROGRAM-
MABILITY</a:t>
            </a:r>
          </a:p>
        </p:txBody>
      </p:sp>
      <p:sp>
        <p:nvSpPr>
          <p:cNvPr id="255" name="row:eBPF foundation:name"/>
          <p:cNvSpPr txBox="1"/>
          <p:nvPr/>
        </p:nvSpPr>
        <p:spPr>
          <a:xfrm>
            <a:off x="1247926" y="1457153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eBPF foundation</a:t>
            </a:r>
          </a:p>
        </p:txBody>
      </p:sp>
      <p:cxnSp>
        <p:nvCxnSpPr>
          <p:cNvPr id="256" name="row:eBPF foundation:development"/>
          <p:cNvCxnSpPr/>
          <p:nvPr/>
        </p:nvCxnSpPr>
        <p:spPr>
          <a:xfrm>
            <a:off x="3142520" y="1518052"/>
            <a:ext cx="367366" cy="0"/>
          </a:xfrm>
          <a:prstGeom prst="line">
            <a:avLst/>
          </a:prstGeom>
          <a:ln w="7048">
            <a:solidFill>
              <a:srgbClr val="EA580C"/>
            </a:solidFill>
            <a:prstDash val="dash"/>
          </a:ln>
        </p:spPr>
      </p:cxnSp>
      <p:sp>
        <p:nvSpPr>
          <p:cNvPr id="257" name="row:eBPF foundation:start"/>
          <p:cNvSpPr/>
          <p:nvPr/>
        </p:nvSpPr>
        <p:spPr>
          <a:xfrm>
            <a:off x="3124758" y="1500289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cxnSp>
        <p:nvCxnSpPr>
          <p:cNvPr id="258" name="row:eBPF foundation:milestones"/>
          <p:cNvCxnSpPr/>
          <p:nvPr/>
        </p:nvCxnSpPr>
        <p:spPr>
          <a:xfrm>
            <a:off x="3509887" y="1518052"/>
            <a:ext cx="191764" cy="0"/>
          </a:xfrm>
          <a:prstGeom prst="line">
            <a:avLst/>
          </a:prstGeom>
          <a:ln w="10572">
            <a:solidFill>
              <a:srgbClr val="EA580C"/>
            </a:solidFill>
          </a:ln>
        </p:spPr>
      </p:cxnSp>
      <p:sp>
        <p:nvSpPr>
          <p:cNvPr id="259" name="row:eBPF foundation:release:3.15"/>
          <p:cNvSpPr/>
          <p:nvPr/>
        </p:nvSpPr>
        <p:spPr>
          <a:xfrm>
            <a:off x="3485781" y="1493946"/>
            <a:ext cx="48211" cy="48211"/>
          </a:xfrm>
          <a:prstGeom prst="ellipse">
            <a:avLst/>
          </a:prstGeom>
          <a:solidFill>
            <a:srgbClr val="EA580C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60" name="row:eBPF foundation:release:3.18"/>
          <p:cNvSpPr/>
          <p:nvPr/>
        </p:nvSpPr>
        <p:spPr>
          <a:xfrm>
            <a:off x="3677546" y="1493946"/>
            <a:ext cx="48211" cy="48211"/>
          </a:xfrm>
          <a:prstGeom prst="ellipse">
            <a:avLst/>
          </a:prstGeom>
          <a:solidFill>
            <a:srgbClr val="EA580C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61" name="row:eBPF foundation:label"/>
          <p:cNvSpPr txBox="1"/>
          <p:nvPr/>
        </p:nvSpPr>
        <p:spPr>
          <a:xfrm>
            <a:off x="3742251" y="1457153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3.15 · 3.18</a:t>
            </a:r>
          </a:p>
        </p:txBody>
      </p:sp>
      <p:sp>
        <p:nvSpPr>
          <p:cNvPr id="262" name="row:TC BPF:name"/>
          <p:cNvSpPr txBox="1"/>
          <p:nvPr/>
        </p:nvSpPr>
        <p:spPr>
          <a:xfrm>
            <a:off x="1247926" y="1511047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TC BPF</a:t>
            </a:r>
          </a:p>
        </p:txBody>
      </p:sp>
      <p:cxnSp>
        <p:nvCxnSpPr>
          <p:cNvPr id="263" name="row:TC BPF:development"/>
          <p:cNvCxnSpPr/>
          <p:nvPr/>
        </p:nvCxnSpPr>
        <p:spPr>
          <a:xfrm>
            <a:off x="3643510" y="1571947"/>
            <a:ext cx="265205" cy="0"/>
          </a:xfrm>
          <a:prstGeom prst="line">
            <a:avLst/>
          </a:prstGeom>
          <a:ln w="7048">
            <a:solidFill>
              <a:srgbClr val="EA580C"/>
            </a:solidFill>
            <a:prstDash val="dash"/>
          </a:ln>
        </p:spPr>
      </p:cxnSp>
      <p:sp>
        <p:nvSpPr>
          <p:cNvPr id="264" name="row:TC BPF:start"/>
          <p:cNvSpPr/>
          <p:nvPr/>
        </p:nvSpPr>
        <p:spPr>
          <a:xfrm>
            <a:off x="3625748" y="1554184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65" name="row:TC BPF:release:4.1"/>
          <p:cNvSpPr/>
          <p:nvPr/>
        </p:nvSpPr>
        <p:spPr>
          <a:xfrm>
            <a:off x="3884610" y="1547841"/>
            <a:ext cx="48211" cy="48211"/>
          </a:xfrm>
          <a:prstGeom prst="ellipse">
            <a:avLst/>
          </a:prstGeom>
          <a:solidFill>
            <a:srgbClr val="EA580C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66" name="row:TC BPF:label"/>
          <p:cNvSpPr txBox="1"/>
          <p:nvPr/>
        </p:nvSpPr>
        <p:spPr>
          <a:xfrm>
            <a:off x="3949315" y="1511047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4.1</a:t>
            </a:r>
          </a:p>
        </p:txBody>
      </p:sp>
      <p:sp>
        <p:nvSpPr>
          <p:cNvPr id="267" name="row:TCX:name"/>
          <p:cNvSpPr txBox="1"/>
          <p:nvPr/>
        </p:nvSpPr>
        <p:spPr>
          <a:xfrm>
            <a:off x="1247926" y="1564942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TCX</a:t>
            </a:r>
          </a:p>
        </p:txBody>
      </p:sp>
      <p:cxnSp>
        <p:nvCxnSpPr>
          <p:cNvPr id="268" name="row:TCX:development"/>
          <p:cNvCxnSpPr/>
          <p:nvPr/>
        </p:nvCxnSpPr>
        <p:spPr>
          <a:xfrm>
            <a:off x="6770876" y="1625841"/>
            <a:ext cx="359072" cy="0"/>
          </a:xfrm>
          <a:prstGeom prst="line">
            <a:avLst/>
          </a:prstGeom>
          <a:ln w="7048">
            <a:solidFill>
              <a:srgbClr val="EA580C"/>
            </a:solidFill>
            <a:prstDash val="dash"/>
          </a:ln>
        </p:spPr>
      </p:cxnSp>
      <p:sp>
        <p:nvSpPr>
          <p:cNvPr id="269" name="row:TCX:start"/>
          <p:cNvSpPr/>
          <p:nvPr/>
        </p:nvSpPr>
        <p:spPr>
          <a:xfrm>
            <a:off x="6631686" y="1608079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0" name="row:TCX:release:6.6"/>
          <p:cNvSpPr/>
          <p:nvPr/>
        </p:nvSpPr>
        <p:spPr>
          <a:xfrm>
            <a:off x="7105842" y="1601736"/>
            <a:ext cx="48211" cy="48211"/>
          </a:xfrm>
          <a:prstGeom prst="ellipse">
            <a:avLst/>
          </a:prstGeom>
          <a:solidFill>
            <a:srgbClr val="EA580C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1" name="row:TCX:label"/>
          <p:cNvSpPr txBox="1"/>
          <p:nvPr/>
        </p:nvSpPr>
        <p:spPr>
          <a:xfrm>
            <a:off x="7170547" y="1564942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6.6</a:t>
            </a:r>
          </a:p>
        </p:txBody>
      </p:sp>
      <p:sp>
        <p:nvSpPr>
          <p:cNvPr id="272" name="row:netkit:name"/>
          <p:cNvSpPr txBox="1"/>
          <p:nvPr/>
        </p:nvSpPr>
        <p:spPr>
          <a:xfrm>
            <a:off x="1247926" y="1618837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netkit</a:t>
            </a:r>
          </a:p>
        </p:txBody>
      </p:sp>
      <p:cxnSp>
        <p:nvCxnSpPr>
          <p:cNvPr id="273" name="row:netkit:development"/>
          <p:cNvCxnSpPr/>
          <p:nvPr/>
        </p:nvCxnSpPr>
        <p:spPr>
          <a:xfrm>
            <a:off x="6726524" y="1679736"/>
            <a:ext cx="476490" cy="0"/>
          </a:xfrm>
          <a:prstGeom prst="line">
            <a:avLst/>
          </a:prstGeom>
          <a:ln w="7048">
            <a:solidFill>
              <a:srgbClr val="EA580C"/>
            </a:solidFill>
            <a:prstDash val="dash"/>
          </a:ln>
        </p:spPr>
      </p:cxnSp>
      <p:sp>
        <p:nvSpPr>
          <p:cNvPr id="274" name="row:netkit:start"/>
          <p:cNvSpPr/>
          <p:nvPr/>
        </p:nvSpPr>
        <p:spPr>
          <a:xfrm>
            <a:off x="6708762" y="1661974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5" name="row:netkit:release:6.7"/>
          <p:cNvSpPr/>
          <p:nvPr/>
        </p:nvSpPr>
        <p:spPr>
          <a:xfrm>
            <a:off x="7178908" y="1655631"/>
            <a:ext cx="48211" cy="48211"/>
          </a:xfrm>
          <a:prstGeom prst="ellipse">
            <a:avLst/>
          </a:prstGeom>
          <a:solidFill>
            <a:srgbClr val="EA580C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76" name="row:netkit:label"/>
          <p:cNvSpPr txBox="1"/>
          <p:nvPr/>
        </p:nvSpPr>
        <p:spPr>
          <a:xfrm>
            <a:off x="7243614" y="1618837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6.7</a:t>
            </a:r>
          </a:p>
        </p:txBody>
      </p:sp>
      <p:sp>
        <p:nvSpPr>
          <p:cNvPr id="277" name="row:cgroup / LWT BPF:name"/>
          <p:cNvSpPr txBox="1"/>
          <p:nvPr/>
        </p:nvSpPr>
        <p:spPr>
          <a:xfrm>
            <a:off x="1247926" y="1672732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cgroup / LWT BPF</a:t>
            </a:r>
          </a:p>
        </p:txBody>
      </p:sp>
      <p:cxnSp>
        <p:nvCxnSpPr>
          <p:cNvPr id="278" name="row:cgroup / LWT BPF:development"/>
          <p:cNvCxnSpPr/>
          <p:nvPr/>
        </p:nvCxnSpPr>
        <p:spPr>
          <a:xfrm>
            <a:off x="4227390" y="1733631"/>
            <a:ext cx="323356" cy="0"/>
          </a:xfrm>
          <a:prstGeom prst="line">
            <a:avLst/>
          </a:prstGeom>
          <a:ln w="7048">
            <a:solidFill>
              <a:srgbClr val="EA580C"/>
            </a:solidFill>
            <a:prstDash val="dash"/>
          </a:ln>
        </p:spPr>
      </p:cxnSp>
      <p:sp>
        <p:nvSpPr>
          <p:cNvPr id="279" name="row:cgroup / LWT BPF:start"/>
          <p:cNvSpPr/>
          <p:nvPr/>
        </p:nvSpPr>
        <p:spPr>
          <a:xfrm>
            <a:off x="4088200" y="1715869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80" name="row:cgroup / LWT BPF:release:4.10"/>
          <p:cNvSpPr/>
          <p:nvPr/>
        </p:nvSpPr>
        <p:spPr>
          <a:xfrm>
            <a:off x="4526641" y="1709525"/>
            <a:ext cx="48211" cy="48211"/>
          </a:xfrm>
          <a:prstGeom prst="ellipse">
            <a:avLst/>
          </a:prstGeom>
          <a:solidFill>
            <a:srgbClr val="EA580C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81" name="row:cgroup / LWT BPF:label"/>
          <p:cNvSpPr txBox="1"/>
          <p:nvPr/>
        </p:nvSpPr>
        <p:spPr>
          <a:xfrm>
            <a:off x="4591346" y="1672732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4.10</a:t>
            </a:r>
          </a:p>
        </p:txBody>
      </p:sp>
      <p:sp>
        <p:nvSpPr>
          <p:cNvPr id="282" name="row:SOCK_OPS / SOCKMAP:name"/>
          <p:cNvSpPr txBox="1"/>
          <p:nvPr/>
        </p:nvSpPr>
        <p:spPr>
          <a:xfrm>
            <a:off x="1247926" y="1726627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SOCK_OPS / SOCKMAP</a:t>
            </a:r>
          </a:p>
        </p:txBody>
      </p:sp>
      <p:cxnSp>
        <p:nvCxnSpPr>
          <p:cNvPr id="283" name="row:SOCK_OPS / SOCKMAP:development"/>
          <p:cNvCxnSpPr/>
          <p:nvPr/>
        </p:nvCxnSpPr>
        <p:spPr>
          <a:xfrm>
            <a:off x="4420078" y="1787526"/>
            <a:ext cx="337468" cy="0"/>
          </a:xfrm>
          <a:prstGeom prst="line">
            <a:avLst/>
          </a:prstGeom>
          <a:ln w="7048">
            <a:solidFill>
              <a:srgbClr val="EA580C"/>
            </a:solidFill>
            <a:prstDash val="dash"/>
          </a:ln>
        </p:spPr>
      </p:cxnSp>
      <p:sp>
        <p:nvSpPr>
          <p:cNvPr id="284" name="row:SOCK_OPS / SOCKMAP:start"/>
          <p:cNvSpPr/>
          <p:nvPr/>
        </p:nvSpPr>
        <p:spPr>
          <a:xfrm>
            <a:off x="4280888" y="1769764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cxnSp>
        <p:nvCxnSpPr>
          <p:cNvPr id="285" name="row:SOCK_OPS / SOCKMAP:milestones"/>
          <p:cNvCxnSpPr/>
          <p:nvPr/>
        </p:nvCxnSpPr>
        <p:spPr>
          <a:xfrm>
            <a:off x="4757547" y="1787526"/>
            <a:ext cx="73857" cy="0"/>
          </a:xfrm>
          <a:prstGeom prst="line">
            <a:avLst/>
          </a:prstGeom>
          <a:ln w="10572">
            <a:solidFill>
              <a:srgbClr val="EA580C"/>
            </a:solidFill>
          </a:ln>
        </p:spPr>
      </p:cxnSp>
      <p:sp>
        <p:nvSpPr>
          <p:cNvPr id="286" name="row:SOCK_OPS / SOCKMAP:release:4.13"/>
          <p:cNvSpPr/>
          <p:nvPr/>
        </p:nvSpPr>
        <p:spPr>
          <a:xfrm>
            <a:off x="4733441" y="1763420"/>
            <a:ext cx="48211" cy="48211"/>
          </a:xfrm>
          <a:prstGeom prst="ellipse">
            <a:avLst/>
          </a:prstGeom>
          <a:solidFill>
            <a:srgbClr val="EA580C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87" name="row:SOCK_OPS / SOCKMAP:release:4.14"/>
          <p:cNvSpPr/>
          <p:nvPr/>
        </p:nvSpPr>
        <p:spPr>
          <a:xfrm>
            <a:off x="4807298" y="1763420"/>
            <a:ext cx="48211" cy="48211"/>
          </a:xfrm>
          <a:prstGeom prst="ellipse">
            <a:avLst/>
          </a:prstGeom>
          <a:solidFill>
            <a:srgbClr val="EA580C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88" name="row:SOCK_OPS / SOCKMAP:label"/>
          <p:cNvSpPr txBox="1"/>
          <p:nvPr/>
        </p:nvSpPr>
        <p:spPr>
          <a:xfrm>
            <a:off x="4872003" y="1726627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4.13 / 4.14</a:t>
            </a:r>
          </a:p>
        </p:txBody>
      </p:sp>
      <p:sp>
        <p:nvSpPr>
          <p:cNvPr id="289" name="row:BPF struct_ops:name"/>
          <p:cNvSpPr txBox="1"/>
          <p:nvPr/>
        </p:nvSpPr>
        <p:spPr>
          <a:xfrm>
            <a:off x="1247926" y="1780522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BPF struct_ops</a:t>
            </a:r>
          </a:p>
        </p:txBody>
      </p:sp>
      <p:cxnSp>
        <p:nvCxnSpPr>
          <p:cNvPr id="290" name="row:BPF struct_ops:development"/>
          <p:cNvCxnSpPr/>
          <p:nvPr/>
        </p:nvCxnSpPr>
        <p:spPr>
          <a:xfrm>
            <a:off x="5185017" y="1841421"/>
            <a:ext cx="563008" cy="0"/>
          </a:xfrm>
          <a:prstGeom prst="line">
            <a:avLst/>
          </a:prstGeom>
          <a:ln w="7048">
            <a:solidFill>
              <a:srgbClr val="EA580C"/>
            </a:solidFill>
            <a:prstDash val="dash"/>
          </a:ln>
        </p:spPr>
      </p:cxnSp>
      <p:sp>
        <p:nvSpPr>
          <p:cNvPr id="291" name="row:BPF struct_ops:start"/>
          <p:cNvSpPr/>
          <p:nvPr/>
        </p:nvSpPr>
        <p:spPr>
          <a:xfrm>
            <a:off x="5167255" y="1823659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92" name="row:BPF struct_ops:release:5.6"/>
          <p:cNvSpPr/>
          <p:nvPr/>
        </p:nvSpPr>
        <p:spPr>
          <a:xfrm>
            <a:off x="5723920" y="1817315"/>
            <a:ext cx="48211" cy="48211"/>
          </a:xfrm>
          <a:prstGeom prst="ellipse">
            <a:avLst/>
          </a:prstGeom>
          <a:solidFill>
            <a:srgbClr val="EA580C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93" name="row:BPF struct_ops:label"/>
          <p:cNvSpPr txBox="1"/>
          <p:nvPr/>
        </p:nvSpPr>
        <p:spPr>
          <a:xfrm>
            <a:off x="5788625" y="1780522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5.6</a:t>
            </a:r>
          </a:p>
        </p:txBody>
      </p:sp>
      <p:sp>
        <p:nvSpPr>
          <p:cNvPr id="294" name="row:BPF qdisc:name"/>
          <p:cNvSpPr txBox="1"/>
          <p:nvPr/>
        </p:nvSpPr>
        <p:spPr>
          <a:xfrm>
            <a:off x="1247926" y="1834417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BPF qdisc</a:t>
            </a:r>
          </a:p>
        </p:txBody>
      </p:sp>
      <p:cxnSp>
        <p:nvCxnSpPr>
          <p:cNvPr id="295" name="row:BPF qdisc:development"/>
          <p:cNvCxnSpPr/>
          <p:nvPr/>
        </p:nvCxnSpPr>
        <p:spPr>
          <a:xfrm>
            <a:off x="7487777" y="1895316"/>
            <a:ext cx="312689" cy="0"/>
          </a:xfrm>
          <a:prstGeom prst="line">
            <a:avLst/>
          </a:prstGeom>
          <a:ln w="7048">
            <a:solidFill>
              <a:srgbClr val="EA580C"/>
            </a:solidFill>
            <a:prstDash val="dash"/>
          </a:ln>
        </p:spPr>
      </p:cxnSp>
      <p:sp>
        <p:nvSpPr>
          <p:cNvPr id="296" name="row:BPF qdisc:start"/>
          <p:cNvSpPr/>
          <p:nvPr/>
        </p:nvSpPr>
        <p:spPr>
          <a:xfrm>
            <a:off x="7325365" y="1877554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97" name="row:BPF qdisc:release:6.16"/>
          <p:cNvSpPr/>
          <p:nvPr/>
        </p:nvSpPr>
        <p:spPr>
          <a:xfrm>
            <a:off x="7776361" y="1871210"/>
            <a:ext cx="48211" cy="48211"/>
          </a:xfrm>
          <a:prstGeom prst="ellipse">
            <a:avLst/>
          </a:prstGeom>
          <a:solidFill>
            <a:srgbClr val="EA580C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98" name="row:BPF qdisc:label"/>
          <p:cNvSpPr txBox="1"/>
          <p:nvPr/>
        </p:nvSpPr>
        <p:spPr>
          <a:xfrm>
            <a:off x="7841066" y="1834417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6.16</a:t>
            </a:r>
          </a:p>
        </p:txBody>
      </p:sp>
      <p:sp>
        <p:nvSpPr>
          <p:cNvPr id="299" name="row:SK_LOOKUP:name"/>
          <p:cNvSpPr txBox="1"/>
          <p:nvPr/>
        </p:nvSpPr>
        <p:spPr>
          <a:xfrm>
            <a:off x="1247926" y="1888312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SK_LOOKUP</a:t>
            </a:r>
          </a:p>
        </p:txBody>
      </p:sp>
      <p:cxnSp>
        <p:nvCxnSpPr>
          <p:cNvPr id="300" name="row:SK_LOOKUP:development"/>
          <p:cNvCxnSpPr/>
          <p:nvPr/>
        </p:nvCxnSpPr>
        <p:spPr>
          <a:xfrm>
            <a:off x="5454780" y="1949211"/>
            <a:ext cx="500045" cy="0"/>
          </a:xfrm>
          <a:prstGeom prst="line">
            <a:avLst/>
          </a:prstGeom>
          <a:ln w="7048">
            <a:solidFill>
              <a:srgbClr val="EA580C"/>
            </a:solidFill>
            <a:prstDash val="dash"/>
          </a:ln>
        </p:spPr>
      </p:cxnSp>
      <p:sp>
        <p:nvSpPr>
          <p:cNvPr id="301" name="row:SK_LOOKUP:start"/>
          <p:cNvSpPr/>
          <p:nvPr/>
        </p:nvSpPr>
        <p:spPr>
          <a:xfrm>
            <a:off x="5437018" y="1931449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2" name="row:SK_LOOKUP:release:5.9"/>
          <p:cNvSpPr/>
          <p:nvPr/>
        </p:nvSpPr>
        <p:spPr>
          <a:xfrm>
            <a:off x="5930720" y="1925105"/>
            <a:ext cx="48211" cy="48211"/>
          </a:xfrm>
          <a:prstGeom prst="ellipse">
            <a:avLst/>
          </a:prstGeom>
          <a:solidFill>
            <a:srgbClr val="EA580C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3" name="row:SK_LOOKUP:label"/>
          <p:cNvSpPr txBox="1"/>
          <p:nvPr/>
        </p:nvSpPr>
        <p:spPr>
          <a:xfrm>
            <a:off x="5995425" y="1888312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5.9</a:t>
            </a:r>
          </a:p>
        </p:txBody>
      </p:sp>
      <p:sp>
        <p:nvSpPr>
          <p:cNvPr id="304" name="row:XDP:name"/>
          <p:cNvSpPr txBox="1"/>
          <p:nvPr/>
        </p:nvSpPr>
        <p:spPr>
          <a:xfrm>
            <a:off x="1247926" y="1942207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XDP</a:t>
            </a:r>
          </a:p>
        </p:txBody>
      </p:sp>
      <p:cxnSp>
        <p:nvCxnSpPr>
          <p:cNvPr id="305" name="row:XDP:development"/>
          <p:cNvCxnSpPr/>
          <p:nvPr/>
        </p:nvCxnSpPr>
        <p:spPr>
          <a:xfrm>
            <a:off x="4273634" y="2003106"/>
            <a:ext cx="130188" cy="0"/>
          </a:xfrm>
          <a:prstGeom prst="line">
            <a:avLst/>
          </a:prstGeom>
          <a:ln w="7048">
            <a:solidFill>
              <a:srgbClr val="EA580C"/>
            </a:solidFill>
            <a:prstDash val="dash"/>
          </a:ln>
        </p:spPr>
      </p:cxnSp>
      <p:sp>
        <p:nvSpPr>
          <p:cNvPr id="306" name="row:XDP:start"/>
          <p:cNvSpPr/>
          <p:nvPr/>
        </p:nvSpPr>
        <p:spPr>
          <a:xfrm>
            <a:off x="4134445" y="1985344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7" name="row:XDP:release:4.8"/>
          <p:cNvSpPr/>
          <p:nvPr/>
        </p:nvSpPr>
        <p:spPr>
          <a:xfrm>
            <a:off x="4379717" y="1979000"/>
            <a:ext cx="48211" cy="48211"/>
          </a:xfrm>
          <a:prstGeom prst="ellipse">
            <a:avLst/>
          </a:prstGeom>
          <a:solidFill>
            <a:srgbClr val="EA580C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8" name="row:XDP:label"/>
          <p:cNvSpPr txBox="1"/>
          <p:nvPr/>
        </p:nvSpPr>
        <p:spPr>
          <a:xfrm>
            <a:off x="4444422" y="1942207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4.8</a:t>
            </a:r>
          </a:p>
        </p:txBody>
      </p:sp>
      <p:sp>
        <p:nvSpPr>
          <p:cNvPr id="309" name="row:XDP devmap / cpumap:name"/>
          <p:cNvSpPr txBox="1"/>
          <p:nvPr/>
        </p:nvSpPr>
        <p:spPr>
          <a:xfrm>
            <a:off x="1247926" y="1996102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XDP devmap / cpumap</a:t>
            </a:r>
          </a:p>
        </p:txBody>
      </p:sp>
      <p:cxnSp>
        <p:nvCxnSpPr>
          <p:cNvPr id="310" name="row:XDP devmap / cpumap:development"/>
          <p:cNvCxnSpPr/>
          <p:nvPr/>
        </p:nvCxnSpPr>
        <p:spPr>
          <a:xfrm>
            <a:off x="4640958" y="2057001"/>
            <a:ext cx="190446" cy="0"/>
          </a:xfrm>
          <a:prstGeom prst="line">
            <a:avLst/>
          </a:prstGeom>
          <a:ln w="7048">
            <a:solidFill>
              <a:srgbClr val="EA580C"/>
            </a:solidFill>
            <a:prstDash val="dash"/>
          </a:ln>
        </p:spPr>
      </p:cxnSp>
      <p:sp>
        <p:nvSpPr>
          <p:cNvPr id="311" name="row:XDP devmap / cpumap:start"/>
          <p:cNvSpPr/>
          <p:nvPr/>
        </p:nvSpPr>
        <p:spPr>
          <a:xfrm>
            <a:off x="4623196" y="2039239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cxnSp>
        <p:nvCxnSpPr>
          <p:cNvPr id="312" name="row:XDP devmap / cpumap:milestones"/>
          <p:cNvCxnSpPr/>
          <p:nvPr/>
        </p:nvCxnSpPr>
        <p:spPr>
          <a:xfrm>
            <a:off x="4831404" y="2057001"/>
            <a:ext cx="81770" cy="0"/>
          </a:xfrm>
          <a:prstGeom prst="line">
            <a:avLst/>
          </a:prstGeom>
          <a:ln w="10572">
            <a:solidFill>
              <a:srgbClr val="EA580C"/>
            </a:solidFill>
          </a:ln>
        </p:spPr>
      </p:cxnSp>
      <p:sp>
        <p:nvSpPr>
          <p:cNvPr id="313" name="row:XDP devmap / cpumap:release:4.14"/>
          <p:cNvSpPr/>
          <p:nvPr/>
        </p:nvSpPr>
        <p:spPr>
          <a:xfrm>
            <a:off x="4807298" y="2032895"/>
            <a:ext cx="48211" cy="48211"/>
          </a:xfrm>
          <a:prstGeom prst="ellipse">
            <a:avLst/>
          </a:prstGeom>
          <a:solidFill>
            <a:srgbClr val="EA580C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4" name="row:XDP devmap / cpumap:release:4.15"/>
          <p:cNvSpPr/>
          <p:nvPr/>
        </p:nvSpPr>
        <p:spPr>
          <a:xfrm>
            <a:off x="4889069" y="2032895"/>
            <a:ext cx="48211" cy="48211"/>
          </a:xfrm>
          <a:prstGeom prst="ellipse">
            <a:avLst/>
          </a:prstGeom>
          <a:solidFill>
            <a:srgbClr val="EA580C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5" name="row:XDP devmap / cpumap:label"/>
          <p:cNvSpPr txBox="1"/>
          <p:nvPr/>
        </p:nvSpPr>
        <p:spPr>
          <a:xfrm>
            <a:off x="4953774" y="1996102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4.14 / 4.15</a:t>
            </a:r>
          </a:p>
        </p:txBody>
      </p:sp>
      <p:sp>
        <p:nvSpPr>
          <p:cNvPr id="316" name="row:XDP multi-buffer:name"/>
          <p:cNvSpPr txBox="1"/>
          <p:nvPr/>
        </p:nvSpPr>
        <p:spPr>
          <a:xfrm>
            <a:off x="1247926" y="2049997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XDP multi-buffer</a:t>
            </a:r>
          </a:p>
        </p:txBody>
      </p:sp>
      <p:cxnSp>
        <p:nvCxnSpPr>
          <p:cNvPr id="317" name="row:XDP multi-buffer:development"/>
          <p:cNvCxnSpPr/>
          <p:nvPr/>
        </p:nvCxnSpPr>
        <p:spPr>
          <a:xfrm>
            <a:off x="6177496" y="2110896"/>
            <a:ext cx="397203" cy="0"/>
          </a:xfrm>
          <a:prstGeom prst="line">
            <a:avLst/>
          </a:prstGeom>
          <a:ln w="7048">
            <a:solidFill>
              <a:srgbClr val="EA580C"/>
            </a:solidFill>
            <a:prstDash val="dash"/>
          </a:ln>
        </p:spPr>
      </p:cxnSp>
      <p:sp>
        <p:nvSpPr>
          <p:cNvPr id="318" name="row:XDP multi-buffer:start"/>
          <p:cNvSpPr/>
          <p:nvPr/>
        </p:nvSpPr>
        <p:spPr>
          <a:xfrm>
            <a:off x="6015083" y="2093134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9" name="row:XDP multi-buffer:release:5.18"/>
          <p:cNvSpPr/>
          <p:nvPr/>
        </p:nvSpPr>
        <p:spPr>
          <a:xfrm>
            <a:off x="6550593" y="2086790"/>
            <a:ext cx="48211" cy="48211"/>
          </a:xfrm>
          <a:prstGeom prst="ellipse">
            <a:avLst/>
          </a:prstGeom>
          <a:solidFill>
            <a:srgbClr val="EA580C"/>
          </a:solidFill>
          <a:ln w="7048">
            <a:solidFill>
              <a:srgbClr val="EA580C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0" name="row:XDP multi-buffer:label"/>
          <p:cNvSpPr txBox="1"/>
          <p:nvPr/>
        </p:nvSpPr>
        <p:spPr>
          <a:xfrm>
            <a:off x="6615299" y="2049997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5.18</a:t>
            </a:r>
          </a:p>
        </p:txBody>
      </p:sp>
      <p:sp>
        <p:nvSpPr>
          <p:cNvPr id="321" name="band-label:MEMORY"/>
          <p:cNvSpPr txBox="1"/>
          <p:nvPr/>
        </p:nvSpPr>
        <p:spPr>
          <a:xfrm>
            <a:off x="725209" y="2178443"/>
            <a:ext cx="583615" cy="559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555" b="1" i="0">
                <a:solidFill>
                  <a:srgbClr val="16A34A"/>
                </a:solidFill>
              </a:rPr>
              <a:t>MEMORY</a:t>
            </a:r>
          </a:p>
        </p:txBody>
      </p:sp>
      <p:sp>
        <p:nvSpPr>
          <p:cNvPr id="322" name="row:AF_XDP:name"/>
          <p:cNvSpPr txBox="1"/>
          <p:nvPr/>
        </p:nvSpPr>
        <p:spPr>
          <a:xfrm>
            <a:off x="1247926" y="2154641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AF_XDP</a:t>
            </a:r>
          </a:p>
        </p:txBody>
      </p:sp>
      <p:cxnSp>
        <p:nvCxnSpPr>
          <p:cNvPr id="323" name="row:AF_XDP:development"/>
          <p:cNvCxnSpPr/>
          <p:nvPr/>
        </p:nvCxnSpPr>
        <p:spPr>
          <a:xfrm>
            <a:off x="4635989" y="2215540"/>
            <a:ext cx="483722" cy="0"/>
          </a:xfrm>
          <a:prstGeom prst="line">
            <a:avLst/>
          </a:prstGeom>
          <a:ln w="7048">
            <a:solidFill>
              <a:srgbClr val="16A34A"/>
            </a:solidFill>
            <a:prstDash val="dash"/>
          </a:ln>
        </p:spPr>
      </p:cxnSp>
      <p:sp>
        <p:nvSpPr>
          <p:cNvPr id="324" name="row:AF_XDP:start"/>
          <p:cNvSpPr/>
          <p:nvPr/>
        </p:nvSpPr>
        <p:spPr>
          <a:xfrm>
            <a:off x="4473576" y="2197778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5" name="row:AF_XDP:release:4.18"/>
          <p:cNvSpPr/>
          <p:nvPr/>
        </p:nvSpPr>
        <p:spPr>
          <a:xfrm>
            <a:off x="5095605" y="2191434"/>
            <a:ext cx="48211" cy="48211"/>
          </a:xfrm>
          <a:prstGeom prst="ellipse">
            <a:avLst/>
          </a:prstGeom>
          <a:solidFill>
            <a:srgbClr val="16A34A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26" name="row:AF_XDP:label"/>
          <p:cNvSpPr txBox="1"/>
          <p:nvPr/>
        </p:nvSpPr>
        <p:spPr>
          <a:xfrm>
            <a:off x="5160311" y="2154641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4.18</a:t>
            </a:r>
          </a:p>
        </p:txBody>
      </p:sp>
      <p:sp>
        <p:nvSpPr>
          <p:cNvPr id="327" name="row:AF_XDP multi-buffer:name"/>
          <p:cNvSpPr txBox="1"/>
          <p:nvPr/>
        </p:nvSpPr>
        <p:spPr>
          <a:xfrm>
            <a:off x="1247926" y="2208536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AF_XDP multi-buffer</a:t>
            </a:r>
          </a:p>
        </p:txBody>
      </p:sp>
      <p:cxnSp>
        <p:nvCxnSpPr>
          <p:cNvPr id="328" name="row:AF_XDP multi-buffer:development"/>
          <p:cNvCxnSpPr/>
          <p:nvPr/>
        </p:nvCxnSpPr>
        <p:spPr>
          <a:xfrm>
            <a:off x="6562873" y="2269435"/>
            <a:ext cx="567075" cy="0"/>
          </a:xfrm>
          <a:prstGeom prst="line">
            <a:avLst/>
          </a:prstGeom>
          <a:ln w="7048">
            <a:solidFill>
              <a:srgbClr val="16A34A"/>
            </a:solidFill>
            <a:prstDash val="dash"/>
          </a:ln>
        </p:spPr>
      </p:cxnSp>
      <p:sp>
        <p:nvSpPr>
          <p:cNvPr id="329" name="row:AF_XDP multi-buffer:start"/>
          <p:cNvSpPr/>
          <p:nvPr/>
        </p:nvSpPr>
        <p:spPr>
          <a:xfrm>
            <a:off x="6400460" y="2251673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30" name="row:AF_XDP multi-buffer:release:6.6"/>
          <p:cNvSpPr/>
          <p:nvPr/>
        </p:nvSpPr>
        <p:spPr>
          <a:xfrm>
            <a:off x="7105842" y="2245329"/>
            <a:ext cx="48211" cy="48211"/>
          </a:xfrm>
          <a:prstGeom prst="ellipse">
            <a:avLst/>
          </a:prstGeom>
          <a:solidFill>
            <a:srgbClr val="16A34A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31" name="row:AF_XDP multi-buffer:label"/>
          <p:cNvSpPr txBox="1"/>
          <p:nvPr/>
        </p:nvSpPr>
        <p:spPr>
          <a:xfrm>
            <a:off x="7170547" y="2208536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6.6</a:t>
            </a:r>
          </a:p>
        </p:txBody>
      </p:sp>
      <p:sp>
        <p:nvSpPr>
          <p:cNvPr id="332" name="row:page_pool:name"/>
          <p:cNvSpPr txBox="1"/>
          <p:nvPr/>
        </p:nvSpPr>
        <p:spPr>
          <a:xfrm>
            <a:off x="1247926" y="2262431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page_pool</a:t>
            </a:r>
          </a:p>
        </p:txBody>
      </p:sp>
      <p:cxnSp>
        <p:nvCxnSpPr>
          <p:cNvPr id="333" name="row:page_pool:development"/>
          <p:cNvCxnSpPr/>
          <p:nvPr/>
        </p:nvCxnSpPr>
        <p:spPr>
          <a:xfrm>
            <a:off x="4183037" y="2323330"/>
            <a:ext cx="936674" cy="0"/>
          </a:xfrm>
          <a:prstGeom prst="line">
            <a:avLst/>
          </a:prstGeom>
          <a:ln w="7048">
            <a:solidFill>
              <a:srgbClr val="16A34A"/>
            </a:solidFill>
            <a:prstDash val="dash"/>
          </a:ln>
        </p:spPr>
      </p:cxnSp>
      <p:sp>
        <p:nvSpPr>
          <p:cNvPr id="334" name="row:page_pool:start"/>
          <p:cNvSpPr/>
          <p:nvPr/>
        </p:nvSpPr>
        <p:spPr>
          <a:xfrm>
            <a:off x="4165275" y="2305568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35" name="row:page_pool:release:4.18"/>
          <p:cNvSpPr/>
          <p:nvPr/>
        </p:nvSpPr>
        <p:spPr>
          <a:xfrm>
            <a:off x="5095605" y="2299224"/>
            <a:ext cx="48211" cy="48211"/>
          </a:xfrm>
          <a:prstGeom prst="ellipse">
            <a:avLst/>
          </a:prstGeom>
          <a:solidFill>
            <a:srgbClr val="16A34A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36" name="row:page_pool:label"/>
          <p:cNvSpPr txBox="1"/>
          <p:nvPr/>
        </p:nvSpPr>
        <p:spPr>
          <a:xfrm>
            <a:off x="5160311" y="2262431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4.18</a:t>
            </a:r>
          </a:p>
        </p:txBody>
      </p:sp>
      <p:sp>
        <p:nvSpPr>
          <p:cNvPr id="337" name="row:netmem:name"/>
          <p:cNvSpPr txBox="1"/>
          <p:nvPr/>
        </p:nvSpPr>
        <p:spPr>
          <a:xfrm>
            <a:off x="1247926" y="2316326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netmem</a:t>
            </a:r>
          </a:p>
        </p:txBody>
      </p:sp>
      <p:cxnSp>
        <p:nvCxnSpPr>
          <p:cNvPr id="338" name="row:netmem:development"/>
          <p:cNvCxnSpPr/>
          <p:nvPr/>
        </p:nvCxnSpPr>
        <p:spPr>
          <a:xfrm>
            <a:off x="7173207" y="2377225"/>
            <a:ext cx="162486" cy="0"/>
          </a:xfrm>
          <a:prstGeom prst="line">
            <a:avLst/>
          </a:prstGeom>
          <a:ln w="7048">
            <a:solidFill>
              <a:srgbClr val="16A34A"/>
            </a:solidFill>
            <a:prstDash val="dash"/>
          </a:ln>
        </p:spPr>
      </p:cxnSp>
      <p:sp>
        <p:nvSpPr>
          <p:cNvPr id="339" name="row:netmem:start"/>
          <p:cNvSpPr/>
          <p:nvPr/>
        </p:nvSpPr>
        <p:spPr>
          <a:xfrm>
            <a:off x="7155445" y="2359463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40" name="row:netmem:release:6.9"/>
          <p:cNvSpPr/>
          <p:nvPr/>
        </p:nvSpPr>
        <p:spPr>
          <a:xfrm>
            <a:off x="7311588" y="2353119"/>
            <a:ext cx="48211" cy="48211"/>
          </a:xfrm>
          <a:prstGeom prst="ellipse">
            <a:avLst/>
          </a:prstGeom>
          <a:solidFill>
            <a:srgbClr val="16A34A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41" name="row:netmem:label"/>
          <p:cNvSpPr txBox="1"/>
          <p:nvPr/>
        </p:nvSpPr>
        <p:spPr>
          <a:xfrm>
            <a:off x="7376293" y="2316326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6.9</a:t>
            </a:r>
          </a:p>
        </p:txBody>
      </p:sp>
      <p:sp>
        <p:nvSpPr>
          <p:cNvPr id="342" name="row:Device Memory TCP RX · TX:name"/>
          <p:cNvSpPr txBox="1"/>
          <p:nvPr/>
        </p:nvSpPr>
        <p:spPr>
          <a:xfrm>
            <a:off x="1247926" y="2370221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Device Memory TCP RX · TX</a:t>
            </a:r>
          </a:p>
        </p:txBody>
      </p:sp>
      <p:cxnSp>
        <p:nvCxnSpPr>
          <p:cNvPr id="343" name="row:Device Memory TCP RX · TX:development"/>
          <p:cNvCxnSpPr/>
          <p:nvPr/>
        </p:nvCxnSpPr>
        <p:spPr>
          <a:xfrm>
            <a:off x="6842137" y="2431120"/>
            <a:ext cx="693234" cy="0"/>
          </a:xfrm>
          <a:prstGeom prst="line">
            <a:avLst/>
          </a:prstGeom>
          <a:ln w="7048">
            <a:solidFill>
              <a:srgbClr val="16A34A"/>
            </a:solidFill>
            <a:prstDash val="dash"/>
          </a:ln>
        </p:spPr>
      </p:cxnSp>
      <p:sp>
        <p:nvSpPr>
          <p:cNvPr id="344" name="row:Device Memory TCP RX · TX:start"/>
          <p:cNvSpPr/>
          <p:nvPr/>
        </p:nvSpPr>
        <p:spPr>
          <a:xfrm>
            <a:off x="6824374" y="2413358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cxnSp>
        <p:nvCxnSpPr>
          <p:cNvPr id="345" name="row:Device Memory TCP RX · TX:milestones"/>
          <p:cNvCxnSpPr/>
          <p:nvPr/>
        </p:nvCxnSpPr>
        <p:spPr>
          <a:xfrm>
            <a:off x="7535372" y="2431120"/>
            <a:ext cx="265095" cy="0"/>
          </a:xfrm>
          <a:prstGeom prst="line">
            <a:avLst/>
          </a:prstGeom>
          <a:ln w="10572">
            <a:solidFill>
              <a:srgbClr val="16A34A"/>
            </a:solidFill>
          </a:ln>
        </p:spPr>
      </p:cxnSp>
      <p:sp>
        <p:nvSpPr>
          <p:cNvPr id="346" name="row:Device Memory TCP RX · TX:release:6.12"/>
          <p:cNvSpPr/>
          <p:nvPr/>
        </p:nvSpPr>
        <p:spPr>
          <a:xfrm>
            <a:off x="7511266" y="2407014"/>
            <a:ext cx="48211" cy="48211"/>
          </a:xfrm>
          <a:prstGeom prst="ellipse">
            <a:avLst/>
          </a:prstGeom>
          <a:solidFill>
            <a:srgbClr val="16A34A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47" name="row:Device Memory TCP RX · TX:release:6.16"/>
          <p:cNvSpPr/>
          <p:nvPr/>
        </p:nvSpPr>
        <p:spPr>
          <a:xfrm>
            <a:off x="7776361" y="2407014"/>
            <a:ext cx="48211" cy="48211"/>
          </a:xfrm>
          <a:prstGeom prst="ellipse">
            <a:avLst/>
          </a:prstGeom>
          <a:solidFill>
            <a:srgbClr val="16A34A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48" name="row:Device Memory TCP RX · TX:label"/>
          <p:cNvSpPr txBox="1"/>
          <p:nvPr/>
        </p:nvSpPr>
        <p:spPr>
          <a:xfrm>
            <a:off x="7841066" y="2370221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6.12 · 6.16</a:t>
            </a:r>
          </a:p>
        </p:txBody>
      </p:sp>
      <p:sp>
        <p:nvSpPr>
          <p:cNvPr id="349" name="row:devmem RX buffers &gt; PAGE_SIZE:name"/>
          <p:cNvSpPr txBox="1"/>
          <p:nvPr/>
        </p:nvSpPr>
        <p:spPr>
          <a:xfrm>
            <a:off x="1247926" y="2424116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devmem RX buffers &gt; PAGE_SIZE</a:t>
            </a:r>
          </a:p>
        </p:txBody>
      </p:sp>
      <p:sp>
        <p:nvSpPr>
          <p:cNvPr id="350" name="row:devmem RX buffers &gt; PAGE_SIZE:release:7.3-rc"/>
          <p:cNvSpPr/>
          <p:nvPr/>
        </p:nvSpPr>
        <p:spPr>
          <a:xfrm>
            <a:off x="8187060" y="2460909"/>
            <a:ext cx="48211" cy="48211"/>
          </a:xfrm>
          <a:prstGeom prst="ellipse">
            <a:avLst/>
          </a:prstGeom>
          <a:solidFill>
            <a:srgbClr val="16A34A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1" name="row:devmem RX buffers &gt; PAGE_SIZE:label"/>
          <p:cNvSpPr txBox="1"/>
          <p:nvPr/>
        </p:nvSpPr>
        <p:spPr>
          <a:xfrm>
            <a:off x="8251765" y="2424116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7.3-rc</a:t>
            </a:r>
          </a:p>
        </p:txBody>
      </p:sp>
      <p:sp>
        <p:nvSpPr>
          <p:cNvPr id="352" name="row:page_pool memory-provider hooks:name"/>
          <p:cNvSpPr txBox="1"/>
          <p:nvPr/>
        </p:nvSpPr>
        <p:spPr>
          <a:xfrm>
            <a:off x="1247926" y="2478011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page_pool memory-provider hooks</a:t>
            </a:r>
          </a:p>
        </p:txBody>
      </p:sp>
      <p:sp>
        <p:nvSpPr>
          <p:cNvPr id="353" name="row:page_pool memory-provider hooks:release:6.15"/>
          <p:cNvSpPr/>
          <p:nvPr/>
        </p:nvSpPr>
        <p:spPr>
          <a:xfrm>
            <a:off x="7709889" y="2514804"/>
            <a:ext cx="48211" cy="48211"/>
          </a:xfrm>
          <a:prstGeom prst="ellipse">
            <a:avLst/>
          </a:prstGeom>
          <a:solidFill>
            <a:srgbClr val="16A34A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4" name="row:page_pool memory-provider hooks:label"/>
          <p:cNvSpPr txBox="1"/>
          <p:nvPr/>
        </p:nvSpPr>
        <p:spPr>
          <a:xfrm>
            <a:off x="7774594" y="2478011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6.15</a:t>
            </a:r>
          </a:p>
        </p:txBody>
      </p:sp>
      <p:sp>
        <p:nvSpPr>
          <p:cNvPr id="355" name="row:large RX buffers (providers / ZCRX):name"/>
          <p:cNvSpPr txBox="1"/>
          <p:nvPr/>
        </p:nvSpPr>
        <p:spPr>
          <a:xfrm>
            <a:off x="1247926" y="2531906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large RX buffers (providers / ZCRX)</a:t>
            </a:r>
          </a:p>
        </p:txBody>
      </p:sp>
      <p:cxnSp>
        <p:nvCxnSpPr>
          <p:cNvPr id="356" name="row:large RX buffers (providers / ZCRX):development"/>
          <p:cNvCxnSpPr/>
          <p:nvPr/>
        </p:nvCxnSpPr>
        <p:spPr>
          <a:xfrm>
            <a:off x="7574353" y="2592805"/>
            <a:ext cx="499649" cy="0"/>
          </a:xfrm>
          <a:prstGeom prst="line">
            <a:avLst/>
          </a:prstGeom>
          <a:ln w="7048">
            <a:solidFill>
              <a:srgbClr val="16A34A"/>
            </a:solidFill>
            <a:prstDash val="dash"/>
          </a:ln>
        </p:spPr>
      </p:cxnSp>
      <p:sp>
        <p:nvSpPr>
          <p:cNvPr id="357" name="row:large RX buffers (providers / ZCRX):start"/>
          <p:cNvSpPr/>
          <p:nvPr/>
        </p:nvSpPr>
        <p:spPr>
          <a:xfrm>
            <a:off x="7556590" y="2575042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8" name="row:large RX buffers (providers / ZCRX):release:7.0"/>
          <p:cNvSpPr/>
          <p:nvPr/>
        </p:nvSpPr>
        <p:spPr>
          <a:xfrm>
            <a:off x="8049897" y="2568699"/>
            <a:ext cx="48211" cy="48211"/>
          </a:xfrm>
          <a:prstGeom prst="ellipse">
            <a:avLst/>
          </a:prstGeom>
          <a:solidFill>
            <a:srgbClr val="16A34A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59" name="row:large RX buffers (providers / ZCRX):label"/>
          <p:cNvSpPr txBox="1"/>
          <p:nvPr/>
        </p:nvSpPr>
        <p:spPr>
          <a:xfrm>
            <a:off x="8114602" y="2531906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7.0</a:t>
            </a:r>
          </a:p>
        </p:txBody>
      </p:sp>
      <p:sp>
        <p:nvSpPr>
          <p:cNvPr id="360" name="row:io_uring ZCRX:name"/>
          <p:cNvSpPr txBox="1"/>
          <p:nvPr/>
        </p:nvSpPr>
        <p:spPr>
          <a:xfrm>
            <a:off x="1247926" y="2585801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io_uring ZCRX</a:t>
            </a:r>
          </a:p>
        </p:txBody>
      </p:sp>
      <p:cxnSp>
        <p:nvCxnSpPr>
          <p:cNvPr id="361" name="row:io_uring ZCRX:development"/>
          <p:cNvCxnSpPr/>
          <p:nvPr/>
        </p:nvCxnSpPr>
        <p:spPr>
          <a:xfrm>
            <a:off x="6957750" y="2646700"/>
            <a:ext cx="776245" cy="0"/>
          </a:xfrm>
          <a:prstGeom prst="line">
            <a:avLst/>
          </a:prstGeom>
          <a:ln w="7048">
            <a:solidFill>
              <a:srgbClr val="16A34A"/>
            </a:solidFill>
            <a:prstDash val="dash"/>
          </a:ln>
        </p:spPr>
      </p:cxnSp>
      <p:sp>
        <p:nvSpPr>
          <p:cNvPr id="362" name="row:io_uring ZCRX:start"/>
          <p:cNvSpPr/>
          <p:nvPr/>
        </p:nvSpPr>
        <p:spPr>
          <a:xfrm>
            <a:off x="6939988" y="2628937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3" name="row:io_uring ZCRX:release:6.15"/>
          <p:cNvSpPr/>
          <p:nvPr/>
        </p:nvSpPr>
        <p:spPr>
          <a:xfrm>
            <a:off x="7709889" y="2622594"/>
            <a:ext cx="48211" cy="48211"/>
          </a:xfrm>
          <a:prstGeom prst="ellipse">
            <a:avLst/>
          </a:prstGeom>
          <a:solidFill>
            <a:srgbClr val="16A34A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4" name="row:io_uring ZCRX:label"/>
          <p:cNvSpPr txBox="1"/>
          <p:nvPr/>
        </p:nvSpPr>
        <p:spPr>
          <a:xfrm>
            <a:off x="7774594" y="2585801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6.15</a:t>
            </a:r>
          </a:p>
        </p:txBody>
      </p:sp>
      <p:sp>
        <p:nvSpPr>
          <p:cNvPr id="365" name="row:RX HW queue leasing:name"/>
          <p:cNvSpPr txBox="1"/>
          <p:nvPr/>
        </p:nvSpPr>
        <p:spPr>
          <a:xfrm>
            <a:off x="1247926" y="2639695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RX HW queue leasing</a:t>
            </a:r>
          </a:p>
        </p:txBody>
      </p:sp>
      <p:cxnSp>
        <p:nvCxnSpPr>
          <p:cNvPr id="366" name="row:RX HW queue leasing:development"/>
          <p:cNvCxnSpPr/>
          <p:nvPr/>
        </p:nvCxnSpPr>
        <p:spPr>
          <a:xfrm>
            <a:off x="7381664" y="2700595"/>
            <a:ext cx="758809" cy="0"/>
          </a:xfrm>
          <a:prstGeom prst="line">
            <a:avLst/>
          </a:prstGeom>
          <a:ln w="7048">
            <a:solidFill>
              <a:srgbClr val="16A34A"/>
            </a:solidFill>
            <a:prstDash val="dash"/>
          </a:ln>
        </p:spPr>
      </p:cxnSp>
      <p:sp>
        <p:nvSpPr>
          <p:cNvPr id="367" name="row:RX HW queue leasing:start"/>
          <p:cNvSpPr/>
          <p:nvPr/>
        </p:nvSpPr>
        <p:spPr>
          <a:xfrm>
            <a:off x="7363902" y="2682832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8" name="row:RX HW queue leasing:release:7.1"/>
          <p:cNvSpPr/>
          <p:nvPr/>
        </p:nvSpPr>
        <p:spPr>
          <a:xfrm>
            <a:off x="8116368" y="2676489"/>
            <a:ext cx="48211" cy="48211"/>
          </a:xfrm>
          <a:prstGeom prst="ellipse">
            <a:avLst/>
          </a:prstGeom>
          <a:solidFill>
            <a:srgbClr val="16A34A"/>
          </a:solidFill>
          <a:ln w="7048">
            <a:solidFill>
              <a:srgbClr val="16A34A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69" name="row:RX HW queue leasing:label"/>
          <p:cNvSpPr txBox="1"/>
          <p:nvPr/>
        </p:nvSpPr>
        <p:spPr>
          <a:xfrm>
            <a:off x="8181073" y="2639695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7.1</a:t>
            </a:r>
          </a:p>
        </p:txBody>
      </p:sp>
      <p:sp>
        <p:nvSpPr>
          <p:cNvPr id="370" name="band-label:CONTROL PLANE"/>
          <p:cNvSpPr txBox="1"/>
          <p:nvPr/>
        </p:nvSpPr>
        <p:spPr>
          <a:xfrm>
            <a:off x="725209" y="2768142"/>
            <a:ext cx="583615" cy="45145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555" b="1" i="0">
                <a:solidFill>
                  <a:srgbClr val="DC2626"/>
                </a:solidFill>
              </a:rPr>
              <a:t>CONTROL
PLANE</a:t>
            </a:r>
          </a:p>
        </p:txBody>
      </p:sp>
      <p:sp>
        <p:nvSpPr>
          <p:cNvPr id="371" name="row:namespace FD / setns():name"/>
          <p:cNvSpPr txBox="1"/>
          <p:nvPr/>
        </p:nvSpPr>
        <p:spPr>
          <a:xfrm>
            <a:off x="1247926" y="2744340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namespace FD / setns()</a:t>
            </a:r>
          </a:p>
        </p:txBody>
      </p:sp>
      <p:cxnSp>
        <p:nvCxnSpPr>
          <p:cNvPr id="372" name="row:namespace FD / setns():development"/>
          <p:cNvCxnSpPr/>
          <p:nvPr/>
        </p:nvCxnSpPr>
        <p:spPr>
          <a:xfrm>
            <a:off x="2202010" y="2805239"/>
            <a:ext cx="197906" cy="0"/>
          </a:xfrm>
          <a:prstGeom prst="line">
            <a:avLst/>
          </a:prstGeom>
          <a:ln w="7048">
            <a:solidFill>
              <a:srgbClr val="DC2626"/>
            </a:solidFill>
            <a:prstDash val="dash"/>
          </a:ln>
        </p:spPr>
      </p:cxnSp>
      <p:sp>
        <p:nvSpPr>
          <p:cNvPr id="373" name="row:namespace FD / setns():start-offchart"/>
          <p:cNvSpPr/>
          <p:nvPr/>
        </p:nvSpPr>
        <p:spPr>
          <a:xfrm rot="16200000">
            <a:off x="2166486" y="2782402"/>
            <a:ext cx="45674" cy="45674"/>
          </a:xfrm>
          <a:prstGeom prst="triangle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74" name="row:namespace FD / setns():release:3.0"/>
          <p:cNvSpPr/>
          <p:nvPr/>
        </p:nvSpPr>
        <p:spPr>
          <a:xfrm>
            <a:off x="2375811" y="2781133"/>
            <a:ext cx="48211" cy="48211"/>
          </a:xfrm>
          <a:prstGeom prst="ellipse">
            <a:avLst/>
          </a:prstGeom>
          <a:solidFill>
            <a:srgbClr val="DC2626"/>
          </a:solidFill>
          <a:ln w="7048">
            <a:solidFill>
              <a:srgbClr val="DC2626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75" name="row:namespace FD / setns():label"/>
          <p:cNvSpPr txBox="1"/>
          <p:nvPr/>
        </p:nvSpPr>
        <p:spPr>
          <a:xfrm>
            <a:off x="2440516" y="2744340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3.0</a:t>
            </a:r>
          </a:p>
        </p:txBody>
      </p:sp>
      <p:sp>
        <p:nvSpPr>
          <p:cNvPr id="376" name="row:nftables (dev. from 2008):name"/>
          <p:cNvSpPr txBox="1"/>
          <p:nvPr/>
        </p:nvSpPr>
        <p:spPr>
          <a:xfrm>
            <a:off x="1247926" y="2798235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nftables (dev. from 2008)</a:t>
            </a:r>
          </a:p>
        </p:txBody>
      </p:sp>
      <p:cxnSp>
        <p:nvCxnSpPr>
          <p:cNvPr id="377" name="row:nftables (dev. from 2008):development"/>
          <p:cNvCxnSpPr/>
          <p:nvPr/>
        </p:nvCxnSpPr>
        <p:spPr>
          <a:xfrm>
            <a:off x="2202010" y="2859134"/>
            <a:ext cx="1159897" cy="0"/>
          </a:xfrm>
          <a:prstGeom prst="line">
            <a:avLst/>
          </a:prstGeom>
          <a:ln w="7048">
            <a:solidFill>
              <a:srgbClr val="DC2626"/>
            </a:solidFill>
            <a:prstDash val="dash"/>
          </a:ln>
        </p:spPr>
      </p:cxnSp>
      <p:sp>
        <p:nvSpPr>
          <p:cNvPr id="378" name="row:nftables (dev. from 2008):start-offchart"/>
          <p:cNvSpPr/>
          <p:nvPr/>
        </p:nvSpPr>
        <p:spPr>
          <a:xfrm rot="16200000">
            <a:off x="2166486" y="2836296"/>
            <a:ext cx="45674" cy="45674"/>
          </a:xfrm>
          <a:prstGeom prst="triangle">
            <a:avLst/>
          </a:prstGeom>
          <a:solidFill>
            <a:srgbClr val="DC2626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79" name="row:nftables (dev. from 2008):release:3.13"/>
          <p:cNvSpPr/>
          <p:nvPr/>
        </p:nvSpPr>
        <p:spPr>
          <a:xfrm>
            <a:off x="3337802" y="2835028"/>
            <a:ext cx="48211" cy="48211"/>
          </a:xfrm>
          <a:prstGeom prst="ellipse">
            <a:avLst/>
          </a:prstGeom>
          <a:solidFill>
            <a:srgbClr val="DC2626"/>
          </a:solidFill>
          <a:ln w="7048">
            <a:solidFill>
              <a:srgbClr val="DC2626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80" name="row:nftables (dev. from 2008):label"/>
          <p:cNvSpPr txBox="1"/>
          <p:nvPr/>
        </p:nvSpPr>
        <p:spPr>
          <a:xfrm>
            <a:off x="3402507" y="2798235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3.13</a:t>
            </a:r>
          </a:p>
        </p:txBody>
      </p:sp>
      <p:sp>
        <p:nvSpPr>
          <p:cNvPr id="381" name="row:nexthop objects:name"/>
          <p:cNvSpPr txBox="1"/>
          <p:nvPr/>
        </p:nvSpPr>
        <p:spPr>
          <a:xfrm>
            <a:off x="1247926" y="2852130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nexthop objects</a:t>
            </a:r>
          </a:p>
        </p:txBody>
      </p:sp>
      <p:cxnSp>
        <p:nvCxnSpPr>
          <p:cNvPr id="382" name="row:nexthop objects:development"/>
          <p:cNvCxnSpPr/>
          <p:nvPr/>
        </p:nvCxnSpPr>
        <p:spPr>
          <a:xfrm>
            <a:off x="4876716" y="2913029"/>
            <a:ext cx="664245" cy="0"/>
          </a:xfrm>
          <a:prstGeom prst="line">
            <a:avLst/>
          </a:prstGeom>
          <a:ln w="7048">
            <a:solidFill>
              <a:srgbClr val="DC2626"/>
            </a:solidFill>
            <a:prstDash val="dash"/>
          </a:ln>
        </p:spPr>
      </p:cxnSp>
      <p:sp>
        <p:nvSpPr>
          <p:cNvPr id="383" name="row:nexthop objects:start"/>
          <p:cNvSpPr/>
          <p:nvPr/>
        </p:nvSpPr>
        <p:spPr>
          <a:xfrm>
            <a:off x="4858953" y="2895266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DC2626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84" name="row:nexthop objects:release:5.3"/>
          <p:cNvSpPr/>
          <p:nvPr/>
        </p:nvSpPr>
        <p:spPr>
          <a:xfrm>
            <a:off x="5516855" y="2888923"/>
            <a:ext cx="48211" cy="48211"/>
          </a:xfrm>
          <a:prstGeom prst="ellipse">
            <a:avLst/>
          </a:prstGeom>
          <a:solidFill>
            <a:srgbClr val="DC2626"/>
          </a:solidFill>
          <a:ln w="7048">
            <a:solidFill>
              <a:srgbClr val="DC2626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85" name="row:nexthop objects:label"/>
          <p:cNvSpPr txBox="1"/>
          <p:nvPr/>
        </p:nvSpPr>
        <p:spPr>
          <a:xfrm>
            <a:off x="5581561" y="2852130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5.3</a:t>
            </a:r>
          </a:p>
        </p:txBody>
      </p:sp>
      <p:sp>
        <p:nvSpPr>
          <p:cNvPr id="386" name="row:per-netns RTNL:name"/>
          <p:cNvSpPr txBox="1"/>
          <p:nvPr/>
        </p:nvSpPr>
        <p:spPr>
          <a:xfrm>
            <a:off x="1247926" y="2906024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per-netns RTNL</a:t>
            </a:r>
          </a:p>
        </p:txBody>
      </p:sp>
      <p:cxnSp>
        <p:nvCxnSpPr>
          <p:cNvPr id="387" name="row:per-netns RTNL:development"/>
          <p:cNvCxnSpPr/>
          <p:nvPr/>
        </p:nvCxnSpPr>
        <p:spPr>
          <a:xfrm>
            <a:off x="6803599" y="2966923"/>
            <a:ext cx="797452" cy="0"/>
          </a:xfrm>
          <a:prstGeom prst="line">
            <a:avLst/>
          </a:prstGeom>
          <a:ln w="7048">
            <a:solidFill>
              <a:srgbClr val="DC2626"/>
            </a:solidFill>
            <a:prstDash val="dash"/>
          </a:ln>
        </p:spPr>
      </p:cxnSp>
      <p:sp>
        <p:nvSpPr>
          <p:cNvPr id="388" name="row:per-netns RTNL:start"/>
          <p:cNvSpPr/>
          <p:nvPr/>
        </p:nvSpPr>
        <p:spPr>
          <a:xfrm>
            <a:off x="6785837" y="2949161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DC2626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89" name="row:per-netns RTNL:release:6.13"/>
          <p:cNvSpPr/>
          <p:nvPr/>
        </p:nvSpPr>
        <p:spPr>
          <a:xfrm>
            <a:off x="7576946" y="2942818"/>
            <a:ext cx="48211" cy="48211"/>
          </a:xfrm>
          <a:prstGeom prst="ellipse">
            <a:avLst/>
          </a:prstGeom>
          <a:solidFill>
            <a:srgbClr val="DC2626"/>
          </a:solidFill>
          <a:ln w="7048">
            <a:solidFill>
              <a:srgbClr val="DC2626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90" name="row:per-netns RTNL:label"/>
          <p:cNvSpPr txBox="1"/>
          <p:nvPr/>
        </p:nvSpPr>
        <p:spPr>
          <a:xfrm>
            <a:off x="7641651" y="2906024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6.13</a:t>
            </a:r>
          </a:p>
        </p:txBody>
      </p:sp>
      <p:sp>
        <p:nvSpPr>
          <p:cNvPr id="391" name="row:further RTNL breakup:name"/>
          <p:cNvSpPr txBox="1"/>
          <p:nvPr/>
        </p:nvSpPr>
        <p:spPr>
          <a:xfrm>
            <a:off x="1247926" y="2959919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further RTNL breakup</a:t>
            </a:r>
          </a:p>
        </p:txBody>
      </p:sp>
      <p:cxnSp>
        <p:nvCxnSpPr>
          <p:cNvPr id="392" name="row:further RTNL breakup:development"/>
          <p:cNvCxnSpPr/>
          <p:nvPr/>
        </p:nvCxnSpPr>
        <p:spPr>
          <a:xfrm>
            <a:off x="7188976" y="3020818"/>
            <a:ext cx="545018" cy="0"/>
          </a:xfrm>
          <a:prstGeom prst="line">
            <a:avLst/>
          </a:prstGeom>
          <a:ln w="7048">
            <a:solidFill>
              <a:srgbClr val="DC2626"/>
            </a:solidFill>
            <a:prstDash val="dash"/>
          </a:ln>
        </p:spPr>
      </p:cxnSp>
      <p:sp>
        <p:nvSpPr>
          <p:cNvPr id="393" name="row:further RTNL breakup:start"/>
          <p:cNvSpPr/>
          <p:nvPr/>
        </p:nvSpPr>
        <p:spPr>
          <a:xfrm>
            <a:off x="7171214" y="3003056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DC2626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94" name="row:further RTNL breakup:release:6.15"/>
          <p:cNvSpPr/>
          <p:nvPr/>
        </p:nvSpPr>
        <p:spPr>
          <a:xfrm>
            <a:off x="7709889" y="2996713"/>
            <a:ext cx="48211" cy="48211"/>
          </a:xfrm>
          <a:prstGeom prst="ellipse">
            <a:avLst/>
          </a:prstGeom>
          <a:solidFill>
            <a:srgbClr val="DC2626"/>
          </a:solidFill>
          <a:ln w="7048">
            <a:solidFill>
              <a:srgbClr val="DC2626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95" name="row:further RTNL breakup:label"/>
          <p:cNvSpPr txBox="1"/>
          <p:nvPr/>
        </p:nvSpPr>
        <p:spPr>
          <a:xfrm>
            <a:off x="7774594" y="2959919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6.15</a:t>
            </a:r>
          </a:p>
        </p:txBody>
      </p:sp>
      <p:sp>
        <p:nvSpPr>
          <p:cNvPr id="396" name="row:RTNL-less FIB rules:name"/>
          <p:cNvSpPr txBox="1"/>
          <p:nvPr/>
        </p:nvSpPr>
        <p:spPr>
          <a:xfrm>
            <a:off x="1247926" y="3013814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RTNL-less FIB rules</a:t>
            </a:r>
          </a:p>
        </p:txBody>
      </p:sp>
      <p:cxnSp>
        <p:nvCxnSpPr>
          <p:cNvPr id="397" name="row:RTNL-less FIB rules:development"/>
          <p:cNvCxnSpPr/>
          <p:nvPr/>
        </p:nvCxnSpPr>
        <p:spPr>
          <a:xfrm>
            <a:off x="7574353" y="3074713"/>
            <a:ext cx="636813" cy="0"/>
          </a:xfrm>
          <a:prstGeom prst="line">
            <a:avLst/>
          </a:prstGeom>
          <a:ln w="7048">
            <a:solidFill>
              <a:srgbClr val="DC2626"/>
            </a:solidFill>
            <a:prstDash val="dash"/>
          </a:ln>
        </p:spPr>
      </p:cxnSp>
      <p:sp>
        <p:nvSpPr>
          <p:cNvPr id="398" name="row:RTNL-less FIB rules:start"/>
          <p:cNvSpPr/>
          <p:nvPr/>
        </p:nvSpPr>
        <p:spPr>
          <a:xfrm>
            <a:off x="7556590" y="3056951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DC2626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99" name="row:RTNL-less FIB rules:release:7.3-rc"/>
          <p:cNvSpPr/>
          <p:nvPr/>
        </p:nvSpPr>
        <p:spPr>
          <a:xfrm>
            <a:off x="8187060" y="3050608"/>
            <a:ext cx="48211" cy="48211"/>
          </a:xfrm>
          <a:prstGeom prst="ellipse">
            <a:avLst/>
          </a:prstGeom>
          <a:solidFill>
            <a:srgbClr val="DC2626"/>
          </a:solidFill>
          <a:ln w="7048">
            <a:solidFill>
              <a:srgbClr val="DC2626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00" name="row:RTNL-less FIB rules:label"/>
          <p:cNvSpPr txBox="1"/>
          <p:nvPr/>
        </p:nvSpPr>
        <p:spPr>
          <a:xfrm>
            <a:off x="8251765" y="3013814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7.3-rc</a:t>
            </a:r>
          </a:p>
        </p:txBody>
      </p:sp>
      <p:sp>
        <p:nvSpPr>
          <p:cNvPr id="401" name="row:per-netns netdev unregistration:name"/>
          <p:cNvSpPr txBox="1"/>
          <p:nvPr/>
        </p:nvSpPr>
        <p:spPr>
          <a:xfrm>
            <a:off x="1247926" y="3067709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per-netns netdev unregistration</a:t>
            </a:r>
          </a:p>
        </p:txBody>
      </p:sp>
      <p:sp>
        <p:nvSpPr>
          <p:cNvPr id="402" name="row:per-netns netdev unregistration:release:7.3-rc"/>
          <p:cNvSpPr/>
          <p:nvPr/>
        </p:nvSpPr>
        <p:spPr>
          <a:xfrm>
            <a:off x="8187060" y="3104502"/>
            <a:ext cx="48211" cy="48211"/>
          </a:xfrm>
          <a:prstGeom prst="ellipse">
            <a:avLst/>
          </a:prstGeom>
          <a:solidFill>
            <a:srgbClr val="DC2626"/>
          </a:solidFill>
          <a:ln w="7048">
            <a:solidFill>
              <a:srgbClr val="DC2626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03" name="row:per-netns netdev unregistration:label"/>
          <p:cNvSpPr txBox="1"/>
          <p:nvPr/>
        </p:nvSpPr>
        <p:spPr>
          <a:xfrm>
            <a:off x="8251765" y="3067709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7.3-rc</a:t>
            </a:r>
          </a:p>
        </p:txBody>
      </p:sp>
      <p:sp>
        <p:nvSpPr>
          <p:cNvPr id="404" name="row:YNL tooling:name"/>
          <p:cNvSpPr txBox="1"/>
          <p:nvPr/>
        </p:nvSpPr>
        <p:spPr>
          <a:xfrm>
            <a:off x="1247926" y="3121604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YNL tooling</a:t>
            </a:r>
          </a:p>
        </p:txBody>
      </p:sp>
      <p:cxnSp>
        <p:nvCxnSpPr>
          <p:cNvPr id="405" name="row:YNL tooling:development"/>
          <p:cNvCxnSpPr/>
          <p:nvPr/>
        </p:nvCxnSpPr>
        <p:spPr>
          <a:xfrm>
            <a:off x="6225534" y="3182503"/>
            <a:ext cx="703944" cy="0"/>
          </a:xfrm>
          <a:prstGeom prst="line">
            <a:avLst/>
          </a:prstGeom>
          <a:ln w="7048">
            <a:solidFill>
              <a:srgbClr val="DC2626"/>
            </a:solidFill>
            <a:prstDash val="dash"/>
          </a:ln>
        </p:spPr>
      </p:cxnSp>
      <p:sp>
        <p:nvSpPr>
          <p:cNvPr id="406" name="row:YNL tooling:start"/>
          <p:cNvSpPr/>
          <p:nvPr/>
        </p:nvSpPr>
        <p:spPr>
          <a:xfrm>
            <a:off x="6207772" y="3164741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DC2626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07" name="row:YNL tooling:release:6.3"/>
          <p:cNvSpPr/>
          <p:nvPr/>
        </p:nvSpPr>
        <p:spPr>
          <a:xfrm>
            <a:off x="6905372" y="3158397"/>
            <a:ext cx="48211" cy="48211"/>
          </a:xfrm>
          <a:prstGeom prst="ellipse">
            <a:avLst/>
          </a:prstGeom>
          <a:solidFill>
            <a:srgbClr val="DC2626"/>
          </a:solidFill>
          <a:ln w="7048">
            <a:solidFill>
              <a:srgbClr val="DC2626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08" name="row:YNL tooling:label"/>
          <p:cNvSpPr txBox="1"/>
          <p:nvPr/>
        </p:nvSpPr>
        <p:spPr>
          <a:xfrm>
            <a:off x="6970077" y="3121604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6.3</a:t>
            </a:r>
          </a:p>
        </p:txBody>
      </p:sp>
      <p:sp>
        <p:nvSpPr>
          <p:cNvPr id="409" name="band-label:OBSERVABILITY"/>
          <p:cNvSpPr txBox="1"/>
          <p:nvPr/>
        </p:nvSpPr>
        <p:spPr>
          <a:xfrm>
            <a:off x="725209" y="3250051"/>
            <a:ext cx="583615" cy="3436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555" b="1" i="0">
                <a:solidFill>
                  <a:srgbClr val="7C3AED"/>
                </a:solidFill>
              </a:rPr>
              <a:t>OBSERV-
ABILITY</a:t>
            </a:r>
          </a:p>
        </p:txBody>
      </p:sp>
      <p:sp>
        <p:nvSpPr>
          <p:cNvPr id="410" name="row:queue/NAPI/page_pool netdev-genl:name"/>
          <p:cNvSpPr txBox="1"/>
          <p:nvPr/>
        </p:nvSpPr>
        <p:spPr>
          <a:xfrm>
            <a:off x="1247926" y="3226248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queue/NAPI/page_pool netdev-genl</a:t>
            </a:r>
          </a:p>
        </p:txBody>
      </p:sp>
      <p:cxnSp>
        <p:nvCxnSpPr>
          <p:cNvPr id="411" name="row:queue/NAPI/page_pool netdev-genl:development"/>
          <p:cNvCxnSpPr/>
          <p:nvPr/>
        </p:nvCxnSpPr>
        <p:spPr>
          <a:xfrm>
            <a:off x="6803599" y="3287147"/>
            <a:ext cx="465886" cy="0"/>
          </a:xfrm>
          <a:prstGeom prst="line">
            <a:avLst/>
          </a:prstGeom>
          <a:ln w="7048">
            <a:solidFill>
              <a:srgbClr val="7C3AED"/>
            </a:solidFill>
            <a:prstDash val="dash"/>
          </a:ln>
        </p:spPr>
      </p:cxnSp>
      <p:sp>
        <p:nvSpPr>
          <p:cNvPr id="412" name="row:queue/NAPI/page_pool netdev-genl:start"/>
          <p:cNvSpPr/>
          <p:nvPr/>
        </p:nvSpPr>
        <p:spPr>
          <a:xfrm>
            <a:off x="6785837" y="3269385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7C3AED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13" name="row:queue/NAPI/page_pool netdev-genl:release:6.8"/>
          <p:cNvSpPr/>
          <p:nvPr/>
        </p:nvSpPr>
        <p:spPr>
          <a:xfrm>
            <a:off x="7245380" y="3263042"/>
            <a:ext cx="48211" cy="48211"/>
          </a:xfrm>
          <a:prstGeom prst="ellipse">
            <a:avLst/>
          </a:prstGeom>
          <a:solidFill>
            <a:srgbClr val="7C3AED"/>
          </a:solidFill>
          <a:ln w="7048">
            <a:solidFill>
              <a:srgbClr val="7C3AED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14" name="row:queue/NAPI/page_pool netdev-genl:label"/>
          <p:cNvSpPr txBox="1"/>
          <p:nvPr/>
        </p:nvSpPr>
        <p:spPr>
          <a:xfrm>
            <a:off x="7310085" y="3226248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6.8</a:t>
            </a:r>
          </a:p>
        </p:txBody>
      </p:sp>
      <p:sp>
        <p:nvSpPr>
          <p:cNvPr id="415" name="row:kprobe BPF:name"/>
          <p:cNvSpPr txBox="1"/>
          <p:nvPr/>
        </p:nvSpPr>
        <p:spPr>
          <a:xfrm>
            <a:off x="1247926" y="3280143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kprobe BPF</a:t>
            </a:r>
          </a:p>
        </p:txBody>
      </p:sp>
      <p:cxnSp>
        <p:nvCxnSpPr>
          <p:cNvPr id="416" name="row:kprobe BPF:development"/>
          <p:cNvCxnSpPr/>
          <p:nvPr/>
        </p:nvCxnSpPr>
        <p:spPr>
          <a:xfrm>
            <a:off x="3412284" y="3341042"/>
            <a:ext cx="496431" cy="0"/>
          </a:xfrm>
          <a:prstGeom prst="line">
            <a:avLst/>
          </a:prstGeom>
          <a:ln w="7048">
            <a:solidFill>
              <a:srgbClr val="7C3AED"/>
            </a:solidFill>
            <a:prstDash val="dash"/>
          </a:ln>
        </p:spPr>
      </p:cxnSp>
      <p:sp>
        <p:nvSpPr>
          <p:cNvPr id="417" name="row:kprobe BPF:start"/>
          <p:cNvSpPr/>
          <p:nvPr/>
        </p:nvSpPr>
        <p:spPr>
          <a:xfrm>
            <a:off x="3394522" y="3323280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7C3AED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18" name="row:kprobe BPF:release:4.1"/>
          <p:cNvSpPr/>
          <p:nvPr/>
        </p:nvSpPr>
        <p:spPr>
          <a:xfrm>
            <a:off x="3884610" y="3316936"/>
            <a:ext cx="48211" cy="48211"/>
          </a:xfrm>
          <a:prstGeom prst="ellipse">
            <a:avLst/>
          </a:prstGeom>
          <a:solidFill>
            <a:srgbClr val="7C3AED"/>
          </a:solidFill>
          <a:ln w="7048">
            <a:solidFill>
              <a:srgbClr val="7C3AED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19" name="row:kprobe BPF:label"/>
          <p:cNvSpPr txBox="1"/>
          <p:nvPr/>
        </p:nvSpPr>
        <p:spPr>
          <a:xfrm>
            <a:off x="3949315" y="3280143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4.1</a:t>
            </a:r>
          </a:p>
        </p:txBody>
      </p:sp>
      <p:sp>
        <p:nvSpPr>
          <p:cNvPr id="420" name="row:BTF:name"/>
          <p:cNvSpPr txBox="1"/>
          <p:nvPr/>
        </p:nvSpPr>
        <p:spPr>
          <a:xfrm>
            <a:off x="1247926" y="3334038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BTF</a:t>
            </a:r>
          </a:p>
        </p:txBody>
      </p:sp>
      <p:cxnSp>
        <p:nvCxnSpPr>
          <p:cNvPr id="421" name="row:BTF:development"/>
          <p:cNvCxnSpPr/>
          <p:nvPr/>
        </p:nvCxnSpPr>
        <p:spPr>
          <a:xfrm>
            <a:off x="4961710" y="3394937"/>
            <a:ext cx="158001" cy="0"/>
          </a:xfrm>
          <a:prstGeom prst="line">
            <a:avLst/>
          </a:prstGeom>
          <a:ln w="7048">
            <a:solidFill>
              <a:srgbClr val="7C3AED"/>
            </a:solidFill>
            <a:prstDash val="dash"/>
          </a:ln>
        </p:spPr>
      </p:cxnSp>
      <p:sp>
        <p:nvSpPr>
          <p:cNvPr id="422" name="row:BTF:start"/>
          <p:cNvSpPr/>
          <p:nvPr/>
        </p:nvSpPr>
        <p:spPr>
          <a:xfrm>
            <a:off x="4943947" y="3377175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7C3AED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23" name="row:BTF:release:4.18"/>
          <p:cNvSpPr/>
          <p:nvPr/>
        </p:nvSpPr>
        <p:spPr>
          <a:xfrm>
            <a:off x="5095605" y="3370831"/>
            <a:ext cx="48211" cy="48211"/>
          </a:xfrm>
          <a:prstGeom prst="ellipse">
            <a:avLst/>
          </a:prstGeom>
          <a:solidFill>
            <a:srgbClr val="7C3AED"/>
          </a:solidFill>
          <a:ln w="7048">
            <a:solidFill>
              <a:srgbClr val="7C3AED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24" name="row:BTF:label"/>
          <p:cNvSpPr txBox="1"/>
          <p:nvPr/>
        </p:nvSpPr>
        <p:spPr>
          <a:xfrm>
            <a:off x="5160311" y="3334038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4.18</a:t>
            </a:r>
          </a:p>
        </p:txBody>
      </p:sp>
      <p:sp>
        <p:nvSpPr>
          <p:cNvPr id="425" name="row:structured drop reason:name"/>
          <p:cNvSpPr txBox="1"/>
          <p:nvPr/>
        </p:nvSpPr>
        <p:spPr>
          <a:xfrm>
            <a:off x="1247926" y="3387933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structured drop reason</a:t>
            </a:r>
          </a:p>
        </p:txBody>
      </p:sp>
      <p:cxnSp>
        <p:nvCxnSpPr>
          <p:cNvPr id="426" name="row:structured drop reason:development"/>
          <p:cNvCxnSpPr/>
          <p:nvPr/>
        </p:nvCxnSpPr>
        <p:spPr>
          <a:xfrm>
            <a:off x="6032846" y="3448832"/>
            <a:ext cx="475382" cy="0"/>
          </a:xfrm>
          <a:prstGeom prst="line">
            <a:avLst/>
          </a:prstGeom>
          <a:ln w="7048">
            <a:solidFill>
              <a:srgbClr val="7C3AED"/>
            </a:solidFill>
            <a:prstDash val="dash"/>
          </a:ln>
        </p:spPr>
      </p:cxnSp>
      <p:sp>
        <p:nvSpPr>
          <p:cNvPr id="427" name="row:structured drop reason:start"/>
          <p:cNvSpPr/>
          <p:nvPr/>
        </p:nvSpPr>
        <p:spPr>
          <a:xfrm>
            <a:off x="6015083" y="3431070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7C3AED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28" name="row:structured drop reason:release:5.17"/>
          <p:cNvSpPr/>
          <p:nvPr/>
        </p:nvSpPr>
        <p:spPr>
          <a:xfrm>
            <a:off x="6484122" y="3424726"/>
            <a:ext cx="48211" cy="48211"/>
          </a:xfrm>
          <a:prstGeom prst="ellipse">
            <a:avLst/>
          </a:prstGeom>
          <a:solidFill>
            <a:srgbClr val="7C3AED"/>
          </a:solidFill>
          <a:ln w="7048">
            <a:solidFill>
              <a:srgbClr val="7C3AED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29" name="row:structured drop reason:label"/>
          <p:cNvSpPr txBox="1"/>
          <p:nvPr/>
        </p:nvSpPr>
        <p:spPr>
          <a:xfrm>
            <a:off x="6548827" y="3387933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5.17</a:t>
            </a:r>
          </a:p>
        </p:txBody>
      </p:sp>
      <p:sp>
        <p:nvSpPr>
          <p:cNvPr id="430" name="row:drop-reason expansion:name"/>
          <p:cNvSpPr txBox="1"/>
          <p:nvPr/>
        </p:nvSpPr>
        <p:spPr>
          <a:xfrm>
            <a:off x="1247926" y="3441828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drop-reason expansion</a:t>
            </a:r>
          </a:p>
        </p:txBody>
      </p:sp>
      <p:cxnSp>
        <p:nvCxnSpPr>
          <p:cNvPr id="431" name="row:drop-reason expansion:development"/>
          <p:cNvCxnSpPr/>
          <p:nvPr/>
        </p:nvCxnSpPr>
        <p:spPr>
          <a:xfrm>
            <a:off x="6495298" y="3502727"/>
            <a:ext cx="153259" cy="0"/>
          </a:xfrm>
          <a:prstGeom prst="line">
            <a:avLst/>
          </a:prstGeom>
          <a:ln w="7048">
            <a:solidFill>
              <a:srgbClr val="7C3AED"/>
            </a:solidFill>
            <a:prstDash val="dash"/>
          </a:ln>
        </p:spPr>
      </p:cxnSp>
      <p:sp>
        <p:nvSpPr>
          <p:cNvPr id="432" name="row:drop-reason expansion:start"/>
          <p:cNvSpPr/>
          <p:nvPr/>
        </p:nvSpPr>
        <p:spPr>
          <a:xfrm>
            <a:off x="6477536" y="3484965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7C3AED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33" name="row:drop-reason expansion:release:5.19"/>
          <p:cNvSpPr/>
          <p:nvPr/>
        </p:nvSpPr>
        <p:spPr>
          <a:xfrm>
            <a:off x="6624451" y="3478621"/>
            <a:ext cx="48211" cy="48211"/>
          </a:xfrm>
          <a:prstGeom prst="ellipse">
            <a:avLst/>
          </a:prstGeom>
          <a:solidFill>
            <a:srgbClr val="7C3AED"/>
          </a:solidFill>
          <a:ln w="7048">
            <a:solidFill>
              <a:srgbClr val="7C3AED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34" name="row:drop-reason expansion:label"/>
          <p:cNvSpPr txBox="1"/>
          <p:nvPr/>
        </p:nvSpPr>
        <p:spPr>
          <a:xfrm>
            <a:off x="6689156" y="3441828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5.19</a:t>
            </a:r>
          </a:p>
        </p:txBody>
      </p:sp>
      <p:sp>
        <p:nvSpPr>
          <p:cNvPr id="435" name="row:qdisc-drop tracepoint:name"/>
          <p:cNvSpPr txBox="1"/>
          <p:nvPr/>
        </p:nvSpPr>
        <p:spPr>
          <a:xfrm>
            <a:off x="1247926" y="3495723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qdisc-drop tracepoint</a:t>
            </a:r>
          </a:p>
        </p:txBody>
      </p:sp>
      <p:cxnSp>
        <p:nvCxnSpPr>
          <p:cNvPr id="436" name="row:qdisc-drop tracepoint:development"/>
          <p:cNvCxnSpPr/>
          <p:nvPr/>
        </p:nvCxnSpPr>
        <p:spPr>
          <a:xfrm>
            <a:off x="7574353" y="3556622"/>
            <a:ext cx="566121" cy="0"/>
          </a:xfrm>
          <a:prstGeom prst="line">
            <a:avLst/>
          </a:prstGeom>
          <a:ln w="7048">
            <a:solidFill>
              <a:srgbClr val="7C3AED"/>
            </a:solidFill>
            <a:prstDash val="dash"/>
          </a:ln>
        </p:spPr>
      </p:cxnSp>
      <p:sp>
        <p:nvSpPr>
          <p:cNvPr id="437" name="row:qdisc-drop tracepoint:start"/>
          <p:cNvSpPr/>
          <p:nvPr/>
        </p:nvSpPr>
        <p:spPr>
          <a:xfrm>
            <a:off x="7556590" y="3538860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7C3AED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38" name="row:qdisc-drop tracepoint:release:7.1"/>
          <p:cNvSpPr/>
          <p:nvPr/>
        </p:nvSpPr>
        <p:spPr>
          <a:xfrm>
            <a:off x="8116368" y="3532516"/>
            <a:ext cx="48211" cy="48211"/>
          </a:xfrm>
          <a:prstGeom prst="ellipse">
            <a:avLst/>
          </a:prstGeom>
          <a:solidFill>
            <a:srgbClr val="7C3AED"/>
          </a:solidFill>
          <a:ln w="7048">
            <a:solidFill>
              <a:srgbClr val="7C3AED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39" name="row:qdisc-drop tracepoint:label"/>
          <p:cNvSpPr txBox="1"/>
          <p:nvPr/>
        </p:nvSpPr>
        <p:spPr>
          <a:xfrm>
            <a:off x="8181073" y="3495723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7.1</a:t>
            </a:r>
          </a:p>
        </p:txBody>
      </p:sp>
      <p:sp>
        <p:nvSpPr>
          <p:cNvPr id="440" name="band-label:DRIVER FRAMEWORK"/>
          <p:cNvSpPr txBox="1"/>
          <p:nvPr/>
        </p:nvSpPr>
        <p:spPr>
          <a:xfrm>
            <a:off x="725209" y="3624169"/>
            <a:ext cx="583615" cy="559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555" b="1" i="0">
                <a:solidFill>
                  <a:srgbClr val="A16207"/>
                </a:solidFill>
              </a:rPr>
              <a:t>DRIVER
FRAMEWORK</a:t>
            </a:r>
          </a:p>
        </p:txBody>
      </p:sp>
      <p:sp>
        <p:nvSpPr>
          <p:cNvPr id="441" name="row:switchdev:name"/>
          <p:cNvSpPr txBox="1"/>
          <p:nvPr/>
        </p:nvSpPr>
        <p:spPr>
          <a:xfrm>
            <a:off x="1247926" y="3600367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switchdev</a:t>
            </a:r>
          </a:p>
        </p:txBody>
      </p:sp>
      <p:cxnSp>
        <p:nvCxnSpPr>
          <p:cNvPr id="442" name="row:switchdev:development"/>
          <p:cNvCxnSpPr/>
          <p:nvPr/>
        </p:nvCxnSpPr>
        <p:spPr>
          <a:xfrm>
            <a:off x="3335209" y="3661266"/>
            <a:ext cx="433178" cy="0"/>
          </a:xfrm>
          <a:prstGeom prst="line">
            <a:avLst/>
          </a:prstGeom>
          <a:ln w="7048">
            <a:solidFill>
              <a:srgbClr val="A16207"/>
            </a:solidFill>
            <a:prstDash val="dash"/>
          </a:ln>
        </p:spPr>
      </p:cxnSp>
      <p:sp>
        <p:nvSpPr>
          <p:cNvPr id="443" name="row:switchdev:start"/>
          <p:cNvSpPr/>
          <p:nvPr/>
        </p:nvSpPr>
        <p:spPr>
          <a:xfrm>
            <a:off x="3317447" y="3643504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44" name="row:switchdev:release:3.19"/>
          <p:cNvSpPr/>
          <p:nvPr/>
        </p:nvSpPr>
        <p:spPr>
          <a:xfrm>
            <a:off x="3744281" y="3637160"/>
            <a:ext cx="48211" cy="48211"/>
          </a:xfrm>
          <a:prstGeom prst="ellipse">
            <a:avLst/>
          </a:prstGeom>
          <a:solidFill>
            <a:srgbClr val="A16207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45" name="row:switchdev:label"/>
          <p:cNvSpPr txBox="1"/>
          <p:nvPr/>
        </p:nvSpPr>
        <p:spPr>
          <a:xfrm>
            <a:off x="3808986" y="3600367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3.19</a:t>
            </a:r>
          </a:p>
        </p:txBody>
      </p:sp>
      <p:sp>
        <p:nvSpPr>
          <p:cNvPr id="446" name="row:devlink:name"/>
          <p:cNvSpPr txBox="1"/>
          <p:nvPr/>
        </p:nvSpPr>
        <p:spPr>
          <a:xfrm>
            <a:off x="1247926" y="3654262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devlink</a:t>
            </a:r>
          </a:p>
        </p:txBody>
      </p:sp>
      <p:cxnSp>
        <p:nvCxnSpPr>
          <p:cNvPr id="447" name="row:devlink:development"/>
          <p:cNvCxnSpPr/>
          <p:nvPr/>
        </p:nvCxnSpPr>
        <p:spPr>
          <a:xfrm>
            <a:off x="3720585" y="3715161"/>
            <a:ext cx="535523" cy="0"/>
          </a:xfrm>
          <a:prstGeom prst="line">
            <a:avLst/>
          </a:prstGeom>
          <a:ln w="7048">
            <a:solidFill>
              <a:srgbClr val="A16207"/>
            </a:solidFill>
            <a:prstDash val="dash"/>
          </a:ln>
        </p:spPr>
      </p:cxnSp>
      <p:sp>
        <p:nvSpPr>
          <p:cNvPr id="448" name="row:devlink:start"/>
          <p:cNvSpPr/>
          <p:nvPr/>
        </p:nvSpPr>
        <p:spPr>
          <a:xfrm>
            <a:off x="3702823" y="3697399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49" name="row:devlink:release:4.6"/>
          <p:cNvSpPr/>
          <p:nvPr/>
        </p:nvSpPr>
        <p:spPr>
          <a:xfrm>
            <a:off x="4232003" y="3691055"/>
            <a:ext cx="48211" cy="48211"/>
          </a:xfrm>
          <a:prstGeom prst="ellipse">
            <a:avLst/>
          </a:prstGeom>
          <a:solidFill>
            <a:srgbClr val="A16207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50" name="row:devlink:label"/>
          <p:cNvSpPr txBox="1"/>
          <p:nvPr/>
        </p:nvSpPr>
        <p:spPr>
          <a:xfrm>
            <a:off x="4296708" y="3654262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4.6</a:t>
            </a:r>
          </a:p>
        </p:txBody>
      </p:sp>
      <p:sp>
        <p:nvSpPr>
          <p:cNvPr id="451" name="row:devlink health:name"/>
          <p:cNvSpPr txBox="1"/>
          <p:nvPr/>
        </p:nvSpPr>
        <p:spPr>
          <a:xfrm>
            <a:off x="1247926" y="3708157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devlink health</a:t>
            </a:r>
          </a:p>
        </p:txBody>
      </p:sp>
      <p:cxnSp>
        <p:nvCxnSpPr>
          <p:cNvPr id="452" name="row:devlink health:development"/>
          <p:cNvCxnSpPr/>
          <p:nvPr/>
        </p:nvCxnSpPr>
        <p:spPr>
          <a:xfrm>
            <a:off x="5021366" y="3769056"/>
            <a:ext cx="379266" cy="0"/>
          </a:xfrm>
          <a:prstGeom prst="line">
            <a:avLst/>
          </a:prstGeom>
          <a:ln w="7048">
            <a:solidFill>
              <a:srgbClr val="A16207"/>
            </a:solidFill>
            <a:prstDash val="dash"/>
          </a:ln>
        </p:spPr>
      </p:cxnSp>
      <p:sp>
        <p:nvSpPr>
          <p:cNvPr id="453" name="row:devlink health:start"/>
          <p:cNvSpPr/>
          <p:nvPr/>
        </p:nvSpPr>
        <p:spPr>
          <a:xfrm>
            <a:off x="4858953" y="3751294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54" name="row:devlink health:release:5.1"/>
          <p:cNvSpPr/>
          <p:nvPr/>
        </p:nvSpPr>
        <p:spPr>
          <a:xfrm>
            <a:off x="5376527" y="3744950"/>
            <a:ext cx="48211" cy="48211"/>
          </a:xfrm>
          <a:prstGeom prst="ellipse">
            <a:avLst/>
          </a:prstGeom>
          <a:solidFill>
            <a:srgbClr val="A16207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55" name="row:devlink health:label"/>
          <p:cNvSpPr txBox="1"/>
          <p:nvPr/>
        </p:nvSpPr>
        <p:spPr>
          <a:xfrm>
            <a:off x="5441232" y="3708157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5.1</a:t>
            </a:r>
          </a:p>
        </p:txBody>
      </p:sp>
      <p:sp>
        <p:nvSpPr>
          <p:cNvPr id="456" name="row:phylink:name"/>
          <p:cNvSpPr txBox="1"/>
          <p:nvPr/>
        </p:nvSpPr>
        <p:spPr>
          <a:xfrm>
            <a:off x="1247926" y="3762052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phylink</a:t>
            </a:r>
          </a:p>
        </p:txBody>
      </p:sp>
      <p:cxnSp>
        <p:nvCxnSpPr>
          <p:cNvPr id="457" name="row:phylink:development"/>
          <p:cNvCxnSpPr/>
          <p:nvPr/>
        </p:nvCxnSpPr>
        <p:spPr>
          <a:xfrm>
            <a:off x="3797661" y="3822951"/>
            <a:ext cx="1033743" cy="0"/>
          </a:xfrm>
          <a:prstGeom prst="line">
            <a:avLst/>
          </a:prstGeom>
          <a:ln w="7048">
            <a:solidFill>
              <a:srgbClr val="A16207"/>
            </a:solidFill>
            <a:prstDash val="dash"/>
          </a:ln>
        </p:spPr>
      </p:cxnSp>
      <p:sp>
        <p:nvSpPr>
          <p:cNvPr id="458" name="row:phylink:start"/>
          <p:cNvSpPr/>
          <p:nvPr/>
        </p:nvSpPr>
        <p:spPr>
          <a:xfrm>
            <a:off x="3779899" y="3805189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59" name="row:phylink:release:4.14"/>
          <p:cNvSpPr/>
          <p:nvPr/>
        </p:nvSpPr>
        <p:spPr>
          <a:xfrm>
            <a:off x="4807298" y="3798845"/>
            <a:ext cx="48211" cy="48211"/>
          </a:xfrm>
          <a:prstGeom prst="ellipse">
            <a:avLst/>
          </a:prstGeom>
          <a:solidFill>
            <a:srgbClr val="A16207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60" name="row:phylink:label"/>
          <p:cNvSpPr txBox="1"/>
          <p:nvPr/>
        </p:nvSpPr>
        <p:spPr>
          <a:xfrm>
            <a:off x="4872003" y="3762052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4.14</a:t>
            </a:r>
          </a:p>
        </p:txBody>
      </p:sp>
      <p:sp>
        <p:nvSpPr>
          <p:cNvPr id="461" name="row:Net DIM:name"/>
          <p:cNvSpPr txBox="1"/>
          <p:nvPr/>
        </p:nvSpPr>
        <p:spPr>
          <a:xfrm>
            <a:off x="1247926" y="3815947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Net DIM</a:t>
            </a:r>
          </a:p>
        </p:txBody>
      </p:sp>
      <p:cxnSp>
        <p:nvCxnSpPr>
          <p:cNvPr id="462" name="row:Net DIM:development"/>
          <p:cNvCxnSpPr/>
          <p:nvPr/>
        </p:nvCxnSpPr>
        <p:spPr>
          <a:xfrm>
            <a:off x="4491339" y="3876846"/>
            <a:ext cx="488043" cy="0"/>
          </a:xfrm>
          <a:prstGeom prst="line">
            <a:avLst/>
          </a:prstGeom>
          <a:ln w="7048">
            <a:solidFill>
              <a:srgbClr val="A16207"/>
            </a:solidFill>
            <a:prstDash val="dash"/>
          </a:ln>
        </p:spPr>
      </p:cxnSp>
      <p:sp>
        <p:nvSpPr>
          <p:cNvPr id="463" name="row:Net DIM:start"/>
          <p:cNvSpPr/>
          <p:nvPr/>
        </p:nvSpPr>
        <p:spPr>
          <a:xfrm>
            <a:off x="4473576" y="3859084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cxnSp>
        <p:nvCxnSpPr>
          <p:cNvPr id="464" name="row:Net DIM:milestones"/>
          <p:cNvCxnSpPr/>
          <p:nvPr/>
        </p:nvCxnSpPr>
        <p:spPr>
          <a:xfrm>
            <a:off x="4979382" y="3876846"/>
            <a:ext cx="561578" cy="0"/>
          </a:xfrm>
          <a:prstGeom prst="line">
            <a:avLst/>
          </a:prstGeom>
          <a:ln w="10572">
            <a:solidFill>
              <a:srgbClr val="A16207"/>
            </a:solidFill>
          </a:ln>
        </p:spPr>
      </p:cxnSp>
      <p:sp>
        <p:nvSpPr>
          <p:cNvPr id="465" name="row:Net DIM:release:4.16"/>
          <p:cNvSpPr/>
          <p:nvPr/>
        </p:nvSpPr>
        <p:spPr>
          <a:xfrm>
            <a:off x="4955277" y="3852740"/>
            <a:ext cx="48211" cy="48211"/>
          </a:xfrm>
          <a:prstGeom prst="ellipse">
            <a:avLst/>
          </a:prstGeom>
          <a:solidFill>
            <a:srgbClr val="A16207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66" name="row:Net DIM:release:5.3"/>
          <p:cNvSpPr/>
          <p:nvPr/>
        </p:nvSpPr>
        <p:spPr>
          <a:xfrm>
            <a:off x="5516855" y="3852740"/>
            <a:ext cx="48211" cy="48211"/>
          </a:xfrm>
          <a:prstGeom prst="ellipse">
            <a:avLst/>
          </a:prstGeom>
          <a:solidFill>
            <a:srgbClr val="A16207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67" name="row:Net DIM:label"/>
          <p:cNvSpPr txBox="1"/>
          <p:nvPr/>
        </p:nvSpPr>
        <p:spPr>
          <a:xfrm>
            <a:off x="5581561" y="3815947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4.16 · 5.3</a:t>
            </a:r>
          </a:p>
        </p:txBody>
      </p:sp>
      <p:sp>
        <p:nvSpPr>
          <p:cNvPr id="468" name="row:netdevsim:name"/>
          <p:cNvSpPr txBox="1"/>
          <p:nvPr/>
        </p:nvSpPr>
        <p:spPr>
          <a:xfrm>
            <a:off x="1247926" y="3869842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netdevsim</a:t>
            </a:r>
          </a:p>
        </p:txBody>
      </p:sp>
      <p:cxnSp>
        <p:nvCxnSpPr>
          <p:cNvPr id="469" name="row:netdevsim:development"/>
          <p:cNvCxnSpPr/>
          <p:nvPr/>
        </p:nvCxnSpPr>
        <p:spPr>
          <a:xfrm>
            <a:off x="4684027" y="3930741"/>
            <a:ext cx="295355" cy="0"/>
          </a:xfrm>
          <a:prstGeom prst="line">
            <a:avLst/>
          </a:prstGeom>
          <a:ln w="7048">
            <a:solidFill>
              <a:srgbClr val="A16207"/>
            </a:solidFill>
            <a:prstDash val="dash"/>
          </a:ln>
        </p:spPr>
      </p:cxnSp>
      <p:sp>
        <p:nvSpPr>
          <p:cNvPr id="470" name="row:netdevsim:start"/>
          <p:cNvSpPr/>
          <p:nvPr/>
        </p:nvSpPr>
        <p:spPr>
          <a:xfrm>
            <a:off x="4666265" y="3912979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71" name="row:netdevsim:release:4.16"/>
          <p:cNvSpPr/>
          <p:nvPr/>
        </p:nvSpPr>
        <p:spPr>
          <a:xfrm>
            <a:off x="4955277" y="3906635"/>
            <a:ext cx="48211" cy="48211"/>
          </a:xfrm>
          <a:prstGeom prst="ellipse">
            <a:avLst/>
          </a:prstGeom>
          <a:solidFill>
            <a:srgbClr val="A16207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72" name="row:netdevsim:label"/>
          <p:cNvSpPr txBox="1"/>
          <p:nvPr/>
        </p:nvSpPr>
        <p:spPr>
          <a:xfrm>
            <a:off x="5019982" y="3869842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4.16</a:t>
            </a:r>
          </a:p>
        </p:txBody>
      </p:sp>
      <p:sp>
        <p:nvSpPr>
          <p:cNvPr id="473" name="row:ethtool netlink:name"/>
          <p:cNvSpPr txBox="1"/>
          <p:nvPr/>
        </p:nvSpPr>
        <p:spPr>
          <a:xfrm>
            <a:off x="1247926" y="3923737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ethtool netlink</a:t>
            </a:r>
          </a:p>
        </p:txBody>
      </p:sp>
      <p:cxnSp>
        <p:nvCxnSpPr>
          <p:cNvPr id="474" name="row:ethtool netlink:development"/>
          <p:cNvCxnSpPr/>
          <p:nvPr/>
        </p:nvCxnSpPr>
        <p:spPr>
          <a:xfrm>
            <a:off x="4876716" y="3984636"/>
            <a:ext cx="871310" cy="0"/>
          </a:xfrm>
          <a:prstGeom prst="line">
            <a:avLst/>
          </a:prstGeom>
          <a:ln w="7048">
            <a:solidFill>
              <a:srgbClr val="A16207"/>
            </a:solidFill>
            <a:prstDash val="dash"/>
          </a:ln>
        </p:spPr>
      </p:cxnSp>
      <p:sp>
        <p:nvSpPr>
          <p:cNvPr id="475" name="row:ethtool netlink:start"/>
          <p:cNvSpPr/>
          <p:nvPr/>
        </p:nvSpPr>
        <p:spPr>
          <a:xfrm>
            <a:off x="4858953" y="3966874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76" name="row:ethtool netlink:release:5.6"/>
          <p:cNvSpPr/>
          <p:nvPr/>
        </p:nvSpPr>
        <p:spPr>
          <a:xfrm>
            <a:off x="5723920" y="3960530"/>
            <a:ext cx="48211" cy="48211"/>
          </a:xfrm>
          <a:prstGeom prst="ellipse">
            <a:avLst/>
          </a:prstGeom>
          <a:solidFill>
            <a:srgbClr val="A16207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77" name="row:ethtool netlink:label"/>
          <p:cNvSpPr txBox="1"/>
          <p:nvPr/>
        </p:nvSpPr>
        <p:spPr>
          <a:xfrm>
            <a:off x="5788625" y="3923737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5.6</a:t>
            </a:r>
          </a:p>
        </p:txBody>
      </p:sp>
      <p:sp>
        <p:nvSpPr>
          <p:cNvPr id="478" name="row:auxiliary bus:name"/>
          <p:cNvSpPr txBox="1"/>
          <p:nvPr/>
        </p:nvSpPr>
        <p:spPr>
          <a:xfrm>
            <a:off x="1247926" y="3977632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auxiliary bus</a:t>
            </a:r>
          </a:p>
        </p:txBody>
      </p:sp>
      <p:cxnSp>
        <p:nvCxnSpPr>
          <p:cNvPr id="479" name="row:auxiliary bus:development"/>
          <p:cNvCxnSpPr/>
          <p:nvPr/>
        </p:nvCxnSpPr>
        <p:spPr>
          <a:xfrm>
            <a:off x="5647469" y="4038531"/>
            <a:ext cx="439508" cy="0"/>
          </a:xfrm>
          <a:prstGeom prst="line">
            <a:avLst/>
          </a:prstGeom>
          <a:ln w="7048">
            <a:solidFill>
              <a:srgbClr val="A16207"/>
            </a:solidFill>
            <a:prstDash val="dash"/>
          </a:ln>
        </p:spPr>
      </p:cxnSp>
      <p:sp>
        <p:nvSpPr>
          <p:cNvPr id="480" name="row:auxiliary bus:start"/>
          <p:cNvSpPr/>
          <p:nvPr/>
        </p:nvSpPr>
        <p:spPr>
          <a:xfrm>
            <a:off x="5629707" y="4020769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81" name="row:auxiliary bus:release:5.11"/>
          <p:cNvSpPr/>
          <p:nvPr/>
        </p:nvSpPr>
        <p:spPr>
          <a:xfrm>
            <a:off x="6062872" y="4014425"/>
            <a:ext cx="48211" cy="48211"/>
          </a:xfrm>
          <a:prstGeom prst="ellipse">
            <a:avLst/>
          </a:prstGeom>
          <a:solidFill>
            <a:srgbClr val="A16207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82" name="row:auxiliary bus:label"/>
          <p:cNvSpPr txBox="1"/>
          <p:nvPr/>
        </p:nvSpPr>
        <p:spPr>
          <a:xfrm>
            <a:off x="6127577" y="3977632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5.11</a:t>
            </a:r>
          </a:p>
        </p:txBody>
      </p:sp>
      <p:sp>
        <p:nvSpPr>
          <p:cNvPr id="483" name="row:threaded NAPI:name"/>
          <p:cNvSpPr txBox="1"/>
          <p:nvPr/>
        </p:nvSpPr>
        <p:spPr>
          <a:xfrm>
            <a:off x="1247926" y="4031527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threaded NAPI</a:t>
            </a:r>
          </a:p>
        </p:txBody>
      </p:sp>
      <p:cxnSp>
        <p:nvCxnSpPr>
          <p:cNvPr id="484" name="row:threaded NAPI:development"/>
          <p:cNvCxnSpPr/>
          <p:nvPr/>
        </p:nvCxnSpPr>
        <p:spPr>
          <a:xfrm>
            <a:off x="5763082" y="4092426"/>
            <a:ext cx="397753" cy="0"/>
          </a:xfrm>
          <a:prstGeom prst="line">
            <a:avLst/>
          </a:prstGeom>
          <a:ln w="7048">
            <a:solidFill>
              <a:srgbClr val="A16207"/>
            </a:solidFill>
            <a:prstDash val="dash"/>
          </a:ln>
        </p:spPr>
      </p:cxnSp>
      <p:sp>
        <p:nvSpPr>
          <p:cNvPr id="485" name="row:threaded NAPI:start"/>
          <p:cNvSpPr/>
          <p:nvPr/>
        </p:nvSpPr>
        <p:spPr>
          <a:xfrm>
            <a:off x="5745320" y="4074664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cxnSp>
        <p:nvCxnSpPr>
          <p:cNvPr id="486" name="row:threaded NAPI:milestones"/>
          <p:cNvCxnSpPr/>
          <p:nvPr/>
        </p:nvCxnSpPr>
        <p:spPr>
          <a:xfrm>
            <a:off x="6160835" y="4092426"/>
            <a:ext cx="1846959" cy="0"/>
          </a:xfrm>
          <a:prstGeom prst="line">
            <a:avLst/>
          </a:prstGeom>
          <a:ln w="10572">
            <a:solidFill>
              <a:srgbClr val="A16207"/>
            </a:solidFill>
          </a:ln>
        </p:spPr>
      </p:cxnSp>
      <p:sp>
        <p:nvSpPr>
          <p:cNvPr id="487" name="row:threaded NAPI:release:5.12"/>
          <p:cNvSpPr/>
          <p:nvPr/>
        </p:nvSpPr>
        <p:spPr>
          <a:xfrm>
            <a:off x="6136729" y="4068320"/>
            <a:ext cx="48211" cy="48211"/>
          </a:xfrm>
          <a:prstGeom prst="ellipse">
            <a:avLst/>
          </a:prstGeom>
          <a:solidFill>
            <a:srgbClr val="A16207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88" name="row:threaded NAPI:release:6.19"/>
          <p:cNvSpPr/>
          <p:nvPr/>
        </p:nvSpPr>
        <p:spPr>
          <a:xfrm>
            <a:off x="7983689" y="4068320"/>
            <a:ext cx="48211" cy="48211"/>
          </a:xfrm>
          <a:prstGeom prst="ellipse">
            <a:avLst/>
          </a:prstGeom>
          <a:solidFill>
            <a:srgbClr val="A16207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89" name="row:threaded NAPI:label"/>
          <p:cNvSpPr txBox="1"/>
          <p:nvPr/>
        </p:nvSpPr>
        <p:spPr>
          <a:xfrm>
            <a:off x="8048394" y="4031527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5.12 · 6.19</a:t>
            </a:r>
          </a:p>
        </p:txBody>
      </p:sp>
      <p:sp>
        <p:nvSpPr>
          <p:cNvPr id="490" name="row:Rust phylib:name"/>
          <p:cNvSpPr txBox="1"/>
          <p:nvPr/>
        </p:nvSpPr>
        <p:spPr>
          <a:xfrm>
            <a:off x="1247926" y="4085422"/>
            <a:ext cx="87288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416" b="0" i="0">
                <a:solidFill>
                  <a:srgbClr val="1F2937"/>
                </a:solidFill>
              </a:rPr>
              <a:t>Rust phylib</a:t>
            </a:r>
          </a:p>
        </p:txBody>
      </p:sp>
      <p:cxnSp>
        <p:nvCxnSpPr>
          <p:cNvPr id="491" name="row:Rust phylib:development"/>
          <p:cNvCxnSpPr/>
          <p:nvPr/>
        </p:nvCxnSpPr>
        <p:spPr>
          <a:xfrm>
            <a:off x="6803599" y="4146321"/>
            <a:ext cx="465886" cy="0"/>
          </a:xfrm>
          <a:prstGeom prst="line">
            <a:avLst/>
          </a:prstGeom>
          <a:ln w="7048">
            <a:solidFill>
              <a:srgbClr val="A16207"/>
            </a:solidFill>
            <a:prstDash val="dash"/>
          </a:ln>
        </p:spPr>
      </p:cxnSp>
      <p:sp>
        <p:nvSpPr>
          <p:cNvPr id="492" name="row:Rust phylib:start"/>
          <p:cNvSpPr/>
          <p:nvPr/>
        </p:nvSpPr>
        <p:spPr>
          <a:xfrm>
            <a:off x="6785837" y="4128558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93" name="row:Rust phylib:release:6.8"/>
          <p:cNvSpPr/>
          <p:nvPr/>
        </p:nvSpPr>
        <p:spPr>
          <a:xfrm>
            <a:off x="7245380" y="4122215"/>
            <a:ext cx="48211" cy="48211"/>
          </a:xfrm>
          <a:prstGeom prst="ellipse">
            <a:avLst/>
          </a:prstGeom>
          <a:solidFill>
            <a:srgbClr val="A16207"/>
          </a:solidFill>
          <a:ln w="7048">
            <a:solidFill>
              <a:srgbClr val="A16207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94" name="row:Rust phylib:label"/>
          <p:cNvSpPr txBox="1"/>
          <p:nvPr/>
        </p:nvSpPr>
        <p:spPr>
          <a:xfrm>
            <a:off x="7310085" y="4085422"/>
            <a:ext cx="5582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02" b="1" i="0">
                <a:solidFill>
                  <a:srgbClr val="1F2937"/>
                </a:solidFill>
              </a:rPr>
              <a:t>6.8</a:t>
            </a:r>
          </a:p>
        </p:txBody>
      </p:sp>
      <p:sp>
        <p:nvSpPr>
          <p:cNvPr id="495" name="legend:title"/>
          <p:cNvSpPr txBox="1"/>
          <p:nvPr/>
        </p:nvSpPr>
        <p:spPr>
          <a:xfrm>
            <a:off x="725209" y="4229092"/>
            <a:ext cx="304495" cy="811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72" b="1" i="0">
                <a:solidFill>
                  <a:srgbClr val="1F2937"/>
                </a:solidFill>
              </a:rPr>
              <a:t>Legend</a:t>
            </a:r>
          </a:p>
        </p:txBody>
      </p:sp>
      <p:sp>
        <p:nvSpPr>
          <p:cNvPr id="496" name="legend:start"/>
          <p:cNvSpPr/>
          <p:nvPr/>
        </p:nvSpPr>
        <p:spPr>
          <a:xfrm>
            <a:off x="1037317" y="4251929"/>
            <a:ext cx="35524" cy="35524"/>
          </a:xfrm>
          <a:prstGeom prst="ellipse">
            <a:avLst/>
          </a:prstGeom>
          <a:solidFill>
            <a:srgbClr val="FFFFFF"/>
          </a:solidFill>
          <a:ln w="7048">
            <a:solidFill>
              <a:srgbClr val="64748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cxnSp>
        <p:nvCxnSpPr>
          <p:cNvPr id="497" name="legend:dev"/>
          <p:cNvCxnSpPr/>
          <p:nvPr/>
        </p:nvCxnSpPr>
        <p:spPr>
          <a:xfrm>
            <a:off x="1075378" y="4269692"/>
            <a:ext cx="182697" cy="0"/>
          </a:xfrm>
          <a:prstGeom prst="line">
            <a:avLst/>
          </a:prstGeom>
          <a:ln w="7048">
            <a:solidFill>
              <a:srgbClr val="64748B"/>
            </a:solidFill>
            <a:prstDash val="dash"/>
          </a:ln>
        </p:spPr>
      </p:cxnSp>
      <p:sp>
        <p:nvSpPr>
          <p:cNvPr id="498" name="legend:release"/>
          <p:cNvSpPr/>
          <p:nvPr/>
        </p:nvSpPr>
        <p:spPr>
          <a:xfrm>
            <a:off x="1254270" y="4245586"/>
            <a:ext cx="48211" cy="48211"/>
          </a:xfrm>
          <a:prstGeom prst="ellipse">
            <a:avLst/>
          </a:prstGeom>
          <a:solidFill>
            <a:srgbClr val="64748B"/>
          </a:solidFill>
          <a:ln w="7048">
            <a:solidFill>
              <a:srgbClr val="64748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499" name="legend:t1"/>
          <p:cNvSpPr txBox="1"/>
          <p:nvPr/>
        </p:nvSpPr>
        <p:spPr>
          <a:xfrm>
            <a:off x="1334200" y="4229092"/>
            <a:ext cx="1217980" cy="811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44">
                <a:solidFill>
                  <a:srgbClr val="64748B"/>
                </a:solidFill>
              </a:rPr>
              <a:t>approx. development start → first canonical release</a:t>
            </a:r>
          </a:p>
        </p:txBody>
      </p:sp>
      <p:sp>
        <p:nvSpPr>
          <p:cNvPr id="500" name="legend:m1"/>
          <p:cNvSpPr/>
          <p:nvPr/>
        </p:nvSpPr>
        <p:spPr>
          <a:xfrm>
            <a:off x="2705697" y="4245586"/>
            <a:ext cx="48211" cy="48211"/>
          </a:xfrm>
          <a:prstGeom prst="ellipse">
            <a:avLst/>
          </a:prstGeom>
          <a:solidFill>
            <a:srgbClr val="64748B"/>
          </a:solidFill>
          <a:ln w="7048">
            <a:solidFill>
              <a:srgbClr val="64748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cxnSp>
        <p:nvCxnSpPr>
          <p:cNvPr id="501" name="legend:m-line"/>
          <p:cNvCxnSpPr/>
          <p:nvPr/>
        </p:nvCxnSpPr>
        <p:spPr>
          <a:xfrm>
            <a:off x="2729803" y="4269692"/>
            <a:ext cx="152247" cy="0"/>
          </a:xfrm>
          <a:prstGeom prst="line">
            <a:avLst/>
          </a:prstGeom>
          <a:ln w="10572">
            <a:solidFill>
              <a:srgbClr val="64748B"/>
            </a:solidFill>
          </a:ln>
        </p:spPr>
      </p:cxnSp>
      <p:sp>
        <p:nvSpPr>
          <p:cNvPr id="502" name="legend:m2"/>
          <p:cNvSpPr/>
          <p:nvPr/>
        </p:nvSpPr>
        <p:spPr>
          <a:xfrm>
            <a:off x="2857944" y="4245586"/>
            <a:ext cx="48211" cy="48211"/>
          </a:xfrm>
          <a:prstGeom prst="ellipse">
            <a:avLst/>
          </a:prstGeom>
          <a:solidFill>
            <a:srgbClr val="64748B"/>
          </a:solidFill>
          <a:ln w="7048">
            <a:solidFill>
              <a:srgbClr val="64748B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03" name="legend:t2"/>
          <p:cNvSpPr txBox="1"/>
          <p:nvPr/>
        </p:nvSpPr>
        <p:spPr>
          <a:xfrm>
            <a:off x="2937874" y="4229092"/>
            <a:ext cx="811987" cy="811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44" b="0" i="0">
                <a:solidFill>
                  <a:srgbClr val="64748B"/>
                </a:solidFill>
              </a:rPr>
              <a:t>successive milestones</a:t>
            </a:r>
          </a:p>
        </p:txBody>
      </p:sp>
      <p:sp>
        <p:nvSpPr>
          <p:cNvPr id="504" name="legend:era"/>
          <p:cNvSpPr/>
          <p:nvPr/>
        </p:nvSpPr>
        <p:spPr>
          <a:xfrm>
            <a:off x="3643288" y="4239242"/>
            <a:ext cx="152247" cy="60899"/>
          </a:xfrm>
          <a:prstGeom prst="rect">
            <a:avLst/>
          </a:prstGeom>
          <a:solidFill>
            <a:srgbClr val="475569">
              <a:alpha val="8000"/>
            </a:srgbClr>
          </a:solidFill>
          <a:ln w="3524">
            <a:solidFill>
              <a:srgbClr val="CBD5E1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05" name="legend:t3"/>
          <p:cNvSpPr txBox="1"/>
          <p:nvPr/>
        </p:nvSpPr>
        <p:spPr>
          <a:xfrm>
            <a:off x="3820910" y="4229092"/>
            <a:ext cx="558241" cy="811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44" b="0" i="0">
                <a:solidFill>
                  <a:srgbClr val="64748B"/>
                </a:solidFill>
              </a:rPr>
              <a:t>architecture era</a:t>
            </a:r>
          </a:p>
        </p:txBody>
      </p:sp>
      <p:cxnSp>
        <p:nvCxnSpPr>
          <p:cNvPr id="506" name="legend:ga"/>
          <p:cNvCxnSpPr/>
          <p:nvPr/>
        </p:nvCxnSpPr>
        <p:spPr>
          <a:xfrm>
            <a:off x="4379152" y="4234167"/>
            <a:ext cx="0" cy="71048"/>
          </a:xfrm>
          <a:prstGeom prst="line">
            <a:avLst/>
          </a:prstGeom>
          <a:ln w="5286">
            <a:solidFill>
              <a:srgbClr val="94A3B8"/>
            </a:solidFill>
            <a:prstDash val="sysDash"/>
          </a:ln>
        </p:spPr>
      </p:cxnSp>
      <p:sp>
        <p:nvSpPr>
          <p:cNvPr id="507" name="legend:t4"/>
          <p:cNvSpPr txBox="1"/>
          <p:nvPr/>
        </p:nvSpPr>
        <p:spPr>
          <a:xfrm>
            <a:off x="4429901" y="4229092"/>
            <a:ext cx="507492" cy="811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44" b="0" i="0">
                <a:solidFill>
                  <a:srgbClr val="64748B"/>
                </a:solidFill>
              </a:rPr>
              <a:t>X.0 release</a:t>
            </a:r>
          </a:p>
        </p:txBody>
      </p:sp>
      <p:cxnSp>
        <p:nvCxnSpPr>
          <p:cNvPr id="508" name="legend:lineage-down"/>
          <p:cNvCxnSpPr/>
          <p:nvPr/>
        </p:nvCxnSpPr>
        <p:spPr>
          <a:xfrm>
            <a:off x="4912018" y="4234167"/>
            <a:ext cx="0" cy="35524"/>
          </a:xfrm>
          <a:prstGeom prst="line">
            <a:avLst/>
          </a:prstGeom>
          <a:ln w="7048">
            <a:solidFill>
              <a:srgbClr val="475569"/>
            </a:solidFill>
          </a:ln>
        </p:spPr>
      </p:cxnSp>
      <p:cxnSp>
        <p:nvCxnSpPr>
          <p:cNvPr id="509" name="legend:lineage-across"/>
          <p:cNvCxnSpPr/>
          <p:nvPr/>
        </p:nvCxnSpPr>
        <p:spPr>
          <a:xfrm>
            <a:off x="4912018" y="4269692"/>
            <a:ext cx="177622" cy="0"/>
          </a:xfrm>
          <a:prstGeom prst="line">
            <a:avLst/>
          </a:prstGeom>
          <a:ln w="7048">
            <a:solidFill>
              <a:srgbClr val="475569"/>
            </a:solidFill>
            <a:tailEnd type="triangle" w="sm" len="sm"/>
          </a:ln>
        </p:spPr>
      </p:cxnSp>
      <p:sp>
        <p:nvSpPr>
          <p:cNvPr id="510" name="legend:t5"/>
          <p:cNvSpPr txBox="1"/>
          <p:nvPr/>
        </p:nvSpPr>
        <p:spPr>
          <a:xfrm>
            <a:off x="5140389" y="4229092"/>
            <a:ext cx="1725472" cy="811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44" b="0" i="0">
                <a:solidFill>
                  <a:srgbClr val="64748B"/>
                </a:solidFill>
              </a:rPr>
              <a:t>lineage: release that a later feature builds on</a:t>
            </a:r>
          </a:p>
        </p:txBody>
      </p:sp>
      <p:sp>
        <p:nvSpPr>
          <p:cNvPr id="511" name="legend:offchart"/>
          <p:cNvSpPr/>
          <p:nvPr/>
        </p:nvSpPr>
        <p:spPr>
          <a:xfrm rot="16200000">
            <a:off x="6891237" y="4246855"/>
            <a:ext cx="45674" cy="45674"/>
          </a:xfrm>
          <a:prstGeom prst="triangle">
            <a:avLst/>
          </a:prstGeom>
          <a:solidFill>
            <a:srgbClr val="64748B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12" name="legend:t6"/>
          <p:cNvSpPr txBox="1"/>
          <p:nvPr/>
        </p:nvSpPr>
        <p:spPr>
          <a:xfrm>
            <a:off x="6977511" y="4229092"/>
            <a:ext cx="1014984" cy="811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444" b="0" i="0">
                <a:solidFill>
                  <a:srgbClr val="64748B"/>
                </a:solidFill>
              </a:rPr>
              <a:t>development began before 2011</a:t>
            </a:r>
          </a:p>
        </p:txBody>
      </p:sp>
      <p:sp>
        <p:nvSpPr>
          <p:cNvPr id="513" name="notes:left"/>
          <p:cNvSpPr txBox="1"/>
          <p:nvPr/>
        </p:nvSpPr>
        <p:spPr>
          <a:xfrm>
            <a:off x="725209" y="4330591"/>
            <a:ext cx="3780815" cy="1471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44" b="0" i="0">
                <a:solidFill>
                  <a:srgbClr val="64748B"/>
                </a:solidFill>
              </a:rPr>
              <a:t>· ● First canonical release per Part VI; a feature keeps evolving after it. 7.3-rc = merged to mainline on 2026-08-20, final 7.3 pending.</a:t>
            </a:r>
          </a:p>
          <a:p>
            <a:pPr algn="l"/>
            <a:r>
              <a:rPr sz="444" b="0" i="0">
                <a:solidFill>
                  <a:srgbClr val="64748B"/>
                </a:solidFill>
              </a:rPr>
              <a:t>· ○ and dashed line: approx. start of visible development (RFC / patch series); ~X.Y = kernel version then in development. Not audited; no ○ = no estimate.</a:t>
            </a:r>
          </a:p>
        </p:txBody>
      </p:sp>
      <p:sp>
        <p:nvSpPr>
          <p:cNvPr id="514" name="notes:right"/>
          <p:cNvSpPr txBox="1"/>
          <p:nvPr/>
        </p:nvSpPr>
        <p:spPr>
          <a:xfrm>
            <a:off x="4612598" y="4330591"/>
            <a:ext cx="3806190" cy="1471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44" b="0" i="0">
                <a:solidFill>
                  <a:srgbClr val="64748B"/>
                </a:solidFill>
              </a:rPr>
              <a:t>· Eras follow Part II: they are set by the dominant design problem, overlap, and are not X.0 boundaries.</a:t>
            </a:r>
          </a:p>
          <a:p>
            <a:pPr algn="l"/>
            <a:r>
              <a:rPr sz="444" b="0" i="0">
                <a:solidFill>
                  <a:srgbClr val="64748B"/>
                </a:solidFill>
              </a:rPr>
              <a:t>· Rows: representative milestones selected from Part VI, grouped by axis. Cross-cutting-domain milestones (e.g. BBR, MPTCP, VXLAN, kTLS) have no row.</a:t>
            </a:r>
          </a:p>
        </p:txBody>
      </p:sp>
      <p:sp>
        <p:nvSpPr>
          <p:cNvPr id="515" name="row:DQL / BQL:start-label"/>
          <p:cNvSpPr txBox="1"/>
          <p:nvPr/>
        </p:nvSpPr>
        <p:spPr>
          <a:xfrm>
            <a:off x="2322603" y="836396"/>
            <a:ext cx="14391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~2.6.39</a:t>
            </a:r>
          </a:p>
        </p:txBody>
      </p:sp>
      <p:sp>
        <p:nvSpPr>
          <p:cNvPr id="516" name="row:CoDel / fq_codel:start-label"/>
          <p:cNvSpPr txBox="1"/>
          <p:nvPr/>
        </p:nvSpPr>
        <p:spPr>
          <a:xfrm>
            <a:off x="2567046" y="890291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~3.4</a:t>
            </a:r>
          </a:p>
        </p:txBody>
      </p:sp>
      <p:sp>
        <p:nvSpPr>
          <p:cNvPr id="517" name="row:TSQ:start-label"/>
          <p:cNvSpPr txBox="1"/>
          <p:nvPr/>
        </p:nvSpPr>
        <p:spPr>
          <a:xfrm>
            <a:off x="2427714" y="944186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~3.2</a:t>
            </a:r>
          </a:p>
        </p:txBody>
      </p:sp>
      <p:sp>
        <p:nvSpPr>
          <p:cNvPr id="518" name="row:SO_BUSY_POLL:start-label"/>
          <p:cNvSpPr txBox="1"/>
          <p:nvPr/>
        </p:nvSpPr>
        <p:spPr>
          <a:xfrm>
            <a:off x="2813091" y="998081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~3.8</a:t>
            </a:r>
          </a:p>
        </p:txBody>
      </p:sp>
      <p:sp>
        <p:nvSpPr>
          <p:cNvPr id="519" name="row:sch_fq / TCP pacing:start-label"/>
          <p:cNvSpPr txBox="1"/>
          <p:nvPr/>
        </p:nvSpPr>
        <p:spPr>
          <a:xfrm>
            <a:off x="2736016" y="1051976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~3.7</a:t>
            </a:r>
          </a:p>
        </p:txBody>
      </p:sp>
      <p:sp>
        <p:nvSpPr>
          <p:cNvPr id="520" name="row:SO_TXTIME / EDT / taprio:start-label"/>
          <p:cNvSpPr txBox="1"/>
          <p:nvPr/>
        </p:nvSpPr>
        <p:spPr>
          <a:xfrm>
            <a:off x="4596326" y="1105871"/>
            <a:ext cx="109125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~4.11</a:t>
            </a:r>
          </a:p>
        </p:txBody>
      </p:sp>
      <p:sp>
        <p:nvSpPr>
          <p:cNvPr id="521" name="row:BIG TCP:start-label"/>
          <p:cNvSpPr txBox="1"/>
          <p:nvPr/>
        </p:nvSpPr>
        <p:spPr>
          <a:xfrm>
            <a:off x="5948511" y="1159766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~5.12</a:t>
            </a:r>
          </a:p>
        </p:txBody>
      </p:sp>
      <p:sp>
        <p:nvSpPr>
          <p:cNvPr id="522" name="row:io_uring SEND_ZC / multishot recv:start-label"/>
          <p:cNvSpPr txBox="1"/>
          <p:nvPr/>
        </p:nvSpPr>
        <p:spPr>
          <a:xfrm>
            <a:off x="6232075" y="1267556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~5.16</a:t>
            </a:r>
          </a:p>
        </p:txBody>
      </p:sp>
      <p:sp>
        <p:nvSpPr>
          <p:cNvPr id="523" name="row:dev_queue_xmit() llist:start-label"/>
          <p:cNvSpPr txBox="1"/>
          <p:nvPr/>
        </p:nvSpPr>
        <p:spPr>
          <a:xfrm>
            <a:off x="7718716" y="1321451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~6.18</a:t>
            </a:r>
          </a:p>
        </p:txBody>
      </p:sp>
      <p:sp>
        <p:nvSpPr>
          <p:cNvPr id="524" name="row:cake_mq:start-label"/>
          <p:cNvSpPr txBox="1"/>
          <p:nvPr/>
        </p:nvSpPr>
        <p:spPr>
          <a:xfrm>
            <a:off x="7412942" y="1375346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~6.13</a:t>
            </a:r>
          </a:p>
        </p:txBody>
      </p:sp>
      <p:sp>
        <p:nvSpPr>
          <p:cNvPr id="525" name="row:eBPF foundation:start-label"/>
          <p:cNvSpPr txBox="1"/>
          <p:nvPr/>
        </p:nvSpPr>
        <p:spPr>
          <a:xfrm>
            <a:off x="2981109" y="1479990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~3.10</a:t>
            </a:r>
          </a:p>
        </p:txBody>
      </p:sp>
      <p:sp>
        <p:nvSpPr>
          <p:cNvPr id="526" name="row:TC BPF:start-label"/>
          <p:cNvSpPr txBox="1"/>
          <p:nvPr/>
        </p:nvSpPr>
        <p:spPr>
          <a:xfrm>
            <a:off x="3482099" y="1533885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~3.18</a:t>
            </a:r>
          </a:p>
        </p:txBody>
      </p:sp>
      <p:sp>
        <p:nvSpPr>
          <p:cNvPr id="527" name="row:TCX:start-label"/>
          <p:cNvSpPr txBox="1"/>
          <p:nvPr/>
        </p:nvSpPr>
        <p:spPr>
          <a:xfrm>
            <a:off x="6677360" y="1587780"/>
            <a:ext cx="85902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~6.0</a:t>
            </a:r>
          </a:p>
        </p:txBody>
      </p:sp>
      <p:sp>
        <p:nvSpPr>
          <p:cNvPr id="528" name="row:netkit:start-label"/>
          <p:cNvSpPr txBox="1"/>
          <p:nvPr/>
        </p:nvSpPr>
        <p:spPr>
          <a:xfrm>
            <a:off x="6589783" y="1641675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~6.1</a:t>
            </a:r>
          </a:p>
        </p:txBody>
      </p:sp>
      <p:sp>
        <p:nvSpPr>
          <p:cNvPr id="529" name="row:cgroup / LWT BPF:start-label"/>
          <p:cNvSpPr txBox="1"/>
          <p:nvPr/>
        </p:nvSpPr>
        <p:spPr>
          <a:xfrm>
            <a:off x="4133874" y="1695569"/>
            <a:ext cx="85902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~4.4</a:t>
            </a:r>
          </a:p>
        </p:txBody>
      </p:sp>
      <p:sp>
        <p:nvSpPr>
          <p:cNvPr id="530" name="row:SOCK_OPS / SOCKMAP:start-label"/>
          <p:cNvSpPr txBox="1"/>
          <p:nvPr/>
        </p:nvSpPr>
        <p:spPr>
          <a:xfrm>
            <a:off x="4326563" y="1749464"/>
            <a:ext cx="85902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~4.7</a:t>
            </a:r>
          </a:p>
        </p:txBody>
      </p:sp>
      <p:sp>
        <p:nvSpPr>
          <p:cNvPr id="531" name="row:BPF struct_ops:start-label"/>
          <p:cNvSpPr txBox="1"/>
          <p:nvPr/>
        </p:nvSpPr>
        <p:spPr>
          <a:xfrm>
            <a:off x="5023606" y="1803359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~4.19</a:t>
            </a:r>
          </a:p>
        </p:txBody>
      </p:sp>
      <p:sp>
        <p:nvSpPr>
          <p:cNvPr id="532" name="row:BPF qdisc:start-label"/>
          <p:cNvSpPr txBox="1"/>
          <p:nvPr/>
        </p:nvSpPr>
        <p:spPr>
          <a:xfrm>
            <a:off x="7371039" y="1857254"/>
            <a:ext cx="109125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~6.10</a:t>
            </a:r>
          </a:p>
        </p:txBody>
      </p:sp>
      <p:sp>
        <p:nvSpPr>
          <p:cNvPr id="533" name="row:SK_LOOKUP:start-label"/>
          <p:cNvSpPr txBox="1"/>
          <p:nvPr/>
        </p:nvSpPr>
        <p:spPr>
          <a:xfrm>
            <a:off x="5318039" y="1911149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~5.2</a:t>
            </a:r>
          </a:p>
        </p:txBody>
      </p:sp>
      <p:sp>
        <p:nvSpPr>
          <p:cNvPr id="534" name="row:XDP:start-label"/>
          <p:cNvSpPr txBox="1"/>
          <p:nvPr/>
        </p:nvSpPr>
        <p:spPr>
          <a:xfrm>
            <a:off x="4180119" y="1965044"/>
            <a:ext cx="85902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~4.5</a:t>
            </a:r>
          </a:p>
        </p:txBody>
      </p:sp>
      <p:sp>
        <p:nvSpPr>
          <p:cNvPr id="535" name="row:XDP devmap / cpumap:start-label"/>
          <p:cNvSpPr txBox="1"/>
          <p:nvPr/>
        </p:nvSpPr>
        <p:spPr>
          <a:xfrm>
            <a:off x="4681618" y="1986749"/>
            <a:ext cx="109125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~4.12</a:t>
            </a:r>
          </a:p>
        </p:txBody>
      </p:sp>
      <p:sp>
        <p:nvSpPr>
          <p:cNvPr id="536" name="row:XDP multi-buffer:start-label"/>
          <p:cNvSpPr txBox="1"/>
          <p:nvPr/>
        </p:nvSpPr>
        <p:spPr>
          <a:xfrm>
            <a:off x="6060758" y="2072834"/>
            <a:ext cx="109125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~5.11</a:t>
            </a:r>
          </a:p>
        </p:txBody>
      </p:sp>
      <p:sp>
        <p:nvSpPr>
          <p:cNvPr id="537" name="row:AF_XDP:start-label"/>
          <p:cNvSpPr txBox="1"/>
          <p:nvPr/>
        </p:nvSpPr>
        <p:spPr>
          <a:xfrm>
            <a:off x="4519251" y="2177478"/>
            <a:ext cx="109125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~4.10</a:t>
            </a:r>
          </a:p>
        </p:txBody>
      </p:sp>
      <p:sp>
        <p:nvSpPr>
          <p:cNvPr id="538" name="row:AF_XDP multi-buffer:start-label"/>
          <p:cNvSpPr txBox="1"/>
          <p:nvPr/>
        </p:nvSpPr>
        <p:spPr>
          <a:xfrm>
            <a:off x="6446135" y="2231373"/>
            <a:ext cx="109125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~5.16</a:t>
            </a:r>
          </a:p>
        </p:txBody>
      </p:sp>
      <p:sp>
        <p:nvSpPr>
          <p:cNvPr id="539" name="row:page_pool:start-label"/>
          <p:cNvSpPr txBox="1"/>
          <p:nvPr/>
        </p:nvSpPr>
        <p:spPr>
          <a:xfrm>
            <a:off x="4046296" y="2285268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~4.5</a:t>
            </a:r>
          </a:p>
        </p:txBody>
      </p:sp>
      <p:sp>
        <p:nvSpPr>
          <p:cNvPr id="540" name="row:netmem:start-label"/>
          <p:cNvSpPr txBox="1"/>
          <p:nvPr/>
        </p:nvSpPr>
        <p:spPr>
          <a:xfrm>
            <a:off x="7211499" y="2306973"/>
            <a:ext cx="85902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~6.7</a:t>
            </a:r>
          </a:p>
        </p:txBody>
      </p:sp>
      <p:sp>
        <p:nvSpPr>
          <p:cNvPr id="541" name="row:Device Memory TCP RX · TX:start-label"/>
          <p:cNvSpPr txBox="1"/>
          <p:nvPr/>
        </p:nvSpPr>
        <p:spPr>
          <a:xfrm>
            <a:off x="6705396" y="2393058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~6.2</a:t>
            </a:r>
          </a:p>
        </p:txBody>
      </p:sp>
      <p:sp>
        <p:nvSpPr>
          <p:cNvPr id="542" name="row:large RX buffers (providers / ZCRX):start-label"/>
          <p:cNvSpPr txBox="1"/>
          <p:nvPr/>
        </p:nvSpPr>
        <p:spPr>
          <a:xfrm>
            <a:off x="7412942" y="2554743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~6.13</a:t>
            </a:r>
          </a:p>
        </p:txBody>
      </p:sp>
      <p:sp>
        <p:nvSpPr>
          <p:cNvPr id="543" name="row:io_uring ZCRX:start-label"/>
          <p:cNvSpPr txBox="1"/>
          <p:nvPr/>
        </p:nvSpPr>
        <p:spPr>
          <a:xfrm>
            <a:off x="6821009" y="2608638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~6.4</a:t>
            </a:r>
          </a:p>
        </p:txBody>
      </p:sp>
      <p:sp>
        <p:nvSpPr>
          <p:cNvPr id="544" name="row:RX HW queue leasing:start-label"/>
          <p:cNvSpPr txBox="1"/>
          <p:nvPr/>
        </p:nvSpPr>
        <p:spPr>
          <a:xfrm>
            <a:off x="7220254" y="2662533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~6.10</a:t>
            </a:r>
          </a:p>
        </p:txBody>
      </p:sp>
      <p:sp>
        <p:nvSpPr>
          <p:cNvPr id="545" name="row:nexthop objects:start-label"/>
          <p:cNvSpPr txBox="1"/>
          <p:nvPr/>
        </p:nvSpPr>
        <p:spPr>
          <a:xfrm>
            <a:off x="4715305" y="2874967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~4.15</a:t>
            </a:r>
          </a:p>
        </p:txBody>
      </p:sp>
      <p:sp>
        <p:nvSpPr>
          <p:cNvPr id="546" name="row:per-netns RTNL:start-label"/>
          <p:cNvSpPr txBox="1"/>
          <p:nvPr/>
        </p:nvSpPr>
        <p:spPr>
          <a:xfrm>
            <a:off x="6666858" y="2928862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~6.2</a:t>
            </a:r>
          </a:p>
        </p:txBody>
      </p:sp>
      <p:sp>
        <p:nvSpPr>
          <p:cNvPr id="547" name="row:further RTNL breakup:start-label"/>
          <p:cNvSpPr txBox="1"/>
          <p:nvPr/>
        </p:nvSpPr>
        <p:spPr>
          <a:xfrm>
            <a:off x="7052235" y="2982757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~6.7</a:t>
            </a:r>
          </a:p>
        </p:txBody>
      </p:sp>
      <p:sp>
        <p:nvSpPr>
          <p:cNvPr id="548" name="row:RTNL-less FIB rules:start-label"/>
          <p:cNvSpPr txBox="1"/>
          <p:nvPr/>
        </p:nvSpPr>
        <p:spPr>
          <a:xfrm>
            <a:off x="7412942" y="3036651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~6.13</a:t>
            </a:r>
          </a:p>
        </p:txBody>
      </p:sp>
      <p:sp>
        <p:nvSpPr>
          <p:cNvPr id="549" name="row:YNL tooling:start-label"/>
          <p:cNvSpPr txBox="1"/>
          <p:nvPr/>
        </p:nvSpPr>
        <p:spPr>
          <a:xfrm>
            <a:off x="6064123" y="3144441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~5.13</a:t>
            </a:r>
          </a:p>
        </p:txBody>
      </p:sp>
      <p:sp>
        <p:nvSpPr>
          <p:cNvPr id="550" name="row:queue/NAPI/page_pool netdev-genl:start-label"/>
          <p:cNvSpPr txBox="1"/>
          <p:nvPr/>
        </p:nvSpPr>
        <p:spPr>
          <a:xfrm>
            <a:off x="6666858" y="3249085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~6.2</a:t>
            </a:r>
          </a:p>
        </p:txBody>
      </p:sp>
      <p:sp>
        <p:nvSpPr>
          <p:cNvPr id="551" name="row:kprobe BPF:start-label"/>
          <p:cNvSpPr txBox="1"/>
          <p:nvPr/>
        </p:nvSpPr>
        <p:spPr>
          <a:xfrm>
            <a:off x="3250873" y="3302980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~3.14</a:t>
            </a:r>
          </a:p>
        </p:txBody>
      </p:sp>
      <p:sp>
        <p:nvSpPr>
          <p:cNvPr id="552" name="row:BTF:start-label"/>
          <p:cNvSpPr txBox="1"/>
          <p:nvPr/>
        </p:nvSpPr>
        <p:spPr>
          <a:xfrm>
            <a:off x="4800299" y="3356875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~4.16</a:t>
            </a:r>
          </a:p>
        </p:txBody>
      </p:sp>
      <p:sp>
        <p:nvSpPr>
          <p:cNvPr id="553" name="row:structured drop reason:start-label"/>
          <p:cNvSpPr txBox="1"/>
          <p:nvPr/>
        </p:nvSpPr>
        <p:spPr>
          <a:xfrm>
            <a:off x="5871435" y="3410770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~5.11</a:t>
            </a:r>
          </a:p>
        </p:txBody>
      </p:sp>
      <p:sp>
        <p:nvSpPr>
          <p:cNvPr id="554" name="row:drop-reason expansion:start-label"/>
          <p:cNvSpPr txBox="1"/>
          <p:nvPr/>
        </p:nvSpPr>
        <p:spPr>
          <a:xfrm>
            <a:off x="6333887" y="3464665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~5.17</a:t>
            </a:r>
          </a:p>
        </p:txBody>
      </p:sp>
      <p:sp>
        <p:nvSpPr>
          <p:cNvPr id="555" name="row:qdisc-drop tracepoint:start-label"/>
          <p:cNvSpPr txBox="1"/>
          <p:nvPr/>
        </p:nvSpPr>
        <p:spPr>
          <a:xfrm>
            <a:off x="7412942" y="3518560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~6.13</a:t>
            </a:r>
          </a:p>
        </p:txBody>
      </p:sp>
      <p:sp>
        <p:nvSpPr>
          <p:cNvPr id="556" name="row:switchdev:start-label"/>
          <p:cNvSpPr txBox="1"/>
          <p:nvPr/>
        </p:nvSpPr>
        <p:spPr>
          <a:xfrm>
            <a:off x="3173798" y="3623204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~3.13</a:t>
            </a:r>
          </a:p>
        </p:txBody>
      </p:sp>
      <p:sp>
        <p:nvSpPr>
          <p:cNvPr id="557" name="row:devlink:start-label"/>
          <p:cNvSpPr txBox="1"/>
          <p:nvPr/>
        </p:nvSpPr>
        <p:spPr>
          <a:xfrm>
            <a:off x="3559175" y="3677099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~3.19</a:t>
            </a:r>
          </a:p>
        </p:txBody>
      </p:sp>
      <p:sp>
        <p:nvSpPr>
          <p:cNvPr id="558" name="row:devlink health:start-label"/>
          <p:cNvSpPr txBox="1"/>
          <p:nvPr/>
        </p:nvSpPr>
        <p:spPr>
          <a:xfrm>
            <a:off x="4904628" y="3730994"/>
            <a:ext cx="109125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~4.15</a:t>
            </a:r>
          </a:p>
        </p:txBody>
      </p:sp>
      <p:sp>
        <p:nvSpPr>
          <p:cNvPr id="559" name="row:phylink:start-label"/>
          <p:cNvSpPr txBox="1"/>
          <p:nvPr/>
        </p:nvSpPr>
        <p:spPr>
          <a:xfrm>
            <a:off x="3660920" y="3784889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~4.0</a:t>
            </a:r>
          </a:p>
        </p:txBody>
      </p:sp>
      <p:sp>
        <p:nvSpPr>
          <p:cNvPr id="560" name="row:Net DIM:start-label"/>
          <p:cNvSpPr txBox="1"/>
          <p:nvPr/>
        </p:nvSpPr>
        <p:spPr>
          <a:xfrm>
            <a:off x="4329928" y="3838784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~4.10</a:t>
            </a:r>
          </a:p>
        </p:txBody>
      </p:sp>
      <p:sp>
        <p:nvSpPr>
          <p:cNvPr id="561" name="row:netdevsim:start-label"/>
          <p:cNvSpPr txBox="1"/>
          <p:nvPr/>
        </p:nvSpPr>
        <p:spPr>
          <a:xfrm>
            <a:off x="4522616" y="3892679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~4.12</a:t>
            </a:r>
          </a:p>
        </p:txBody>
      </p:sp>
      <p:sp>
        <p:nvSpPr>
          <p:cNvPr id="562" name="row:ethtool netlink:start-label"/>
          <p:cNvSpPr txBox="1"/>
          <p:nvPr/>
        </p:nvSpPr>
        <p:spPr>
          <a:xfrm>
            <a:off x="4715305" y="3946574"/>
            <a:ext cx="13857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~4.15</a:t>
            </a:r>
          </a:p>
        </p:txBody>
      </p:sp>
      <p:sp>
        <p:nvSpPr>
          <p:cNvPr id="563" name="row:auxiliary bus:start-label"/>
          <p:cNvSpPr txBox="1"/>
          <p:nvPr/>
        </p:nvSpPr>
        <p:spPr>
          <a:xfrm>
            <a:off x="5510728" y="4000469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~5.5</a:t>
            </a:r>
          </a:p>
        </p:txBody>
      </p:sp>
      <p:sp>
        <p:nvSpPr>
          <p:cNvPr id="564" name="row:threaded NAPI:start-label"/>
          <p:cNvSpPr txBox="1"/>
          <p:nvPr/>
        </p:nvSpPr>
        <p:spPr>
          <a:xfrm>
            <a:off x="5626341" y="4054364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~5.7</a:t>
            </a:r>
          </a:p>
        </p:txBody>
      </p:sp>
      <p:sp>
        <p:nvSpPr>
          <p:cNvPr id="565" name="row:Rust phylib:start-label"/>
          <p:cNvSpPr txBox="1"/>
          <p:nvPr/>
        </p:nvSpPr>
        <p:spPr>
          <a:xfrm>
            <a:off x="6666858" y="4108259"/>
            <a:ext cx="113903" cy="761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defRPr sz="294" i="1">
                <a:solidFill>
                  <a:srgbClr val="475569"/>
                </a:solidFill>
              </a:defRPr>
            </a:pPr>
            <a:r>
              <a:rPr sz="361" i="1">
                <a:solidFill>
                  <a:srgbClr val="475569"/>
                </a:solidFill>
              </a:rPr>
              <a:t>~6.2</a:t>
            </a:r>
          </a:p>
        </p:txBody>
      </p:sp>
      <p:sp>
        <p:nvSpPr>
          <p:cNvPr id="566" name="row:DQL / BQL:caption"/>
          <p:cNvSpPr txBox="1"/>
          <p:nvPr/>
        </p:nvSpPr>
        <p:spPr>
          <a:xfrm>
            <a:off x="2782296" y="813559"/>
            <a:ext cx="216597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DQL / BQL</a:t>
            </a:r>
          </a:p>
        </p:txBody>
      </p:sp>
      <p:sp>
        <p:nvSpPr>
          <p:cNvPr id="567" name="row:CoDel / fq_codel:caption"/>
          <p:cNvSpPr txBox="1"/>
          <p:nvPr/>
        </p:nvSpPr>
        <p:spPr>
          <a:xfrm>
            <a:off x="2913920" y="867454"/>
            <a:ext cx="342624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CoDel / fq_codel</a:t>
            </a:r>
          </a:p>
        </p:txBody>
      </p:sp>
      <p:sp>
        <p:nvSpPr>
          <p:cNvPr id="568" name="row:TSQ:caption"/>
          <p:cNvSpPr txBox="1"/>
          <p:nvPr/>
        </p:nvSpPr>
        <p:spPr>
          <a:xfrm>
            <a:off x="2989096" y="921349"/>
            <a:ext cx="89825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TSQ</a:t>
            </a:r>
          </a:p>
        </p:txBody>
      </p:sp>
      <p:sp>
        <p:nvSpPr>
          <p:cNvPr id="569" name="row:SO_BUSY_POLL:caption"/>
          <p:cNvSpPr txBox="1"/>
          <p:nvPr/>
        </p:nvSpPr>
        <p:spPr>
          <a:xfrm>
            <a:off x="3369777" y="975244"/>
            <a:ext cx="319007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SO_BUSY_POLL</a:t>
            </a:r>
          </a:p>
        </p:txBody>
      </p:sp>
      <p:sp>
        <p:nvSpPr>
          <p:cNvPr id="570" name="row:sch_fq / TCP pacing:caption"/>
          <p:cNvSpPr txBox="1"/>
          <p:nvPr/>
        </p:nvSpPr>
        <p:spPr>
          <a:xfrm>
            <a:off x="3435194" y="1029139"/>
            <a:ext cx="398760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sch_fq / TCP pacing</a:t>
            </a:r>
          </a:p>
        </p:txBody>
      </p:sp>
      <p:sp>
        <p:nvSpPr>
          <p:cNvPr id="571" name="row:SO_TXTIME / EDT / taprio:caption"/>
          <p:cNvSpPr txBox="1"/>
          <p:nvPr/>
        </p:nvSpPr>
        <p:spPr>
          <a:xfrm>
            <a:off x="5551254" y="1083034"/>
            <a:ext cx="523172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SO_TXTIME / EDT / taprio</a:t>
            </a:r>
          </a:p>
        </p:txBody>
      </p:sp>
      <p:sp>
        <p:nvSpPr>
          <p:cNvPr id="572" name="row:BIG TCP:caption"/>
          <p:cNvSpPr txBox="1"/>
          <p:nvPr/>
        </p:nvSpPr>
        <p:spPr>
          <a:xfrm>
            <a:off x="6803350" y="1136929"/>
            <a:ext cx="16653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BIG TCP</a:t>
            </a:r>
          </a:p>
        </p:txBody>
      </p:sp>
      <p:sp>
        <p:nvSpPr>
          <p:cNvPr id="573" name="row:BIG TCP extensions:caption"/>
          <p:cNvSpPr txBox="1"/>
          <p:nvPr/>
        </p:nvSpPr>
        <p:spPr>
          <a:xfrm>
            <a:off x="5879531" y="1190824"/>
            <a:ext cx="391343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389" b="0" i="0">
                <a:solidFill>
                  <a:srgbClr val="334155"/>
                </a:solidFill>
              </a:rPr>
              <a:t>BIG TCP extensions</a:t>
            </a:r>
          </a:p>
        </p:txBody>
      </p:sp>
      <p:sp>
        <p:nvSpPr>
          <p:cNvPr id="574" name="row:io_uring SEND_ZC / multishot recv:caption"/>
          <p:cNvSpPr txBox="1"/>
          <p:nvPr/>
        </p:nvSpPr>
        <p:spPr>
          <a:xfrm>
            <a:off x="6843919" y="1244719"/>
            <a:ext cx="69786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io_uring SEND_ZC / multishot recv</a:t>
            </a:r>
          </a:p>
        </p:txBody>
      </p:sp>
      <p:sp>
        <p:nvSpPr>
          <p:cNvPr id="575" name="row:dev_queue_xmit() llist:caption"/>
          <p:cNvSpPr txBox="1"/>
          <p:nvPr/>
        </p:nvSpPr>
        <p:spPr>
          <a:xfrm>
            <a:off x="7277837" y="1298613"/>
            <a:ext cx="457639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389" b="0" i="0">
                <a:solidFill>
                  <a:srgbClr val="334155"/>
                </a:solidFill>
              </a:rPr>
              <a:t>dev_queue_xmit() llist</a:t>
            </a:r>
          </a:p>
        </p:txBody>
      </p:sp>
      <p:sp>
        <p:nvSpPr>
          <p:cNvPr id="576" name="row:cake_mq:caption"/>
          <p:cNvSpPr txBox="1"/>
          <p:nvPr/>
        </p:nvSpPr>
        <p:spPr>
          <a:xfrm>
            <a:off x="8202893" y="1352508"/>
            <a:ext cx="18954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cake_mq</a:t>
            </a:r>
          </a:p>
        </p:txBody>
      </p:sp>
      <p:sp>
        <p:nvSpPr>
          <p:cNvPr id="577" name="row:eBPF foundation:caption"/>
          <p:cNvSpPr txBox="1"/>
          <p:nvPr/>
        </p:nvSpPr>
        <p:spPr>
          <a:xfrm>
            <a:off x="3984582" y="1457153"/>
            <a:ext cx="341263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eBPF foundation</a:t>
            </a:r>
          </a:p>
        </p:txBody>
      </p:sp>
      <p:sp>
        <p:nvSpPr>
          <p:cNvPr id="578" name="row:TC BPF:caption"/>
          <p:cNvSpPr txBox="1"/>
          <p:nvPr/>
        </p:nvSpPr>
        <p:spPr>
          <a:xfrm>
            <a:off x="4037606" y="1511047"/>
            <a:ext cx="145648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TC BPF</a:t>
            </a:r>
          </a:p>
        </p:txBody>
      </p:sp>
      <p:sp>
        <p:nvSpPr>
          <p:cNvPr id="579" name="row:TCX:caption"/>
          <p:cNvSpPr txBox="1"/>
          <p:nvPr/>
        </p:nvSpPr>
        <p:spPr>
          <a:xfrm>
            <a:off x="7258838" y="1564942"/>
            <a:ext cx="85103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TCX</a:t>
            </a:r>
          </a:p>
        </p:txBody>
      </p:sp>
      <p:sp>
        <p:nvSpPr>
          <p:cNvPr id="580" name="row:netkit:caption"/>
          <p:cNvSpPr txBox="1"/>
          <p:nvPr/>
        </p:nvSpPr>
        <p:spPr>
          <a:xfrm>
            <a:off x="7331905" y="1618837"/>
            <a:ext cx="127169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netkit</a:t>
            </a:r>
          </a:p>
        </p:txBody>
      </p:sp>
      <p:sp>
        <p:nvSpPr>
          <p:cNvPr id="581" name="row:cgroup / LWT BPF:caption"/>
          <p:cNvSpPr txBox="1"/>
          <p:nvPr/>
        </p:nvSpPr>
        <p:spPr>
          <a:xfrm>
            <a:off x="4705539" y="1672732"/>
            <a:ext cx="361878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cgroup / LWT BPF</a:t>
            </a:r>
          </a:p>
        </p:txBody>
      </p:sp>
      <p:sp>
        <p:nvSpPr>
          <p:cNvPr id="582" name="row:SOCK_OPS / SOCKMAP:caption"/>
          <p:cNvSpPr txBox="1"/>
          <p:nvPr/>
        </p:nvSpPr>
        <p:spPr>
          <a:xfrm>
            <a:off x="5122618" y="1726627"/>
            <a:ext cx="467700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SOCK_OPS / SOCKMAP</a:t>
            </a:r>
          </a:p>
        </p:txBody>
      </p:sp>
      <p:sp>
        <p:nvSpPr>
          <p:cNvPr id="583" name="row:BPF struct_ops:caption"/>
          <p:cNvSpPr txBox="1"/>
          <p:nvPr/>
        </p:nvSpPr>
        <p:spPr>
          <a:xfrm>
            <a:off x="5876916" y="1780522"/>
            <a:ext cx="307667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BPF struct_ops</a:t>
            </a:r>
          </a:p>
        </p:txBody>
      </p:sp>
      <p:sp>
        <p:nvSpPr>
          <p:cNvPr id="584" name="row:BPF qdisc:caption"/>
          <p:cNvSpPr txBox="1"/>
          <p:nvPr/>
        </p:nvSpPr>
        <p:spPr>
          <a:xfrm>
            <a:off x="7955260" y="1834417"/>
            <a:ext cx="19963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BPF qdisc</a:t>
            </a:r>
          </a:p>
        </p:txBody>
      </p:sp>
      <p:sp>
        <p:nvSpPr>
          <p:cNvPr id="585" name="row:SK_LOOKUP:caption"/>
          <p:cNvSpPr txBox="1"/>
          <p:nvPr/>
        </p:nvSpPr>
        <p:spPr>
          <a:xfrm>
            <a:off x="6083716" y="1888312"/>
            <a:ext cx="250105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SK_LOOKUP</a:t>
            </a:r>
          </a:p>
        </p:txBody>
      </p:sp>
      <p:sp>
        <p:nvSpPr>
          <p:cNvPr id="586" name="row:XDP:caption"/>
          <p:cNvSpPr txBox="1"/>
          <p:nvPr/>
        </p:nvSpPr>
        <p:spPr>
          <a:xfrm>
            <a:off x="4532713" y="1942207"/>
            <a:ext cx="9160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XDP</a:t>
            </a:r>
          </a:p>
        </p:txBody>
      </p:sp>
      <p:sp>
        <p:nvSpPr>
          <p:cNvPr id="587" name="row:XDP devmap / cpumap:caption"/>
          <p:cNvSpPr txBox="1"/>
          <p:nvPr/>
        </p:nvSpPr>
        <p:spPr>
          <a:xfrm>
            <a:off x="5204389" y="1996102"/>
            <a:ext cx="467295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XDP devmap / cpumap</a:t>
            </a:r>
          </a:p>
        </p:txBody>
      </p:sp>
      <p:sp>
        <p:nvSpPr>
          <p:cNvPr id="588" name="row:XDP multi-buffer:caption"/>
          <p:cNvSpPr txBox="1"/>
          <p:nvPr/>
        </p:nvSpPr>
        <p:spPr>
          <a:xfrm>
            <a:off x="6729492" y="2049997"/>
            <a:ext cx="343175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XDP multi-buffer</a:t>
            </a:r>
          </a:p>
        </p:txBody>
      </p:sp>
      <p:sp>
        <p:nvSpPr>
          <p:cNvPr id="589" name="row:AF_XDP:caption"/>
          <p:cNvSpPr txBox="1"/>
          <p:nvPr/>
        </p:nvSpPr>
        <p:spPr>
          <a:xfrm>
            <a:off x="5274504" y="2154641"/>
            <a:ext cx="16739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AF_XDP</a:t>
            </a:r>
          </a:p>
        </p:txBody>
      </p:sp>
      <p:sp>
        <p:nvSpPr>
          <p:cNvPr id="590" name="row:AF_XDP multi-buffer:caption"/>
          <p:cNvSpPr txBox="1"/>
          <p:nvPr/>
        </p:nvSpPr>
        <p:spPr>
          <a:xfrm>
            <a:off x="7258838" y="2208536"/>
            <a:ext cx="41896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AF_XDP multi-buffer</a:t>
            </a:r>
          </a:p>
        </p:txBody>
      </p:sp>
      <p:sp>
        <p:nvSpPr>
          <p:cNvPr id="591" name="row:page_pool:caption"/>
          <p:cNvSpPr txBox="1"/>
          <p:nvPr/>
        </p:nvSpPr>
        <p:spPr>
          <a:xfrm>
            <a:off x="5274504" y="2262431"/>
            <a:ext cx="220929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page_pool</a:t>
            </a:r>
          </a:p>
        </p:txBody>
      </p:sp>
      <p:sp>
        <p:nvSpPr>
          <p:cNvPr id="592" name="row:netmem:caption"/>
          <p:cNvSpPr txBox="1"/>
          <p:nvPr/>
        </p:nvSpPr>
        <p:spPr>
          <a:xfrm>
            <a:off x="7464584" y="2316326"/>
            <a:ext cx="180263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netmem</a:t>
            </a:r>
          </a:p>
        </p:txBody>
      </p:sp>
      <p:sp>
        <p:nvSpPr>
          <p:cNvPr id="593" name="row:Device Memory TCP RX · TX:caption"/>
          <p:cNvSpPr txBox="1"/>
          <p:nvPr/>
        </p:nvSpPr>
        <p:spPr>
          <a:xfrm>
            <a:off x="6159800" y="2370221"/>
            <a:ext cx="560909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389" b="0" i="0">
                <a:solidFill>
                  <a:srgbClr val="334155"/>
                </a:solidFill>
              </a:rPr>
              <a:t>Device Memory TCP RX · TX</a:t>
            </a:r>
          </a:p>
        </p:txBody>
      </p:sp>
      <p:sp>
        <p:nvSpPr>
          <p:cNvPr id="594" name="row:devmem RX buffers &gt; PAGE_SIZE:caption"/>
          <p:cNvSpPr txBox="1"/>
          <p:nvPr/>
        </p:nvSpPr>
        <p:spPr>
          <a:xfrm>
            <a:off x="6850620" y="2424116"/>
            <a:ext cx="659376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389" b="0" i="0">
                <a:solidFill>
                  <a:srgbClr val="334155"/>
                </a:solidFill>
              </a:rPr>
              <a:t>devmem RX buffers &gt; PAGE_SIZE</a:t>
            </a:r>
          </a:p>
        </p:txBody>
      </p:sp>
      <p:sp>
        <p:nvSpPr>
          <p:cNvPr id="595" name="row:page_pool memory-provider hooks:caption"/>
          <p:cNvSpPr txBox="1"/>
          <p:nvPr/>
        </p:nvSpPr>
        <p:spPr>
          <a:xfrm>
            <a:off x="6794909" y="2478011"/>
            <a:ext cx="715088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389" b="0" i="0">
                <a:solidFill>
                  <a:srgbClr val="334155"/>
                </a:solidFill>
              </a:rPr>
              <a:t>page_pool memory-provider hooks</a:t>
            </a:r>
          </a:p>
        </p:txBody>
      </p:sp>
      <p:sp>
        <p:nvSpPr>
          <p:cNvPr id="596" name="row:large RX buffers (providers / ZCRX):caption"/>
          <p:cNvSpPr txBox="1"/>
          <p:nvPr/>
        </p:nvSpPr>
        <p:spPr>
          <a:xfrm>
            <a:off x="6734851" y="2531906"/>
            <a:ext cx="69485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389" b="0" i="0">
                <a:solidFill>
                  <a:srgbClr val="334155"/>
                </a:solidFill>
              </a:rPr>
              <a:t>large RX buffers (providers / ZCRX)</a:t>
            </a:r>
          </a:p>
        </p:txBody>
      </p:sp>
      <p:sp>
        <p:nvSpPr>
          <p:cNvPr id="597" name="row:io_uring ZCRX:caption"/>
          <p:cNvSpPr txBox="1"/>
          <p:nvPr/>
        </p:nvSpPr>
        <p:spPr>
          <a:xfrm>
            <a:off x="7888788" y="2585801"/>
            <a:ext cx="28803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io_uring ZCRX</a:t>
            </a:r>
          </a:p>
        </p:txBody>
      </p:sp>
      <p:sp>
        <p:nvSpPr>
          <p:cNvPr id="598" name="row:RX HW queue leasing:caption"/>
          <p:cNvSpPr txBox="1"/>
          <p:nvPr/>
        </p:nvSpPr>
        <p:spPr>
          <a:xfrm>
            <a:off x="6800216" y="2639695"/>
            <a:ext cx="436797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389" b="0" i="0">
                <a:solidFill>
                  <a:srgbClr val="334155"/>
                </a:solidFill>
              </a:rPr>
              <a:t>RX HW queue leasing</a:t>
            </a:r>
          </a:p>
        </p:txBody>
      </p:sp>
      <p:sp>
        <p:nvSpPr>
          <p:cNvPr id="599" name="row:namespace FD / setns():caption"/>
          <p:cNvSpPr txBox="1"/>
          <p:nvPr/>
        </p:nvSpPr>
        <p:spPr>
          <a:xfrm>
            <a:off x="2528807" y="2744340"/>
            <a:ext cx="478732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namespace FD / setns()</a:t>
            </a:r>
          </a:p>
        </p:txBody>
      </p:sp>
      <p:sp>
        <p:nvSpPr>
          <p:cNvPr id="600" name="row:nftables (dev. from 2008):caption"/>
          <p:cNvSpPr txBox="1"/>
          <p:nvPr/>
        </p:nvSpPr>
        <p:spPr>
          <a:xfrm>
            <a:off x="2775521" y="2826147"/>
            <a:ext cx="541981" cy="65973"/>
          </a:xfrm>
          <a:prstGeom prst="rect">
            <a:avLst/>
          </a:prstGeom>
          <a:solidFill>
            <a:srgbClr val="FEF0F0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89" b="0" i="0">
                <a:solidFill>
                  <a:srgbClr val="334155"/>
                </a:solidFill>
              </a:rPr>
              <a:t>nftables (dev. from 2008)</a:t>
            </a:r>
          </a:p>
        </p:txBody>
      </p:sp>
      <p:sp>
        <p:nvSpPr>
          <p:cNvPr id="601" name="row:nexthop objects:caption"/>
          <p:cNvSpPr txBox="1"/>
          <p:nvPr/>
        </p:nvSpPr>
        <p:spPr>
          <a:xfrm>
            <a:off x="5669852" y="2852130"/>
            <a:ext cx="331928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nexthop objects</a:t>
            </a:r>
          </a:p>
        </p:txBody>
      </p:sp>
      <p:sp>
        <p:nvSpPr>
          <p:cNvPr id="602" name="row:per-netns RTNL:caption"/>
          <p:cNvSpPr txBox="1"/>
          <p:nvPr/>
        </p:nvSpPr>
        <p:spPr>
          <a:xfrm>
            <a:off x="7755845" y="2906024"/>
            <a:ext cx="317542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per-netns RTNL</a:t>
            </a:r>
          </a:p>
        </p:txBody>
      </p:sp>
      <p:sp>
        <p:nvSpPr>
          <p:cNvPr id="603" name="row:further RTNL breakup:caption"/>
          <p:cNvSpPr txBox="1"/>
          <p:nvPr/>
        </p:nvSpPr>
        <p:spPr>
          <a:xfrm>
            <a:off x="7888788" y="2959919"/>
            <a:ext cx="442101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further RTNL breakup</a:t>
            </a:r>
          </a:p>
        </p:txBody>
      </p:sp>
      <p:sp>
        <p:nvSpPr>
          <p:cNvPr id="604" name="row:RTNL-less FIB rules:caption"/>
          <p:cNvSpPr txBox="1"/>
          <p:nvPr/>
        </p:nvSpPr>
        <p:spPr>
          <a:xfrm>
            <a:off x="7044484" y="3013814"/>
            <a:ext cx="385218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389" b="0" i="0">
                <a:solidFill>
                  <a:srgbClr val="334155"/>
                </a:solidFill>
              </a:rPr>
              <a:t>RTNL-less FIB rules</a:t>
            </a:r>
          </a:p>
        </p:txBody>
      </p:sp>
      <p:sp>
        <p:nvSpPr>
          <p:cNvPr id="605" name="row:per-netns netdev unregistration:caption"/>
          <p:cNvSpPr txBox="1"/>
          <p:nvPr/>
        </p:nvSpPr>
        <p:spPr>
          <a:xfrm>
            <a:off x="7062608" y="3067709"/>
            <a:ext cx="646012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389" b="0" i="0">
                <a:solidFill>
                  <a:srgbClr val="334155"/>
                </a:solidFill>
              </a:rPr>
              <a:t>per-netns netdev unregistration</a:t>
            </a:r>
          </a:p>
        </p:txBody>
      </p:sp>
      <p:sp>
        <p:nvSpPr>
          <p:cNvPr id="606" name="row:YNL tooling:caption"/>
          <p:cNvSpPr txBox="1"/>
          <p:nvPr/>
        </p:nvSpPr>
        <p:spPr>
          <a:xfrm>
            <a:off x="7058369" y="3121604"/>
            <a:ext cx="237824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YNL tooling</a:t>
            </a:r>
          </a:p>
        </p:txBody>
      </p:sp>
      <p:sp>
        <p:nvSpPr>
          <p:cNvPr id="607" name="row:queue/NAPI/page_pool netdev-genl:caption"/>
          <p:cNvSpPr txBox="1"/>
          <p:nvPr/>
        </p:nvSpPr>
        <p:spPr>
          <a:xfrm>
            <a:off x="7398376" y="3226248"/>
            <a:ext cx="732672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queue/NAPI/page_pool netdev-genl</a:t>
            </a:r>
          </a:p>
        </p:txBody>
      </p:sp>
      <p:sp>
        <p:nvSpPr>
          <p:cNvPr id="608" name="row:kprobe BPF:caption"/>
          <p:cNvSpPr txBox="1"/>
          <p:nvPr/>
        </p:nvSpPr>
        <p:spPr>
          <a:xfrm>
            <a:off x="4037606" y="3280143"/>
            <a:ext cx="237558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kprobe BPF</a:t>
            </a:r>
          </a:p>
        </p:txBody>
      </p:sp>
      <p:sp>
        <p:nvSpPr>
          <p:cNvPr id="609" name="row:BTF:caption"/>
          <p:cNvSpPr txBox="1"/>
          <p:nvPr/>
        </p:nvSpPr>
        <p:spPr>
          <a:xfrm>
            <a:off x="5274504" y="3334038"/>
            <a:ext cx="82547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BTF</a:t>
            </a:r>
          </a:p>
        </p:txBody>
      </p:sp>
      <p:sp>
        <p:nvSpPr>
          <p:cNvPr id="610" name="row:structured drop reason:caption"/>
          <p:cNvSpPr txBox="1"/>
          <p:nvPr/>
        </p:nvSpPr>
        <p:spPr>
          <a:xfrm>
            <a:off x="6663021" y="3387933"/>
            <a:ext cx="471443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structured drop reason</a:t>
            </a:r>
          </a:p>
        </p:txBody>
      </p:sp>
      <p:sp>
        <p:nvSpPr>
          <p:cNvPr id="611" name="row:drop-reason expansion:caption"/>
          <p:cNvSpPr txBox="1"/>
          <p:nvPr/>
        </p:nvSpPr>
        <p:spPr>
          <a:xfrm>
            <a:off x="6803350" y="3441828"/>
            <a:ext cx="469870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drop-reason expansion</a:t>
            </a:r>
          </a:p>
        </p:txBody>
      </p:sp>
      <p:sp>
        <p:nvSpPr>
          <p:cNvPr id="612" name="row:qdisc-drop tracepoint:caption"/>
          <p:cNvSpPr txBox="1"/>
          <p:nvPr/>
        </p:nvSpPr>
        <p:spPr>
          <a:xfrm>
            <a:off x="6988657" y="3495723"/>
            <a:ext cx="441045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389" b="0" i="0">
                <a:solidFill>
                  <a:srgbClr val="334155"/>
                </a:solidFill>
              </a:rPr>
              <a:t>qdisc-drop tracepoint</a:t>
            </a:r>
          </a:p>
        </p:txBody>
      </p:sp>
      <p:sp>
        <p:nvSpPr>
          <p:cNvPr id="613" name="row:switchdev:caption"/>
          <p:cNvSpPr txBox="1"/>
          <p:nvPr/>
        </p:nvSpPr>
        <p:spPr>
          <a:xfrm>
            <a:off x="3923180" y="3600367"/>
            <a:ext cx="211034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switchdev</a:t>
            </a:r>
          </a:p>
        </p:txBody>
      </p:sp>
      <p:sp>
        <p:nvSpPr>
          <p:cNvPr id="614" name="row:devlink:caption"/>
          <p:cNvSpPr txBox="1"/>
          <p:nvPr/>
        </p:nvSpPr>
        <p:spPr>
          <a:xfrm>
            <a:off x="4384999" y="3654262"/>
            <a:ext cx="153670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devlink</a:t>
            </a:r>
          </a:p>
        </p:txBody>
      </p:sp>
      <p:sp>
        <p:nvSpPr>
          <p:cNvPr id="615" name="row:devlink health:caption"/>
          <p:cNvSpPr txBox="1"/>
          <p:nvPr/>
        </p:nvSpPr>
        <p:spPr>
          <a:xfrm>
            <a:off x="5529523" y="3708157"/>
            <a:ext cx="292707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devlink health</a:t>
            </a:r>
          </a:p>
        </p:txBody>
      </p:sp>
      <p:sp>
        <p:nvSpPr>
          <p:cNvPr id="616" name="row:phylink:caption"/>
          <p:cNvSpPr txBox="1"/>
          <p:nvPr/>
        </p:nvSpPr>
        <p:spPr>
          <a:xfrm>
            <a:off x="4986197" y="3762052"/>
            <a:ext cx="154417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phylink</a:t>
            </a:r>
          </a:p>
        </p:txBody>
      </p:sp>
      <p:sp>
        <p:nvSpPr>
          <p:cNvPr id="617" name="row:Net DIM:caption"/>
          <p:cNvSpPr txBox="1"/>
          <p:nvPr/>
        </p:nvSpPr>
        <p:spPr>
          <a:xfrm>
            <a:off x="5797989" y="3815947"/>
            <a:ext cx="178940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Net DIM</a:t>
            </a:r>
          </a:p>
        </p:txBody>
      </p:sp>
      <p:sp>
        <p:nvSpPr>
          <p:cNvPr id="618" name="row:netdevsim:caption"/>
          <p:cNvSpPr txBox="1"/>
          <p:nvPr/>
        </p:nvSpPr>
        <p:spPr>
          <a:xfrm>
            <a:off x="5134175" y="3869842"/>
            <a:ext cx="218667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netdevsim</a:t>
            </a:r>
          </a:p>
        </p:txBody>
      </p:sp>
      <p:sp>
        <p:nvSpPr>
          <p:cNvPr id="619" name="row:ethtool netlink:caption"/>
          <p:cNvSpPr txBox="1"/>
          <p:nvPr/>
        </p:nvSpPr>
        <p:spPr>
          <a:xfrm>
            <a:off x="5876916" y="3923737"/>
            <a:ext cx="304729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ethtool netlink</a:t>
            </a:r>
          </a:p>
        </p:txBody>
      </p:sp>
      <p:sp>
        <p:nvSpPr>
          <p:cNvPr id="620" name="row:auxiliary bus:caption"/>
          <p:cNvSpPr txBox="1"/>
          <p:nvPr/>
        </p:nvSpPr>
        <p:spPr>
          <a:xfrm>
            <a:off x="6241770" y="3977632"/>
            <a:ext cx="260759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auxiliary bus</a:t>
            </a:r>
          </a:p>
        </p:txBody>
      </p:sp>
      <p:sp>
        <p:nvSpPr>
          <p:cNvPr id="621" name="row:threaded NAPI:caption"/>
          <p:cNvSpPr txBox="1"/>
          <p:nvPr/>
        </p:nvSpPr>
        <p:spPr>
          <a:xfrm>
            <a:off x="5338447" y="4031527"/>
            <a:ext cx="303207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389" b="0" i="0">
                <a:solidFill>
                  <a:srgbClr val="334155"/>
                </a:solidFill>
              </a:rPr>
              <a:t>threaded NAPI</a:t>
            </a:r>
          </a:p>
        </p:txBody>
      </p:sp>
      <p:sp>
        <p:nvSpPr>
          <p:cNvPr id="622" name="row:Rust phylib:caption"/>
          <p:cNvSpPr txBox="1"/>
          <p:nvPr/>
        </p:nvSpPr>
        <p:spPr>
          <a:xfrm>
            <a:off x="7398376" y="4085422"/>
            <a:ext cx="231125" cy="12179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389" b="0" i="0">
                <a:solidFill>
                  <a:srgbClr val="334155"/>
                </a:solidFill>
              </a:rPr>
              <a:t>Rust phylib</a:t>
            </a:r>
          </a:p>
        </p:txBody>
      </p:sp>
      <p:cxnSp>
        <p:nvCxnSpPr>
          <p:cNvPr id="623" name="era-span:2:left"/>
          <p:cNvCxnSpPr/>
          <p:nvPr/>
        </p:nvCxnSpPr>
        <p:spPr>
          <a:xfrm>
            <a:off x="3791729" y="488672"/>
            <a:ext cx="333042" cy="0"/>
          </a:xfrm>
          <a:prstGeom prst="line">
            <a:avLst/>
          </a:prstGeom>
          <a:ln w="3524">
            <a:solidFill>
              <a:srgbClr val="CBD5E1"/>
            </a:solidFill>
            <a:headEnd type="arrow" w="med" len="med"/>
          </a:ln>
        </p:spPr>
      </p:cxnSp>
      <p:cxnSp>
        <p:nvCxnSpPr>
          <p:cNvPr id="624" name="era-span:2:right"/>
          <p:cNvCxnSpPr/>
          <p:nvPr/>
        </p:nvCxnSpPr>
        <p:spPr>
          <a:xfrm>
            <a:off x="4873322" y="488672"/>
            <a:ext cx="355111" cy="0"/>
          </a:xfrm>
          <a:prstGeom prst="line">
            <a:avLst/>
          </a:prstGeom>
          <a:ln w="3524">
            <a:solidFill>
              <a:srgbClr val="CBD5E1"/>
            </a:solidFill>
            <a:tailEnd type="arrow" w="med" len="med"/>
          </a:ln>
        </p:spPr>
      </p:cxnSp>
      <p:cxnSp>
        <p:nvCxnSpPr>
          <p:cNvPr id="625" name="era-span:3:left"/>
          <p:cNvCxnSpPr/>
          <p:nvPr/>
        </p:nvCxnSpPr>
        <p:spPr>
          <a:xfrm>
            <a:off x="5308959" y="488672"/>
            <a:ext cx="357318" cy="0"/>
          </a:xfrm>
          <a:prstGeom prst="line">
            <a:avLst/>
          </a:prstGeom>
          <a:ln w="3524">
            <a:solidFill>
              <a:srgbClr val="CBD5E1"/>
            </a:solidFill>
            <a:headEnd type="arrow" w="med" len="med"/>
          </a:ln>
        </p:spPr>
      </p:cxnSp>
      <p:cxnSp>
        <p:nvCxnSpPr>
          <p:cNvPr id="626" name="era-span:3:right"/>
          <p:cNvCxnSpPr/>
          <p:nvPr/>
        </p:nvCxnSpPr>
        <p:spPr>
          <a:xfrm>
            <a:off x="6414828" y="488672"/>
            <a:ext cx="330835" cy="0"/>
          </a:xfrm>
          <a:prstGeom prst="line">
            <a:avLst/>
          </a:prstGeom>
          <a:ln w="3524">
            <a:solidFill>
              <a:srgbClr val="CBD5E1"/>
            </a:solidFill>
            <a:tailEnd type="arrow" w="med" len="med"/>
          </a:ln>
        </p:spPr>
      </p:cxnSp>
      <p:cxnSp>
        <p:nvCxnSpPr>
          <p:cNvPr id="627" name="era-span:4:left"/>
          <p:cNvCxnSpPr/>
          <p:nvPr/>
        </p:nvCxnSpPr>
        <p:spPr>
          <a:xfrm>
            <a:off x="6863707" y="488672"/>
            <a:ext cx="413715" cy="0"/>
          </a:xfrm>
          <a:prstGeom prst="line">
            <a:avLst/>
          </a:prstGeom>
          <a:ln w="3524">
            <a:solidFill>
              <a:srgbClr val="CBD5E1"/>
            </a:solidFill>
            <a:headEnd type="arrow" w="med" len="med"/>
          </a:ln>
        </p:spPr>
      </p:cxnSp>
      <p:cxnSp>
        <p:nvCxnSpPr>
          <p:cNvPr id="628" name="era-span:4:right"/>
          <p:cNvCxnSpPr/>
          <p:nvPr/>
        </p:nvCxnSpPr>
        <p:spPr>
          <a:xfrm>
            <a:off x="7886696" y="488672"/>
            <a:ext cx="413715" cy="0"/>
          </a:xfrm>
          <a:prstGeom prst="line">
            <a:avLst/>
          </a:prstGeom>
          <a:ln w="3524">
            <a:solidFill>
              <a:srgbClr val="CBD5E1"/>
            </a:solidFill>
            <a:tailEnd type="arrow" w="med" len="med"/>
          </a:ln>
        </p:spPr>
      </p:cxnSp>
      <p:cxnSp>
        <p:nvCxnSpPr>
          <p:cNvPr id="629" name="era-span:1:left"/>
          <p:cNvCxnSpPr/>
          <p:nvPr/>
        </p:nvCxnSpPr>
        <p:spPr>
          <a:xfrm>
            <a:off x="2239186" y="488672"/>
            <a:ext cx="413716" cy="0"/>
          </a:xfrm>
          <a:prstGeom prst="line">
            <a:avLst/>
          </a:prstGeom>
          <a:ln w="3524">
            <a:solidFill>
              <a:srgbClr val="CBD5E1"/>
            </a:solidFill>
            <a:headEnd type="arrow" w="med" len="med"/>
          </a:ln>
        </p:spPr>
      </p:cxnSp>
      <p:cxnSp>
        <p:nvCxnSpPr>
          <p:cNvPr id="630" name="era-span:1:right"/>
          <p:cNvCxnSpPr/>
          <p:nvPr/>
        </p:nvCxnSpPr>
        <p:spPr>
          <a:xfrm>
            <a:off x="3262175" y="488672"/>
            <a:ext cx="413715" cy="0"/>
          </a:xfrm>
          <a:prstGeom prst="line">
            <a:avLst/>
          </a:prstGeom>
          <a:ln w="3524">
            <a:solidFill>
              <a:srgbClr val="CBD5E1"/>
            </a:solidFill>
            <a:tailEnd type="arrow" w="med" len="med"/>
          </a:ln>
        </p:spPr>
      </p:cxnSp>
      <p:sp>
        <p:nvSpPr>
          <p:cNvPr id="631" name="era-label:1"/>
          <p:cNvSpPr txBox="1"/>
          <p:nvPr/>
        </p:nvSpPr>
        <p:spPr>
          <a:xfrm>
            <a:off x="2207086" y="451667"/>
            <a:ext cx="1500907" cy="1928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527" b="1" i="0" dirty="0">
                <a:solidFill>
                  <a:srgbClr val="1F2937"/>
                </a:solidFill>
              </a:rPr>
              <a:t>Era 1  (~2014)</a:t>
            </a:r>
          </a:p>
          <a:p>
            <a:pPr algn="ctr"/>
            <a:r>
              <a:rPr sz="472" b="0" i="0" dirty="0">
                <a:solidFill>
                  <a:srgbClr val="64748B"/>
                </a:solidFill>
              </a:rPr>
              <a:t>Queue &amp; scalability foundation</a:t>
            </a:r>
          </a:p>
        </p:txBody>
      </p:sp>
      <p:sp>
        <p:nvSpPr>
          <p:cNvPr id="632" name="era-label:2"/>
          <p:cNvSpPr txBox="1"/>
          <p:nvPr/>
        </p:nvSpPr>
        <p:spPr>
          <a:xfrm>
            <a:off x="3748593" y="451667"/>
            <a:ext cx="1500907" cy="1928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527" b="1" i="0">
                <a:solidFill>
                  <a:srgbClr val="1F2937"/>
                </a:solidFill>
              </a:rPr>
              <a:t>Era 2  (2015–2018)</a:t>
            </a:r>
          </a:p>
          <a:p>
            <a:pPr algn="ctr"/>
            <a:r>
              <a:rPr sz="472" b="0" i="0">
                <a:solidFill>
                  <a:srgbClr val="64748B"/>
                </a:solidFill>
              </a:rPr>
              <a:t>Programmable datapath</a:t>
            </a:r>
          </a:p>
        </p:txBody>
      </p:sp>
      <p:sp>
        <p:nvSpPr>
          <p:cNvPr id="633" name="era-label:3"/>
          <p:cNvSpPr txBox="1"/>
          <p:nvPr/>
        </p:nvSpPr>
        <p:spPr>
          <a:xfrm>
            <a:off x="5290100" y="451667"/>
            <a:ext cx="1500907" cy="1928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527" b="1" i="0">
                <a:solidFill>
                  <a:srgbClr val="1F2937"/>
                </a:solidFill>
              </a:rPr>
              <a:t>Era 3  (2019–2022)</a:t>
            </a:r>
          </a:p>
          <a:p>
            <a:pPr algn="ctr"/>
            <a:r>
              <a:rPr sz="472" b="0" i="0">
                <a:solidFill>
                  <a:srgbClr val="64748B"/>
                </a:solidFill>
              </a:rPr>
              <a:t>Programmability becomes infrastructure</a:t>
            </a:r>
          </a:p>
        </p:txBody>
      </p:sp>
      <p:sp>
        <p:nvSpPr>
          <p:cNvPr id="634" name="era-label:4"/>
          <p:cNvSpPr txBox="1"/>
          <p:nvPr/>
        </p:nvSpPr>
        <p:spPr>
          <a:xfrm>
            <a:off x="6831606" y="451667"/>
            <a:ext cx="1500907" cy="19284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sz="527" b="1" i="0">
                <a:solidFill>
                  <a:srgbClr val="1F2937"/>
                </a:solidFill>
              </a:rPr>
              <a:t>Era 4  (2023~)</a:t>
            </a:r>
          </a:p>
          <a:p>
            <a:pPr algn="ctr"/>
            <a:r>
              <a:rPr sz="472" b="0" i="0">
                <a:solidFill>
                  <a:srgbClr val="64748B"/>
                </a:solidFill>
              </a:rPr>
              <a:t>Explicit placement &amp; scoped control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7019" y="1412438"/>
            <a:ext cx="5994000" cy="1200000"/>
          </a:xfrm>
        </p:spPr>
        <p:txBody>
          <a:bodyPr wrap="square" anchor="b"/>
          <a:lstStyle/>
          <a:p>
            <a:pPr algn="l" marL="0" indent="0">
              <a:spcAft>
                <a:spcPts val="0"/>
              </a:spcAft>
              <a:buNone/>
            </a:pPr>
            <a:r>
              <a:rPr sz="30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III — 長期 lineage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7019" y="2650000"/>
            <a:ext cx="5994000" cy="900000"/>
          </a:xfrm>
        </p:spPr>
        <p:txBody>
          <a:bodyPr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release 順ではなく、同じ設計課題が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長期間にどう変化したかを追う</a:t>
            </a:r>
          </a:p>
        </p:txBody>
      </p:sp>
      <p:sp>
        <p:nvSpPr>
          <p:cNvPr id="30" name="Google Shape;30;p8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64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Queueing: 単一 qdisc から multi-layer control 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III —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800" y="560000"/>
            <a:ext cx="1600000" cy="230000"/>
          </a:xfrm>
          <a:prstGeom prst="roundRect">
            <a:avLst>
              <a:gd name="adj" fmla="val 8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PERFORMANCE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180000"/>
            <a:ext cx="1750000" cy="590000"/>
          </a:xfrm>
          <a:prstGeom prst="roundRect">
            <a:avLst>
              <a:gd name="adj" fmla="val 8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12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socket / transport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07200" y="1180000"/>
            <a:ext cx="6379600" cy="59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TSQ (3.6) · TCP pacing (3.12) · BBR (4.9) · EDT (4.20)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socket が作る burst を制限し、「いつ送るか」を扱う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1770000"/>
            <a:ext cx="1750000" cy="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1870000"/>
            <a:ext cx="1750000" cy="590000"/>
          </a:xfrm>
          <a:prstGeom prst="roundRect">
            <a:avLst>
              <a:gd name="adj" fmla="val 8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12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qdisc / scheduler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07200" y="1870000"/>
            <a:ext cx="6379600" cy="59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CoDel · fq_codel (3.5) · sch_fq (3.12) · CAKE (4.19) · taprio (4.20) · cake_mq (7.0)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sojourn time を feedback に delay / fairness / shaping、time-aware scheduling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2460000"/>
            <a:ext cx="1750000" cy="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2560000"/>
            <a:ext cx="1750000" cy="590000"/>
          </a:xfrm>
          <a:prstGeom prst="roundRect">
            <a:avLst>
              <a:gd name="adj" fmla="val 8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12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driver / NIC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307200" y="2560000"/>
            <a:ext cx="6379600" cy="59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DQL/BQL (3.3) · SO_REUSEPORT (3.9) · SO_BUSY_POLL (3.11) · dev_queue_xmit() llist (6.19)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hardware queue の outstanding bytes を accounting、CPU/queue placement、TX serialization 縮小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3280000"/>
            <a:ext cx="8229600" cy="8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CoDel は queue length ではなく sojourn time を制御する転換点。fq_codel で flow isolation + AQM へ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ETF / SO_TXTIME / taprio は AQM と目的が異なり、explicit transmission-time scheduling まで広げた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mac80211 airtime / AQL (5.1 / 5.5) は bytes ではなく無線 medium 時間を resource として扱う — hidden queue を accounting 可能にする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100000"/>
            <a:ext cx="82296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queue occupancy と completion を accounting / API として明示し、各 layer が backpressure と scheduling を独立に制御できるようになった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64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Packet aggregation: GRO/GSO から BIG TCP 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III —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86800" y="560000"/>
            <a:ext cx="1600000" cy="230000"/>
          </a:xfrm>
          <a:prstGeom prst="roundRect">
            <a:avLst>
              <a:gd name="adj" fmla="val 8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PERFORMANCE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TextBox 39"/>
          <p:cNvSpPr txBox="1"/>
          <p:nvPr/>
        </p:nvSpPr>
        <p:spPr>
          <a:xfrm>
            <a:off x="457200" y="1180000"/>
            <a:ext cx="26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stack 内部の processing unit と wire packet を分離する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7200" y="1480000"/>
            <a:ext cx="2000000" cy="5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wire packets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757200" y="2015000"/>
            <a:ext cx="0" cy="9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7200" y="2120000"/>
            <a:ext cx="2000000" cy="5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GRO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large skb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757200" y="2655000"/>
            <a:ext cx="0" cy="9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57200" y="2760000"/>
            <a:ext cx="2000000" cy="5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GSO / TSO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wire packets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57200" y="1180000"/>
            <a:ext cx="52296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BIG TCP lineage — 64 KiB 制約の緩和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57200" y="1480000"/>
            <a:ext cx="800000" cy="400000"/>
          </a:xfrm>
          <a:prstGeom prst="roundRect">
            <a:avLst>
              <a:gd name="adj" fmla="val 8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5.19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57200" y="1480000"/>
            <a:ext cx="4329600" cy="4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IPv6 BIG TCP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gro_max_size / gso_max_size &gt; 65536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3857200" y="1890000"/>
            <a:ext cx="0" cy="5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3457200" y="1950000"/>
            <a:ext cx="800000" cy="400000"/>
          </a:xfrm>
          <a:prstGeom prst="roundRect">
            <a:avLst>
              <a:gd name="adj" fmla="val 8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6.3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57200" y="1950000"/>
            <a:ext cx="4329600" cy="4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IPv4 BIG TCP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857200" y="2360000"/>
            <a:ext cx="0" cy="5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3457200" y="2420000"/>
            <a:ext cx="800000" cy="400000"/>
          </a:xfrm>
          <a:prstGeom prst="roundRect">
            <a:avLst>
              <a:gd name="adj" fmla="val 8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7.0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57200" y="2420000"/>
            <a:ext cx="4329600" cy="4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IPv6 BIG TCP without synthetic HBH jumbo header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857200" y="2830000"/>
            <a:ext cx="0" cy="5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3457200" y="2890000"/>
            <a:ext cx="800000" cy="400000"/>
          </a:xfrm>
          <a:prstGeom prst="roundRect">
            <a:avLst>
              <a:gd name="adj" fmla="val 8000"/>
            </a:avLst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13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7.3-rc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57200" y="2890000"/>
            <a:ext cx="4329600" cy="4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BIG TCP over VXLAN / GENEVE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mainline; final pending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3430000"/>
            <a:ext cx="82296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BIG TCP は wire MTU を巨大化する機能ではなく、kernel 内部の packet-processing unit を大きくする機能 — jumbo frame の別名ではない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UDP GRO/GSO (5.0) や PPPoE GRO/GSO も同じ軸で per-packet cost を減らすが、BIG TCP の派生ではない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" y="4100000"/>
            <a:ext cx="82296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aggregation は explicit contract の系列ではなく、1 回の stack traversal で扱う processing unit を拡大する並行系列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618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BPF: packet filter から stack extension 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III — PROGRAMMABILITY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46800" y="560000"/>
            <a:ext cx="1840000" cy="230000"/>
          </a:xfrm>
          <a:prstGeom prst="roundRect">
            <a:avLst>
              <a:gd name="adj" fmla="val 8000"/>
            </a:avLst>
          </a:prstGeom>
          <a:solidFill>
            <a:srgbClr val="E0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PROGRAMMABILITY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180000"/>
            <a:ext cx="1937400" cy="5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classic BPF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socket packet filter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414600" y="1440000"/>
            <a:ext cx="12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554600" y="1180000"/>
            <a:ext cx="1937400" cy="5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internal eBPF ISA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3.15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12000" y="1440000"/>
            <a:ext cx="12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652000" y="1180000"/>
            <a:ext cx="1937400" cy="5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bpf() / maps / verifier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3.18 — FD-backed object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609400" y="1440000"/>
            <a:ext cx="12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749400" y="1180000"/>
            <a:ext cx="1937400" cy="5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SO_ATTACH_BPF / TC BPF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3.19 / 4.1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72000" y="1880000"/>
            <a:ext cx="2600000" cy="380000"/>
          </a:xfrm>
          <a:prstGeom prst="roundRect">
            <a:avLst>
              <a:gd name="adj" fmla="val 8000"/>
            </a:avLst>
          </a:prstGeom>
          <a:solidFill>
            <a:srgbClr val="E0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11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BPF core / verifier / maps</a:t>
            </a:r>
          </a:p>
        </p:txBody>
      </p:sp>
      <p:cxnSp>
        <p:nvCxnSpPr>
          <p:cNvPr id="48" name="Connector 47"/>
          <p:cNvCxnSpPr/>
          <p:nvPr/>
        </p:nvCxnSpPr>
        <p:spPr>
          <a:xfrm flipH="1">
            <a:off x="1762133" y="2260000"/>
            <a:ext cx="2809867" cy="21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57200" y="2480000"/>
            <a:ext cx="2609866" cy="7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packet / datapath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XDP (4.8), TC BPF, direct packet access (4.7), flow dissector (4.20)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572000" y="2260000"/>
            <a:ext cx="0" cy="21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3267066" y="2480000"/>
            <a:ext cx="2609866" cy="7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socket / lookup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cgroup / LWT (4.10), SOCK_OPS (4.13), SOCKMAP (4.14), SK_MSG (4.17), SK_LOOKUP (5.9)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572000" y="2260000"/>
            <a:ext cx="2809866" cy="21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6076933" y="2480000"/>
            <a:ext cx="2609866" cy="7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protocol algorithms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struct_ops / TCP CC (5.6) — typed operations を verified BPF で実装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72000" y="3380000"/>
            <a:ext cx="44000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05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virtual devices / queue control: TCX (6.6) · netkit (6.7) · BPF qdisc (6.16) · netfilter programs (6.4)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762133" y="3180000"/>
            <a:ext cx="1309867" cy="20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6072000" y="3180000"/>
            <a:ext cx="1309866" cy="20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57200" y="4100000"/>
            <a:ext cx="82296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extension point、program type、map、typed operations を API / object として明示 — language の置換ではなく verified execution contract と attachment model の一般化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618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XDP / AF_XDP: placement と ownership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III — PROGRAMMABILITY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46800" y="560000"/>
            <a:ext cx="1840000" cy="230000"/>
          </a:xfrm>
          <a:prstGeom prst="roundRect">
            <a:avLst>
              <a:gd name="adj" fmla="val 8000"/>
            </a:avLst>
          </a:prstGeom>
          <a:solidFill>
            <a:srgbClr val="E0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PROGRAMMABILITY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180000"/>
            <a:ext cx="4300000" cy="420000"/>
          </a:xfrm>
          <a:prstGeom prst="roundRect">
            <a:avLst>
              <a:gd name="adj" fmla="val 8000"/>
            </a:avLst>
          </a:prstGeom>
          <a:solidFill>
            <a:srgbClr val="E05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0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XDP at driver RX (4.8) — skb 構築前の RX buffer で verified BPF を実行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1680000"/>
            <a:ext cx="1015000" cy="6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0000" rIns="50000" tIns="50000" bIns="50000" wrap="square"/>
          <a:lstStyle/>
          <a:p>
            <a:pPr algn="l" marL="0" indent="0">
              <a:spcAft>
                <a:spcPts val="10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XDP_PASS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通常 stack 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552200" y="1680000"/>
            <a:ext cx="1015000" cy="6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0000" rIns="50000" tIns="50000" bIns="50000" wrap="square"/>
          <a:lstStyle/>
          <a:p>
            <a:pPr algn="l" marL="0" indent="0">
              <a:spcAft>
                <a:spcPts val="10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XDP_DROP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早期破棄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47200" y="1680000"/>
            <a:ext cx="1015000" cy="6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0000" rIns="50000" tIns="50000" bIns="50000" wrap="square"/>
          <a:lstStyle/>
          <a:p>
            <a:pPr algn="l" marL="0" indent="0">
              <a:spcAft>
                <a:spcPts val="10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XDP_TX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受信 device から送り返し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42200" y="1680000"/>
            <a:ext cx="1015000" cy="6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50000" rIns="50000" tIns="50000" bIns="50000" wrap="square"/>
          <a:lstStyle/>
          <a:p>
            <a:pPr algn="l" marL="0" indent="0">
              <a:spcAft>
                <a:spcPts val="10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XDP_REDIRECT</a:t>
            </a:r>
          </a:p>
          <a:p>
            <a:pPr algn="l" marL="0" indent="0">
              <a:spcAft>
                <a:spcPts val="1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DEVMAP (4.14) / CPUMAP (4.15) / XSK 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2380000"/>
            <a:ext cx="43000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高速性は「BPF だから」ではなく、skb allocation 以前という placement と redirect 先を明示する object / API から来る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multi-buffer / frags (5.18) で non-linear packet を扱える一般的な RX representation へ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XDP metadata / RX hints: HW timestamp・RSS hash・VLAN 等を packet bytes とは別 contract で BPF へ渡す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57200" y="1180000"/>
            <a:ext cx="3629600" cy="420000"/>
          </a:xfrm>
          <a:prstGeom prst="roundRect">
            <a:avLst>
              <a:gd name="adj" fmla="val 8000"/>
            </a:avLst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0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AF_XDP (4.18) — RX queue ↔ UMEM / userspace buffer の binding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57200" y="1680000"/>
            <a:ext cx="1300000" cy="11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userspace</a:t>
            </a:r>
          </a:p>
          <a:p>
            <a:pPr algn="ctr" marL="0" indent="0">
              <a:spcAft>
                <a:spcPts val="3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UMEM + XSK socket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86800" y="1680000"/>
            <a:ext cx="1300000" cy="11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40000" bIns="4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kernel / driver</a:t>
            </a:r>
          </a:p>
          <a:p>
            <a:pPr algn="ctr" marL="0" indent="0">
              <a:spcAft>
                <a:spcPts val="3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RX queue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7200" y="1680000"/>
            <a:ext cx="9296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8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FILL ring  </a:t>
            </a: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使用可能 frame を供給 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7200" y="1950000"/>
            <a:ext cx="9296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8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RX ring  </a:t>
            </a: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← 受信 descriptor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7200" y="2220000"/>
            <a:ext cx="9296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8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TX ring  </a:t>
            </a: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送信 descriptor 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7200" y="2490000"/>
            <a:ext cx="929600" cy="25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8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COMPLETION ring  </a:t>
            </a: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← 完了通知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57200" y="2880000"/>
            <a:ext cx="3629600" cy="8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zero-copy mode では UMEM frame と RX queue を直接結び付けるため、queue binding と memory ownership が correctness の一部になる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AF_XDP multi-buffer (6.6)、virtio-net AF_XDP RX ZC (6.11)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100000"/>
            <a:ext cx="82296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verified execution point に加え、redirect target・RX queue・UMEM ownership を object / assignment として明示し、kernel path と userspace path の共存を可能にした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67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Packet memory: page_pool → netmem → providers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III — 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86800" y="560000"/>
            <a:ext cx="1300000" cy="230000"/>
          </a:xfrm>
          <a:prstGeom prst="roundRect">
            <a:avLst>
              <a:gd name="adj" fmla="val 8000"/>
            </a:avLst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MEMORY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180000"/>
            <a:ext cx="1937400" cy="64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page_pool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4.18 — RX memory lifecycle の共通化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414600" y="1500000"/>
            <a:ext cx="12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554600" y="1180000"/>
            <a:ext cx="1937400" cy="64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netmem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6.9 — struct page と packet memory を同一視しない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12000" y="1500000"/>
            <a:ext cx="12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652000" y="1180000"/>
            <a:ext cx="1937400" cy="64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Device Memory TCP RX / TX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6.12 / 6.16 — system RAM を経由しない path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609400" y="1500000"/>
            <a:ext cx="12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749400" y="1180000"/>
            <a:ext cx="1937400" cy="64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memory-provider hooks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6.15 — devmem TCP と io_uring ZCRX を共通 contract へ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457200" y="1960000"/>
          <a:ext cx="8229599" cy="1650000"/>
        </p:xfrm>
        <a:graphic>
          <a:graphicData uri="http://schemas.openxmlformats.org/drawingml/2006/table">
            <a:tbl>
              <a:tblPr firstRow="0" bandRow="0"/>
              <a:tblGrid>
                <a:gridCol w="1531088"/>
                <a:gridCol w="4401879"/>
                <a:gridCol w="2296632"/>
              </a:tblGrid>
              <a:tr h="33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Layer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役割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代表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page_pool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RX fast path の allocator / recycler — allocation・DMA-aware recycling・in-flight lifecycle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page_pool (4.18), introspection (6.8)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netmem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memory representation — 「page であること」ではなく access / lifetime operation で memory を扱う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netmem_ref (6.9)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memory provider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allocation / lifetime provider — page allocator・device memory・io_uring memory を同じ RX lifecycle へ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memory_provider_ops (6.15)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9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queue binding / leasing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assignment — どの RX queue がその memory domain を使うか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devmem binding, ZCRX, RX HW queue leasing (7.1)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  <p:sp>
        <p:nvSpPr>
          <p:cNvPr id="48" name="Rounded Rectangle 47"/>
          <p:cNvSpPr/>
          <p:nvPr/>
        </p:nvSpPr>
        <p:spPr>
          <a:xfrm>
            <a:off x="457200" y="4100000"/>
            <a:ext cx="82296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packet buffer の lifetime・provider・queue assignment を driver-private convention から共通 contract へ移した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67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Zero-copy と io_uring networking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III — MEMORY /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86800" y="560000"/>
            <a:ext cx="1300000" cy="230000"/>
          </a:xfrm>
          <a:prstGeom prst="roundRect">
            <a:avLst>
              <a:gd name="adj" fmla="val 8000"/>
            </a:avLst>
          </a:prstGeom>
          <a:solidFill>
            <a:srgbClr val="1E9E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MEMORY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180000"/>
            <a:ext cx="1937400" cy="6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TCP MSG_ZEROCOPY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4.14 — send-side copy avoidance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414600" y="1480000"/>
            <a:ext cx="12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554600" y="1180000"/>
            <a:ext cx="1937400" cy="6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TCP_ZEROCOPY_RECEIVE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4.18 — RX payload を mapping で渡す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12000" y="1480000"/>
            <a:ext cx="12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652000" y="1180000"/>
            <a:ext cx="1937400" cy="6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io_uring SEND_ZC / multishot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6.0 — registered resources + async completion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609400" y="1480000"/>
            <a:ext cx="12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749400" y="1180000"/>
            <a:ext cx="1937400" cy="6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io_uring ZCRX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6.15 — RX queue と userspace memory を直結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1960000"/>
            <a:ext cx="40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traditional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2240000"/>
            <a:ext cx="910000" cy="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NIC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387200" y="2450000"/>
            <a:ext cx="8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487200" y="2240000"/>
            <a:ext cx="910000" cy="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system RAM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2417200" y="2450000"/>
            <a:ext cx="8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2517200" y="2240000"/>
            <a:ext cx="910000" cy="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CPU / copy / mapping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3447200" y="2450000"/>
            <a:ext cx="8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3547200" y="2240000"/>
            <a:ext cx="910000" cy="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2D2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GPU / accelerator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7200" y="1960000"/>
            <a:ext cx="39296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1E9E4A"/>
                </a:solidFill>
                <a:latin typeface="Red Hat Text"/>
                <a:ea typeface="Red Hat Text"/>
                <a:cs typeface="Red Hat Text"/>
              </a:rPr>
              <a:t>device-memory path (Device Memory TCP)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757200" y="2240000"/>
            <a:ext cx="1229866" cy="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NIC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007066" y="2450000"/>
            <a:ext cx="8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107066" y="2240000"/>
            <a:ext cx="1229866" cy="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device memory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356933" y="2450000"/>
            <a:ext cx="8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7456933" y="2240000"/>
            <a:ext cx="1229866" cy="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E9E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GPU / accelerator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2810000"/>
            <a:ext cx="82296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operation completion と memory lifetime completion の分離 — MSG_ZEROCOPY は error queue、SEND_ZC は zero-copy completion で「buffer 再利用可」を別途通知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TCP_ZEROCOPY_RECEIVE は transparent optimization ではなく、memory layout と socket consumption semantics を API へ露出する contract (recv_skip_hint)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ZCRX では RX queue / page_pool / memory provider と registered userspace memory を接続 — queue ownership と buffer lifetime が io_uring object model の外部条件になる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4100000"/>
            <a:ext cx="82296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socket I/O を submission / completion と registered resources に分解し、ZCRX では queue と buffer / memory-provider の関係まで明示する方向へ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630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Routing / TC / offload: 2 つの control path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III — CONTROL PLANE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66800" y="560000"/>
            <a:ext cx="1720000" cy="230000"/>
          </a:xfrm>
          <a:prstGeom prst="roundRect">
            <a:avLst>
              <a:gd name="adj" fmla="val 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CONTROL PLANE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180000"/>
            <a:ext cx="3964800" cy="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bridge / FIB / VLAN objects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bridge VLAN filtering (3.9) · MPLS (4.1) · VRF (4.3) · nexthop objects (5.3)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439600" y="1610000"/>
            <a:ext cx="0" cy="13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57200" y="1750000"/>
            <a:ext cx="3964800" cy="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switchdev notifications / objects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kernel canonical state → switch driver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22000" y="1180000"/>
            <a:ext cx="3964800" cy="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TC classifier / actions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Flower (4.2) · mirred / vlan / tunnel_key · ct action (5.3)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04400" y="1610000"/>
            <a:ext cx="0" cy="13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722000" y="1750000"/>
            <a:ext cx="3964800" cy="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ndo_setup_tc / flow-block callbacks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flow_rule 等の共通表現を介して driver へ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439600" y="2180000"/>
            <a:ext cx="1732400" cy="24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4972000" y="2180000"/>
            <a:ext cx="1732400" cy="24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3072000" y="2430000"/>
            <a:ext cx="3000000" cy="380000"/>
          </a:xfrm>
          <a:prstGeom prst="roundRect">
            <a:avLst>
              <a:gd name="adj" fmla="val 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10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switch / NIC driver → hardware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2920000"/>
            <a:ext cx="8229600" cy="1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switchdev と TC offload を一本の経路として扱わない — kernel API としては並行する経路が driver / hardware で合流し得る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nexthop object (5.3): route に埋め込まれた nexthop を ID 付き reusable object へ。ECMP group 変更が「多数の route 書き換え」から「共有 object の更新」へ。ASIC の adjacency table とも対応しやすい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offload は TC rule を hardware-native rule に置換するのではなく、kernel canonical state + optional hardware execution — 何が offload 可能か・一部 unsupported 時の扱い・stats の読み出し元が contract になる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100000"/>
            <a:ext cx="82296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forwarding semantics を kernel の canonical state として保ちながら、bridge / FIB / TC policy を software または hardware execution へ写像できるようになった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630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Routing object・YNL・RTNL scope 縮小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III — CONTROL PLANE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66800" y="560000"/>
            <a:ext cx="1720000" cy="230000"/>
          </a:xfrm>
          <a:prstGeom prst="roundRect">
            <a:avLst>
              <a:gd name="adj" fmla="val 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CONTROL PLANE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TextBox 39"/>
          <p:cNvSpPr txBox="1"/>
          <p:nvPr/>
        </p:nvSpPr>
        <p:spPr>
          <a:xfrm>
            <a:off x="457200" y="1180000"/>
            <a:ext cx="2609866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CC0000"/>
                </a:solidFill>
                <a:latin typeface="Red Hat Text"/>
                <a:ea typeface="Red Hat Text"/>
                <a:cs typeface="Red Hat Text"/>
              </a:rPr>
              <a:t>routing object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1480000"/>
            <a:ext cx="2609866" cy="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route → embedded nexthop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762133" y="1915000"/>
            <a:ext cx="0" cy="9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457200" y="2020000"/>
            <a:ext cx="2609866" cy="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IPv4 route-cache removal (3.6)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762133" y="2455000"/>
            <a:ext cx="0" cy="9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457200" y="2560000"/>
            <a:ext cx="2609866" cy="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route → reusable nexthop object → group / resilient group (5.3)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67066" y="1180000"/>
            <a:ext cx="2609866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CC0000"/>
                </a:solidFill>
                <a:latin typeface="Red Hat Text"/>
                <a:ea typeface="Red Hat Text"/>
                <a:cs typeface="Red Hat Text"/>
              </a:rPr>
              <a:t>Netlink API — YNL (6.3)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67066" y="1480000"/>
            <a:ext cx="2609866" cy="42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10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YAML specification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517066" y="2070000"/>
            <a:ext cx="200000" cy="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767066" y="1980000"/>
            <a:ext cx="2109866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UAPI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517066" y="2285000"/>
            <a:ext cx="200000" cy="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767066" y="2195000"/>
            <a:ext cx="2109866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policy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517066" y="2500000"/>
            <a:ext cx="200000" cy="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767066" y="2410000"/>
            <a:ext cx="2109866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generated helper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517066" y="2715000"/>
            <a:ext cx="200000" cy="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767066" y="2625000"/>
            <a:ext cx="2109866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documentation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517066" y="2930000"/>
            <a:ext cx="200000" cy="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767066" y="2840000"/>
            <a:ext cx="2109866" cy="2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userspace client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517066" y="1900000"/>
            <a:ext cx="0" cy="103000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267066" y="3080000"/>
            <a:ext cx="2609866" cy="5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netdev family が queue / NAPI / page_pool を object として公開。WireGuard も YNL-described に (6.19)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76933" y="1180000"/>
            <a:ext cx="2609866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100" b="1">
                <a:solidFill>
                  <a:srgbClr val="CC0000"/>
                </a:solidFill>
                <a:latin typeface="Red Hat Text"/>
                <a:ea typeface="Red Hat Text"/>
                <a:cs typeface="Red Hat Text"/>
              </a:rPr>
              <a:t>RTNL scope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076933" y="1480000"/>
            <a:ext cx="2609866" cy="374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global RTNL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7381866" y="1869000"/>
            <a:ext cx="0" cy="4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6076933" y="1924000"/>
            <a:ext cx="2609866" cy="374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unlocked operations / RCU readers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381866" y="2313000"/>
            <a:ext cx="0" cy="4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6076933" y="2368000"/>
            <a:ext cx="2609866" cy="374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per-netns RTNL (6.13～)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381866" y="2757000"/>
            <a:ext cx="0" cy="4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6076933" y="2812000"/>
            <a:ext cx="2609866" cy="374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further RTNL breakup (6.15)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7381866" y="3201000"/>
            <a:ext cx="0" cy="4000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68"/>
          <p:cNvSpPr/>
          <p:nvPr/>
        </p:nvSpPr>
        <p:spPr>
          <a:xfrm>
            <a:off x="6076933" y="3256000"/>
            <a:ext cx="2609866" cy="374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RTNL-less FIB rule updates / per-netns netdev unregistration (7.3-rc)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4050000"/>
            <a:ext cx="8229600" cy="4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Netlink message format より shared mutable state の保護範囲を縮小することが主眼 — routing object と synchronization scope を明示し、global RTNL dependency を縮小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630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netfilter: rule engine から fast path 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III — CONTROL PLANE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66800" y="560000"/>
            <a:ext cx="1720000" cy="230000"/>
          </a:xfrm>
          <a:prstGeom prst="roundRect">
            <a:avLst>
              <a:gd name="adj" fmla="val 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CONTROL PLANE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180000"/>
            <a:ext cx="1937400" cy="6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iptables / ebtables / arptables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family ごとの xtables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414600" y="1480000"/>
            <a:ext cx="12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2554600" y="1180000"/>
            <a:ext cx="1937400" cy="6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nftables core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3.13 — expression / VM, sets / maps, transactional update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512000" y="1480000"/>
            <a:ext cx="12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652000" y="1180000"/>
            <a:ext cx="1937400" cy="6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ingress hook / netdev family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4.2 (egress 5.16)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609400" y="1480000"/>
            <a:ext cx="12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749400" y="1180000"/>
            <a:ext cx="1937400" cy="6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flowtable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4.16 software fast path → 5.5 HW offload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1960000"/>
            <a:ext cx="4600000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flowtable — policy と fast path の分離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2260000"/>
            <a:ext cx="1300000" cy="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ingress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07200" y="2260000"/>
            <a:ext cx="1300000" cy="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flowtable lookup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57200" y="2260000"/>
            <a:ext cx="1300000" cy="4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classic forwarding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7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policy / conntrack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107200" y="3010000"/>
            <a:ext cx="1300000" cy="420000"/>
          </a:xfrm>
          <a:prstGeom prst="roundRect">
            <a:avLst>
              <a:gd name="adj" fmla="val 8000"/>
            </a:avLst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9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fast forwarding</a:t>
            </a:r>
          </a:p>
          <a:p>
            <a:pPr algn="ctr" marL="0" indent="0">
              <a:spcAft>
                <a:spcPts val="0"/>
              </a:spcAft>
              <a:buNone/>
            </a:pPr>
            <a:r>
              <a:rPr sz="7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neigh_xmit()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757200" y="2470000"/>
            <a:ext cx="35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407200" y="2470000"/>
            <a:ext cx="35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407200" y="2250000"/>
            <a:ext cx="35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7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miss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757200" y="2680000"/>
            <a:ext cx="0" cy="330000"/>
          </a:xfrm>
          <a:prstGeom prst="line">
            <a:avLst/>
          </a:prstGeom>
          <a:ln w="15875">
            <a:solidFill>
              <a:srgbClr val="CC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777200" y="2740000"/>
            <a:ext cx="4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700" b="0">
                <a:solidFill>
                  <a:srgbClr val="CC0000"/>
                </a:solidFill>
                <a:latin typeface="Red Hat Text"/>
                <a:ea typeface="Red Hat Text"/>
                <a:cs typeface="Red Hat Text"/>
              </a:rPr>
              <a:t>hit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3407200" y="2680000"/>
            <a:ext cx="1000000" cy="540000"/>
          </a:xfrm>
          <a:prstGeom prst="line">
            <a:avLst/>
          </a:prstGeom>
          <a:ln w="15875">
            <a:solidFill>
              <a:srgbClr val="6A6E73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557200" y="3440000"/>
            <a:ext cx="15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7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flow add (established)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57200" y="1960000"/>
            <a:ext cx="3329600" cy="2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conntrack は置換されていない — state / NAT / mark / lifetime を nftables・TC ct・BPF kfunc・flowtable が共有する substrate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HW offload (5.5) は flow を flow_rule として driver へ写像。投入は非同期で、完了まで software path を通る packet もある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BPF / XDP も nftables の置換ではない — bpfilter は 6.8 で削除、定着したのは conntrack kfunc・BPF_PROG_TYPE_NETFILTER (6.4) の相互乗り入れ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4100000"/>
            <a:ext cx="82296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policy representation・transactional update・shared flow state・fast-path eligibility・execution placement が明示化され、slow / fast / hardware path が共存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82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Virtual networking: datapath と queue assignment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III — cross-cutting: VIRTUAL / OVERLAY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180000"/>
            <a:ext cx="1288266" cy="56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network namespace / setns()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3.0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765466" y="1460000"/>
            <a:ext cx="6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1845466" y="1180000"/>
            <a:ext cx="1288266" cy="56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VXLAN · Geneve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3.7 · 3.18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153733" y="1460000"/>
            <a:ext cx="6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3233733" y="1180000"/>
            <a:ext cx="1288266" cy="56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ipvlan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3.19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42000" y="1460000"/>
            <a:ext cx="6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4622000" y="1180000"/>
            <a:ext cx="1288266" cy="56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vDPA bus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5.7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930266" y="1460000"/>
            <a:ext cx="6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010266" y="1180000"/>
            <a:ext cx="1288266" cy="56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netkit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6.7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318533" y="1460000"/>
            <a:ext cx="60000" cy="0"/>
          </a:xfrm>
          <a:prstGeom prst="line">
            <a:avLst/>
          </a:prstGeom>
          <a:ln w="15875">
            <a:solidFill>
              <a:srgbClr val="6A6E7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398533" y="1180000"/>
            <a:ext cx="1288266" cy="56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000" rIns="50000" tIns="50000" bIns="50000" wrap="square"/>
          <a:lstStyle/>
          <a:p>
            <a:pPr algn="ctr" marL="0" indent="0">
              <a:spcAft>
                <a:spcPts val="20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RX HW queue leasing</a:t>
            </a:r>
          </a:p>
          <a:p>
            <a:pPr algn="ctr" marL="0" indent="0">
              <a:spcAft>
                <a:spcPts val="2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7.1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7200" y="1900000"/>
            <a:ext cx="2609866" cy="19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110000" bIns="110000" wrap="square"/>
          <a:lstStyle/>
          <a:p>
            <a:pPr algn="l" marL="0" indent="0">
              <a:spcAft>
                <a:spcPts val="500"/>
              </a:spcAft>
              <a:buNone/>
            </a:pPr>
            <a:r>
              <a:rPr sz="12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VM datapath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0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virtio-net ∥ vhost ∥ vDPA ∥ SR-IOV / VFIO</a:t>
            </a:r>
          </a:p>
          <a:p>
            <a:pPr algn="l" marL="171450" indent="-171450">
              <a:spcAft>
                <a:spcPts val="5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AF_XDP zero-copy と相互作用</a:t>
            </a:r>
          </a:p>
          <a:p>
            <a:pPr algn="l" marL="171450" indent="-171450">
              <a:spcAft>
                <a:spcPts val="5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virtio-net AF_XDP RX ZC (6.11)</a:t>
            </a:r>
          </a:p>
          <a:p>
            <a:pPr algn="l" marL="171450" indent="-171450">
              <a:spcAft>
                <a:spcPts val="5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representor: VF/SF port を host 側 net_device として表現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67066" y="1900000"/>
            <a:ext cx="2609866" cy="19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110000" bIns="110000" wrap="square"/>
          <a:lstStyle/>
          <a:p>
            <a:pPr algn="l" marL="0" indent="0">
              <a:spcAft>
                <a:spcPts val="500"/>
              </a:spcAft>
              <a:buNone/>
            </a:pPr>
            <a:r>
              <a:rPr sz="12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container datapath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0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veth ∥ netkit / BPF-native path</a:t>
            </a:r>
          </a:p>
          <a:p>
            <a:pPr algn="l" marL="171450" indent="-171450">
              <a:spcAft>
                <a:spcPts val="5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netkit は veth の単純な後継ではない</a:t>
            </a:r>
          </a:p>
          <a:p>
            <a:pPr algn="l" marL="171450" indent="-171450">
              <a:spcAft>
                <a:spcPts val="5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peer device 内部に BPF execution point</a:t>
            </a:r>
          </a:p>
          <a:p>
            <a:pPr algn="l" marL="171450" indent="-171450">
              <a:spcAft>
                <a:spcPts val="5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per-CPU backlog overhead の削減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076933" y="1900000"/>
            <a:ext cx="2609866" cy="19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110000" bIns="110000" wrap="square"/>
          <a:lstStyle/>
          <a:p>
            <a:pPr algn="l" marL="0" indent="0">
              <a:spcAft>
                <a:spcPts val="500"/>
              </a:spcAft>
              <a:buNone/>
            </a:pPr>
            <a:r>
              <a:rPr sz="12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queue / zero-copy assignment</a:t>
            </a:r>
          </a:p>
          <a:p>
            <a:pPr algn="l" marL="0" indent="0">
              <a:spcAft>
                <a:spcPts val="800"/>
              </a:spcAft>
              <a:buNone/>
            </a:pPr>
            <a:r>
              <a:rPr sz="10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AF_XDP / io_uring ↔ RX HW queue leasing</a:t>
            </a:r>
          </a:p>
          <a:p>
            <a:pPr algn="l" marL="171450" indent="-171450">
              <a:spcAft>
                <a:spcPts val="5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virtual-device queue と physical queue の対応を明示</a:t>
            </a:r>
          </a:p>
          <a:p>
            <a:pPr algn="l" marL="171450" indent="-171450">
              <a:spcAft>
                <a:spcPts val="5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queue-bound API を container / virtual device 側から利用可能に</a:t>
            </a:r>
          </a:p>
          <a:p>
            <a:pPr algn="l" marL="171450" indent="-171450">
              <a:spcAft>
                <a:spcPts val="5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TX queue leasing は未 merge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100000"/>
            <a:ext cx="82296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full kernel bypass ではなく、kernel の control / protection model を維持しながら data movement と datapath overhead を減らす選択肢を増やした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82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TCP / UDP / transport: protocol semantics 自体の並行進化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III — cross-cutting: TRANSPORT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457200" y="1180000"/>
          <a:ext cx="8229598" cy="1680000"/>
        </p:xfrm>
        <a:graphic>
          <a:graphicData uri="http://schemas.openxmlformats.org/drawingml/2006/table">
            <a:tbl>
              <a:tblPr firstRow="0" bandRow="0"/>
              <a:tblGrid>
                <a:gridCol w="1789043"/>
                <a:gridCol w="2862469"/>
                <a:gridCol w="3578086"/>
              </a:tblGrid>
              <a:tr h="2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Theme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Representative milestones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何を変えたか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connection establishment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TFO client / server (3.6 / 3.7)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handshake と application data の境界、early data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congestion control / feedback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DCTCP (3.18) ∥ BBR (4.9) ∥ PLB (6.2) ∥ AccECN (6.18 / 7.0)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ECN feedback、bandwidth / RTT model、ECMP path 再選択、CE feedback の情報量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multipath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MPTCP (5.6～)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1 つの logical connection の下に subflow / address / path-manager state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authentication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TCP-AO (6.7)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MD5 signature の後継、key-management model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socket / lifecycle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TCP_REPAIR、TSQ、pacing、SOCK_OPS (4.13)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5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checkpoint / restore、socket 側 buffering 制限、rate-controlled transmission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457200" y="3260000"/>
            <a:ext cx="3300000" cy="82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0000" rIns="90000" tIns="90000" bIns="9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MPTCP object model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byte stream → MPTCP connection / data sequence space → subflow A / B → path A / B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Path Manager: endpoint object, ADD_ADDR / REMOVE_ADDR, subflow create / destroy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57200" y="3260000"/>
            <a:ext cx="4729600" cy="8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TCP 上で使われるという理由だけで memory / aggregation / programmability の milestone をここへ再収容しない — BIG TCP、Device Memory TCP、struct_ops CC、ZCRX は別の lineage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UDP: MSG_ZEROCOPY (5.0) と GRO/GSO は protocol semantics の変更ではなく PERFORMANCE milestone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100000"/>
            <a:ext cx="82296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transport は explicit-contract thesis だけでは説明しない — connection / congestion / path / feedback semantics 自体を更新する並行系列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82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SECURITY: semantics / state と execution placement の分離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III — cross-cutting: SECURITY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180000"/>
            <a:ext cx="2609866" cy="52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kTLS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8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TLS record state on TCP socket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1750000"/>
            <a:ext cx="2609866" cy="215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0000" rIns="100000" tIns="100000" bIns="100000" wrap="square"/>
          <a:lstStyle/>
          <a:p>
            <a:pPr algn="l" marL="171450" indent="-171450">
              <a:spcAft>
                <a:spcPts val="6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kTLS TX (4.13) — handshake は userspace、record datapath は kernel</a:t>
            </a:r>
          </a:p>
          <a:p>
            <a:pPr algn="l" marL="171450" indent="-171450">
              <a:spcAft>
                <a:spcPts val="6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kTLS RX (4.17)</a:t>
            </a:r>
          </a:p>
          <a:p>
            <a:pPr algn="l" marL="171450" indent="-171450">
              <a:spcAft>
                <a:spcPts val="6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TLS device offload TX / RX (4.18 / 4.19)</a:t>
            </a:r>
          </a:p>
          <a:p>
            <a:pPr algn="l" marL="171450" indent="-171450">
              <a:spcAft>
                <a:spcPts val="6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TLS_SW と TLS_HW は同じ API に対する execution placement の違い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67066" y="1180000"/>
            <a:ext cx="2609866" cy="52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XFRM / IPsec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8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SA + policy = kernel canonical state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67066" y="1750000"/>
            <a:ext cx="2609866" cy="215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0000" rIns="100000" tIns="100000" bIns="100000" wrap="square"/>
          <a:lstStyle/>
          <a:p>
            <a:pPr algn="l" marL="171450" indent="-171450">
              <a:spcAft>
                <a:spcPts val="6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crypto offload API — xfrmdev_ops (4.12): NIC が encrypt / decrypt</a:t>
            </a:r>
          </a:p>
          <a:p>
            <a:pPr algn="l" marL="171450" indent="-171450">
              <a:spcAft>
                <a:spcPts val="6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packet offload (6.2): SA + policy を NIC と同期し、encapsulation / policy execution まで NIC へ</a:t>
            </a:r>
          </a:p>
          <a:p>
            <a:pPr algn="l" marL="171450" indent="-171450">
              <a:spcAft>
                <a:spcPts val="6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rekey / lifetime / policy synchronization が contract の中心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76933" y="1180000"/>
            <a:ext cx="2609866" cy="52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3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WireGuard</a:t>
            </a:r>
          </a:p>
          <a:p>
            <a:pPr algn="l" marL="0" indent="0">
              <a:spcAft>
                <a:spcPts val="0"/>
              </a:spcAft>
              <a:buNone/>
            </a:pPr>
            <a:r>
              <a:rPr sz="8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peer / key / allowed-IP + netdevice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76933" y="1750000"/>
            <a:ext cx="2609866" cy="215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0000" rIns="100000" tIns="100000" bIns="100000" wrap="square"/>
          <a:lstStyle/>
          <a:p>
            <a:pPr algn="l" marL="171450" indent="-171450">
              <a:spcAft>
                <a:spcPts val="6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5.6 — L3 secure tunnel を通常の network device driver として実装</a:t>
            </a:r>
          </a:p>
          <a:p>
            <a:pPr algn="l" marL="171450" indent="-171450">
              <a:spcAft>
                <a:spcPts val="6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RTNL / genl / UDP tunnel API / GRO-GSO / NAPI へ統合</a:t>
            </a:r>
          </a:p>
          <a:p>
            <a:pPr algn="l" marL="171450" indent="-171450">
              <a:spcAft>
                <a:spcPts val="6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XFRM の次世代でも offload lineage でもない — SECURITY と VIRTUAL / OVERLAY の交差点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100000"/>
            <a:ext cx="82296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暗号方式の変遷ではなく、security state / policy を kernel が保持したまま software・accelerator・NIC のどこで実行するかを明示的な contract で選べるようになった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7019" y="1412438"/>
            <a:ext cx="5994000" cy="1200000"/>
          </a:xfrm>
        </p:spPr>
        <p:txBody>
          <a:bodyPr wrap="square" anchor="b"/>
          <a:lstStyle/>
          <a:p>
            <a:pPr algn="l" marL="0" indent="0">
              <a:spcAft>
                <a:spcPts val="0"/>
              </a:spcAft>
              <a:buNone/>
            </a:pPr>
            <a:r>
              <a:rPr sz="30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IV — Network device driver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7019" y="2650000"/>
            <a:ext cx="5994000" cy="900000"/>
          </a:xfrm>
        </p:spPr>
        <p:txBody>
          <a:bodyPr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driver-local な実装知識が、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共通 framework / object / API へどう引き上げられたか</a:t>
            </a:r>
          </a:p>
        </p:txBody>
      </p:sp>
      <p:sp>
        <p:nvSpPr>
          <p:cNvPr id="30" name="Google Shape;30;p8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61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driver-local convention から共通 contract 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IV — DRIVER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86800" y="560000"/>
            <a:ext cx="1900000" cy="230000"/>
          </a:xfrm>
          <a:prstGeom prst="roundRect">
            <a:avLst>
              <a:gd name="adj" fmla="val 8000"/>
            </a:avLst>
          </a:prstGeom>
          <a:solidFill>
            <a:srgbClr val="9A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DRIVER FRAMEWORK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2280000"/>
            <a:ext cx="1700000" cy="70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11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driver-local convention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2157200" y="1330000"/>
            <a:ext cx="500000" cy="1300000"/>
          </a:xfrm>
          <a:prstGeom prst="line">
            <a:avLst/>
          </a:prstGeom>
          <a:ln w="15875">
            <a:solidFill>
              <a:srgbClr val="9A6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707200" y="1180000"/>
            <a:ext cx="18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queue accounting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07200" y="1180000"/>
            <a:ext cx="2300000" cy="3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DQL / BQL</a:t>
            </a: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  3.3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7200" y="1180000"/>
            <a:ext cx="17796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accounting (backpressure)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2157200" y="1670000"/>
            <a:ext cx="500000" cy="960000"/>
          </a:xfrm>
          <a:prstGeom prst="line">
            <a:avLst/>
          </a:prstGeom>
          <a:ln w="15875">
            <a:solidFill>
              <a:srgbClr val="9A6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707200" y="1520000"/>
            <a:ext cx="18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link topology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07200" y="1520000"/>
            <a:ext cx="2300000" cy="3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phylink</a:t>
            </a: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  4.14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7200" y="1520000"/>
            <a:ext cx="17796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API / synchronization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2157200" y="2010000"/>
            <a:ext cx="500000" cy="620000"/>
          </a:xfrm>
          <a:prstGeom prst="line">
            <a:avLst/>
          </a:prstGeom>
          <a:ln w="15875">
            <a:solidFill>
              <a:srgbClr val="9A6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2707200" y="1860000"/>
            <a:ext cx="18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switch datapath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507200" y="1860000"/>
            <a:ext cx="2300000" cy="3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switchdev</a:t>
            </a: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  3.19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7200" y="1860000"/>
            <a:ext cx="17796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object / synchronization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2157200" y="2350000"/>
            <a:ext cx="500000" cy="280000"/>
          </a:xfrm>
          <a:prstGeom prst="line">
            <a:avLst/>
          </a:prstGeom>
          <a:ln w="15875">
            <a:solidFill>
              <a:srgbClr val="9A6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2707200" y="2200000"/>
            <a:ext cx="18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device control / health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07200" y="2200000"/>
            <a:ext cx="2300000" cy="3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devlink / devlink health</a:t>
            </a: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  4.6 / 5.1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07200" y="2200000"/>
            <a:ext cx="17796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object / API / lifetime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157200" y="2630000"/>
            <a:ext cx="500000" cy="60000"/>
          </a:xfrm>
          <a:prstGeom prst="line">
            <a:avLst/>
          </a:prstGeom>
          <a:ln w="15875">
            <a:solidFill>
              <a:srgbClr val="9A6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707200" y="2540000"/>
            <a:ext cx="18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interrupt moderation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07200" y="2540000"/>
            <a:ext cx="2300000" cy="3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DIM</a:t>
            </a: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  4.16 → 5.3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07200" y="2540000"/>
            <a:ext cx="17796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measurement → policy → driver setting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57200" y="2630000"/>
            <a:ext cx="500000" cy="400000"/>
          </a:xfrm>
          <a:prstGeom prst="line">
            <a:avLst/>
          </a:prstGeom>
          <a:ln w="15875">
            <a:solidFill>
              <a:srgbClr val="9A6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707200" y="2880000"/>
            <a:ext cx="18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packet memory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507200" y="2880000"/>
            <a:ext cx="2300000" cy="3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page_pool → netmem</a:t>
            </a: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  4.18+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07200" y="2880000"/>
            <a:ext cx="17796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lifetime / object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2157200" y="2630000"/>
            <a:ext cx="500000" cy="740000"/>
          </a:xfrm>
          <a:prstGeom prst="line">
            <a:avLst/>
          </a:prstGeom>
          <a:ln w="15875">
            <a:solidFill>
              <a:srgbClr val="9A6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2707200" y="3220000"/>
            <a:ext cx="18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queue / NAPI identity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07200" y="3220000"/>
            <a:ext cx="2300000" cy="3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netdev-genl</a:t>
            </a: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  6.8+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7200" y="3220000"/>
            <a:ext cx="17796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object / assignment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157200" y="2630000"/>
            <a:ext cx="500000" cy="1080000"/>
          </a:xfrm>
          <a:prstGeom prst="line">
            <a:avLst/>
          </a:prstGeom>
          <a:ln w="15875">
            <a:solidFill>
              <a:srgbClr val="9A6A1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707200" y="3560000"/>
            <a:ext cx="18000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NIC configuration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07200" y="3560000"/>
            <a:ext cx="2300000" cy="3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0000" rIns="60000" tIns="60000" bIns="60000"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ethtool netlink / YNL</a:t>
            </a: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  5.6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7200" y="3560000"/>
            <a:ext cx="1779600" cy="30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structured API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57200" y="4120000"/>
            <a:ext cx="82296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driver-private だった state / resource / algorithm boundary を kernel 共通 contract へ引き上げ、複数 driver・hardware・execution model から再利用可能にした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61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Modern driver contracts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IV — DRIVER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86800" y="560000"/>
            <a:ext cx="1900000" cy="230000"/>
          </a:xfrm>
          <a:prstGeom prst="roundRect">
            <a:avLst>
              <a:gd name="adj" fmla="val 8000"/>
            </a:avLst>
          </a:prstGeom>
          <a:solidFill>
            <a:srgbClr val="9A6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DRIVER FRAMEWORK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TextBox 39"/>
          <p:cNvSpPr txBox="1"/>
          <p:nvPr/>
        </p:nvSpPr>
        <p:spPr>
          <a:xfrm>
            <a:off x="457200" y="1180000"/>
            <a:ext cx="2609866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9A6A1A"/>
                </a:solidFill>
                <a:latin typeface="Red Hat Text"/>
                <a:ea typeface="Red Hat Text"/>
                <a:cs typeface="Red Hat Text"/>
              </a:rPr>
              <a:t>devlink — device-wide control object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1480000"/>
            <a:ext cx="2609866" cy="38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9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PCI / physical device → devlink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7200" y="2050000"/>
            <a:ext cx="180000" cy="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7200" y="1920000"/>
            <a:ext cx="2189866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ports / representor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57200" y="2350000"/>
            <a:ext cx="180000" cy="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77200" y="2220000"/>
            <a:ext cx="2189866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resources (TCAM 等の有限 resource)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57200" y="2650000"/>
            <a:ext cx="180000" cy="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877200" y="2520000"/>
            <a:ext cx="2189866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parameters / regions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57200" y="2950000"/>
            <a:ext cx="180000" cy="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77200" y="2820000"/>
            <a:ext cx="2189866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health reporters: diagnose / dump / recover (5.1)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57200" y="1860000"/>
            <a:ext cx="0" cy="109000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57200" y="3180000"/>
            <a:ext cx="2609866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datapath 自体は提供しない。switchdev / TC offload が「どこで forwarding を実行するか」、devlink は resource / configuration / health lifecycle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67066" y="1180000"/>
            <a:ext cx="2609866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9A6A1A"/>
                </a:solidFill>
                <a:latin typeface="Red Hat Text"/>
                <a:ea typeface="Red Hat Text"/>
                <a:cs typeface="Red Hat Text"/>
              </a:rPr>
              <a:t>netdev-genl — queue / NAPI identity (6.8+)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67066" y="1480000"/>
            <a:ext cx="2609866" cy="38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0000" rIns="90000" tIns="90000" bIns="9000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9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physical netdev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467066" y="2050000"/>
            <a:ext cx="180000" cy="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687066" y="1920000"/>
            <a:ext cx="2189866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NAPI object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467066" y="2350000"/>
            <a:ext cx="180000" cy="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3687066" y="2220000"/>
            <a:ext cx="2189866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RX queue object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3467066" y="2650000"/>
            <a:ext cx="180000" cy="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687066" y="2520000"/>
            <a:ext cx="2189866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TX queue object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467066" y="2950000"/>
            <a:ext cx="180000" cy="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3687066" y="2820000"/>
            <a:ext cx="2189866" cy="2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page_pool identity / stats (6.8)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467066" y="1860000"/>
            <a:ext cx="0" cy="1090000"/>
          </a:xfrm>
          <a:prstGeom prst="line">
            <a:avLst/>
          </a:prstGeom>
          <a:ln w="15875">
            <a:solidFill>
              <a:srgbClr val="6A6E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3267066" y="3180000"/>
            <a:ext cx="2609866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8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AF_XDP、ZCRX、memory providers、queue leasing のように特定 queue へ resource を binding する API が増えると、queue を安定して指す control-plane identity が必要になる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76933" y="1180000"/>
            <a:ext cx="2609866" cy="2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9A6A1A"/>
                </a:solidFill>
                <a:latin typeface="Red Hat Text"/>
                <a:ea typeface="Red Hat Text"/>
                <a:cs typeface="Red Hat Text"/>
              </a:rPr>
              <a:t>execution context / capability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076933" y="1480000"/>
            <a:ext cx="2609866" cy="24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90000" rIns="90000" tIns="90000" bIns="90000" wrap="square"/>
          <a:lstStyle/>
          <a:p>
            <a:pPr algn="l" marL="171450" indent="-171450">
              <a:spcAft>
                <a:spcPts val="500"/>
              </a:spcAft>
              <a:buClr>
                <a:srgbClr val="EE0000"/>
              </a:buClr>
              <a:buSzPct val="100000"/>
              <a:buChar char="●"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threaded NAPI (5.12): softirq ではなく kthread で poll — execution context の選択肢</a:t>
            </a:r>
          </a:p>
          <a:p>
            <a:pPr algn="l" marL="171450" indent="-171450">
              <a:spcAft>
                <a:spcPts val="500"/>
              </a:spcAft>
              <a:buClr>
                <a:srgbClr val="EE0000"/>
              </a:buClr>
              <a:buSzPct val="100000"/>
              <a:buChar char="●"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threaded busy-poll (6.19): NAPI 単位で thread / affinity / scheduler policy を割り当てる contract</a:t>
            </a:r>
          </a:p>
          <a:p>
            <a:pPr algn="l" marL="171450" indent="-171450">
              <a:spcAft>
                <a:spcPts val="500"/>
              </a:spcAft>
              <a:buClr>
                <a:srgbClr val="EE0000"/>
              </a:buClr>
              <a:buSzPct val="100000"/>
              <a:buChar char="●"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XDP features: binary な「XDP 対応」から redirect / ndo_xmit / zero-copy 等を machine-readable に公開</a:t>
            </a:r>
          </a:p>
          <a:p>
            <a:pPr algn="l" marL="171450" indent="-171450">
              <a:spcAft>
                <a:spcPts val="500"/>
              </a:spcAft>
              <a:buClr>
                <a:srgbClr val="EE0000"/>
              </a:buClr>
              <a:buSzPct val="100000"/>
              <a:buChar char="●"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Rust PHY abstractions (6.8): C subsystem の ownership / lifetime rule を Rust type system へ写像</a:t>
            </a:r>
          </a:p>
          <a:p>
            <a:pPr algn="l" marL="171450" indent="-171450">
              <a:spcAft>
                <a:spcPts val="500"/>
              </a:spcAft>
              <a:buClr>
                <a:srgbClr val="EE0000"/>
              </a:buClr>
              <a:buSzPct val="100000"/>
              <a:buChar char="●"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netdevsim (4.16) / auxiliary bus (5.11): API 検証と driver composition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57200" y="4120000"/>
            <a:ext cx="82296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control plane は capability + resource identity + assignment を別々に問い合わせられるようになった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7019" y="1412438"/>
            <a:ext cx="5994000" cy="1200000"/>
          </a:xfrm>
        </p:spPr>
        <p:txBody>
          <a:bodyPr wrap="square" anchor="b"/>
          <a:lstStyle/>
          <a:p>
            <a:pPr algn="l" marL="0" indent="0">
              <a:spcAft>
                <a:spcPts val="0"/>
              </a:spcAft>
              <a:buNone/>
            </a:pPr>
            <a:r>
              <a:rPr sz="30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V — Observability / Explainability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7019" y="2650000"/>
            <a:ext cx="5994000" cy="900000"/>
          </a:xfrm>
        </p:spPr>
        <p:txBody>
          <a:bodyPr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programmable / offloaded / zero-copy path を</a:t>
            </a:r>
          </a:p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operationally explainable にする evidence layer</a:t>
            </a:r>
          </a:p>
        </p:txBody>
      </p:sp>
      <p:sp>
        <p:nvSpPr>
          <p:cNvPr id="30" name="Google Shape;30;p8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630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Observability: 並行する evidence を相関する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Part V — OBSERVABILITY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66800" y="560000"/>
            <a:ext cx="1720000" cy="230000"/>
          </a:xfrm>
          <a:prstGeom prst="roundRect">
            <a:avLst>
              <a:gd name="adj" fmla="val 8000"/>
            </a:avLst>
          </a:prstGeom>
          <a:solidFill>
            <a:srgbClr val="6A3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" rIns="20000" tIns="20000" bIns="20000" wrap="square"/>
          <a:lstStyle/>
          <a:p>
            <a:pPr algn="ctr" marL="0" indent="0">
              <a:spcAft>
                <a:spcPts val="0"/>
              </a:spcAft>
              <a:buNone/>
            </a:pPr>
            <a:r>
              <a:rPr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OBSERVABILITY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457200" y="1180000"/>
          <a:ext cx="8229600" cy="1740000"/>
        </p:xfrm>
        <a:graphic>
          <a:graphicData uri="http://schemas.openxmlformats.org/drawingml/2006/table">
            <a:tbl>
              <a:tblPr firstRow="0" bandRow="0"/>
              <a:tblGrid>
                <a:gridCol w="2194560"/>
                <a:gridCol w="3017520"/>
                <a:gridCol w="3017520"/>
              </a:tblGrid>
              <a:tr h="29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Primitive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主に提供するもの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境界 / 注意点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BTF (4.18)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kernel type / field metadata — CO-RE relocation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runtime event や packet trajectory 自体は記録しない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eBPF tracing (kprobe BPF 4.1)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attach point での event / state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coverage、attach point、権限、overhead に依存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skb_drop_reason (5.17 / 5.19)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対応箇所での structured drop reason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全 drop path が必ず reason を付与するわけではない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timestamping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特定地点での時刻情報 (SO_TIMESTAMPING / PHC)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clock、取得地点、HW/SW semantics に依存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  <a:tr h="29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netdev-genl (6.8) / qdisc-drop tracepoint (7.1)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queue / NAPI / page_pool の identity・state・stats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可視化できることと ownership / configuration を変更できることは別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Rounded Rectangle 40"/>
          <p:cNvSpPr/>
          <p:nvPr/>
        </p:nvSpPr>
        <p:spPr>
          <a:xfrm>
            <a:off x="457200" y="3180000"/>
            <a:ext cx="4000000" cy="88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80000" rIns="80000" tIns="80000" bIns="80000" wrap="square"/>
          <a:lstStyle/>
          <a:p>
            <a:pPr algn="l" marL="0" indent="0">
              <a:spcAft>
                <a:spcPts val="400"/>
              </a:spcAft>
              <a:buNone/>
            </a:pPr>
            <a:r>
              <a:rPr sz="1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Tool の case study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pwru</a:t>
            </a: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  function-level trajectory を広く探索する debugger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sz="9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Retis</a:t>
            </a: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  networking event / skb metadata / OVS-OVN context を意味的に enrich して相関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57200" y="3180000"/>
            <a:ext cx="4029600" cy="10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cross-layer packet journey は単一 primitive の機能ではなく、tool が identifier・event・timestamp・metadata を相関して推論する目標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Observability は 7 番目の contract form ではなく、resource / control contract と runtime behavior を検証する evidence layer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IOAM は kernel 内部を外から観測するのではなく、network path 上で telemetry を packet 自身へ運ぶ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120000"/>
            <a:ext cx="8229600" cy="4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0000" rIns="80000" tIns="80000" bIns="8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Takeaway  </a:t>
            </a:r>
            <a:r>
              <a:rPr sz="11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「counter → drop reason」の一本道ではなく、counter・tracepoint・structured reason・identity が併存し、問いに応じて異なる evidence を提供する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7019" y="1412438"/>
            <a:ext cx="5994000" cy="1200000"/>
          </a:xfrm>
        </p:spPr>
        <p:txBody>
          <a:bodyPr wrap="square" anchor="b"/>
          <a:lstStyle/>
          <a:p>
            <a:pPr algn="l" marL="0" indent="0">
              <a:spcAft>
                <a:spcPts val="0"/>
              </a:spcAft>
              <a:buNone/>
            </a:pPr>
            <a:r>
              <a:rPr sz="30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Synthesis — thesis への回帰と未完の仕事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7019" y="2650000"/>
            <a:ext cx="5994000" cy="900000"/>
          </a:xfrm>
        </p:spPr>
        <p:txBody>
          <a:bodyPr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3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何が明示されたから、何が共存できたか</a:t>
            </a:r>
          </a:p>
        </p:txBody>
      </p:sp>
      <p:sp>
        <p:nvSpPr>
          <p:cNvPr id="30" name="Google Shape;30;p8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EBEBEB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82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contract が共存を可能にした接続点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Synthesis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457200" y="1180000"/>
          <a:ext cx="8229600" cy="2520000"/>
        </p:xfrm>
        <a:graphic>
          <a:graphicData uri="http://schemas.openxmlformats.org/drawingml/2006/table">
            <a:tbl>
              <a:tblPr firstRow="0" bandRow="0"/>
              <a:tblGrid>
                <a:gridCol w="1645920"/>
                <a:gridCol w="3291840"/>
                <a:gridCol w="3291840"/>
              </a:tblGrid>
              <a:tr h="2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明示化された対象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Contract の lineage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その接続点で共存できるようになったもの</a:t>
                      </a:r>
                    </a:p>
                  </a:txBody>
                  <a:tcPr marL="60000" marR="60000" marT="30000" marB="30000" anchor="ctr">
                    <a:solidFill>
                      <a:srgbClr val="151515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queue occupancy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DQL/BQL → TSQ / sch_fq / pacing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socket・qdisc・driver が backlog を別々の層で制御する multi-layer control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execution point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bpf() / maps / verifier → XDP・TC・cgroup・socket hooks → struct_ops / TCX / BPF qdisc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built-in stack と verified program が同じ packet・socket・algorithm を扱う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packet memory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page_pool → netmem → memory providers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system-RAM page、userspace buffer、device memory が同じ RX architecture に接続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queue identity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AF_XDP queue / UMEM binding → netdev-genl queue/NAPI → RX HW queue leasing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NIC queue を kernel stack、AF_XDP、ZCRX、device-memory path、virtual device が使い分ける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forwarding / device state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switchdev・devlink → representor / TC offload → XFRM packet offload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canonical semantics を保持しながら software path と hardware path を選べる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control-plane state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nexthop objects → YNL → per-netns RTNL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reusable object / machine-readable API / narrower lock scope で configuration を並行化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policy / flow state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nftables → conntrack consumers → flowtable / HW offload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transactional policy と shared state を保ちながら slow / fast / hardware path を選択</a:t>
                      </a:r>
                    </a:p>
                  </a:txBody>
                  <a:tcPr marL="60000" marR="60000" marT="30000" marB="30000" anchor="ctr">
                    <a:solidFill>
                      <a:srgbClr val="FFFFFF"/>
                    </a:solidFill>
                  </a:tcPr>
                </a:tc>
              </a:tr>
              <a:tr h="280000"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1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security state / policy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kTLS / XFRM / WireGuard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 marL="0" indent="0">
                        <a:spcAft>
                          <a:spcPts val="0"/>
                        </a:spcAft>
                        <a:buNone/>
                      </a:pPr>
                      <a:r>
                        <a:rPr sz="800" b="0">
                          <a:solidFill>
                            <a:srgbClr val="151515"/>
                          </a:solidFill>
                          <a:latin typeface="Red Hat Text"/>
                          <a:ea typeface="Red Hat Text"/>
                          <a:cs typeface="Red Hat Text"/>
                        </a:rPr>
                        <a:t>kernel-visible security state を保ちつつ software / NIC execution または netdevice integration を選択</a:t>
                      </a:r>
                    </a:p>
                  </a:txBody>
                  <a:tcPr marL="60000" marR="60000" marT="30000" marB="30000" anchor="ctr"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82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contract に還元しない並行系列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Synthesis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180000"/>
            <a:ext cx="2609866" cy="15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0000" rIns="100000" tIns="100000" bIns="100000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(2) transport / protocol semantics</a:t>
            </a:r>
          </a:p>
          <a:p>
            <a:pPr algn="l"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TFO · DCTCP · BBR · MPTCP · PLB · AccECN · TCP-AO</a:t>
            </a:r>
          </a:p>
          <a:p>
            <a:pPr algn="l"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接続確立、輻輳制御、multipath、feedback、authentication の semantics 自体を更新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67066" y="1180000"/>
            <a:ext cx="2609866" cy="15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0000" rIns="100000" tIns="100000" bIns="100000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(3) processing unit の拡大</a:t>
            </a:r>
          </a:p>
          <a:p>
            <a:pPr algn="l"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GRO/GSO · UDP GRO · BIG TCP</a:t>
            </a:r>
          </a:p>
          <a:p>
            <a:pPr algn="l"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1 回の処理で扱う単位を拡大 — contract 化ではなく processing-unit expansion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76933" y="1180000"/>
            <a:ext cx="2609866" cy="15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0000" rIns="100000" tIns="100000" bIns="100000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1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(4) implementation scalability</a:t>
            </a:r>
          </a:p>
          <a:p>
            <a:pPr algn="l" marL="0" indent="0">
              <a:spcBef>
                <a:spcPts val="400"/>
              </a:spcBef>
              <a:spcAft>
                <a:spcPts val="200"/>
              </a:spcAft>
              <a:buNone/>
            </a:pPr>
            <a:r>
              <a:rPr sz="9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dev_queue_xmit() llist (6.19) · route-cache removal (3.6)</a:t>
            </a:r>
          </a:p>
          <a:p>
            <a:pPr algn="l"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contract を変えずに実装を速くする変更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2830000"/>
            <a:ext cx="8229600" cy="520000"/>
          </a:xfrm>
          <a:prstGeom prst="roundRect">
            <a:avLst>
              <a:gd name="adj" fmla="val 8000"/>
            </a:avLst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100000" bIns="10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1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(1) resource / control contract の明示化</a:t>
            </a:r>
            <a:r>
              <a:rPr sz="9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  — 本書の中心 thesis。どの系列を説明しているかを限定した上で成り立つ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480000"/>
            <a:ext cx="82296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routing / forwarding は第 5 の並行系列ではなく、CONTROL PLANE と VIRTUAL / OVERLAY、PROGRAMMABILITY / DRIVER FRAMEWORK が交差する connection point</a:t>
            </a:r>
          </a:p>
          <a:p>
            <a:pPr algn="l" marL="171450" indent="-171450">
              <a:spcAft>
                <a:spcPts val="400"/>
              </a:spcAft>
              <a:buClr>
                <a:srgbClr val="EE0000"/>
              </a:buClr>
              <a:buSzPct val="100000"/>
              <a:buChar char="●"/>
            </a:pPr>
            <a:r>
              <a:rPr sz="10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これらは thesis の例外ではなく、別の説明を要する並行系列 — thesis は未来予測ではなく既存 milestone を横断した説明モデル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82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未完の仕事 — explicit contracts がまだ届いていない箇所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Synthesis — open questions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180000"/>
            <a:ext cx="2636533" cy="133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110000" bIns="110000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TX 側の queue assignment</a:t>
            </a:r>
          </a:p>
          <a:p>
            <a:pPr algn="l"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RX HW queue leasing は 7.1 に入ったが TX queue leasing は未 merge。assignment contract は RX 側に偏っている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53733" y="1180000"/>
            <a:ext cx="2636533" cy="133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110000" bIns="110000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global synchronization の縮小</a:t>
            </a:r>
          </a:p>
          <a:p>
            <a:pPr algn="l"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per-netns RTNL は一括置換ではなく複数 release にわたる migration。7.3-rc の RTNL-less FIB rule / netdev unregistration は途中経過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50266" y="1180000"/>
            <a:ext cx="2636533" cy="133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110000" bIns="110000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異種 memory の一般化</a:t>
            </a:r>
          </a:p>
          <a:p>
            <a:pPr algn="l"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netmem (6.9) と provider hooks (6.15) は boundary を確定。残る課題はより多くの driver / memory type の provider-aware 化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2660000"/>
            <a:ext cx="2636533" cy="133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110000" bIns="110000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execution placement の共通化</a:t>
            </a:r>
          </a:p>
          <a:p>
            <a:pPr algn="l"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switchdev path と TC offload path は並行経路のまま。software / hardware のどちらで実行するかを扱う単一の contract はない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53733" y="2660000"/>
            <a:ext cx="2636533" cy="133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110000" bIns="110000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observability の coverage</a:t>
            </a:r>
          </a:p>
          <a:p>
            <a:pPr algn="l"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drop reason はすべての drop path に付くわけではなく、cross-layer packet journey は tool 側の推論に依存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50266" y="2660000"/>
            <a:ext cx="2636533" cy="133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10000" rIns="110000" tIns="110000" bIns="110000" wrap="square"/>
          <a:lstStyle/>
          <a:p>
            <a:pPr algn="l" marL="0" indent="0">
              <a:spcAft>
                <a:spcPts val="200"/>
              </a:spcAft>
              <a:buNone/>
            </a:pPr>
            <a:r>
              <a:rPr sz="1100" b="1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Rust</a:t>
            </a:r>
          </a:p>
          <a:p>
            <a:pPr algn="l"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sz="900" b="0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PHY / core abstraction が中心で、一般的な high-performance NIC driver が Rust へ移行した段階ではない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200000"/>
            <a:ext cx="82296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sz="9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将来の release で評価が変わり得るため、確定史ではなく open questions として扱う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0000"/>
            <a:ext cx="8229600" cy="560000"/>
          </a:xfrm>
        </p:spPr>
        <p:txBody>
          <a:bodyPr wrap="square" anchor="ctr"/>
          <a:lstStyle/>
          <a:p>
            <a:pPr algn="l" marL="0" indent="0">
              <a:spcAft>
                <a:spcPts val="0"/>
              </a:spcAft>
              <a:buNone/>
            </a:pPr>
            <a:r>
              <a:rPr sz="20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まとめ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700" b="0">
                <a:solidFill>
                  <a:srgbClr val="EE0000"/>
                </a:solidFill>
                <a:latin typeface="Red Hat Text"/>
                <a:ea typeface="Red Hat Text"/>
                <a:cs typeface="Red Hat Text"/>
              </a:rPr>
              <a:t>Synthesis</a:t>
            </a:r>
          </a:p>
        </p:txBody>
      </p:sp>
      <p:sp>
        <p:nvSpPr>
          <p:cNvPr id="39" name="Google Shape;39;g34a581e2aca_0_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  <p:sp>
        <p:nvSpPr>
          <p:cNvPr id="40" name="Rounded Rectangle 39"/>
          <p:cNvSpPr/>
          <p:nvPr/>
        </p:nvSpPr>
        <p:spPr>
          <a:xfrm>
            <a:off x="457200" y="1180000"/>
            <a:ext cx="600000" cy="800000"/>
          </a:xfrm>
          <a:prstGeom prst="roundRect">
            <a:avLst>
              <a:gd name="adj" fmla="val 8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26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57200" y="1180000"/>
            <a:ext cx="7529600" cy="8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110000" bIns="11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3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置き換えではなく共存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10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system-RAM + skb path は残り、AF_XDP・device memory・io_uring ZCRX・programmable / offloaded path が同じ device 上で選択・共存できる architecture へ拡張した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2130000"/>
            <a:ext cx="600000" cy="800000"/>
          </a:xfrm>
          <a:prstGeom prst="roundRect">
            <a:avLst>
              <a:gd name="adj" fmla="val 8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26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2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57200" y="2130000"/>
            <a:ext cx="7529600" cy="8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110000" bIns="11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3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それを可能にしたのは explicit contracts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10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driver-private / implicit / global だった state を object・accounting・API・assignment・lifetime・synchronization として明示した箇所が、新しい path の接続点になった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080000"/>
            <a:ext cx="600000" cy="800000"/>
          </a:xfrm>
          <a:prstGeom prst="roundRect">
            <a:avLst>
              <a:gd name="adj" fmla="val 8000"/>
            </a:avLst>
          </a:prstGeom>
          <a:solidFill>
            <a:srgbClr val="E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 marL="0" indent="0">
              <a:spcAft>
                <a:spcPts val="300"/>
              </a:spcAft>
              <a:buNone/>
            </a:pPr>
            <a:r>
              <a:rPr sz="2600" b="1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57200" y="3080000"/>
            <a:ext cx="7529600" cy="800000"/>
          </a:xfrm>
          <a:prstGeom prst="roundRect">
            <a:avLst>
              <a:gd name="adj" fmla="val 8000"/>
            </a:avLst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0000" rIns="110000" tIns="110000" bIns="110000" wrap="square"/>
          <a:lstStyle/>
          <a:p>
            <a:pPr algn="l" marL="0" indent="0">
              <a:spcAft>
                <a:spcPts val="300"/>
              </a:spcAft>
              <a:buNone/>
            </a:pPr>
            <a:r>
              <a:rPr sz="1300" b="1">
                <a:solidFill>
                  <a:srgbClr val="151515"/>
                </a:solidFill>
                <a:latin typeface="Red Hat Text"/>
                <a:ea typeface="Red Hat Text"/>
                <a:cs typeface="Red Hat Text"/>
              </a:rPr>
              <a:t>並行系列と evidence layer</a:t>
            </a:r>
          </a:p>
          <a:p>
            <a:pPr algn="l" marL="0" indent="0">
              <a:spcAft>
                <a:spcPts val="300"/>
              </a:spcAft>
              <a:buNone/>
            </a:pPr>
            <a:r>
              <a:rPr sz="1000" b="0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transport semantics、processing unit、implementation scalability は別の系列。observability は contract と runtime behavior を検証する evidence layer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12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marL="0" indent="0">
              <a:spcAft>
                <a:spcPts val="400"/>
              </a:spcAft>
              <a:buNone/>
            </a:pPr>
            <a:r>
              <a:rPr sz="1000" b="0" i="1">
                <a:solidFill>
                  <a:srgbClr val="6A6E73"/>
                </a:solidFill>
                <a:latin typeface="Red Hat Text"/>
                <a:ea typeface="Red Hat Text"/>
                <a:cs typeface="Red Hat Text"/>
              </a:rPr>
              <a:t>Era 1: How much should we queue?  →  Era 4: How explicitly can placement, lifetime and synchronization be controlled?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11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release attribution の正本は Part VI、commit-level provenance は Part VII (48 anchors, upstream 照合済み)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b"/>
          <a:lstStyle/>
          <a:p>
            <a:pPr algn="l" marL="0" indent="0">
              <a:spcAft>
                <a:spcPts val="0"/>
              </a:spcAft>
              <a:buNone/>
            </a:pPr>
            <a:r>
              <a:rPr sz="34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Thank you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ext cx="4500000" cy="0"/>
          </a:xfrm>
        </p:spPr>
        <p:txBody>
          <a:bodyPr wrap="square"/>
          <a:lstStyle/>
          <a:p>
            <a:pPr algn="l" marL="0" indent="0">
              <a:spcAft>
                <a:spcPts val="0"/>
              </a:spcAft>
              <a:buNone/>
            </a:pPr>
            <a:r>
              <a:rPr sz="900" b="0">
                <a:solidFill>
                  <a:srgbClr val="FFFFFF"/>
                </a:solidFill>
                <a:latin typeface="Red Hat Text"/>
                <a:ea typeface="Red Hat Text"/>
                <a:cs typeface="Red Hat Text"/>
              </a:rPr>
              <a:t>docs.kernel.org/networking — netlink_spec/netdev, page_pool, devlink, switchdev, mptcp, msg_zerocopy</a:t>
            </a:r>
          </a:p>
        </p:txBody>
      </p:sp>
      <p:sp>
        <p:nvSpPr>
          <p:cNvPr id="17" name="Google Shape;17;p8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chemeClr val="dk2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fld id="{00000000-1234-1234-1234-123412341234}" type="slidenum">
              <a:rPr lang="en"/>
              <a:t>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mple" id="{C48486CC-0E8C-2243-9842-10870BF06573}" vid="{843C2934-C9ED-B24B-97A7-A0817C0BCDF3}"/>
    </a:ext>
  </a:extLst>
</a:theme>
</file>

<file path=ppt/theme/theme18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9319</Words>
  <Application>Microsoft Macintosh PowerPoint</Application>
  <PresentationFormat>画面に合わせる (16:9)</PresentationFormat>
  <Paragraphs>1557</Paragraphs>
  <Slides>106</Slides>
  <Notes>106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17</vt:i4>
      </vt:variant>
      <vt:variant>
        <vt:lpstr>テーマ</vt:lpstr>
      </vt:variant>
      <vt:variant>
        <vt:i4>17</vt:i4>
      </vt:variant>
      <vt:variant>
        <vt:lpstr>スライド タイトル</vt:lpstr>
      </vt:variant>
      <vt:variant>
        <vt:i4>106</vt:i4>
      </vt:variant>
    </vt:vector>
  </HeadingPairs>
  <TitlesOfParts>
    <vt:vector size="140" baseType="lpstr">
      <vt:lpstr>Arial</vt:lpstr>
      <vt:lpstr>Red Hat Display SemiBold</vt:lpstr>
      <vt:lpstr>Red Hat Text SemiBold</vt:lpstr>
      <vt:lpstr>Overpass Light</vt:lpstr>
      <vt:lpstr>Roboto</vt:lpstr>
      <vt:lpstr>Courier New</vt:lpstr>
      <vt:lpstr>Red Hat Text Light</vt:lpstr>
      <vt:lpstr>Proxima Nova</vt:lpstr>
      <vt:lpstr>Red Hat Display ExtraBold</vt:lpstr>
      <vt:lpstr>Red Hat Display</vt:lpstr>
      <vt:lpstr>Red Hat Display Medium</vt:lpstr>
      <vt:lpstr>Red Hat Display Light</vt:lpstr>
      <vt:lpstr>Red Hat Display Black</vt:lpstr>
      <vt:lpstr>Overpass</vt:lpstr>
      <vt:lpstr>Overpass SemiBold</vt:lpstr>
      <vt:lpstr>Red Hat Text Medium</vt:lpstr>
      <vt:lpstr>Red Hat Text</vt:lpstr>
      <vt:lpstr>Simple Light</vt:lpstr>
      <vt:lpstr>Red Hat widescreen template</vt:lpstr>
      <vt:lpstr>Red Hat widescreen template</vt:lpstr>
      <vt:lpstr>Red Hat widescreen template</vt:lpstr>
      <vt:lpstr>Red Hat - Light</vt:lpstr>
      <vt:lpstr>Red Hat widescreen template</vt:lpstr>
      <vt:lpstr>Red Hat widescreen template</vt:lpstr>
      <vt:lpstr>Red Hat widescreen template</vt:lpstr>
      <vt:lpstr>Red Hat - Light</vt:lpstr>
      <vt:lpstr>Red Hat widescreen template</vt:lpstr>
      <vt:lpstr>Red Hat UXD</vt:lpstr>
      <vt:lpstr>Red Hat UXD</vt:lpstr>
      <vt:lpstr>Simple Light</vt:lpstr>
      <vt:lpstr>Red Hat - Light</vt:lpstr>
      <vt:lpstr>Red Hat - Light</vt:lpstr>
      <vt:lpstr>Red Hat - Light</vt:lpstr>
      <vt:lpstr>Red Hat widescreen template</vt:lpstr>
      <vt:lpstr>Quarterly Review Q4 CY25</vt:lpstr>
      <vt:lpstr>Day 1 </vt:lpstr>
      <vt:lpstr>Overview Day 1</vt:lpstr>
      <vt:lpstr>CEE Update/Priorities Jon Maxwell</vt:lpstr>
      <vt:lpstr>CEE </vt:lpstr>
      <vt:lpstr>CEE </vt:lpstr>
      <vt:lpstr>Docs Updates Networking: Marc Muehlfeld</vt:lpstr>
      <vt:lpstr>Accomplishments (Q4)</vt:lpstr>
      <vt:lpstr>Plans for the next 3 months</vt:lpstr>
      <vt:lpstr>Release notes</vt:lpstr>
      <vt:lpstr>OCP/Telco PM Priorities Franck Baudin</vt:lpstr>
      <vt:lpstr>OVS-DPDK for VMware take-out</vt:lpstr>
      <vt:lpstr>Why OVS-DPDK for OCP-Virt</vt:lpstr>
      <vt:lpstr>Status</vt:lpstr>
      <vt:lpstr>Next steps (if we’re not interrupted by a big customer)</vt:lpstr>
      <vt:lpstr>PE router update</vt:lpstr>
      <vt:lpstr>The need of a SW based PE Router on OCP 1/3</vt:lpstr>
      <vt:lpstr>Same PE Router structure, different protocols TBC (IPSec, …) 2/3</vt:lpstr>
      <vt:lpstr>vCSR: CU and DU on a Single SNO 3/3</vt:lpstr>
      <vt:lpstr>5G Core &amp; common CNF features:  High level roadmap</vt:lpstr>
      <vt:lpstr>5G Core &amp; common features to all telco use cases</vt:lpstr>
      <vt:lpstr>Break</vt:lpstr>
      <vt:lpstr>Reportportal</vt:lpstr>
      <vt:lpstr>PowerPoint プレゼンテーション</vt:lpstr>
      <vt:lpstr>PowerPoint プレゼンテーション</vt:lpstr>
      <vt:lpstr>PowerPoint プレゼンテーション</vt:lpstr>
      <vt:lpstr>OVN-K / OvS Offload without Hardware Acceleration</vt:lpstr>
      <vt:lpstr>Executive Summary</vt:lpstr>
      <vt:lpstr>Key Terminology</vt:lpstr>
      <vt:lpstr>Introduction (NVIDIA’s Upstreamed OVN-K Solution)</vt:lpstr>
      <vt:lpstr>What we currently have with DPUs</vt:lpstr>
      <vt:lpstr>OVN-K/OVS x86 Offloading</vt:lpstr>
      <vt:lpstr>OVN-K/OVS x86 Offloading</vt:lpstr>
      <vt:lpstr>OVN-K/OVS x86 Offloading</vt:lpstr>
      <vt:lpstr>Red Hat Reputational Risk (CI/CD)</vt:lpstr>
      <vt:lpstr>CI/CD with MACVLANs</vt:lpstr>
      <vt:lpstr>Major Limitations of Offloads with SR-IOV</vt:lpstr>
      <vt:lpstr>Can we productize OVN-K / OVS Offload?</vt:lpstr>
      <vt:lpstr>Can we productize OVN-K / OVS Offload? </vt:lpstr>
      <vt:lpstr>How to Solve the limitations of SR-IOV</vt:lpstr>
      <vt:lpstr>What if we pack the x86 machine into a PCIe card?</vt:lpstr>
      <vt:lpstr>What we need help on</vt:lpstr>
      <vt:lpstr>Simulation with QEMU</vt:lpstr>
      <vt:lpstr>Simulation with QEMU (offload + acceleration simulation)</vt:lpstr>
      <vt:lpstr>Thank you</vt:lpstr>
      <vt:lpstr>Break</vt:lpstr>
      <vt:lpstr>Network Drivers Dipali Patel, Michal Schmidt, Vrinda Punj  </vt:lpstr>
      <vt:lpstr>PowerPoint プレゼンテーション</vt:lpstr>
      <vt:lpstr>Plan for CY25Q4</vt:lpstr>
      <vt:lpstr>Issues, concerns</vt:lpstr>
      <vt:lpstr>Networking Core Marcelo Leitner / Jianwen Ji  </vt:lpstr>
      <vt:lpstr>CY25Q3 Accomplishments</vt:lpstr>
      <vt:lpstr>CY25Q3 Accomplishments</vt:lpstr>
      <vt:lpstr>CY25Q4 priorities</vt:lpstr>
      <vt:lpstr>CY25Q3 Issues</vt:lpstr>
      <vt:lpstr>Networking Firewall Eric Garver </vt:lpstr>
      <vt:lpstr>CY25Q3 Accomplishments</vt:lpstr>
      <vt:lpstr>CY25Q4 Priorities</vt:lpstr>
      <vt:lpstr>CY25Q3 Issues</vt:lpstr>
      <vt:lpstr>Day 2 </vt:lpstr>
      <vt:lpstr>Overview day 2</vt:lpstr>
      <vt:lpstr>LNST Ondrej Lichtner, Jan Tluka</vt:lpstr>
      <vt:lpstr>LNST Accomplishments</vt:lpstr>
      <vt:lpstr>LNST Plans</vt:lpstr>
      <vt:lpstr>Concerns</vt:lpstr>
      <vt:lpstr>NHE update William Zhao</vt:lpstr>
      <vt:lpstr>NHE update: Accomplishments</vt:lpstr>
      <vt:lpstr>NHE update: Next steps</vt:lpstr>
      <vt:lpstr>NHE update: Concerns</vt:lpstr>
      <vt:lpstr>OSP/RHEL PM Priorities Gurpreet Singh</vt:lpstr>
      <vt:lpstr>OpenStack Networking (RHOSO 18 FRx)</vt:lpstr>
      <vt:lpstr>RHOSO</vt:lpstr>
      <vt:lpstr>DPU Enablement - Current Status</vt:lpstr>
      <vt:lpstr>BF-3 DPU Enablement with DPF</vt:lpstr>
      <vt:lpstr>DPU Enablement Architecture Components Priority</vt:lpstr>
      <vt:lpstr>Openshift Feature Priority Post BF3 DPU GA</vt:lpstr>
      <vt:lpstr>AI Workload Characteristics</vt:lpstr>
      <vt:lpstr>Spectrum-X</vt:lpstr>
      <vt:lpstr>Adaptive Routing</vt:lpstr>
      <vt:lpstr>SpectrumX Enablement for Kubernetes</vt:lpstr>
      <vt:lpstr>Work Items in Discussion</vt:lpstr>
      <vt:lpstr>RHOSO</vt:lpstr>
      <vt:lpstr>RHOSO Networking Telemetry (RHOSO 18 FR3 / FR4)</vt:lpstr>
      <vt:lpstr>What’s Next  </vt:lpstr>
      <vt:lpstr>PowerPoint プレゼンテーション</vt:lpstr>
      <vt:lpstr>PowerPoint プレゼンテーション</vt:lpstr>
      <vt:lpstr>PowerPoint プレゼンテーション</vt:lpstr>
      <vt:lpstr>Break</vt:lpstr>
      <vt:lpstr>Networking Core OCP Roadmap Marc Curry</vt:lpstr>
      <vt:lpstr>PowerPoint プレゼンテーション</vt:lpstr>
      <vt:lpstr>PowerPoint プレゼンテーション</vt:lpstr>
      <vt:lpstr>Top Accomplishments CY25 (YTD)</vt:lpstr>
      <vt:lpstr>Top Items for CY26</vt:lpstr>
      <vt:lpstr>Break</vt:lpstr>
      <vt:lpstr>Network Management Team Dev: Stanislas Faye QE: Vladimir Benes</vt:lpstr>
      <vt:lpstr>Top accomplishments</vt:lpstr>
      <vt:lpstr>Plans for Q4</vt:lpstr>
      <vt:lpstr>Fast Datapath Stanislas Faye, Flavio Leitner Christian Trautman, Qijun Ding</vt:lpstr>
      <vt:lpstr>Top accomplishments</vt:lpstr>
      <vt:lpstr>OVS/DPDK - Plans for Q4</vt:lpstr>
      <vt:lpstr>OVN - Plans for Q4</vt:lpstr>
      <vt:lpstr>OVN/OVS Pain Points</vt:lpstr>
      <vt:lpstr>Next Quarterly Review 3 + 4 February 2026 (Tuesday/Wednesday)</vt:lpstr>
      <vt:lpstr>Open Discussion</vt:lpstr>
      <vt:lpstr>Open discussion / Topics from the parking lot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shownet_user01</cp:lastModifiedBy>
  <cp:revision>1</cp:revision>
  <dcterms:modified xsi:type="dcterms:W3CDTF">2026-10-07T06:26:27Z</dcterms:modified>
</cp:coreProperties>
</file>